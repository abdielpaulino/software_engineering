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4"/>
  </p:sldMasterIdLst>
  <p:sldIdLst>
    <p:sldId id="256" r:id="rId5"/>
    <p:sldId id="323" r:id="rId6"/>
    <p:sldId id="324" r:id="rId7"/>
    <p:sldId id="365" r:id="rId8"/>
    <p:sldId id="329" r:id="rId9"/>
    <p:sldId id="342" r:id="rId10"/>
    <p:sldId id="363" r:id="rId11"/>
    <p:sldId id="364" r:id="rId12"/>
    <p:sldId id="325" r:id="rId13"/>
    <p:sldId id="326" r:id="rId14"/>
    <p:sldId id="327" r:id="rId15"/>
    <p:sldId id="328" r:id="rId16"/>
    <p:sldId id="341" r:id="rId17"/>
    <p:sldId id="367" r:id="rId18"/>
    <p:sldId id="368" r:id="rId19"/>
    <p:sldId id="369" r:id="rId20"/>
    <p:sldId id="370" r:id="rId21"/>
    <p:sldId id="343" r:id="rId22"/>
    <p:sldId id="345" r:id="rId23"/>
    <p:sldId id="346" r:id="rId24"/>
    <p:sldId id="347" r:id="rId25"/>
    <p:sldId id="348" r:id="rId26"/>
    <p:sldId id="349" r:id="rId27"/>
    <p:sldId id="350" r:id="rId28"/>
    <p:sldId id="351" r:id="rId29"/>
    <p:sldId id="352" r:id="rId30"/>
    <p:sldId id="353" r:id="rId31"/>
    <p:sldId id="354" r:id="rId32"/>
    <p:sldId id="355" r:id="rId33"/>
    <p:sldId id="356" r:id="rId34"/>
    <p:sldId id="357" r:id="rId35"/>
    <p:sldId id="366" r:id="rId36"/>
  </p:sldIdLst>
  <p:sldSz cx="12192000" cy="6858000"/>
  <p:notesSz cx="6786563" cy="99234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37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71" d="100"/>
          <a:sy n="71" d="100"/>
        </p:scale>
        <p:origin x="5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260F7-666A-4BA1-BCDA-18F60036BA34}" type="datetimeFigureOut">
              <a:rPr lang="pt-BR" smtClean="0"/>
              <a:t>25/03/2024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36C41-1FF3-480E-ACC6-9F0A068B1B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39497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260F7-666A-4BA1-BCDA-18F60036BA34}" type="datetimeFigureOut">
              <a:rPr lang="pt-BR" smtClean="0"/>
              <a:t>25/03/2024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36C41-1FF3-480E-ACC6-9F0A068B1B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2456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260F7-666A-4BA1-BCDA-18F60036BA34}" type="datetimeFigureOut">
              <a:rPr lang="pt-BR" smtClean="0"/>
              <a:t>25/03/2024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36C41-1FF3-480E-ACC6-9F0A068B1B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881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260F7-666A-4BA1-BCDA-18F60036BA34}" type="datetimeFigureOut">
              <a:rPr lang="pt-BR" smtClean="0"/>
              <a:t>25/03/2024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36C41-1FF3-480E-ACC6-9F0A068B1B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611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260F7-666A-4BA1-BCDA-18F60036BA34}" type="datetimeFigureOut">
              <a:rPr lang="pt-BR" smtClean="0"/>
              <a:t>25/03/2024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36C41-1FF3-480E-ACC6-9F0A068B1B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9734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260F7-666A-4BA1-BCDA-18F60036BA34}" type="datetimeFigureOut">
              <a:rPr lang="pt-BR" smtClean="0"/>
              <a:t>25/03/2024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36C41-1FF3-480E-ACC6-9F0A068B1B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3437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260F7-666A-4BA1-BCDA-18F60036BA34}" type="datetimeFigureOut">
              <a:rPr lang="pt-BR" smtClean="0"/>
              <a:t>25/03/2024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36C41-1FF3-480E-ACC6-9F0A068B1B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8759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260F7-666A-4BA1-BCDA-18F60036BA34}" type="datetimeFigureOut">
              <a:rPr lang="pt-BR" smtClean="0"/>
              <a:t>25/03/2024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36C41-1FF3-480E-ACC6-9F0A068B1B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6325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260F7-666A-4BA1-BCDA-18F60036BA34}" type="datetimeFigureOut">
              <a:rPr lang="pt-BR" smtClean="0"/>
              <a:t>25/03/2024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36C41-1FF3-480E-ACC6-9F0A068B1B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5120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260F7-666A-4BA1-BCDA-18F60036BA34}" type="datetimeFigureOut">
              <a:rPr lang="pt-BR" smtClean="0"/>
              <a:t>25/03/2024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36C41-1FF3-480E-ACC6-9F0A068B1B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3068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260F7-666A-4BA1-BCDA-18F60036BA34}" type="datetimeFigureOut">
              <a:rPr lang="pt-BR" smtClean="0"/>
              <a:t>25/03/2024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36C41-1FF3-480E-ACC6-9F0A068B1B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45681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260F7-666A-4BA1-BCDA-18F60036BA34}" type="datetimeFigureOut">
              <a:rPr lang="pt-BR" smtClean="0"/>
              <a:t>25/03/2024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36C41-1FF3-480E-ACC6-9F0A068B1B7F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153673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260F7-666A-4BA1-BCDA-18F60036BA34}" type="datetimeFigureOut">
              <a:rPr lang="pt-BR" smtClean="0"/>
              <a:t>25/03/2024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36C41-1FF3-480E-ACC6-9F0A068B1B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85553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260F7-666A-4BA1-BCDA-18F60036BA34}" type="datetimeFigureOut">
              <a:rPr lang="pt-BR" smtClean="0"/>
              <a:t>25/03/2024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36C41-1FF3-480E-ACC6-9F0A068B1B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92920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260F7-666A-4BA1-BCDA-18F60036BA34}" type="datetimeFigureOut">
              <a:rPr lang="pt-BR" smtClean="0"/>
              <a:t>25/03/2024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36C41-1FF3-480E-ACC6-9F0A068B1B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2422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260F7-666A-4BA1-BCDA-18F60036BA34}" type="datetimeFigureOut">
              <a:rPr lang="pt-BR" smtClean="0"/>
              <a:t>25/03/2024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36C41-1FF3-480E-ACC6-9F0A068B1B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86560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260F7-666A-4BA1-BCDA-18F60036BA34}" type="datetimeFigureOut">
              <a:rPr lang="pt-BR" smtClean="0"/>
              <a:t>25/03/2024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36C41-1FF3-480E-ACC6-9F0A068B1B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0330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06A260F7-666A-4BA1-BCDA-18F60036BA34}" type="datetimeFigureOut">
              <a:rPr lang="pt-BR" smtClean="0"/>
              <a:t>25/03/2024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30C36C41-1FF3-480E-ACC6-9F0A068B1B7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85785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795693" y="2230789"/>
            <a:ext cx="6855229" cy="1754175"/>
          </a:xfrm>
        </p:spPr>
        <p:txBody>
          <a:bodyPr/>
          <a:lstStyle/>
          <a:p>
            <a:pPr algn="ctr"/>
            <a:r>
              <a:rPr lang="pt-BR" b="1" dirty="0">
                <a:latin typeface="Bahnschrift SemiBold SemiConden" panose="020B0502040204020203" pitchFamily="34" charset="0"/>
              </a:rPr>
              <a:t>ESTRUTURA DE DADOS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4476036" y="3800298"/>
            <a:ext cx="37466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 err="1"/>
              <a:t>Pofª</a:t>
            </a:r>
            <a:r>
              <a:rPr lang="pt-BR" sz="2800" dirty="0"/>
              <a:t> </a:t>
            </a:r>
            <a:r>
              <a:rPr lang="pt-BR" sz="2800" dirty="0" err="1"/>
              <a:t>MSc</a:t>
            </a:r>
            <a:r>
              <a:rPr lang="pt-BR" sz="2800" dirty="0"/>
              <a:t> Christine Viera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464024" y="5963473"/>
            <a:ext cx="4984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Slides baseados no curso de </a:t>
            </a:r>
            <a:r>
              <a:rPr lang="pt-BR" dirty="0" err="1"/>
              <a:t>java</a:t>
            </a:r>
            <a:r>
              <a:rPr lang="pt-BR" dirty="0"/>
              <a:t> da </a:t>
            </a:r>
            <a:r>
              <a:rPr lang="pt-BR" dirty="0" err="1"/>
              <a:t>loiane.training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79649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15621" y="2357698"/>
            <a:ext cx="10515600" cy="1325563"/>
          </a:xfrm>
        </p:spPr>
        <p:txBody>
          <a:bodyPr>
            <a:normAutofit/>
          </a:bodyPr>
          <a:lstStyle/>
          <a:p>
            <a:r>
              <a:rPr lang="pt-BR" sz="7200" dirty="0"/>
              <a:t>PILHAS</a:t>
            </a:r>
          </a:p>
        </p:txBody>
      </p:sp>
      <p:pic>
        <p:nvPicPr>
          <p:cNvPr id="1026" name="Picture 2" descr="Pilha Alcalina Pequena AA Com 4 Unidades MN1500B4 - Duracell - Eletronica  Santan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0739" y="674710"/>
            <a:ext cx="5436121" cy="5436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7071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rquivo de Pilha de Pilha de Livros | PNG Ma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9235" y="458375"/>
            <a:ext cx="5090615" cy="6251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3088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F6F94D05-7FD9-8047-9C0A-8AA90B7C6A6B}"/>
              </a:ext>
            </a:extLst>
          </p:cNvPr>
          <p:cNvSpPr txBox="1"/>
          <p:nvPr/>
        </p:nvSpPr>
        <p:spPr>
          <a:xfrm>
            <a:off x="1489953" y="2087221"/>
            <a:ext cx="921209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É uma coleção de elementos onde a inserção e a remoção de itens seguem o princípio de "último a entrar, primeiro a sair" (LIFO - </a:t>
            </a:r>
            <a:r>
              <a:rPr lang="pt-BR" sz="2800" dirty="0" err="1"/>
              <a:t>Last</a:t>
            </a:r>
            <a:r>
              <a:rPr lang="pt-BR" sz="2800" dirty="0"/>
              <a:t> In, </a:t>
            </a:r>
            <a:r>
              <a:rPr lang="pt-BR" sz="2800" dirty="0" err="1"/>
              <a:t>First</a:t>
            </a:r>
            <a:r>
              <a:rPr lang="pt-BR" sz="2800" dirty="0"/>
              <a:t> Out). Isso significa que o último elemento adicionado à pilha é o primeiro a ser removido.</a:t>
            </a:r>
          </a:p>
        </p:txBody>
      </p:sp>
    </p:spTree>
    <p:extLst>
      <p:ext uri="{BB962C8B-B14F-4D97-AF65-F5344CB8AC3E}">
        <p14:creationId xmlns:p14="http://schemas.microsoft.com/office/powerpoint/2010/main" val="3314362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721344" y="1743837"/>
            <a:ext cx="273183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9600" b="1" dirty="0"/>
              <a:t>LIFO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989574" y="3446899"/>
            <a:ext cx="41953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 err="1"/>
              <a:t>Last</a:t>
            </a:r>
            <a:r>
              <a:rPr lang="pt-BR" sz="4800" dirty="0"/>
              <a:t> In </a:t>
            </a:r>
            <a:r>
              <a:rPr lang="pt-BR" sz="4800" dirty="0" err="1"/>
              <a:t>First</a:t>
            </a:r>
            <a:r>
              <a:rPr lang="pt-BR" sz="4800" dirty="0"/>
              <a:t> Out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3098041" y="4544701"/>
            <a:ext cx="662290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i="1" dirty="0"/>
              <a:t>Último a entrar, primeiro a sair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532263" y="368490"/>
            <a:ext cx="53544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/>
              <a:t>MOVIMENTO DA PILHA</a:t>
            </a:r>
          </a:p>
        </p:txBody>
      </p:sp>
    </p:spTree>
    <p:extLst>
      <p:ext uri="{BB962C8B-B14F-4D97-AF65-F5344CB8AC3E}">
        <p14:creationId xmlns:p14="http://schemas.microsoft.com/office/powerpoint/2010/main" val="4210055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91DDC2B-C70D-6A0C-4D0A-174E68B815DF}"/>
              </a:ext>
            </a:extLst>
          </p:cNvPr>
          <p:cNvSpPr txBox="1"/>
          <p:nvPr/>
        </p:nvSpPr>
        <p:spPr>
          <a:xfrm>
            <a:off x="963039" y="1462339"/>
            <a:ext cx="1069069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As pilhas são amplamente utilizadas em programação para operações como rastreamento de chamadas de função (pilha de execução), avaliação de expressões matemáticas, gerenciamento de memória (pilha de alocação dinâmica), entre outros. </a:t>
            </a:r>
          </a:p>
          <a:p>
            <a:endParaRPr lang="pt-BR" sz="2800" dirty="0"/>
          </a:p>
          <a:p>
            <a:r>
              <a:rPr lang="pt-BR" sz="2800" dirty="0"/>
              <a:t>Elas são implementadas de forma eficiente usando estruturas de dados como </a:t>
            </a:r>
            <a:r>
              <a:rPr lang="pt-BR" sz="2800" dirty="0" err="1"/>
              <a:t>arrays</a:t>
            </a:r>
            <a:r>
              <a:rPr lang="pt-BR" sz="2800" dirty="0"/>
              <a:t> ou listas encadeadas.</a:t>
            </a:r>
          </a:p>
        </p:txBody>
      </p:sp>
    </p:spTree>
    <p:extLst>
      <p:ext uri="{BB962C8B-B14F-4D97-AF65-F5344CB8AC3E}">
        <p14:creationId xmlns:p14="http://schemas.microsoft.com/office/powerpoint/2010/main" val="1242566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5CA9A7-E54B-C935-345D-0A9B29ADF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PILHA ESTÁTICA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1C133ED-EF56-997E-D767-703AADFA950A}"/>
              </a:ext>
            </a:extLst>
          </p:cNvPr>
          <p:cNvSpPr txBox="1"/>
          <p:nvPr/>
        </p:nvSpPr>
        <p:spPr>
          <a:xfrm>
            <a:off x="838200" y="1660783"/>
            <a:ext cx="10749063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- O espaço de memória é alocado em tempo de compilação.</a:t>
            </a:r>
          </a:p>
          <a:p>
            <a:r>
              <a:rPr lang="pt-BR" sz="2800" dirty="0"/>
              <a:t>- O tamanho da pilha é fixo e determinado durante a compilação do programa.</a:t>
            </a:r>
          </a:p>
          <a:p>
            <a:r>
              <a:rPr lang="pt-BR" sz="2800" dirty="0"/>
              <a:t>- O acesso aos elementos da pilha é rápido, pois eles estão localizados em posições de memória contíguas.</a:t>
            </a:r>
          </a:p>
          <a:p>
            <a:r>
              <a:rPr lang="pt-BR" sz="2800" dirty="0"/>
              <a:t>- Geralmente implementada usando vetores ou </a:t>
            </a:r>
            <a:r>
              <a:rPr lang="pt-BR" sz="2800" dirty="0" err="1"/>
              <a:t>arrays</a:t>
            </a:r>
            <a:r>
              <a:rPr lang="pt-BR" sz="2800" dirty="0"/>
              <a:t> em linguagens de programação que oferecem suporte à alocação estática de memória.</a:t>
            </a:r>
          </a:p>
          <a:p>
            <a:r>
              <a:rPr lang="pt-BR" sz="2800" dirty="0"/>
              <a:t>- A desvantagem é que o tamanho da pilha precisa ser conhecido em tempo de compilação e pode levar a desperdício de memória se for muito grande em relação às necessidades reais do programa.</a:t>
            </a:r>
          </a:p>
        </p:txBody>
      </p:sp>
    </p:spTree>
    <p:extLst>
      <p:ext uri="{BB962C8B-B14F-4D97-AF65-F5344CB8AC3E}">
        <p14:creationId xmlns:p14="http://schemas.microsoft.com/office/powerpoint/2010/main" val="146723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5CA9A7-E54B-C935-345D-0A9B29ADF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PILHA DINÂMICA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CC7AAE3-35CB-177F-3906-4A7212F66B76}"/>
              </a:ext>
            </a:extLst>
          </p:cNvPr>
          <p:cNvSpPr txBox="1"/>
          <p:nvPr/>
        </p:nvSpPr>
        <p:spPr>
          <a:xfrm>
            <a:off x="943582" y="1582341"/>
            <a:ext cx="10410217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- O espaço de memória é alocado em tempo de execução.</a:t>
            </a:r>
          </a:p>
          <a:p>
            <a:r>
              <a:rPr lang="pt-BR" sz="2800" dirty="0"/>
              <a:t>- O tamanho da pilha pode ser alterado durante a execução do programa conforme necessário.</a:t>
            </a:r>
          </a:p>
          <a:p>
            <a:r>
              <a:rPr lang="pt-BR" sz="2800" dirty="0"/>
              <a:t>- É comum implementar pilhas dinâmicas usando estruturas de dados como listas encadeadas.</a:t>
            </a:r>
          </a:p>
          <a:p>
            <a:r>
              <a:rPr lang="pt-BR" sz="2800" dirty="0"/>
              <a:t>- A principal vantagem é a flexibilidade, pois o tamanho da pilha pode ser ajustado conforme necessário, minimizando o desperdício de memória.</a:t>
            </a:r>
          </a:p>
          <a:p>
            <a:r>
              <a:rPr lang="pt-BR" sz="2800" dirty="0"/>
              <a:t>- No entanto, o acesso aos elementos pode ser ligeiramente mais lento em comparação com uma pilha estática devido à necessidade de alocação dinâmica de memória e manipulação de ponteiros.</a:t>
            </a:r>
          </a:p>
        </p:txBody>
      </p:sp>
    </p:spTree>
    <p:extLst>
      <p:ext uri="{BB962C8B-B14F-4D97-AF65-F5344CB8AC3E}">
        <p14:creationId xmlns:p14="http://schemas.microsoft.com/office/powerpoint/2010/main" val="3577433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1023582" y="559559"/>
            <a:ext cx="47823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dirty="0"/>
              <a:t>PILHAS ESTÁTICAS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/>
          <a:srcRect l="16156" t="21595" r="15665" b="24674"/>
          <a:stretch/>
        </p:blipFill>
        <p:spPr>
          <a:xfrm>
            <a:off x="1370394" y="2183641"/>
            <a:ext cx="8871046" cy="3930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0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/>
          <a:srcRect l="17099" t="5177" r="19441" b="6203"/>
          <a:stretch/>
        </p:blipFill>
        <p:spPr>
          <a:xfrm>
            <a:off x="1842447" y="259307"/>
            <a:ext cx="8256897" cy="648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358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2"/>
          <a:srcRect l="17938" t="10401" r="19021" b="8816"/>
          <a:stretch/>
        </p:blipFill>
        <p:spPr>
          <a:xfrm>
            <a:off x="4042731" y="914400"/>
            <a:ext cx="7861332" cy="5663821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532263" y="368490"/>
            <a:ext cx="25474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/>
              <a:t>EMPILHAR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532263" y="1678674"/>
            <a:ext cx="401244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Adicionar elementos no topo da pilha</a:t>
            </a:r>
          </a:p>
        </p:txBody>
      </p:sp>
    </p:spTree>
    <p:extLst>
      <p:ext uri="{BB962C8B-B14F-4D97-AF65-F5344CB8AC3E}">
        <p14:creationId xmlns:p14="http://schemas.microsoft.com/office/powerpoint/2010/main" val="3373528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2"/>
          <a:srcRect l="18042" t="10588" r="22483" b="8815"/>
          <a:stretch/>
        </p:blipFill>
        <p:spPr>
          <a:xfrm>
            <a:off x="4217158" y="723331"/>
            <a:ext cx="7738281" cy="5895833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532263" y="368490"/>
            <a:ext cx="34579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/>
              <a:t>DESEMPILHAR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532264" y="1678674"/>
            <a:ext cx="345799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Remover o último elemento da pilha. Ou seja, o elemento que está no topo da pilha.</a:t>
            </a:r>
          </a:p>
        </p:txBody>
      </p:sp>
    </p:spTree>
    <p:extLst>
      <p:ext uri="{BB962C8B-B14F-4D97-AF65-F5344CB8AC3E}">
        <p14:creationId xmlns:p14="http://schemas.microsoft.com/office/powerpoint/2010/main" val="25099302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61668325-DEEF-ECC6-6432-F10699CF5D2B}"/>
              </a:ext>
            </a:extLst>
          </p:cNvPr>
          <p:cNvSpPr txBox="1"/>
          <p:nvPr/>
        </p:nvSpPr>
        <p:spPr>
          <a:xfrm>
            <a:off x="904671" y="1117246"/>
            <a:ext cx="10272409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As operações básicas de uma pilha são:</a:t>
            </a:r>
          </a:p>
          <a:p>
            <a:endParaRPr lang="pt-BR" sz="2800" dirty="0"/>
          </a:p>
          <a:p>
            <a:r>
              <a:rPr lang="pt-BR" sz="2800" dirty="0" err="1"/>
              <a:t>Push</a:t>
            </a:r>
            <a:r>
              <a:rPr lang="pt-BR" sz="2800" dirty="0"/>
              <a:t> (Empurrar): Adiciona um elemento ao topo da pilha.</a:t>
            </a:r>
          </a:p>
          <a:p>
            <a:r>
              <a:rPr lang="pt-BR" sz="2800" dirty="0"/>
              <a:t>Pop (Retirar): Remove o elemento do topo da pilha.</a:t>
            </a:r>
          </a:p>
          <a:p>
            <a:r>
              <a:rPr lang="pt-BR" sz="2800" dirty="0"/>
              <a:t>Top (Topo): Retorna o elemento do topo da pilha sem removê-lo.</a:t>
            </a:r>
          </a:p>
          <a:p>
            <a:r>
              <a:rPr lang="pt-BR" sz="2800" dirty="0" err="1"/>
              <a:t>IsEmpty</a:t>
            </a:r>
            <a:r>
              <a:rPr lang="pt-BR" sz="2800" dirty="0"/>
              <a:t> (Está Vazia): Verifica se a pilha está vazia.</a:t>
            </a:r>
          </a:p>
          <a:p>
            <a:r>
              <a:rPr lang="pt-BR" sz="2800" dirty="0" err="1"/>
              <a:t>Size</a:t>
            </a:r>
            <a:r>
              <a:rPr lang="pt-BR" sz="2800" dirty="0"/>
              <a:t> (Tamanho): Retorna o número de elementos na pilha.</a:t>
            </a:r>
          </a:p>
        </p:txBody>
      </p:sp>
    </p:spTree>
    <p:extLst>
      <p:ext uri="{BB962C8B-B14F-4D97-AF65-F5344CB8AC3E}">
        <p14:creationId xmlns:p14="http://schemas.microsoft.com/office/powerpoint/2010/main" val="1699002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F4BB7B-2CAF-92C5-5AF6-754CA5B39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0"/>
            <a:ext cx="10515600" cy="1325563"/>
          </a:xfrm>
        </p:spPr>
        <p:txBody>
          <a:bodyPr/>
          <a:lstStyle/>
          <a:p>
            <a:r>
              <a:rPr lang="pt-BR" dirty="0"/>
              <a:t>Pilha Estática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D8D7D545-FCE0-42C0-394B-6FF7F55A921B}"/>
              </a:ext>
            </a:extLst>
          </p:cNvPr>
          <p:cNvGrpSpPr/>
          <p:nvPr/>
        </p:nvGrpSpPr>
        <p:grpSpPr>
          <a:xfrm>
            <a:off x="1410070" y="1008498"/>
            <a:ext cx="8892886" cy="5690849"/>
            <a:chOff x="1410070" y="1008498"/>
            <a:chExt cx="8892886" cy="5690849"/>
          </a:xfrm>
        </p:grpSpPr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8FE9DE60-9C65-CC52-8D3B-34B75F2947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10070" y="1008498"/>
              <a:ext cx="8892886" cy="5352295"/>
            </a:xfrm>
            <a:prstGeom prst="rect">
              <a:avLst/>
            </a:prstGeom>
          </p:spPr>
        </p:pic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88615B2F-7591-578D-8510-1F372B8AD959}"/>
                </a:ext>
              </a:extLst>
            </p:cNvPr>
            <p:cNvSpPr/>
            <p:nvPr/>
          </p:nvSpPr>
          <p:spPr>
            <a:xfrm>
              <a:off x="1410070" y="6360793"/>
              <a:ext cx="8892886" cy="338554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0982DB5A-B5F8-1ED2-24F9-7988C4C78646}"/>
                </a:ext>
              </a:extLst>
            </p:cNvPr>
            <p:cNvSpPr txBox="1"/>
            <p:nvPr/>
          </p:nvSpPr>
          <p:spPr>
            <a:xfrm>
              <a:off x="2152245" y="6279364"/>
              <a:ext cx="609437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b="1" dirty="0"/>
                <a:t> </a:t>
              </a:r>
              <a:r>
                <a:rPr lang="pt-BR" sz="1600" b="1" dirty="0" err="1"/>
                <a:t>self.pilha</a:t>
              </a:r>
              <a:r>
                <a:rPr lang="pt-BR" sz="1600" b="1" dirty="0"/>
                <a:t>[</a:t>
              </a:r>
              <a:r>
                <a:rPr lang="pt-BR" sz="1600" b="1" dirty="0" err="1"/>
                <a:t>self.topo</a:t>
              </a:r>
              <a:r>
                <a:rPr lang="pt-BR" sz="1600" b="1" dirty="0"/>
                <a:t>]=elemento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46015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E84CE1E-88BE-410B-7E96-57DFBBB32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496" y="390346"/>
            <a:ext cx="9737008" cy="587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5091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512D5F3-1FF9-CE28-4AA1-BBC75619B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841" y="1330037"/>
            <a:ext cx="10335966" cy="352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2934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6D5612-91E4-769A-A63B-417F15784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Pilha Dinâmica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8BC0CC81-A86F-43AC-54E0-37365BBBFAFE}"/>
              </a:ext>
            </a:extLst>
          </p:cNvPr>
          <p:cNvGrpSpPr/>
          <p:nvPr/>
        </p:nvGrpSpPr>
        <p:grpSpPr>
          <a:xfrm>
            <a:off x="5841960" y="0"/>
            <a:ext cx="5511840" cy="6858000"/>
            <a:chOff x="3048500" y="0"/>
            <a:chExt cx="5648692" cy="6991823"/>
          </a:xfrm>
        </p:grpSpPr>
        <p:pic>
          <p:nvPicPr>
            <p:cNvPr id="4" name="Imagem 3">
              <a:extLst>
                <a:ext uri="{FF2B5EF4-FFF2-40B4-BE49-F238E27FC236}">
                  <a16:creationId xmlns:a16="http://schemas.microsoft.com/office/drawing/2014/main" id="{968EF073-377C-DF55-B291-5AE223B81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48500" y="0"/>
              <a:ext cx="5648692" cy="4530326"/>
            </a:xfrm>
            <a:prstGeom prst="rect">
              <a:avLst/>
            </a:prstGeom>
          </p:spPr>
        </p:pic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ECC788DF-DBE8-22E2-C0D5-600C5FD717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48500" y="4530326"/>
              <a:ext cx="5648692" cy="24614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93885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125DE7C-A163-A26A-7FA5-E561B4FED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856" y="230083"/>
            <a:ext cx="5953990" cy="6397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7255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A54DFF15-626C-44D4-10D3-09900A0A70F4}"/>
              </a:ext>
            </a:extLst>
          </p:cNvPr>
          <p:cNvSpPr txBox="1"/>
          <p:nvPr/>
        </p:nvSpPr>
        <p:spPr>
          <a:xfrm>
            <a:off x="1206229" y="1183029"/>
            <a:ext cx="993194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Não é obrigatório escrever toda a classe Pilha no código principal toda vez que você quiser usá-la. </a:t>
            </a:r>
          </a:p>
          <a:p>
            <a:r>
              <a:rPr lang="pt-BR" sz="2800" dirty="0"/>
              <a:t>Você pode definir a classe Pilha em um arquivo separado e importá-la sempre que precisar usá-la em seu programa. </a:t>
            </a:r>
          </a:p>
          <a:p>
            <a:endParaRPr lang="pt-BR" sz="2800" dirty="0"/>
          </a:p>
          <a:p>
            <a:r>
              <a:rPr lang="pt-BR" sz="2800" dirty="0"/>
              <a:t>1- Crie um arquivo chamado pilha.py (ou qualquer outro nome que você preferir) e defina a classe Pilha nele:</a:t>
            </a:r>
          </a:p>
        </p:txBody>
      </p:sp>
    </p:spTree>
    <p:extLst>
      <p:ext uri="{BB962C8B-B14F-4D97-AF65-F5344CB8AC3E}">
        <p14:creationId xmlns:p14="http://schemas.microsoft.com/office/powerpoint/2010/main" val="831282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Agrupar 5">
            <a:extLst>
              <a:ext uri="{FF2B5EF4-FFF2-40B4-BE49-F238E27FC236}">
                <a16:creationId xmlns:a16="http://schemas.microsoft.com/office/drawing/2014/main" id="{156728BF-F623-453D-070A-0AA18C829A74}"/>
              </a:ext>
            </a:extLst>
          </p:cNvPr>
          <p:cNvGrpSpPr/>
          <p:nvPr/>
        </p:nvGrpSpPr>
        <p:grpSpPr>
          <a:xfrm>
            <a:off x="3048500" y="1"/>
            <a:ext cx="5511840" cy="6858000"/>
            <a:chOff x="3048500" y="0"/>
            <a:chExt cx="5648692" cy="6991823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7733FD9D-70F6-2F7C-943E-91CE83C354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48500" y="0"/>
              <a:ext cx="5648692" cy="4530326"/>
            </a:xfrm>
            <a:prstGeom prst="rect">
              <a:avLst/>
            </a:prstGeom>
          </p:spPr>
        </p:pic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6875D58C-E8C5-3EBE-A6C3-86908AAD80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48500" y="4530326"/>
              <a:ext cx="5648692" cy="24614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720297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A2D8CCB6-9A71-87EB-2918-FE751E96C605}"/>
              </a:ext>
            </a:extLst>
          </p:cNvPr>
          <p:cNvSpPr txBox="1"/>
          <p:nvPr/>
        </p:nvSpPr>
        <p:spPr>
          <a:xfrm>
            <a:off x="1186774" y="2580541"/>
            <a:ext cx="966929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Agora, no seu programa principal, você pode importar a classe Pilha do arquivo pilha.py e usá-la conforme necessário:</a:t>
            </a:r>
          </a:p>
        </p:txBody>
      </p:sp>
    </p:spTree>
    <p:extLst>
      <p:ext uri="{BB962C8B-B14F-4D97-AF65-F5344CB8AC3E}">
        <p14:creationId xmlns:p14="http://schemas.microsoft.com/office/powerpoint/2010/main" val="7950257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E5376E4-2CB4-CEDD-DD91-4AADFB9C5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128" y="561109"/>
            <a:ext cx="8843920" cy="6005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4871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B74C1E5-86F7-C4C3-1403-A5E8B47ECD70}"/>
              </a:ext>
            </a:extLst>
          </p:cNvPr>
          <p:cNvSpPr txBox="1"/>
          <p:nvPr/>
        </p:nvSpPr>
        <p:spPr>
          <a:xfrm>
            <a:off x="1021403" y="1676347"/>
            <a:ext cx="10369685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400" dirty="0"/>
              <a:t>Em Python, você pode usar o </a:t>
            </a:r>
            <a:r>
              <a:rPr lang="pt-BR" sz="3400" b="1" dirty="0">
                <a:solidFill>
                  <a:schemeClr val="accent6"/>
                </a:solidFill>
              </a:rPr>
              <a:t>módulo </a:t>
            </a:r>
            <a:r>
              <a:rPr lang="pt-BR" sz="3400" b="1" dirty="0" err="1">
                <a:solidFill>
                  <a:schemeClr val="accent6"/>
                </a:solidFill>
              </a:rPr>
              <a:t>collections</a:t>
            </a:r>
            <a:r>
              <a:rPr lang="pt-BR" sz="3400" b="1" dirty="0">
                <a:solidFill>
                  <a:schemeClr val="accent6"/>
                </a:solidFill>
              </a:rPr>
              <a:t> </a:t>
            </a:r>
            <a:r>
              <a:rPr lang="pt-BR" sz="3400" dirty="0"/>
              <a:t>para importar a </a:t>
            </a:r>
            <a:r>
              <a:rPr lang="pt-BR" sz="3400" b="1" dirty="0">
                <a:solidFill>
                  <a:schemeClr val="accent6"/>
                </a:solidFill>
              </a:rPr>
              <a:t>classe deque</a:t>
            </a:r>
            <a:r>
              <a:rPr lang="pt-BR" sz="3400" dirty="0"/>
              <a:t>, que pode ser usada como uma pilha usando os métodos: </a:t>
            </a:r>
          </a:p>
          <a:p>
            <a:pPr marL="457200" indent="-457200">
              <a:buFontTx/>
              <a:buChar char="-"/>
            </a:pPr>
            <a:r>
              <a:rPr lang="pt-BR" sz="3400" dirty="0" err="1"/>
              <a:t>append</a:t>
            </a:r>
            <a:r>
              <a:rPr lang="pt-BR" sz="3400" dirty="0"/>
              <a:t>() para adicionar elementos à pilha e o método </a:t>
            </a:r>
          </a:p>
          <a:p>
            <a:pPr marL="457200" indent="-457200">
              <a:buFontTx/>
              <a:buChar char="-"/>
            </a:pPr>
            <a:r>
              <a:rPr lang="pt-BR" sz="3400" dirty="0"/>
              <a:t>pop() para remover e retornar o elemento do topo da pilha. </a:t>
            </a:r>
          </a:p>
        </p:txBody>
      </p:sp>
    </p:spTree>
    <p:extLst>
      <p:ext uri="{BB962C8B-B14F-4D97-AF65-F5344CB8AC3E}">
        <p14:creationId xmlns:p14="http://schemas.microsoft.com/office/powerpoint/2010/main" val="1958565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170EE3B-7741-5712-2126-65993C01F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2192" y="512475"/>
            <a:ext cx="5153890" cy="5458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9060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672F828-5104-B300-4335-D8336032DA54}"/>
              </a:ext>
            </a:extLst>
          </p:cNvPr>
          <p:cNvSpPr txBox="1"/>
          <p:nvPr/>
        </p:nvSpPr>
        <p:spPr>
          <a:xfrm>
            <a:off x="911157" y="266278"/>
            <a:ext cx="10369685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400" dirty="0"/>
              <a:t>Você pode usar a </a:t>
            </a:r>
            <a:r>
              <a:rPr lang="pt-BR" sz="3400" b="1" dirty="0">
                <a:solidFill>
                  <a:schemeClr val="accent6"/>
                </a:solidFill>
              </a:rPr>
              <a:t>função </a:t>
            </a:r>
            <a:r>
              <a:rPr lang="pt-BR" sz="3400" b="1" dirty="0" err="1">
                <a:solidFill>
                  <a:schemeClr val="accent6"/>
                </a:solidFill>
              </a:rPr>
              <a:t>len</a:t>
            </a:r>
            <a:r>
              <a:rPr lang="pt-BR" sz="3400" b="1" dirty="0">
                <a:solidFill>
                  <a:schemeClr val="accent6"/>
                </a:solidFill>
              </a:rPr>
              <a:t>() </a:t>
            </a:r>
            <a:r>
              <a:rPr lang="pt-BR" sz="3400" dirty="0"/>
              <a:t>para verificar o tamanho da pilha implementada com </a:t>
            </a:r>
            <a:r>
              <a:rPr lang="pt-BR" sz="3400" dirty="0" err="1"/>
              <a:t>collections.deque</a:t>
            </a:r>
            <a:r>
              <a:rPr lang="pt-BR" sz="3400" dirty="0"/>
              <a:t>.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A8103F8-CA33-26C6-616C-7EA18CDF4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858" y="1629851"/>
            <a:ext cx="6140441" cy="4785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3033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62750D18-3691-C001-ACA3-CF9ED7637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5318" y="1484488"/>
            <a:ext cx="7200899" cy="4620959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BDB03C3-2E0B-0D9C-C893-99FE07E846BF}"/>
              </a:ext>
            </a:extLst>
          </p:cNvPr>
          <p:cNvSpPr txBox="1"/>
          <p:nvPr/>
        </p:nvSpPr>
        <p:spPr>
          <a:xfrm>
            <a:off x="911157" y="266278"/>
            <a:ext cx="1036968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400" dirty="0"/>
              <a:t>Verificar o topo da Pilha.</a:t>
            </a:r>
          </a:p>
        </p:txBody>
      </p:sp>
    </p:spTree>
    <p:extLst>
      <p:ext uri="{BB962C8B-B14F-4D97-AF65-F5344CB8AC3E}">
        <p14:creationId xmlns:p14="http://schemas.microsoft.com/office/powerpoint/2010/main" val="42865629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0B2BB17-63F6-68C6-EC1A-FDE232CD5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568" y="1826599"/>
            <a:ext cx="7037948" cy="441833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84AE642C-44BA-7772-1ED2-0A4C1DCB99B0}"/>
              </a:ext>
            </a:extLst>
          </p:cNvPr>
          <p:cNvSpPr txBox="1"/>
          <p:nvPr/>
        </p:nvSpPr>
        <p:spPr>
          <a:xfrm>
            <a:off x="911157" y="266278"/>
            <a:ext cx="10369685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400" dirty="0"/>
              <a:t>Verificar se a Pilha está vazia.</a:t>
            </a:r>
          </a:p>
          <a:p>
            <a:r>
              <a:rPr lang="pt-BR" sz="3400" dirty="0"/>
              <a:t>Pode usar 2 formas:</a:t>
            </a:r>
          </a:p>
        </p:txBody>
      </p:sp>
    </p:spTree>
    <p:extLst>
      <p:ext uri="{BB962C8B-B14F-4D97-AF65-F5344CB8AC3E}">
        <p14:creationId xmlns:p14="http://schemas.microsoft.com/office/powerpoint/2010/main" val="6884476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869D915-46D5-A7EC-B925-06DE3ED23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355" y="1462809"/>
            <a:ext cx="7595754" cy="506383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2E6181D-2543-2674-C5F1-175AB8FC3E1C}"/>
              </a:ext>
            </a:extLst>
          </p:cNvPr>
          <p:cNvSpPr txBox="1"/>
          <p:nvPr/>
        </p:nvSpPr>
        <p:spPr>
          <a:xfrm>
            <a:off x="911157" y="266278"/>
            <a:ext cx="1036968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400" dirty="0"/>
              <a:t>Mostrar os elementos da Pilha</a:t>
            </a:r>
          </a:p>
        </p:txBody>
      </p:sp>
    </p:spTree>
    <p:extLst>
      <p:ext uri="{BB962C8B-B14F-4D97-AF65-F5344CB8AC3E}">
        <p14:creationId xmlns:p14="http://schemas.microsoft.com/office/powerpoint/2010/main" val="29157730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A87A7BAC-33BB-6462-99A3-FBCB72B13CA9}"/>
              </a:ext>
            </a:extLst>
          </p:cNvPr>
          <p:cNvSpPr txBox="1"/>
          <p:nvPr/>
        </p:nvSpPr>
        <p:spPr>
          <a:xfrm>
            <a:off x="350195" y="328908"/>
            <a:ext cx="11293813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400" b="1" dirty="0">
                <a:solidFill>
                  <a:schemeClr val="accent6"/>
                </a:solidFill>
              </a:rPr>
              <a:t>Exercício: Verificação de Expressões Matemáticas</a:t>
            </a:r>
          </a:p>
          <a:p>
            <a:endParaRPr lang="pt-BR" sz="2800" dirty="0"/>
          </a:p>
          <a:p>
            <a:r>
              <a:rPr lang="pt-BR" sz="2800" dirty="0"/>
              <a:t>Implemente um programa em Python que verifica se uma expressão matemática contendo parênteses está corretamente balanceada. É obrigatório o uso de Pilha na resolução </a:t>
            </a:r>
            <a:r>
              <a:rPr lang="pt-BR" sz="2800"/>
              <a:t>desse exercício.</a:t>
            </a:r>
            <a:endParaRPr lang="pt-BR" sz="2800" dirty="0"/>
          </a:p>
          <a:p>
            <a:endParaRPr lang="pt-BR" sz="2800" dirty="0"/>
          </a:p>
          <a:p>
            <a:r>
              <a:rPr lang="pt-BR" sz="2800" dirty="0"/>
              <a:t>Exemplo: ((2+3)*5)</a:t>
            </a:r>
          </a:p>
          <a:p>
            <a:endParaRPr lang="pt-BR" sz="2800" dirty="0"/>
          </a:p>
          <a:p>
            <a:r>
              <a:rPr lang="pt-BR" sz="2800" dirty="0"/>
              <a:t>Uma expressão está corretamente balanceada se todo parêntese de abertura possui um parêntese de fechamento correspondente e eles estão na ordem correta.</a:t>
            </a:r>
          </a:p>
          <a:p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41786820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A87A7BAC-33BB-6462-99A3-FBCB72B13CA9}"/>
              </a:ext>
            </a:extLst>
          </p:cNvPr>
          <p:cNvSpPr txBox="1"/>
          <p:nvPr/>
        </p:nvSpPr>
        <p:spPr>
          <a:xfrm>
            <a:off x="350195" y="328908"/>
            <a:ext cx="11293813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Por exemplo:</a:t>
            </a:r>
          </a:p>
          <a:p>
            <a:endParaRPr lang="pt-BR" sz="2800" dirty="0"/>
          </a:p>
          <a:p>
            <a:r>
              <a:rPr lang="pt-BR" sz="2800" dirty="0"/>
              <a:t>"((2 + 3) * 5)" é uma expressão corretamente balanceada.</a:t>
            </a:r>
          </a:p>
          <a:p>
            <a:endParaRPr lang="pt-BR" sz="2800" dirty="0"/>
          </a:p>
          <a:p>
            <a:r>
              <a:rPr lang="pt-BR" sz="2800" dirty="0"/>
              <a:t>"((2 + 3) * 5" não é uma expressão corretamente balanceada, pois está faltando um parêntese de fechamento.</a:t>
            </a:r>
          </a:p>
          <a:p>
            <a:endParaRPr lang="pt-BR" sz="2800" dirty="0"/>
          </a:p>
          <a:p>
            <a:r>
              <a:rPr lang="pt-BR" sz="2800" dirty="0"/>
              <a:t>")(2 + 3) * 5" não é uma expressão corretamente balanceada, pois há um parêntese de fechamento antes do parêntese de abertura correspondente.</a:t>
            </a:r>
          </a:p>
          <a:p>
            <a:endParaRPr lang="pt-BR" sz="2800" dirty="0"/>
          </a:p>
          <a:p>
            <a:r>
              <a:rPr lang="pt-BR" sz="2800" dirty="0"/>
              <a:t>Seu programa deve aceitar uma </a:t>
            </a:r>
            <a:r>
              <a:rPr lang="pt-BR" sz="2800" dirty="0" err="1"/>
              <a:t>string</a:t>
            </a:r>
            <a:r>
              <a:rPr lang="pt-BR" sz="2800" dirty="0"/>
              <a:t> como entrada e imprimir "Correta" se a expressão estiver corretamente balanceada e "Incorreta" caso contrário.</a:t>
            </a:r>
          </a:p>
          <a:p>
            <a:endParaRPr lang="pt-BR" sz="2800" dirty="0"/>
          </a:p>
          <a:p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8649378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A87A7BAC-33BB-6462-99A3-FBCB72B13CA9}"/>
              </a:ext>
            </a:extLst>
          </p:cNvPr>
          <p:cNvSpPr txBox="1"/>
          <p:nvPr/>
        </p:nvSpPr>
        <p:spPr>
          <a:xfrm>
            <a:off x="350195" y="328908"/>
            <a:ext cx="1129381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Dica: Use uma pilha para rastrear os parênteses de abertura e verifique se cada parêntese de fechamento corresponde ao último parêntese de abertura encontrado.</a:t>
            </a:r>
          </a:p>
          <a:p>
            <a:endParaRPr lang="pt-BR" sz="2800" dirty="0"/>
          </a:p>
          <a:p>
            <a:r>
              <a:rPr lang="pt-BR" sz="2800" dirty="0"/>
              <a:t>Exemplo de entrada/saída: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11F09331-A0A8-1F08-8EC9-610E1B966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2659" y="2079482"/>
            <a:ext cx="4861834" cy="3760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6809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78CA0F-85E0-ED2B-BA2D-C92EE95C6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Mostrar </a:t>
            </a:r>
            <a:r>
              <a:rPr lang="pt-BR" dirty="0" err="1"/>
              <a:t>caracter</a:t>
            </a:r>
            <a:r>
              <a:rPr lang="pt-BR" dirty="0"/>
              <a:t> por </a:t>
            </a:r>
            <a:r>
              <a:rPr lang="pt-BR" dirty="0" err="1"/>
              <a:t>caracter</a:t>
            </a:r>
            <a:r>
              <a:rPr lang="pt-BR" dirty="0"/>
              <a:t> de uma </a:t>
            </a:r>
            <a:r>
              <a:rPr lang="pt-BR" dirty="0" err="1"/>
              <a:t>string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98F41E2-5946-14DC-5F15-DCBF5D8A9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351" y="2023687"/>
            <a:ext cx="9912757" cy="4283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468725"/>
      </p:ext>
    </p:extLst>
  </p:cSld>
  <p:clrMapOvr>
    <a:masterClrMapping/>
  </p:clrMapOvr>
</p:sld>
</file>

<file path=ppt/theme/theme1.xml><?xml version="1.0" encoding="utf-8"?>
<a:theme xmlns:a="http://schemas.openxmlformats.org/drawingml/2006/main" name="Profundidade">
  <a:themeElements>
    <a:clrScheme name="Profundidade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Profundidade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fundida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2BF650A7DE6EF4A925EE5473F6ED25D" ma:contentTypeVersion="2" ma:contentTypeDescription="Crie um novo documento." ma:contentTypeScope="" ma:versionID="efae871804c52467bc03e96769a5221c">
  <xsd:schema xmlns:xsd="http://www.w3.org/2001/XMLSchema" xmlns:xs="http://www.w3.org/2001/XMLSchema" xmlns:p="http://schemas.microsoft.com/office/2006/metadata/properties" xmlns:ns2="b6fab2f6-11c4-4308-b201-f608b9adc00b" targetNamespace="http://schemas.microsoft.com/office/2006/metadata/properties" ma:root="true" ma:fieldsID="2f87cb5956308ce3ca9a8d9d23e4bb26" ns2:_="">
    <xsd:import namespace="b6fab2f6-11c4-4308-b201-f608b9adc0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fab2f6-11c4-4308-b201-f608b9adc0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86500FA-00F4-40EF-B82F-DF687B5BC6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300C245-4643-44ED-BB65-CCC4C3504979}">
  <ds:schemaRefs>
    <ds:schemaRef ds:uri="http://schemas.openxmlformats.org/package/2006/metadata/core-properties"/>
    <ds:schemaRef ds:uri="http://purl.org/dc/elements/1.1/"/>
    <ds:schemaRef ds:uri="http://purl.org/dc/dcmitype/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b6fab2f6-11c4-4308-b201-f608b9adc00b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A4D60B42-80BD-4FF2-BDE2-95673E3F3B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6fab2f6-11c4-4308-b201-f608b9adc00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TM04033923[[fn=Profundidade]]</Template>
  <TotalTime>11360</TotalTime>
  <Words>828</Words>
  <Application>Microsoft Office PowerPoint</Application>
  <PresentationFormat>Widescreen</PresentationFormat>
  <Paragraphs>72</Paragraphs>
  <Slides>32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6" baseType="lpstr">
      <vt:lpstr>Arial</vt:lpstr>
      <vt:lpstr>Bahnschrift SemiBold SemiConden</vt:lpstr>
      <vt:lpstr>Corbel</vt:lpstr>
      <vt:lpstr>Profundidade</vt:lpstr>
      <vt:lpstr>ESTRUTURA DE DADOS</vt:lpstr>
      <vt:lpstr>PILHAS</vt:lpstr>
      <vt:lpstr>Apresentação do PowerPoint</vt:lpstr>
      <vt:lpstr>Apresentação do PowerPoint</vt:lpstr>
      <vt:lpstr>Apresentação do PowerPoint</vt:lpstr>
      <vt:lpstr>Apresentação do PowerPoint</vt:lpstr>
      <vt:lpstr>PILHA ESTÁTICA</vt:lpstr>
      <vt:lpstr>PILHA DINÂMICA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Pilha Estática</vt:lpstr>
      <vt:lpstr>Apresentação do PowerPoint</vt:lpstr>
      <vt:lpstr>Apresentação do PowerPoint</vt:lpstr>
      <vt:lpstr>Pilha Dinâmica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Mostrar caracter por caracter de uma string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CHRISTINE VIEIRA</dc:creator>
  <cp:lastModifiedBy>Christine Vieira</cp:lastModifiedBy>
  <cp:revision>151</cp:revision>
  <cp:lastPrinted>2024-03-25T12:43:00Z</cp:lastPrinted>
  <dcterms:created xsi:type="dcterms:W3CDTF">2022-03-21T23:50:49Z</dcterms:created>
  <dcterms:modified xsi:type="dcterms:W3CDTF">2024-03-25T21:57:10Z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0x01010032BF650A7DE6EF4A925EE5473F6ED25D</vt:lpwstr>
  </property>
</Properties>
</file>