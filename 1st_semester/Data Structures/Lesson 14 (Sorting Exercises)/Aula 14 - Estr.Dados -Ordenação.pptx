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3"/>
  </p:notesMasterIdLst>
  <p:sldIdLst>
    <p:sldId id="256" r:id="rId2"/>
    <p:sldId id="257" r:id="rId3"/>
    <p:sldId id="276" r:id="rId4"/>
    <p:sldId id="277" r:id="rId5"/>
    <p:sldId id="275" r:id="rId6"/>
    <p:sldId id="278" r:id="rId7"/>
    <p:sldId id="279" r:id="rId8"/>
    <p:sldId id="280" r:id="rId9"/>
    <p:sldId id="281" r:id="rId10"/>
    <p:sldId id="282" r:id="rId11"/>
    <p:sldId id="258" r:id="rId12"/>
    <p:sldId id="259" r:id="rId13"/>
    <p:sldId id="260" r:id="rId14"/>
    <p:sldId id="261" r:id="rId15"/>
    <p:sldId id="262" r:id="rId16"/>
    <p:sldId id="263" r:id="rId17"/>
    <p:sldId id="267" r:id="rId18"/>
    <p:sldId id="268" r:id="rId19"/>
    <p:sldId id="269" r:id="rId20"/>
    <p:sldId id="270" r:id="rId21"/>
    <p:sldId id="271" r:id="rId22"/>
    <p:sldId id="272" r:id="rId23"/>
    <p:sldId id="273" r:id="rId24"/>
    <p:sldId id="274" r:id="rId25"/>
    <p:sldId id="283" r:id="rId26"/>
    <p:sldId id="284" r:id="rId27"/>
    <p:sldId id="264" r:id="rId28"/>
    <p:sldId id="285" r:id="rId29"/>
    <p:sldId id="286" r:id="rId30"/>
    <p:sldId id="287" r:id="rId31"/>
    <p:sldId id="288"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MI1cBABBKrCVb2LvAqlw1QK/p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D7104D-E628-4CB3-89E1-23BF1E4799D5}">
  <a:tblStyle styleId="{11D7104D-E628-4CB3-89E1-23BF1E4799D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5266e18dd0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g15266e18dd0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5c85613d16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g15c85613d1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5c85613d16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g15c85613d16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5c85613d16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g15c85613d16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5c85613d16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g15c85613d16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5c85613d16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g15c85613d16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5c85613d16_0_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15c85613d16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c85613d16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15c85613d1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41241f429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g141241f429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414dea809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1414dea809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414dea809f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1414dea809f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414dea809f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1414dea809f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63fefff25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163fefff25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63fefff252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163fefff252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63fefff252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163fefff252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1a337b6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e1a337b6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1480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1a337b6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e1a337b6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4719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1a337b6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e1a337b6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235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1a337b6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e1a337b6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808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e1a337b69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1e1a337b69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4431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3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4"/>
        <p:cNvGrpSpPr/>
        <p:nvPr/>
      </p:nvGrpSpPr>
      <p:grpSpPr>
        <a:xfrm>
          <a:off x="0" y="0"/>
          <a:ext cx="0" cy="0"/>
          <a:chOff x="0" y="0"/>
          <a:chExt cx="0" cy="0"/>
        </a:xfrm>
      </p:grpSpPr>
      <p:sp>
        <p:nvSpPr>
          <p:cNvPr id="55" name="Google Shape;5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2"/>
          <p:cNvSpPr>
            <a:spLocks noGrp="1"/>
          </p:cNvSpPr>
          <p:nvPr>
            <p:ph type="pic" idx="2"/>
          </p:nvPr>
        </p:nvSpPr>
        <p:spPr>
          <a:xfrm>
            <a:off x="5183188" y="987425"/>
            <a:ext cx="6172200" cy="4873625"/>
          </a:xfrm>
          <a:prstGeom prst="rect">
            <a:avLst/>
          </a:prstGeom>
          <a:noFill/>
          <a:ln>
            <a:noFill/>
          </a:ln>
        </p:spPr>
      </p:sp>
      <p:sp>
        <p:nvSpPr>
          <p:cNvPr id="68" name="Google Shape;68;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4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visualgo.net/en/sorting"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visualgo.net/en/sorting" TargetMode="Externa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visualgo.net/en/sorting" TargetMode="Externa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visualgo.net/en/sorting" TargetMode="Externa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5522658" y="-5003"/>
            <a:ext cx="6669342" cy="6868004"/>
          </a:xfrm>
          <a:prstGeom prst="rect">
            <a:avLst/>
          </a:prstGeom>
          <a:noFill/>
          <a:ln>
            <a:noFill/>
          </a:ln>
        </p:spPr>
      </p:pic>
      <p:pic>
        <p:nvPicPr>
          <p:cNvPr id="89" name="Google Shape;89;p1"/>
          <p:cNvPicPr preferRelativeResize="0"/>
          <p:nvPr/>
        </p:nvPicPr>
        <p:blipFill rotWithShape="1">
          <a:blip r:embed="rId4">
            <a:alphaModFix/>
          </a:blip>
          <a:srcRect l="33888" r="11343"/>
          <a:stretch/>
        </p:blipFill>
        <p:spPr>
          <a:xfrm>
            <a:off x="0" y="0"/>
            <a:ext cx="4215438" cy="6858000"/>
          </a:xfrm>
          <a:prstGeom prst="flowChartDelay">
            <a:avLst/>
          </a:prstGeom>
          <a:noFill/>
          <a:ln>
            <a:noFill/>
          </a:ln>
        </p:spPr>
      </p:pic>
      <p:pic>
        <p:nvPicPr>
          <p:cNvPr id="90" name="Google Shape;90;p1"/>
          <p:cNvPicPr preferRelativeResize="0"/>
          <p:nvPr/>
        </p:nvPicPr>
        <p:blipFill rotWithShape="1">
          <a:blip r:embed="rId5">
            <a:alphaModFix/>
          </a:blip>
          <a:srcRect/>
          <a:stretch/>
        </p:blipFill>
        <p:spPr>
          <a:xfrm>
            <a:off x="2908199" y="2062132"/>
            <a:ext cx="2243122" cy="2705148"/>
          </a:xfrm>
          <a:prstGeom prst="rect">
            <a:avLst/>
          </a:prstGeom>
          <a:noFill/>
          <a:ln>
            <a:noFill/>
          </a:ln>
        </p:spPr>
      </p:pic>
      <p:sp>
        <p:nvSpPr>
          <p:cNvPr id="91" name="Google Shape;91;p1"/>
          <p:cNvSpPr txBox="1"/>
          <p:nvPr/>
        </p:nvSpPr>
        <p:spPr>
          <a:xfrm>
            <a:off x="5151321" y="2076420"/>
            <a:ext cx="6864720"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pt-BR" sz="4400" b="0" i="0" u="none" strike="noStrike" cap="none" dirty="0">
                <a:solidFill>
                  <a:srgbClr val="003958"/>
                </a:solidFill>
                <a:latin typeface="Impact"/>
                <a:ea typeface="Impact"/>
                <a:cs typeface="Impact"/>
                <a:sym typeface="Impact"/>
              </a:rPr>
              <a:t>ESTRUTURA DE DADOS</a:t>
            </a:r>
            <a:endParaRPr sz="4400" b="0" i="0" u="none" strike="noStrike" cap="none" dirty="0">
              <a:solidFill>
                <a:srgbClr val="003958"/>
              </a:solidFill>
              <a:latin typeface="Impact"/>
              <a:ea typeface="Impact"/>
              <a:cs typeface="Impact"/>
              <a:sym typeface="Impact"/>
            </a:endParaRPr>
          </a:p>
          <a:p>
            <a:pPr marL="0" marR="0" lvl="0" indent="0" algn="l" rtl="0">
              <a:lnSpc>
                <a:spcPct val="100000"/>
              </a:lnSpc>
              <a:spcBef>
                <a:spcPts val="0"/>
              </a:spcBef>
              <a:spcAft>
                <a:spcPts val="0"/>
              </a:spcAft>
              <a:buClr>
                <a:srgbClr val="000000"/>
              </a:buClr>
              <a:buSzPts val="4400"/>
              <a:buFont typeface="Arial"/>
              <a:buNone/>
            </a:pPr>
            <a:endParaRPr sz="4400" b="0" i="0" u="none" strike="noStrike" cap="none" dirty="0">
              <a:solidFill>
                <a:srgbClr val="003958"/>
              </a:solidFill>
              <a:latin typeface="Impact"/>
              <a:ea typeface="Impact"/>
              <a:cs typeface="Impact"/>
              <a:sym typeface="Impact"/>
            </a:endParaRPr>
          </a:p>
          <a:p>
            <a:pPr marL="0" marR="0" lvl="0" indent="0" algn="l" rtl="0">
              <a:lnSpc>
                <a:spcPct val="100000"/>
              </a:lnSpc>
              <a:spcBef>
                <a:spcPts val="0"/>
              </a:spcBef>
              <a:spcAft>
                <a:spcPts val="0"/>
              </a:spcAft>
              <a:buClr>
                <a:srgbClr val="000000"/>
              </a:buClr>
              <a:buSzPts val="4400"/>
              <a:buFont typeface="Arial"/>
              <a:buNone/>
            </a:pPr>
            <a:r>
              <a:rPr lang="pt-BR" sz="4000" b="0" i="0" u="none" strike="noStrike" cap="none" dirty="0">
                <a:solidFill>
                  <a:srgbClr val="003958"/>
                </a:solidFill>
                <a:latin typeface="Impact"/>
                <a:ea typeface="Impact"/>
                <a:cs typeface="Impact"/>
                <a:sym typeface="Impact"/>
              </a:rPr>
              <a:t>Aula 14 – Métodos de Ordenação </a:t>
            </a:r>
            <a:endParaRPr sz="12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g15266e18dd0_0_1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98" name="Google Shape;98;g15266e18dd0_0_1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99" name="Google Shape;99;g15266e18dd0_0_16"/>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ORDENAÇÃO </a:t>
            </a:r>
            <a:endParaRPr sz="800" b="0" i="0" u="none" strike="noStrike" cap="none">
              <a:solidFill>
                <a:srgbClr val="000000"/>
              </a:solidFill>
              <a:latin typeface="Arial"/>
              <a:ea typeface="Arial"/>
              <a:cs typeface="Arial"/>
              <a:sym typeface="Arial"/>
            </a:endParaRPr>
          </a:p>
        </p:txBody>
      </p:sp>
      <p:sp>
        <p:nvSpPr>
          <p:cNvPr id="100" name="Google Shape;100;g15266e18dd0_0_16"/>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a:t>
            </a:fld>
            <a:endParaRPr sz="6000">
              <a:solidFill>
                <a:schemeClr val="lt1"/>
              </a:solidFill>
              <a:latin typeface="Impact"/>
              <a:ea typeface="Impact"/>
              <a:cs typeface="Impact"/>
              <a:sym typeface="Impact"/>
            </a:endParaRPr>
          </a:p>
        </p:txBody>
      </p:sp>
      <p:sp>
        <p:nvSpPr>
          <p:cNvPr id="101" name="Google Shape;101;g15266e18dd0_0_16"/>
          <p:cNvSpPr txBox="1"/>
          <p:nvPr/>
        </p:nvSpPr>
        <p:spPr>
          <a:xfrm>
            <a:off x="993400" y="1273325"/>
            <a:ext cx="10936800" cy="99981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Após uma base de dados estar construída, pode ser necessário ordená-la, como:</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Nomes em ordem alfabética</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Alunos por nota</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Clientes por CEP</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Vendas por preço</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Cidades em ordem crescente de população</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Ordenar dados pode ser um passo preliminar para pesquisá-los; </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Existem várias razões para se ordenar uma sequência, uma delas é a possibilidade de acessar seus dados de modo mais eficiente.</a:t>
            </a:r>
            <a:endParaRPr sz="28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457200" marR="0" lvl="0" indent="0" algn="just" rtl="0">
              <a:lnSpc>
                <a:spcPct val="115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457200" marR="0" lvl="0" indent="0" algn="just" rtl="0">
              <a:lnSpc>
                <a:spcPct val="115000"/>
              </a:lnSpc>
              <a:spcBef>
                <a:spcPts val="0"/>
              </a:spcBef>
              <a:spcAft>
                <a:spcPts val="0"/>
              </a:spcAft>
              <a:buClr>
                <a:srgbClr val="000000"/>
              </a:buClr>
              <a:buSzPts val="2600"/>
              <a:buFont typeface="Arial"/>
              <a:buNone/>
            </a:pPr>
            <a:endParaRPr sz="26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600"/>
              <a:buFont typeface="Arial"/>
              <a:buNone/>
            </a:pPr>
            <a:endParaRPr sz="26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2900"/>
              <a:buFont typeface="Arial"/>
              <a:buNone/>
            </a:pPr>
            <a:endParaRPr sz="29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g15266e18dd0_0_16"/>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p:txBody>
          <a:bodyPr/>
          <a:lstStyle/>
          <a:p>
            <a:r>
              <a:rPr lang="pt-BR" b="1" i="0" dirty="0">
                <a:effectLst/>
                <a:latin typeface="-apple-system"/>
              </a:rPr>
              <a:t>O que é um algoritmo de ordenação?</a:t>
            </a:r>
            <a:br>
              <a:rPr lang="pt-BR" b="1" i="0" dirty="0">
                <a:effectLst/>
                <a:latin typeface="-apple-system"/>
              </a:rPr>
            </a:br>
            <a:endParaRPr lang="pt-BR" dirty="0"/>
          </a:p>
        </p:txBody>
      </p:sp>
      <p:sp>
        <p:nvSpPr>
          <p:cNvPr id="3" name="Espaço Reservado para Texto 2">
            <a:extLst>
              <a:ext uri="{FF2B5EF4-FFF2-40B4-BE49-F238E27FC236}">
                <a16:creationId xmlns:a16="http://schemas.microsoft.com/office/drawing/2014/main" id="{B6EBA411-FA9C-40E2-9907-F2BE43ABC795}"/>
              </a:ext>
            </a:extLst>
          </p:cNvPr>
          <p:cNvSpPr>
            <a:spLocks noGrp="1"/>
          </p:cNvSpPr>
          <p:nvPr>
            <p:ph type="body" idx="1"/>
          </p:nvPr>
        </p:nvSpPr>
        <p:spPr/>
        <p:txBody>
          <a:bodyPr/>
          <a:lstStyle/>
          <a:p>
            <a:pPr algn="l" fontAlgn="base"/>
            <a:r>
              <a:rPr lang="pt-BR" b="0" i="0" dirty="0">
                <a:solidFill>
                  <a:srgbClr val="0A0A23"/>
                </a:solidFill>
                <a:effectLst/>
                <a:latin typeface="Lato" panose="020F0502020204030203" pitchFamily="34" charset="0"/>
              </a:rPr>
              <a:t>Os algoritmos de ordenação são um conjunto de instruções que recebem um </a:t>
            </a:r>
            <a:r>
              <a:rPr lang="pt-BR" b="0" i="0" dirty="0" err="1">
                <a:solidFill>
                  <a:srgbClr val="0A0A23"/>
                </a:solidFill>
                <a:effectLst/>
                <a:latin typeface="Lato" panose="020F0502020204030203" pitchFamily="34" charset="0"/>
              </a:rPr>
              <a:t>array</a:t>
            </a:r>
            <a:r>
              <a:rPr lang="pt-BR" b="0" i="0" dirty="0">
                <a:solidFill>
                  <a:srgbClr val="0A0A23"/>
                </a:solidFill>
                <a:effectLst/>
                <a:latin typeface="Lato" panose="020F0502020204030203" pitchFamily="34" charset="0"/>
              </a:rPr>
              <a:t> ou lista como entrada e organizam os itens em uma ordem específica.</a:t>
            </a:r>
          </a:p>
          <a:p>
            <a:pPr algn="l" fontAlgn="base"/>
            <a:r>
              <a:rPr lang="pt-BR" b="0" i="0" dirty="0">
                <a:solidFill>
                  <a:srgbClr val="0A0A23"/>
                </a:solidFill>
                <a:effectLst/>
                <a:latin typeface="Lato" panose="020F0502020204030203" pitchFamily="34" charset="0"/>
              </a:rPr>
              <a:t>As ordenações mais comumente realizadas são a numérica ou a alfabética (também chamada de lexicográfica) e podem ser em ordem crescente (A-Z, 0-9) ou decrescente (Z-A, 9-0).</a:t>
            </a:r>
          </a:p>
          <a:p>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3</a:t>
            </a:fld>
            <a:endParaRPr lang="pt-BR"/>
          </a:p>
        </p:txBody>
      </p:sp>
    </p:spTree>
    <p:extLst>
      <p:ext uri="{BB962C8B-B14F-4D97-AF65-F5344CB8AC3E}">
        <p14:creationId xmlns:p14="http://schemas.microsoft.com/office/powerpoint/2010/main" val="339851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365125"/>
            <a:ext cx="10515600" cy="1460500"/>
          </a:xfrm>
        </p:spPr>
        <p:txBody>
          <a:bodyPr>
            <a:normAutofit fontScale="90000"/>
          </a:bodyPr>
          <a:lstStyle/>
          <a:p>
            <a:r>
              <a:rPr lang="pt-BR" b="1" i="0" dirty="0">
                <a:effectLst/>
                <a:latin typeface="-apple-system"/>
              </a:rPr>
              <a:t>Vantagens e desvantagens dos algoritmos</a:t>
            </a:r>
            <a:br>
              <a:rPr lang="pt-BR" b="1" i="0" dirty="0">
                <a:effectLst/>
                <a:latin typeface="-apple-system"/>
              </a:rPr>
            </a:br>
            <a:br>
              <a:rPr lang="pt-BR" b="1" i="0" dirty="0">
                <a:effectLst/>
                <a:latin typeface="-apple-system"/>
              </a:rPr>
            </a:br>
            <a:endParaRPr lang="pt-BR" dirty="0"/>
          </a:p>
        </p:txBody>
      </p:sp>
      <p:sp>
        <p:nvSpPr>
          <p:cNvPr id="3" name="Espaço Reservado para Texto 2">
            <a:extLst>
              <a:ext uri="{FF2B5EF4-FFF2-40B4-BE49-F238E27FC236}">
                <a16:creationId xmlns:a16="http://schemas.microsoft.com/office/drawing/2014/main" id="{B6EBA411-FA9C-40E2-9907-F2BE43ABC795}"/>
              </a:ext>
            </a:extLst>
          </p:cNvPr>
          <p:cNvSpPr>
            <a:spLocks noGrp="1"/>
          </p:cNvSpPr>
          <p:nvPr>
            <p:ph type="body" idx="1"/>
          </p:nvPr>
        </p:nvSpPr>
        <p:spPr>
          <a:xfrm>
            <a:off x="638175" y="1368425"/>
            <a:ext cx="10515600" cy="4351338"/>
          </a:xfrm>
        </p:spPr>
        <p:txBody>
          <a:bodyPr>
            <a:normAutofit/>
          </a:bodyPr>
          <a:lstStyle/>
          <a:p>
            <a:pPr algn="l" fontAlgn="base"/>
            <a:r>
              <a:rPr lang="pt-BR" b="0" i="0" dirty="0">
                <a:solidFill>
                  <a:srgbClr val="0A0A23"/>
                </a:solidFill>
                <a:effectLst/>
                <a:latin typeface="Lato" panose="020F0502020204030203" pitchFamily="34" charset="0"/>
              </a:rPr>
              <a:t>Ao usar algoritmos diferentes, algumas perguntas devem ser feitas. Qual o tamanho da coleção que está sendo ordenada? Quanta memória está disponível para uso? A coleção precisa crescer?</a:t>
            </a:r>
          </a:p>
          <a:p>
            <a:pPr algn="l" fontAlgn="base"/>
            <a:r>
              <a:rPr lang="pt-BR" b="0" i="0" dirty="0">
                <a:solidFill>
                  <a:srgbClr val="0A0A23"/>
                </a:solidFill>
                <a:effectLst/>
                <a:latin typeface="Lato" panose="020F0502020204030203" pitchFamily="34" charset="0"/>
              </a:rPr>
              <a:t>As respostas a essas perguntas podem determinar qual algoritmo funcionará melhor para a situação. Alguns algoritmos como a ordenação por intercalação (</a:t>
            </a:r>
            <a:r>
              <a:rPr lang="pt-BR" b="0" i="1" dirty="0">
                <a:solidFill>
                  <a:srgbClr val="0A0A23"/>
                </a:solidFill>
                <a:effectLst/>
                <a:latin typeface="inherit"/>
              </a:rPr>
              <a:t>merge </a:t>
            </a:r>
            <a:r>
              <a:rPr lang="pt-BR" b="0" i="1" dirty="0" err="1">
                <a:solidFill>
                  <a:srgbClr val="0A0A23"/>
                </a:solidFill>
                <a:effectLst/>
                <a:latin typeface="inherit"/>
              </a:rPr>
              <a:t>sort</a:t>
            </a:r>
            <a:r>
              <a:rPr lang="pt-BR" b="0" i="0" dirty="0">
                <a:solidFill>
                  <a:srgbClr val="0A0A23"/>
                </a:solidFill>
                <a:effectLst/>
                <a:latin typeface="Lato" panose="020F0502020204030203" pitchFamily="34" charset="0"/>
              </a:rPr>
              <a:t>, em inglês) podem precisar de muito espaço para serem executados, enquanto a ordenação por inserção nem sempre é a mais rápida, mas não requer muitos recursos para isso.</a:t>
            </a:r>
          </a:p>
          <a:p>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4</a:t>
            </a:fld>
            <a:endParaRPr lang="pt-BR"/>
          </a:p>
        </p:txBody>
      </p:sp>
    </p:spTree>
    <p:extLst>
      <p:ext uri="{BB962C8B-B14F-4D97-AF65-F5344CB8AC3E}">
        <p14:creationId xmlns:p14="http://schemas.microsoft.com/office/powerpoint/2010/main" val="300055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B89C3B-1FFB-456C-96FD-5B64BB1234B7}"/>
              </a:ext>
            </a:extLst>
          </p:cNvPr>
          <p:cNvSpPr>
            <a:spLocks noGrp="1"/>
          </p:cNvSpPr>
          <p:nvPr>
            <p:ph type="title"/>
          </p:nvPr>
        </p:nvSpPr>
        <p:spPr/>
        <p:txBody>
          <a:bodyPr>
            <a:noAutofit/>
          </a:bodyPr>
          <a:lstStyle/>
          <a:p>
            <a:r>
              <a:rPr lang="pt-BR" sz="3200" b="0" i="0" dirty="0">
                <a:solidFill>
                  <a:srgbClr val="0A0A23"/>
                </a:solidFill>
                <a:effectLst/>
                <a:latin typeface="Lato" panose="020B0604020202020204" pitchFamily="34" charset="0"/>
              </a:rPr>
              <a:t>Alguns algoritmos de ordenação:</a:t>
            </a:r>
            <a:br>
              <a:rPr lang="pt-BR" sz="3200" b="0" i="0" dirty="0">
                <a:solidFill>
                  <a:srgbClr val="0A0A23"/>
                </a:solidFill>
                <a:effectLst/>
                <a:latin typeface="Lato" panose="020B0604020202020204" pitchFamily="34" charset="0"/>
              </a:rPr>
            </a:br>
            <a:endParaRPr lang="pt-BR" sz="3200" dirty="0"/>
          </a:p>
        </p:txBody>
      </p:sp>
      <p:sp>
        <p:nvSpPr>
          <p:cNvPr id="3" name="Espaço Reservado para Texto 2">
            <a:extLst>
              <a:ext uri="{FF2B5EF4-FFF2-40B4-BE49-F238E27FC236}">
                <a16:creationId xmlns:a16="http://schemas.microsoft.com/office/drawing/2014/main" id="{FE251276-4B9B-4BA2-9F24-18D9A8860D45}"/>
              </a:ext>
            </a:extLst>
          </p:cNvPr>
          <p:cNvSpPr>
            <a:spLocks noGrp="1"/>
          </p:cNvSpPr>
          <p:nvPr>
            <p:ph type="body" idx="1"/>
          </p:nvPr>
        </p:nvSpPr>
        <p:spPr>
          <a:xfrm>
            <a:off x="838200" y="1624013"/>
            <a:ext cx="10515600" cy="4351338"/>
          </a:xfrm>
        </p:spPr>
        <p:txBody>
          <a:bodyPr>
            <a:normAutofit fontScale="92500" lnSpcReduction="10000"/>
          </a:bodyPr>
          <a:lstStyle/>
          <a:p>
            <a:pPr algn="l" fontAlgn="base">
              <a:buFont typeface="Arial" panose="020B0604020202020204" pitchFamily="34" charset="0"/>
              <a:buChar char="•"/>
            </a:pPr>
            <a:r>
              <a:rPr lang="pt-BR" b="1" i="0" dirty="0" err="1">
                <a:solidFill>
                  <a:srgbClr val="0A0A23"/>
                </a:solidFill>
                <a:effectLst/>
                <a:latin typeface="inherit"/>
              </a:rPr>
              <a:t>Selection</a:t>
            </a:r>
            <a:r>
              <a:rPr lang="pt-BR" b="1" i="0" dirty="0">
                <a:solidFill>
                  <a:srgbClr val="0A0A23"/>
                </a:solidFill>
                <a:effectLst/>
                <a:latin typeface="inherit"/>
              </a:rPr>
              <a:t> </a:t>
            </a:r>
            <a:r>
              <a:rPr lang="pt-BR" b="1" i="0" dirty="0" err="1">
                <a:solidFill>
                  <a:srgbClr val="0A0A23"/>
                </a:solidFill>
                <a:effectLst/>
                <a:latin typeface="inherit"/>
              </a:rPr>
              <a:t>Sort</a:t>
            </a:r>
            <a:r>
              <a:rPr lang="pt-BR" b="1" i="0" dirty="0">
                <a:solidFill>
                  <a:srgbClr val="0A0A23"/>
                </a:solidFill>
                <a:effectLst/>
                <a:latin typeface="inherit"/>
              </a:rPr>
              <a:t> (ordenação por seleção)</a:t>
            </a:r>
          </a:p>
          <a:p>
            <a:pPr algn="l" fontAlgn="base">
              <a:buFont typeface="Arial" panose="020B0604020202020204" pitchFamily="34" charset="0"/>
              <a:buChar char="•"/>
            </a:pPr>
            <a:r>
              <a:rPr lang="pt-BR" b="1" i="0" dirty="0" err="1">
                <a:solidFill>
                  <a:srgbClr val="0A0A23"/>
                </a:solidFill>
                <a:effectLst/>
                <a:latin typeface="inherit"/>
              </a:rPr>
              <a:t>Bubble</a:t>
            </a:r>
            <a:r>
              <a:rPr lang="pt-BR" b="1" i="0" dirty="0">
                <a:solidFill>
                  <a:srgbClr val="0A0A23"/>
                </a:solidFill>
                <a:effectLst/>
                <a:latin typeface="inherit"/>
              </a:rPr>
              <a:t> </a:t>
            </a:r>
            <a:r>
              <a:rPr lang="pt-BR" b="1" i="0" dirty="0" err="1">
                <a:solidFill>
                  <a:srgbClr val="0A0A23"/>
                </a:solidFill>
                <a:effectLst/>
                <a:latin typeface="inherit"/>
              </a:rPr>
              <a:t>Sort</a:t>
            </a:r>
            <a:r>
              <a:rPr lang="pt-BR" b="1" i="0" dirty="0">
                <a:solidFill>
                  <a:srgbClr val="0A0A23"/>
                </a:solidFill>
                <a:effectLst/>
                <a:latin typeface="inherit"/>
              </a:rPr>
              <a:t> (ordenação por comparação)</a:t>
            </a:r>
          </a:p>
          <a:p>
            <a:pPr algn="l" fontAlgn="base">
              <a:buFont typeface="Arial" panose="020B0604020202020204" pitchFamily="34" charset="0"/>
              <a:buChar char="•"/>
            </a:pPr>
            <a:r>
              <a:rPr lang="pt-BR" b="1" i="0" dirty="0" err="1">
                <a:solidFill>
                  <a:srgbClr val="0A0A23"/>
                </a:solidFill>
                <a:effectLst/>
                <a:latin typeface="inherit"/>
              </a:rPr>
              <a:t>Insertion</a:t>
            </a:r>
            <a:r>
              <a:rPr lang="pt-BR" b="1" i="0" dirty="0">
                <a:solidFill>
                  <a:srgbClr val="0A0A23"/>
                </a:solidFill>
                <a:effectLst/>
                <a:latin typeface="inherit"/>
              </a:rPr>
              <a:t> </a:t>
            </a:r>
            <a:r>
              <a:rPr lang="pt-BR" b="1" i="0" dirty="0" err="1">
                <a:solidFill>
                  <a:srgbClr val="0A0A23"/>
                </a:solidFill>
                <a:effectLst/>
                <a:latin typeface="inherit"/>
              </a:rPr>
              <a:t>Sort</a:t>
            </a:r>
            <a:r>
              <a:rPr lang="pt-BR" b="1" i="0" dirty="0">
                <a:solidFill>
                  <a:srgbClr val="0A0A23"/>
                </a:solidFill>
                <a:effectLst/>
                <a:latin typeface="inherit"/>
              </a:rPr>
              <a:t> (ordenação por inserção)</a:t>
            </a:r>
          </a:p>
          <a:p>
            <a:pPr algn="l" fontAlgn="base">
              <a:buFont typeface="Arial" panose="020B0604020202020204" pitchFamily="34" charset="0"/>
              <a:buChar char="•"/>
            </a:pPr>
            <a:r>
              <a:rPr lang="pt-BR" b="1" i="0" dirty="0">
                <a:solidFill>
                  <a:srgbClr val="0A0A23"/>
                </a:solidFill>
                <a:effectLst/>
                <a:latin typeface="inherit"/>
              </a:rPr>
              <a:t>Merge </a:t>
            </a:r>
            <a:r>
              <a:rPr lang="pt-BR" b="1" i="0" dirty="0" err="1">
                <a:solidFill>
                  <a:srgbClr val="0A0A23"/>
                </a:solidFill>
                <a:effectLst/>
                <a:latin typeface="inherit"/>
              </a:rPr>
              <a:t>Sort</a:t>
            </a:r>
            <a:r>
              <a:rPr lang="pt-BR" b="1" i="0" dirty="0">
                <a:solidFill>
                  <a:srgbClr val="0A0A23"/>
                </a:solidFill>
                <a:effectLst/>
                <a:latin typeface="inherit"/>
              </a:rPr>
              <a:t> (ordenação por intercalação)</a:t>
            </a:r>
          </a:p>
          <a:p>
            <a:pPr algn="l" fontAlgn="base">
              <a:buFont typeface="Arial" panose="020B0604020202020204" pitchFamily="34" charset="0"/>
              <a:buChar char="•"/>
            </a:pPr>
            <a:r>
              <a:rPr lang="pt-BR" b="1" i="0" dirty="0" err="1">
                <a:solidFill>
                  <a:srgbClr val="0A0A23"/>
                </a:solidFill>
                <a:effectLst/>
                <a:latin typeface="inherit"/>
              </a:rPr>
              <a:t>Quick</a:t>
            </a:r>
            <a:r>
              <a:rPr lang="pt-BR" b="1" i="0" dirty="0">
                <a:solidFill>
                  <a:srgbClr val="0A0A23"/>
                </a:solidFill>
                <a:effectLst/>
                <a:latin typeface="inherit"/>
              </a:rPr>
              <a:t> </a:t>
            </a:r>
            <a:r>
              <a:rPr lang="pt-BR" b="1" i="0" dirty="0" err="1">
                <a:solidFill>
                  <a:srgbClr val="0A0A23"/>
                </a:solidFill>
                <a:effectLst/>
                <a:latin typeface="inherit"/>
              </a:rPr>
              <a:t>Sort</a:t>
            </a:r>
            <a:r>
              <a:rPr lang="pt-BR" b="1" i="0" dirty="0">
                <a:solidFill>
                  <a:srgbClr val="0A0A23"/>
                </a:solidFill>
                <a:effectLst/>
                <a:latin typeface="inherit"/>
              </a:rPr>
              <a:t> (ordenação rápida)</a:t>
            </a:r>
          </a:p>
          <a:p>
            <a:pPr algn="l" fontAlgn="base">
              <a:buFont typeface="Arial" panose="020B0604020202020204" pitchFamily="34" charset="0"/>
              <a:buChar char="•"/>
            </a:pPr>
            <a:r>
              <a:rPr lang="pt-BR" b="0" i="0" dirty="0" err="1">
                <a:solidFill>
                  <a:srgbClr val="0A0A23"/>
                </a:solidFill>
                <a:effectLst/>
                <a:latin typeface="inherit"/>
              </a:rPr>
              <a:t>Heap</a:t>
            </a:r>
            <a:r>
              <a:rPr lang="pt-BR" b="0" i="0" dirty="0">
                <a:solidFill>
                  <a:srgbClr val="0A0A23"/>
                </a:solidFill>
                <a:effectLst/>
                <a:latin typeface="inherit"/>
              </a:rPr>
              <a:t> </a:t>
            </a:r>
            <a:r>
              <a:rPr lang="pt-BR" b="0" i="0" dirty="0" err="1">
                <a:solidFill>
                  <a:srgbClr val="0A0A23"/>
                </a:solidFill>
                <a:effectLst/>
                <a:latin typeface="inherit"/>
              </a:rPr>
              <a:t>Sort</a:t>
            </a:r>
            <a:endParaRPr lang="pt-BR" b="0" i="0" dirty="0">
              <a:solidFill>
                <a:srgbClr val="0A0A23"/>
              </a:solidFill>
              <a:effectLst/>
              <a:latin typeface="inherit"/>
            </a:endParaRPr>
          </a:p>
          <a:p>
            <a:pPr algn="l" fontAlgn="base">
              <a:buFont typeface="Arial" panose="020B0604020202020204" pitchFamily="34" charset="0"/>
              <a:buChar char="•"/>
            </a:pPr>
            <a:r>
              <a:rPr lang="pt-BR" b="0" i="0" dirty="0" err="1">
                <a:solidFill>
                  <a:srgbClr val="0A0A23"/>
                </a:solidFill>
                <a:effectLst/>
                <a:latin typeface="inherit"/>
              </a:rPr>
              <a:t>Counting</a:t>
            </a:r>
            <a:r>
              <a:rPr lang="pt-BR" b="0" i="0" dirty="0">
                <a:solidFill>
                  <a:srgbClr val="0A0A23"/>
                </a:solidFill>
                <a:effectLst/>
                <a:latin typeface="inherit"/>
              </a:rPr>
              <a:t> </a:t>
            </a:r>
            <a:r>
              <a:rPr lang="pt-BR" b="0" i="0" dirty="0" err="1">
                <a:solidFill>
                  <a:srgbClr val="0A0A23"/>
                </a:solidFill>
                <a:effectLst/>
                <a:latin typeface="inherit"/>
              </a:rPr>
              <a:t>Sort</a:t>
            </a:r>
            <a:endParaRPr lang="pt-BR" b="0" i="0" dirty="0">
              <a:solidFill>
                <a:srgbClr val="0A0A23"/>
              </a:solidFill>
              <a:effectLst/>
              <a:latin typeface="inherit"/>
            </a:endParaRPr>
          </a:p>
          <a:p>
            <a:pPr algn="l" fontAlgn="base">
              <a:buFont typeface="Arial" panose="020B0604020202020204" pitchFamily="34" charset="0"/>
              <a:buChar char="•"/>
            </a:pPr>
            <a:r>
              <a:rPr lang="pt-BR" b="0" i="0" dirty="0" err="1">
                <a:solidFill>
                  <a:srgbClr val="0A0A23"/>
                </a:solidFill>
                <a:effectLst/>
                <a:latin typeface="inherit"/>
              </a:rPr>
              <a:t>Radix</a:t>
            </a:r>
            <a:r>
              <a:rPr lang="pt-BR" b="0" i="0" dirty="0">
                <a:solidFill>
                  <a:srgbClr val="0A0A23"/>
                </a:solidFill>
                <a:effectLst/>
                <a:latin typeface="inherit"/>
              </a:rPr>
              <a:t> </a:t>
            </a:r>
            <a:r>
              <a:rPr lang="pt-BR" b="0" i="0" dirty="0" err="1">
                <a:solidFill>
                  <a:srgbClr val="0A0A23"/>
                </a:solidFill>
                <a:effectLst/>
                <a:latin typeface="inherit"/>
              </a:rPr>
              <a:t>Sort</a:t>
            </a:r>
            <a:endParaRPr lang="pt-BR" b="0" i="0" dirty="0">
              <a:solidFill>
                <a:srgbClr val="0A0A23"/>
              </a:solidFill>
              <a:effectLst/>
              <a:latin typeface="inherit"/>
            </a:endParaRPr>
          </a:p>
          <a:p>
            <a:pPr algn="l" fontAlgn="base">
              <a:buFont typeface="Arial" panose="020B0604020202020204" pitchFamily="34" charset="0"/>
              <a:buChar char="•"/>
            </a:pPr>
            <a:r>
              <a:rPr lang="pt-BR" b="0" i="0" dirty="0" err="1">
                <a:solidFill>
                  <a:srgbClr val="0A0A23"/>
                </a:solidFill>
                <a:effectLst/>
                <a:latin typeface="inherit"/>
              </a:rPr>
              <a:t>Bucket</a:t>
            </a:r>
            <a:r>
              <a:rPr lang="pt-BR" b="0" i="0" dirty="0">
                <a:solidFill>
                  <a:srgbClr val="0A0A23"/>
                </a:solidFill>
                <a:effectLst/>
                <a:latin typeface="inherit"/>
              </a:rPr>
              <a:t> </a:t>
            </a:r>
            <a:r>
              <a:rPr lang="pt-BR" b="0" i="0" dirty="0" err="1">
                <a:solidFill>
                  <a:srgbClr val="0A0A23"/>
                </a:solidFill>
                <a:effectLst/>
                <a:latin typeface="inherit"/>
              </a:rPr>
              <a:t>Sort</a:t>
            </a:r>
            <a:endParaRPr lang="pt-BR" b="0" i="0" dirty="0">
              <a:solidFill>
                <a:srgbClr val="0A0A23"/>
              </a:solidFill>
              <a:effectLst/>
              <a:latin typeface="inherit"/>
            </a:endParaRPr>
          </a:p>
          <a:p>
            <a:endParaRPr lang="pt-BR" dirty="0"/>
          </a:p>
        </p:txBody>
      </p:sp>
      <p:sp>
        <p:nvSpPr>
          <p:cNvPr id="4" name="Espaço Reservado para Número de Slide 3">
            <a:extLst>
              <a:ext uri="{FF2B5EF4-FFF2-40B4-BE49-F238E27FC236}">
                <a16:creationId xmlns:a16="http://schemas.microsoft.com/office/drawing/2014/main" id="{BB1920CB-1F23-4FF2-856E-F8F8ADCFD2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5</a:t>
            </a:fld>
            <a:endParaRPr lang="pt-BR"/>
          </a:p>
        </p:txBody>
      </p:sp>
    </p:spTree>
    <p:extLst>
      <p:ext uri="{BB962C8B-B14F-4D97-AF65-F5344CB8AC3E}">
        <p14:creationId xmlns:p14="http://schemas.microsoft.com/office/powerpoint/2010/main" val="1696214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1138237"/>
            <a:ext cx="10515600" cy="687388"/>
          </a:xfrm>
        </p:spPr>
        <p:txBody>
          <a:bodyPr>
            <a:normAutofit fontScale="90000"/>
          </a:bodyPr>
          <a:lstStyle/>
          <a:p>
            <a:r>
              <a:rPr lang="pt-BR" b="1" i="0" dirty="0">
                <a:effectLst/>
                <a:latin typeface="-apple-system"/>
              </a:rPr>
              <a:t>Classificação de um algoritmo de ordenação</a:t>
            </a:r>
            <a:br>
              <a:rPr lang="pt-BR" b="1" i="0" dirty="0">
                <a:effectLst/>
                <a:latin typeface="-apple-system"/>
              </a:rPr>
            </a:br>
            <a:br>
              <a:rPr lang="pt-BR" b="1" i="0" dirty="0">
                <a:effectLst/>
                <a:latin typeface="-apple-system"/>
              </a:rPr>
            </a:br>
            <a:br>
              <a:rPr lang="pt-BR" b="1" i="0" dirty="0">
                <a:effectLst/>
                <a:latin typeface="-apple-system"/>
              </a:rPr>
            </a:br>
            <a:endParaRPr lang="pt-BR" dirty="0"/>
          </a:p>
        </p:txBody>
      </p:sp>
      <p:sp>
        <p:nvSpPr>
          <p:cNvPr id="3" name="Espaço Reservado para Texto 2">
            <a:extLst>
              <a:ext uri="{FF2B5EF4-FFF2-40B4-BE49-F238E27FC236}">
                <a16:creationId xmlns:a16="http://schemas.microsoft.com/office/drawing/2014/main" id="{B6EBA411-FA9C-40E2-9907-F2BE43ABC795}"/>
              </a:ext>
            </a:extLst>
          </p:cNvPr>
          <p:cNvSpPr>
            <a:spLocks noGrp="1"/>
          </p:cNvSpPr>
          <p:nvPr>
            <p:ph type="body" idx="1"/>
          </p:nvPr>
        </p:nvSpPr>
        <p:spPr>
          <a:xfrm>
            <a:off x="638175" y="1368425"/>
            <a:ext cx="10515600" cy="4351338"/>
          </a:xfrm>
        </p:spPr>
        <p:txBody>
          <a:bodyPr>
            <a:normAutofit/>
          </a:bodyPr>
          <a:lstStyle/>
          <a:p>
            <a:pPr marL="114300" indent="0" algn="l" fontAlgn="base">
              <a:buNone/>
            </a:pPr>
            <a:r>
              <a:rPr lang="pt-BR" b="0" i="0" dirty="0">
                <a:solidFill>
                  <a:srgbClr val="0A0A23"/>
                </a:solidFill>
                <a:effectLst/>
                <a:latin typeface="Lato" panose="020F0502020204030203" pitchFamily="34" charset="0"/>
              </a:rPr>
              <a:t>Os algoritmos de ordenação podem ser categorizados com base nos seguintes parâmetros:</a:t>
            </a:r>
          </a:p>
          <a:p>
            <a:pPr marL="114300" indent="0" algn="l" fontAlgn="base">
              <a:buNone/>
            </a:pPr>
            <a:endParaRPr lang="pt-BR" b="0" i="0" dirty="0">
              <a:solidFill>
                <a:srgbClr val="0A0A23"/>
              </a:solidFill>
              <a:effectLst/>
              <a:latin typeface="Lato" panose="020F0502020204030203" pitchFamily="34" charset="0"/>
            </a:endParaRPr>
          </a:p>
          <a:p>
            <a:pPr algn="l" fontAlgn="base">
              <a:buFont typeface="+mj-lt"/>
              <a:buAutoNum type="arabicPeriod"/>
            </a:pPr>
            <a:r>
              <a:rPr lang="pt-BR" b="1" i="0" dirty="0">
                <a:solidFill>
                  <a:srgbClr val="0A0A23"/>
                </a:solidFill>
                <a:effectLst/>
                <a:latin typeface="inherit"/>
              </a:rPr>
              <a:t>Baseado no número de trocas ou inversões necessários:</a:t>
            </a:r>
            <a:r>
              <a:rPr lang="pt-BR" b="0" i="0" dirty="0">
                <a:solidFill>
                  <a:srgbClr val="0A0A23"/>
                </a:solidFill>
                <a:effectLst/>
                <a:latin typeface="inherit"/>
              </a:rPr>
              <a:t> Este é o número de vezes que o algoritmo troca os elementos para ordenar uma entrada. A ordenação por seleção requer o número mínimo de trocas.</a:t>
            </a:r>
          </a:p>
          <a:p>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6</a:t>
            </a:fld>
            <a:endParaRPr lang="pt-BR"/>
          </a:p>
        </p:txBody>
      </p:sp>
    </p:spTree>
    <p:extLst>
      <p:ext uri="{BB962C8B-B14F-4D97-AF65-F5344CB8AC3E}">
        <p14:creationId xmlns:p14="http://schemas.microsoft.com/office/powerpoint/2010/main" val="3253489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1138237"/>
            <a:ext cx="10515600" cy="687388"/>
          </a:xfrm>
        </p:spPr>
        <p:txBody>
          <a:bodyPr>
            <a:normAutofit fontScale="90000"/>
          </a:bodyPr>
          <a:lstStyle/>
          <a:p>
            <a:r>
              <a:rPr lang="pt-BR" b="1" i="0" dirty="0">
                <a:effectLst/>
                <a:latin typeface="-apple-system"/>
              </a:rPr>
              <a:t>Classificação de um algoritmo de ordenação</a:t>
            </a:r>
            <a:br>
              <a:rPr lang="pt-BR" b="1" i="0" dirty="0">
                <a:effectLst/>
                <a:latin typeface="-apple-system"/>
              </a:rPr>
            </a:br>
            <a:br>
              <a:rPr lang="pt-BR" b="1" i="0" dirty="0">
                <a:effectLst/>
                <a:latin typeface="-apple-system"/>
              </a:rPr>
            </a:br>
            <a:br>
              <a:rPr lang="pt-BR" b="1" i="0" dirty="0">
                <a:effectLst/>
                <a:latin typeface="-apple-system"/>
              </a:rPr>
            </a:br>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7</a:t>
            </a:fld>
            <a:endParaRPr lang="pt-BR"/>
          </a:p>
        </p:txBody>
      </p:sp>
      <p:sp>
        <p:nvSpPr>
          <p:cNvPr id="17" name="Rectangle 2">
            <a:extLst>
              <a:ext uri="{FF2B5EF4-FFF2-40B4-BE49-F238E27FC236}">
                <a16:creationId xmlns:a16="http://schemas.microsoft.com/office/drawing/2014/main" id="{8B0F22E8-A6C6-4A9E-8FD9-8E7A9C6FD338}"/>
              </a:ext>
            </a:extLst>
          </p:cNvPr>
          <p:cNvSpPr>
            <a:spLocks noChangeArrowheads="1"/>
          </p:cNvSpPr>
          <p:nvPr/>
        </p:nvSpPr>
        <p:spPr bwMode="auto">
          <a:xfrm>
            <a:off x="838200" y="1481931"/>
            <a:ext cx="9812233" cy="34470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800" b="1" i="0" u="none" strike="noStrike" cap="none" normalizeH="0" baseline="0" dirty="0">
                <a:ln>
                  <a:noFill/>
                </a:ln>
                <a:solidFill>
                  <a:srgbClr val="0A0A23"/>
                </a:solidFill>
                <a:effectLst/>
                <a:latin typeface="inherit"/>
              </a:rPr>
              <a:t>2. Baseado no número de comparações:</a:t>
            </a:r>
            <a:r>
              <a:rPr kumimoji="0" lang="pt-BR" altLang="pt-BR" sz="2800" b="0" i="0" u="none" strike="noStrike" cap="none" normalizeH="0" baseline="0" dirty="0">
                <a:ln>
                  <a:noFill/>
                </a:ln>
                <a:solidFill>
                  <a:srgbClr val="0A0A23"/>
                </a:solidFill>
                <a:effectLst/>
                <a:latin typeface="inherit"/>
              </a:rPr>
              <a:t> Este é o número de vezes que o algoritmo compara elementos para ordenar uma entrada. Usando a </a:t>
            </a:r>
            <a:r>
              <a:rPr kumimoji="0" lang="pt-BR" altLang="pt-BR" sz="2800" b="0" i="0" u="sng" strike="noStrike" cap="none" normalizeH="0" baseline="0" dirty="0">
                <a:ln>
                  <a:noFill/>
                </a:ln>
                <a:solidFill>
                  <a:srgbClr val="0A0A23"/>
                </a:solidFill>
                <a:effectLst/>
                <a:latin typeface="inherit"/>
              </a:rPr>
              <a:t>notação </a:t>
            </a:r>
            <a:r>
              <a:rPr kumimoji="0" lang="pt-BR" altLang="pt-BR" sz="2800" b="0" i="0" u="sng" strike="noStrike" cap="none" normalizeH="0" baseline="0" dirty="0" err="1">
                <a:ln>
                  <a:noFill/>
                </a:ln>
                <a:solidFill>
                  <a:srgbClr val="0A0A23"/>
                </a:solidFill>
                <a:effectLst/>
                <a:latin typeface="inherit"/>
              </a:rPr>
              <a:t>Big-O</a:t>
            </a:r>
            <a:r>
              <a:rPr kumimoji="0" lang="pt-BR" altLang="pt-BR" sz="2800" b="0" i="0" u="none" strike="noStrike" cap="none" normalizeH="0" baseline="0" dirty="0">
                <a:ln>
                  <a:noFill/>
                </a:ln>
                <a:solidFill>
                  <a:srgbClr val="0A0A23"/>
                </a:solidFill>
                <a:effectLst/>
                <a:latin typeface="inherit"/>
              </a:rPr>
              <a:t>, os exemplos de algoritmos de ordenação listados acima requerem, pelo menos, </a:t>
            </a:r>
            <a:r>
              <a:rPr kumimoji="0" lang="pt-BR" altLang="pt-BR" sz="2800" b="0" i="0" u="none" strike="noStrike" cap="none" normalizeH="0" baseline="0" dirty="0">
                <a:ln>
                  <a:noFill/>
                </a:ln>
                <a:solidFill>
                  <a:srgbClr val="0A0A23"/>
                </a:solidFill>
                <a:effectLst/>
                <a:latin typeface="Roboto Mono"/>
              </a:rPr>
              <a:t>O(</a:t>
            </a:r>
            <a:r>
              <a:rPr kumimoji="0" lang="pt-BR" altLang="pt-BR" sz="2800" b="0" i="0" u="none" strike="noStrike" cap="none" normalizeH="0" baseline="0" dirty="0" err="1">
                <a:ln>
                  <a:noFill/>
                </a:ln>
                <a:solidFill>
                  <a:srgbClr val="0A0A23"/>
                </a:solidFill>
                <a:effectLst/>
                <a:latin typeface="Roboto Mono"/>
              </a:rPr>
              <a:t>nlogn</a:t>
            </a:r>
            <a:r>
              <a:rPr kumimoji="0" lang="pt-BR" altLang="pt-BR" sz="2800" b="0" i="0" u="none" strike="noStrike" cap="none" normalizeH="0" baseline="0" dirty="0">
                <a:ln>
                  <a:noFill/>
                </a:ln>
                <a:solidFill>
                  <a:srgbClr val="0A0A23"/>
                </a:solidFill>
                <a:effectLst/>
                <a:latin typeface="Roboto Mono"/>
              </a:rPr>
              <a:t>)</a:t>
            </a:r>
            <a:r>
              <a:rPr kumimoji="0" lang="pt-BR" altLang="pt-BR" sz="2800" b="0" i="0" u="none" strike="noStrike" cap="none" normalizeH="0" baseline="0" dirty="0">
                <a:ln>
                  <a:noFill/>
                </a:ln>
                <a:solidFill>
                  <a:srgbClr val="0A0A23"/>
                </a:solidFill>
                <a:effectLst/>
                <a:latin typeface="inherit"/>
              </a:rPr>
              <a:t> comparações no melhor caso e </a:t>
            </a:r>
            <a:r>
              <a:rPr kumimoji="0" lang="pt-BR" altLang="pt-BR" sz="2800" b="0" i="0" u="none" strike="noStrike" cap="none" normalizeH="0" baseline="0" dirty="0">
                <a:ln>
                  <a:noFill/>
                </a:ln>
                <a:solidFill>
                  <a:srgbClr val="0A0A23"/>
                </a:solidFill>
                <a:effectLst/>
                <a:latin typeface="Roboto Mono"/>
              </a:rPr>
              <a:t>O(n^2)</a:t>
            </a:r>
            <a:r>
              <a:rPr kumimoji="0" lang="pt-BR" altLang="pt-BR" sz="2800" b="0" i="0" u="none" strike="noStrike" cap="none" normalizeH="0" baseline="0" dirty="0">
                <a:ln>
                  <a:noFill/>
                </a:ln>
                <a:solidFill>
                  <a:srgbClr val="0A0A23"/>
                </a:solidFill>
                <a:effectLst/>
                <a:latin typeface="inherit"/>
              </a:rPr>
              <a:t> comparações no pior caso para a maioria das saídas.</a:t>
            </a:r>
            <a:endParaRPr kumimoji="0" lang="pt-BR" altLang="pt-BR" sz="2800" b="0" i="0" u="none" strike="noStrike" cap="none" normalizeH="0" baseline="0" dirty="0">
              <a:ln>
                <a:noFill/>
              </a:ln>
              <a:solidFill>
                <a:srgbClr val="0A0A23"/>
              </a:solidFill>
              <a:effectLst/>
              <a:latin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0046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1138237"/>
            <a:ext cx="10515600" cy="687388"/>
          </a:xfrm>
        </p:spPr>
        <p:txBody>
          <a:bodyPr>
            <a:normAutofit fontScale="90000"/>
          </a:bodyPr>
          <a:lstStyle/>
          <a:p>
            <a:r>
              <a:rPr lang="pt-BR" b="1" i="0" dirty="0">
                <a:effectLst/>
                <a:latin typeface="-apple-system"/>
              </a:rPr>
              <a:t>Classificação de um algoritmo de ordenação</a:t>
            </a:r>
            <a:br>
              <a:rPr lang="pt-BR" b="1" i="0" dirty="0">
                <a:effectLst/>
                <a:latin typeface="-apple-system"/>
              </a:rPr>
            </a:br>
            <a:br>
              <a:rPr lang="pt-BR" b="1" i="0" dirty="0">
                <a:effectLst/>
                <a:latin typeface="-apple-system"/>
              </a:rPr>
            </a:br>
            <a:br>
              <a:rPr lang="pt-BR" b="1" i="0" dirty="0">
                <a:effectLst/>
                <a:latin typeface="-apple-system"/>
              </a:rPr>
            </a:br>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8</a:t>
            </a:fld>
            <a:endParaRPr lang="pt-BR"/>
          </a:p>
        </p:txBody>
      </p:sp>
      <p:sp>
        <p:nvSpPr>
          <p:cNvPr id="3" name="Rectangle 1">
            <a:extLst>
              <a:ext uri="{FF2B5EF4-FFF2-40B4-BE49-F238E27FC236}">
                <a16:creationId xmlns:a16="http://schemas.microsoft.com/office/drawing/2014/main" id="{A06273C3-49DB-4731-8D94-DF4042588D6B}"/>
              </a:ext>
            </a:extLst>
          </p:cNvPr>
          <p:cNvSpPr>
            <a:spLocks noChangeArrowheads="1"/>
          </p:cNvSpPr>
          <p:nvPr/>
        </p:nvSpPr>
        <p:spPr bwMode="auto">
          <a:xfrm>
            <a:off x="838200" y="1841778"/>
            <a:ext cx="9686926" cy="38779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pt-BR" altLang="pt-BR" sz="2800" dirty="0">
                <a:solidFill>
                  <a:schemeClr val="tx1"/>
                </a:solidFill>
                <a:latin typeface="Arial" panose="020B0604020202020204" pitchFamily="34" charset="0"/>
              </a:rPr>
              <a:t>3. </a:t>
            </a:r>
            <a:r>
              <a:rPr kumimoji="0" lang="pt-BR" altLang="pt-BR" sz="2800" b="1" i="0" u="none" strike="noStrike" cap="none" normalizeH="0" baseline="0" dirty="0">
                <a:ln>
                  <a:noFill/>
                </a:ln>
                <a:solidFill>
                  <a:srgbClr val="0A0A23"/>
                </a:solidFill>
                <a:effectLst/>
                <a:latin typeface="inherit"/>
              </a:rPr>
              <a:t>Baseado no uso ou não de recursão:</a:t>
            </a:r>
            <a:r>
              <a:rPr kumimoji="0" lang="pt-BR" altLang="pt-BR" sz="2800" b="0" i="0" u="none" strike="noStrike" cap="none" normalizeH="0" baseline="0" dirty="0">
                <a:ln>
                  <a:noFill/>
                </a:ln>
                <a:solidFill>
                  <a:srgbClr val="0A0A23"/>
                </a:solidFill>
                <a:effectLst/>
                <a:latin typeface="inherit"/>
              </a:rPr>
              <a:t> Alguns algoritmos, tal como </a:t>
            </a:r>
            <a:r>
              <a:rPr kumimoji="0" lang="pt-BR" altLang="pt-BR" sz="2800" b="0" i="0" u="none" strike="noStrike" cap="none" normalizeH="0" baseline="0" dirty="0" err="1">
                <a:ln>
                  <a:noFill/>
                </a:ln>
                <a:solidFill>
                  <a:srgbClr val="0A0A23"/>
                </a:solidFill>
                <a:effectLst/>
                <a:latin typeface="Roboto Mono"/>
              </a:rPr>
              <a:t>Quick</a:t>
            </a:r>
            <a:r>
              <a:rPr kumimoji="0" lang="pt-BR" altLang="pt-BR" sz="2800" b="0" i="0" u="none" strike="noStrike" cap="none" normalizeH="0" baseline="0" dirty="0">
                <a:ln>
                  <a:noFill/>
                </a:ln>
                <a:solidFill>
                  <a:srgbClr val="0A0A23"/>
                </a:solidFill>
                <a:effectLst/>
                <a:latin typeface="Roboto Mono"/>
              </a:rPr>
              <a:t> </a:t>
            </a:r>
            <a:r>
              <a:rPr kumimoji="0" lang="pt-BR" altLang="pt-BR" sz="2800" b="0" i="0" u="none" strike="noStrike" cap="none" normalizeH="0" baseline="0" dirty="0" err="1">
                <a:ln>
                  <a:noFill/>
                </a:ln>
                <a:solidFill>
                  <a:srgbClr val="0A0A23"/>
                </a:solidFill>
                <a:effectLst/>
                <a:latin typeface="Roboto Mono"/>
              </a:rPr>
              <a:t>Sort</a:t>
            </a:r>
            <a:r>
              <a:rPr kumimoji="0" lang="pt-BR" altLang="pt-BR" sz="2800" b="0" i="0" u="none" strike="noStrike" cap="none" normalizeH="0" baseline="0" dirty="0">
                <a:ln>
                  <a:noFill/>
                </a:ln>
                <a:solidFill>
                  <a:srgbClr val="0A0A23"/>
                </a:solidFill>
                <a:effectLst/>
                <a:latin typeface="inherit"/>
              </a:rPr>
              <a:t> (ordenação rápida), usa técnicas recursivas para ordenar uma entrada. Outros algoritmos de ordenação, como  </a:t>
            </a:r>
            <a:r>
              <a:rPr kumimoji="0" lang="pt-BR" altLang="pt-BR" sz="2800" b="0" i="0" u="none" strike="noStrike" cap="none" normalizeH="0" baseline="0" dirty="0" err="1">
                <a:ln>
                  <a:noFill/>
                </a:ln>
                <a:solidFill>
                  <a:srgbClr val="0A0A23"/>
                </a:solidFill>
                <a:effectLst/>
                <a:latin typeface="Roboto Mono"/>
              </a:rPr>
              <a:t>Selection</a:t>
            </a:r>
            <a:r>
              <a:rPr kumimoji="0" lang="pt-BR" altLang="pt-BR" sz="2800" b="0" i="0" u="none" strike="noStrike" cap="none" normalizeH="0" baseline="0" dirty="0">
                <a:ln>
                  <a:noFill/>
                </a:ln>
                <a:solidFill>
                  <a:srgbClr val="0A0A23"/>
                </a:solidFill>
                <a:effectLst/>
                <a:latin typeface="Roboto Mono"/>
              </a:rPr>
              <a:t> </a:t>
            </a:r>
            <a:r>
              <a:rPr kumimoji="0" lang="pt-BR" altLang="pt-BR" sz="2800" b="0" i="0" u="none" strike="noStrike" cap="none" normalizeH="0" baseline="0" dirty="0" err="1">
                <a:ln>
                  <a:noFill/>
                </a:ln>
                <a:solidFill>
                  <a:srgbClr val="0A0A23"/>
                </a:solidFill>
                <a:effectLst/>
                <a:latin typeface="Roboto Mono"/>
              </a:rPr>
              <a:t>Sort</a:t>
            </a:r>
            <a:r>
              <a:rPr kumimoji="0" lang="pt-BR" altLang="pt-BR" sz="2800" b="0" i="0" u="none" strike="noStrike" cap="none" normalizeH="0" baseline="0" dirty="0">
                <a:ln>
                  <a:noFill/>
                </a:ln>
                <a:solidFill>
                  <a:srgbClr val="0A0A23"/>
                </a:solidFill>
                <a:effectLst/>
                <a:latin typeface="inherit"/>
              </a:rPr>
              <a:t> (ordenação por seleção) ou  </a:t>
            </a:r>
            <a:r>
              <a:rPr kumimoji="0" lang="pt-BR" altLang="pt-BR" sz="2800" b="0" i="0" u="none" strike="noStrike" cap="none" normalizeH="0" baseline="0" dirty="0" err="1">
                <a:ln>
                  <a:noFill/>
                </a:ln>
                <a:solidFill>
                  <a:srgbClr val="0A0A23"/>
                </a:solidFill>
                <a:effectLst/>
                <a:latin typeface="Roboto Mono"/>
              </a:rPr>
              <a:t>Insertion</a:t>
            </a:r>
            <a:r>
              <a:rPr kumimoji="0" lang="pt-BR" altLang="pt-BR" sz="2800" b="0" i="0" u="none" strike="noStrike" cap="none" normalizeH="0" baseline="0" dirty="0">
                <a:ln>
                  <a:noFill/>
                </a:ln>
                <a:solidFill>
                  <a:srgbClr val="0A0A23"/>
                </a:solidFill>
                <a:effectLst/>
                <a:latin typeface="Roboto Mono"/>
              </a:rPr>
              <a:t> </a:t>
            </a:r>
            <a:r>
              <a:rPr kumimoji="0" lang="pt-BR" altLang="pt-BR" sz="2800" b="0" i="0" u="none" strike="noStrike" cap="none" normalizeH="0" baseline="0" dirty="0" err="1">
                <a:ln>
                  <a:noFill/>
                </a:ln>
                <a:solidFill>
                  <a:srgbClr val="0A0A23"/>
                </a:solidFill>
                <a:effectLst/>
                <a:latin typeface="Roboto Mono"/>
              </a:rPr>
              <a:t>Sort</a:t>
            </a:r>
            <a:r>
              <a:rPr kumimoji="0" lang="pt-BR" altLang="pt-BR" sz="2800" b="0" i="0" u="none" strike="noStrike" cap="none" normalizeH="0" baseline="0" dirty="0">
                <a:ln>
                  <a:noFill/>
                </a:ln>
                <a:solidFill>
                  <a:srgbClr val="0A0A23"/>
                </a:solidFill>
                <a:effectLst/>
                <a:latin typeface="inherit"/>
              </a:rPr>
              <a:t> (ordenação por inserção), usam técnicas não recursivas. Por fim, alguns algoritmos de ordenação, como  </a:t>
            </a:r>
            <a:r>
              <a:rPr kumimoji="0" lang="pt-BR" altLang="pt-BR" sz="2800" b="0" i="0" u="none" strike="noStrike" cap="none" normalizeH="0" baseline="0" dirty="0">
                <a:ln>
                  <a:noFill/>
                </a:ln>
                <a:solidFill>
                  <a:srgbClr val="0A0A23"/>
                </a:solidFill>
                <a:effectLst/>
                <a:latin typeface="Roboto Mono"/>
              </a:rPr>
              <a:t>Merge </a:t>
            </a:r>
            <a:r>
              <a:rPr kumimoji="0" lang="pt-BR" altLang="pt-BR" sz="2800" b="0" i="0" u="none" strike="noStrike" cap="none" normalizeH="0" baseline="0" dirty="0" err="1">
                <a:ln>
                  <a:noFill/>
                </a:ln>
                <a:solidFill>
                  <a:srgbClr val="0A0A23"/>
                </a:solidFill>
                <a:effectLst/>
                <a:latin typeface="Roboto Mono"/>
              </a:rPr>
              <a:t>Sort</a:t>
            </a:r>
            <a:r>
              <a:rPr kumimoji="0" lang="pt-BR" altLang="pt-BR" sz="2800" b="0" i="0" u="none" strike="noStrike" cap="none" normalizeH="0" baseline="0" dirty="0">
                <a:ln>
                  <a:noFill/>
                </a:ln>
                <a:solidFill>
                  <a:srgbClr val="0A0A23"/>
                </a:solidFill>
                <a:effectLst/>
                <a:latin typeface="inherit"/>
              </a:rPr>
              <a:t> (ordenação por intercalação), usam tanto técnicas recursivas como não recursivas para ordenar uma entrada.</a:t>
            </a:r>
            <a:endParaRPr kumimoji="0" lang="pt-BR" altLang="pt-BR" sz="2800" b="0" i="0" u="none" strike="noStrike" cap="none" normalizeH="0" baseline="0" dirty="0">
              <a:ln>
                <a:noFill/>
              </a:ln>
              <a:solidFill>
                <a:srgbClr val="0A0A23"/>
              </a:solidFill>
              <a:effectLst/>
              <a:latin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045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1138237"/>
            <a:ext cx="10515600" cy="687388"/>
          </a:xfrm>
        </p:spPr>
        <p:txBody>
          <a:bodyPr>
            <a:normAutofit fontScale="90000"/>
          </a:bodyPr>
          <a:lstStyle/>
          <a:p>
            <a:r>
              <a:rPr lang="pt-BR" b="1" i="0" dirty="0">
                <a:effectLst/>
                <a:latin typeface="-apple-system"/>
              </a:rPr>
              <a:t>Classificação de um algoritmo de ordenação</a:t>
            </a:r>
            <a:br>
              <a:rPr lang="pt-BR" b="1" i="0" dirty="0">
                <a:effectLst/>
                <a:latin typeface="-apple-system"/>
              </a:rPr>
            </a:br>
            <a:br>
              <a:rPr lang="pt-BR" b="1" i="0" dirty="0">
                <a:effectLst/>
                <a:latin typeface="-apple-system"/>
              </a:rPr>
            </a:br>
            <a:br>
              <a:rPr lang="pt-BR" b="1" i="0" dirty="0">
                <a:effectLst/>
                <a:latin typeface="-apple-system"/>
              </a:rPr>
            </a:br>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9</a:t>
            </a:fld>
            <a:endParaRPr lang="pt-BR"/>
          </a:p>
        </p:txBody>
      </p:sp>
      <p:sp>
        <p:nvSpPr>
          <p:cNvPr id="5" name="Rectangle 1">
            <a:extLst>
              <a:ext uri="{FF2B5EF4-FFF2-40B4-BE49-F238E27FC236}">
                <a16:creationId xmlns:a16="http://schemas.microsoft.com/office/drawing/2014/main" id="{9C26F1B2-1C08-4EA4-8F7D-5CEF949C0D03}"/>
              </a:ext>
            </a:extLst>
          </p:cNvPr>
          <p:cNvSpPr>
            <a:spLocks noChangeArrowheads="1"/>
          </p:cNvSpPr>
          <p:nvPr/>
        </p:nvSpPr>
        <p:spPr bwMode="auto">
          <a:xfrm>
            <a:off x="1075777" y="1691312"/>
            <a:ext cx="9839873" cy="38779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800" b="1" i="0" u="none" strike="noStrike" cap="none" normalizeH="0" baseline="0" dirty="0">
                <a:ln>
                  <a:noFill/>
                </a:ln>
                <a:solidFill>
                  <a:schemeClr val="tx1"/>
                </a:solidFill>
                <a:effectLst/>
                <a:latin typeface="Lato" panose="020F0502020204030203" pitchFamily="34" charset="0"/>
              </a:rPr>
              <a:t>4. Baseado na estabilidade:</a:t>
            </a:r>
            <a:r>
              <a:rPr kumimoji="0" lang="pt-BR" altLang="pt-BR" sz="2800" b="0" i="0" u="none" strike="noStrike" cap="none" normalizeH="0" baseline="0" dirty="0">
                <a:ln>
                  <a:noFill/>
                </a:ln>
                <a:solidFill>
                  <a:srgbClr val="0A0A23"/>
                </a:solidFill>
                <a:effectLst/>
                <a:latin typeface="Lato" panose="020F0502020204030203" pitchFamily="34" charset="0"/>
              </a:rPr>
              <a:t> Algoritmos de ordenação são considerados  </a:t>
            </a:r>
            <a:r>
              <a:rPr kumimoji="0" lang="pt-BR" altLang="pt-BR" sz="2800" b="0" i="0" u="none" strike="noStrike" cap="none" normalizeH="0" baseline="0" dirty="0">
                <a:ln>
                  <a:noFill/>
                </a:ln>
                <a:solidFill>
                  <a:srgbClr val="0A0A23"/>
                </a:solidFill>
                <a:effectLst/>
                <a:latin typeface="Roboto Mono"/>
              </a:rPr>
              <a:t>estáveis</a:t>
            </a:r>
            <a:r>
              <a:rPr kumimoji="0" lang="pt-BR" altLang="pt-BR" sz="2800" b="0" i="0" u="none" strike="noStrike" cap="none" normalizeH="0" baseline="0" dirty="0">
                <a:ln>
                  <a:noFill/>
                </a:ln>
                <a:solidFill>
                  <a:srgbClr val="0A0A23"/>
                </a:solidFill>
                <a:effectLst/>
                <a:latin typeface="Lato" panose="020F0502020204030203" pitchFamily="34" charset="0"/>
              </a:rPr>
              <a:t> se o algoritmo mantiver a ordem relativa dos elementos com chaves iguais. Em outras palavras, dois elementos equivalentes permanecem, após a ordenação, na mesma ordem em que estavam antes da ordenação.</a:t>
            </a:r>
            <a:br>
              <a:rPr kumimoji="0" lang="pt-BR" altLang="pt-BR" sz="2800" b="0" i="0" u="none" strike="noStrike" cap="none" normalizeH="0" baseline="0" dirty="0">
                <a:ln>
                  <a:noFill/>
                </a:ln>
                <a:solidFill>
                  <a:schemeClr val="tx1"/>
                </a:solidFill>
                <a:effectLst/>
              </a:rPr>
            </a:br>
            <a:r>
              <a:rPr kumimoji="0" lang="pt-BR" altLang="pt-BR" sz="2800" b="0" i="0" u="none" strike="noStrike" cap="none" normalizeH="0" baseline="0" dirty="0">
                <a:ln>
                  <a:noFill/>
                </a:ln>
                <a:solidFill>
                  <a:srgbClr val="0A0A23"/>
                </a:solidFill>
                <a:effectLst/>
                <a:latin typeface="Lato" panose="020F0502020204030203" pitchFamily="34" charset="0"/>
              </a:rPr>
              <a:t>Imagine, por exemplo, que tenhamos um </a:t>
            </a:r>
            <a:r>
              <a:rPr kumimoji="0" lang="pt-BR" altLang="pt-BR" sz="2800" b="0" i="0" u="none" strike="noStrike" cap="none" normalizeH="0" baseline="0" dirty="0" err="1">
                <a:ln>
                  <a:noFill/>
                </a:ln>
                <a:solidFill>
                  <a:srgbClr val="0A0A23"/>
                </a:solidFill>
                <a:effectLst/>
                <a:latin typeface="Lato" panose="020F0502020204030203" pitchFamily="34" charset="0"/>
              </a:rPr>
              <a:t>array</a:t>
            </a:r>
            <a:r>
              <a:rPr kumimoji="0" lang="pt-BR" altLang="pt-BR" sz="2800" b="0" i="0" u="none" strike="noStrike" cap="none" normalizeH="0" baseline="0" dirty="0">
                <a:ln>
                  <a:noFill/>
                </a:ln>
                <a:solidFill>
                  <a:srgbClr val="0A0A23"/>
                </a:solidFill>
                <a:effectLst/>
                <a:latin typeface="Lato" panose="020F0502020204030203" pitchFamily="34" charset="0"/>
              </a:rPr>
              <a:t> de entrada </a:t>
            </a:r>
            <a:r>
              <a:rPr kumimoji="0" lang="pt-BR" altLang="pt-BR" sz="2800" b="0" i="0" u="none" strike="noStrike" cap="none" normalizeH="0" baseline="0" dirty="0">
                <a:ln>
                  <a:noFill/>
                </a:ln>
                <a:solidFill>
                  <a:srgbClr val="0A0A23"/>
                </a:solidFill>
                <a:effectLst/>
                <a:latin typeface="Roboto Mono"/>
              </a:rPr>
              <a:t>[1, 2, 3, 2, 4]</a:t>
            </a:r>
            <a:r>
              <a:rPr kumimoji="0" lang="pt-BR" altLang="pt-BR" sz="2800" b="0" i="0" u="none" strike="noStrike" cap="none" normalizeH="0" baseline="0" dirty="0">
                <a:ln>
                  <a:noFill/>
                </a:ln>
                <a:solidFill>
                  <a:srgbClr val="0A0A23"/>
                </a:solidFill>
                <a:effectLst/>
                <a:latin typeface="Lato" panose="020F0502020204030203" pitchFamily="34" charset="0"/>
              </a:rPr>
              <a:t>. Para ajudar na diferenciação entre os valores que são iguais – neste caso, os </a:t>
            </a:r>
            <a:r>
              <a:rPr kumimoji="0" lang="pt-BR" altLang="pt-BR" sz="2800" b="0" i="0" u="none" strike="noStrike" cap="none" normalizeH="0" baseline="0" dirty="0">
                <a:ln>
                  <a:noFill/>
                </a:ln>
                <a:solidFill>
                  <a:srgbClr val="0A0A23"/>
                </a:solidFill>
                <a:effectLst/>
                <a:latin typeface="Roboto Mono"/>
              </a:rPr>
              <a:t>2</a:t>
            </a:r>
            <a:r>
              <a:rPr kumimoji="0" lang="pt-BR" altLang="pt-BR" sz="2800" b="0" i="0" u="none" strike="noStrike" cap="none" normalizeH="0" baseline="0" dirty="0">
                <a:ln>
                  <a:noFill/>
                </a:ln>
                <a:solidFill>
                  <a:srgbClr val="0A0A23"/>
                </a:solidFill>
                <a:effectLst/>
                <a:latin typeface="Lato" panose="020F0502020204030203" pitchFamily="34" charset="0"/>
              </a:rPr>
              <a:t> – usaremos </a:t>
            </a:r>
            <a:r>
              <a:rPr kumimoji="0" lang="pt-BR" altLang="pt-BR" sz="2800" b="0" i="0" u="none" strike="noStrike" cap="none" normalizeH="0" baseline="0" dirty="0">
                <a:ln>
                  <a:noFill/>
                </a:ln>
                <a:solidFill>
                  <a:srgbClr val="0A0A23"/>
                </a:solidFill>
                <a:effectLst/>
                <a:latin typeface="Roboto Mono"/>
              </a:rPr>
              <a:t>2a</a:t>
            </a:r>
            <a:r>
              <a:rPr kumimoji="0" lang="pt-BR" altLang="pt-BR" sz="2800" b="0" i="0" u="none" strike="noStrike" cap="none" normalizeH="0" baseline="0" dirty="0">
                <a:ln>
                  <a:noFill/>
                </a:ln>
                <a:solidFill>
                  <a:srgbClr val="0A0A23"/>
                </a:solidFill>
                <a:effectLst/>
                <a:latin typeface="Lato" panose="020F0502020204030203" pitchFamily="34" charset="0"/>
              </a:rPr>
              <a:t> e </a:t>
            </a:r>
            <a:r>
              <a:rPr kumimoji="0" lang="pt-BR" altLang="pt-BR" sz="2800" b="0" i="0" u="none" strike="noStrike" cap="none" normalizeH="0" baseline="0" dirty="0">
                <a:ln>
                  <a:noFill/>
                </a:ln>
                <a:solidFill>
                  <a:srgbClr val="0A0A23"/>
                </a:solidFill>
                <a:effectLst/>
                <a:latin typeface="Roboto Mono"/>
              </a:rPr>
              <a:t>2b</a:t>
            </a:r>
            <a:r>
              <a:rPr kumimoji="0" lang="pt-BR" altLang="pt-BR" sz="2800" b="0" i="0" u="none" strike="noStrike" cap="none" normalizeH="0" baseline="0" dirty="0">
                <a:ln>
                  <a:noFill/>
                </a:ln>
                <a:solidFill>
                  <a:srgbClr val="0A0A23"/>
                </a:solidFill>
                <a:effectLst/>
                <a:latin typeface="Lato" panose="020F0502020204030203" pitchFamily="34" charset="0"/>
              </a:rPr>
              <a:t>, tornando o </a:t>
            </a:r>
            <a:r>
              <a:rPr kumimoji="0" lang="pt-BR" altLang="pt-BR" sz="2800" b="0" i="0" u="none" strike="noStrike" cap="none" normalizeH="0" baseline="0" dirty="0" err="1">
                <a:ln>
                  <a:noFill/>
                </a:ln>
                <a:solidFill>
                  <a:srgbClr val="0A0A23"/>
                </a:solidFill>
                <a:effectLst/>
                <a:latin typeface="Lato" panose="020F0502020204030203" pitchFamily="34" charset="0"/>
              </a:rPr>
              <a:t>array</a:t>
            </a:r>
            <a:r>
              <a:rPr kumimoji="0" lang="pt-BR" altLang="pt-BR" sz="2800" b="0" i="0" u="none" strike="noStrike" cap="none" normalizeH="0" baseline="0" dirty="0">
                <a:ln>
                  <a:noFill/>
                </a:ln>
                <a:solidFill>
                  <a:srgbClr val="0A0A23"/>
                </a:solidFill>
                <a:effectLst/>
                <a:latin typeface="Lato" panose="020F0502020204030203" pitchFamily="34" charset="0"/>
              </a:rPr>
              <a:t>  </a:t>
            </a:r>
            <a:r>
              <a:rPr kumimoji="0" lang="pt-BR" altLang="pt-BR" sz="2800" b="0" i="0" u="none" strike="noStrike" cap="none" normalizeH="0" baseline="0" dirty="0">
                <a:ln>
                  <a:noFill/>
                </a:ln>
                <a:solidFill>
                  <a:srgbClr val="0A0A23"/>
                </a:solidFill>
                <a:effectLst/>
                <a:latin typeface="Roboto Mono"/>
              </a:rPr>
              <a:t>[1, 2a, 3, 2b, 4]</a:t>
            </a:r>
            <a:r>
              <a:rPr kumimoji="0" lang="pt-BR" altLang="pt-BR" sz="2800" b="0" i="0" u="none" strike="noStrike" cap="none" normalizeH="0" baseline="0" dirty="0">
                <a:ln>
                  <a:noFill/>
                </a:ln>
                <a:solidFill>
                  <a:srgbClr val="0A0A23"/>
                </a:solidFill>
                <a:effectLst/>
                <a:latin typeface="Lato" panose="020F0502020204030203" pitchFamily="34" charset="0"/>
              </a:rPr>
              <a:t>.</a:t>
            </a:r>
            <a:r>
              <a:rPr kumimoji="0" lang="pt-BR" altLang="pt-BR" sz="28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700531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7E4E6-A3C1-429A-A60C-B2C25FF40731}"/>
              </a:ext>
            </a:extLst>
          </p:cNvPr>
          <p:cNvSpPr>
            <a:spLocks noGrp="1"/>
          </p:cNvSpPr>
          <p:nvPr>
            <p:ph type="title"/>
          </p:nvPr>
        </p:nvSpPr>
        <p:spPr>
          <a:xfrm>
            <a:off x="838200" y="1138237"/>
            <a:ext cx="10515600" cy="687388"/>
          </a:xfrm>
        </p:spPr>
        <p:txBody>
          <a:bodyPr>
            <a:normAutofit fontScale="90000"/>
          </a:bodyPr>
          <a:lstStyle/>
          <a:p>
            <a:r>
              <a:rPr lang="pt-BR" b="1" i="0" dirty="0">
                <a:effectLst/>
                <a:latin typeface="-apple-system"/>
              </a:rPr>
              <a:t>Classificação de um algoritmo de ordenação</a:t>
            </a:r>
            <a:br>
              <a:rPr lang="pt-BR" b="1" i="0" dirty="0">
                <a:effectLst/>
                <a:latin typeface="-apple-system"/>
              </a:rPr>
            </a:br>
            <a:br>
              <a:rPr lang="pt-BR" b="1" i="0" dirty="0">
                <a:effectLst/>
                <a:latin typeface="-apple-system"/>
              </a:rPr>
            </a:br>
            <a:br>
              <a:rPr lang="pt-BR" b="1" i="0" dirty="0">
                <a:effectLst/>
                <a:latin typeface="-apple-system"/>
              </a:rPr>
            </a:br>
            <a:endParaRPr lang="pt-BR" dirty="0"/>
          </a:p>
        </p:txBody>
      </p:sp>
      <p:sp>
        <p:nvSpPr>
          <p:cNvPr id="4" name="Espaço Reservado para Número de Slide 3">
            <a:extLst>
              <a:ext uri="{FF2B5EF4-FFF2-40B4-BE49-F238E27FC236}">
                <a16:creationId xmlns:a16="http://schemas.microsoft.com/office/drawing/2014/main" id="{DDCC6EFF-EA4B-4AFE-B1C7-7173BB32BC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BR" smtClean="0"/>
              <a:t>10</a:t>
            </a:fld>
            <a:endParaRPr lang="pt-BR"/>
          </a:p>
        </p:txBody>
      </p:sp>
      <p:sp>
        <p:nvSpPr>
          <p:cNvPr id="3" name="Rectangle 1">
            <a:extLst>
              <a:ext uri="{FF2B5EF4-FFF2-40B4-BE49-F238E27FC236}">
                <a16:creationId xmlns:a16="http://schemas.microsoft.com/office/drawing/2014/main" id="{FEAA3DC9-6F4F-4291-A03B-A4DCB7162257}"/>
              </a:ext>
            </a:extLst>
          </p:cNvPr>
          <p:cNvSpPr>
            <a:spLocks noChangeArrowheads="1"/>
          </p:cNvSpPr>
          <p:nvPr/>
        </p:nvSpPr>
        <p:spPr bwMode="auto">
          <a:xfrm>
            <a:off x="903725" y="1355300"/>
            <a:ext cx="10431025"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600" b="1" i="0" u="none" strike="noStrike" cap="none" normalizeH="0" baseline="0" dirty="0">
                <a:ln>
                  <a:noFill/>
                </a:ln>
                <a:solidFill>
                  <a:schemeClr val="tx1"/>
                </a:solidFill>
                <a:effectLst/>
                <a:latin typeface="Lato" panose="020F0502020204030203" pitchFamily="34" charset="0"/>
              </a:rPr>
              <a:t>5. Baseado na necessidade de espaço adicional:</a:t>
            </a:r>
            <a:r>
              <a:rPr kumimoji="0" lang="pt-BR" altLang="pt-BR" sz="2600" b="0" i="0" u="none" strike="noStrike" cap="none" normalizeH="0" baseline="0" dirty="0">
                <a:ln>
                  <a:noFill/>
                </a:ln>
                <a:solidFill>
                  <a:srgbClr val="0A0A23"/>
                </a:solidFill>
                <a:effectLst/>
                <a:latin typeface="Lato" panose="020F0502020204030203" pitchFamily="34" charset="0"/>
              </a:rPr>
              <a:t> Alguns algoritmos podem ordenar uma lista sem criar outra inteiramente nova. Chamamos um algoritmo assim de algoritmo de ordenação  </a:t>
            </a:r>
            <a:r>
              <a:rPr kumimoji="0" lang="pt-BR" altLang="pt-BR" sz="2600" b="0" i="0" u="none" strike="noStrike" cap="none" normalizeH="0" baseline="0" dirty="0">
                <a:ln>
                  <a:noFill/>
                </a:ln>
                <a:solidFill>
                  <a:srgbClr val="0A0A23"/>
                </a:solidFill>
                <a:effectLst/>
                <a:latin typeface="Roboto Mono"/>
              </a:rPr>
              <a:t>in loco</a:t>
            </a:r>
            <a:r>
              <a:rPr kumimoji="0" lang="pt-BR" altLang="pt-BR" sz="2600" b="0" i="0" u="none" strike="noStrike" cap="none" normalizeH="0" baseline="0" dirty="0">
                <a:ln>
                  <a:noFill/>
                </a:ln>
                <a:solidFill>
                  <a:srgbClr val="0A0A23"/>
                </a:solidFill>
                <a:effectLst/>
                <a:latin typeface="Lato" panose="020F0502020204030203" pitchFamily="34" charset="0"/>
              </a:rPr>
              <a:t> e ele requer um espaço adicional </a:t>
            </a:r>
            <a:r>
              <a:rPr kumimoji="0" lang="pt-BR" altLang="pt-BR" sz="2600" b="0" i="0" u="none" strike="noStrike" cap="none" normalizeH="0" baseline="0" dirty="0">
                <a:ln>
                  <a:noFill/>
                </a:ln>
                <a:solidFill>
                  <a:srgbClr val="0A0A23"/>
                </a:solidFill>
                <a:effectLst/>
                <a:latin typeface="Roboto Mono"/>
              </a:rPr>
              <a:t>O(1)</a:t>
            </a:r>
            <a:r>
              <a:rPr kumimoji="0" lang="pt-BR" altLang="pt-BR" sz="2600" b="0" i="0" u="none" strike="noStrike" cap="none" normalizeH="0" baseline="0" dirty="0">
                <a:ln>
                  <a:noFill/>
                </a:ln>
                <a:solidFill>
                  <a:srgbClr val="0A0A23"/>
                </a:solidFill>
                <a:effectLst/>
                <a:latin typeface="Lato" panose="020F0502020204030203" pitchFamily="34" charset="0"/>
              </a:rPr>
              <a:t> constante para a ordenação. Quando os algoritmos não são </a:t>
            </a:r>
            <a:r>
              <a:rPr kumimoji="0" lang="pt-BR" altLang="pt-BR" sz="2600" b="0" i="0" u="none" strike="noStrike" cap="none" normalizeH="0" baseline="0" dirty="0">
                <a:ln>
                  <a:noFill/>
                </a:ln>
                <a:solidFill>
                  <a:srgbClr val="0A0A23"/>
                </a:solidFill>
                <a:effectLst/>
                <a:latin typeface="Roboto Mono"/>
              </a:rPr>
              <a:t>in loco</a:t>
            </a:r>
            <a:r>
              <a:rPr kumimoji="0" lang="pt-BR" altLang="pt-BR" sz="2600" b="0" i="0" u="none" strike="noStrike" cap="none" normalizeH="0" baseline="0" dirty="0">
                <a:ln>
                  <a:noFill/>
                </a:ln>
                <a:solidFill>
                  <a:srgbClr val="0A0A23"/>
                </a:solidFill>
                <a:effectLst/>
                <a:latin typeface="Lato" panose="020F0502020204030203" pitchFamily="34" charset="0"/>
              </a:rPr>
              <a:t>,  uma outra lista é criada durante a ordenação.</a:t>
            </a:r>
            <a:br>
              <a:rPr kumimoji="0" lang="pt-BR" altLang="pt-BR" sz="2600" b="0" i="0" u="none" strike="noStrike" cap="none" normalizeH="0" baseline="0" dirty="0">
                <a:ln>
                  <a:noFill/>
                </a:ln>
                <a:solidFill>
                  <a:schemeClr val="tx1"/>
                </a:solidFill>
                <a:effectLst/>
              </a:rPr>
            </a:br>
            <a:r>
              <a:rPr kumimoji="0" lang="pt-BR" altLang="pt-BR" sz="2600" b="0" i="0" u="none" strike="noStrike" cap="none" normalizeH="0" baseline="0" dirty="0" err="1">
                <a:ln>
                  <a:noFill/>
                </a:ln>
                <a:solidFill>
                  <a:srgbClr val="0A0A23"/>
                </a:solidFill>
                <a:effectLst/>
                <a:latin typeface="Roboto Mono"/>
              </a:rPr>
              <a:t>Insertion</a:t>
            </a:r>
            <a:r>
              <a:rPr kumimoji="0" lang="pt-BR" altLang="pt-BR" sz="2600" b="0" i="0" u="none" strike="noStrike" cap="none" normalizeH="0" baseline="0" dirty="0">
                <a:ln>
                  <a:noFill/>
                </a:ln>
                <a:solidFill>
                  <a:srgbClr val="0A0A23"/>
                </a:solidFill>
                <a:effectLst/>
                <a:latin typeface="Roboto Mono"/>
              </a:rPr>
              <a:t> </a:t>
            </a:r>
            <a:r>
              <a:rPr kumimoji="0" lang="pt-BR" altLang="pt-BR" sz="2600" b="0" i="0" u="none" strike="noStrike" cap="none" normalizeH="0" baseline="0" dirty="0" err="1">
                <a:ln>
                  <a:noFill/>
                </a:ln>
                <a:solidFill>
                  <a:srgbClr val="0A0A23"/>
                </a:solidFill>
                <a:effectLst/>
                <a:latin typeface="Roboto Mono"/>
              </a:rPr>
              <a:t>sort</a:t>
            </a:r>
            <a:r>
              <a:rPr kumimoji="0" lang="pt-BR" altLang="pt-BR" sz="2600" b="0" i="0" u="none" strike="noStrike" cap="none" normalizeH="0" baseline="0" dirty="0">
                <a:ln>
                  <a:noFill/>
                </a:ln>
                <a:solidFill>
                  <a:srgbClr val="0A0A23"/>
                </a:solidFill>
                <a:effectLst/>
                <a:latin typeface="Lato" panose="020F0502020204030203" pitchFamily="34" charset="0"/>
              </a:rPr>
              <a:t>  e  </a:t>
            </a:r>
            <a:r>
              <a:rPr kumimoji="0" lang="pt-BR" altLang="pt-BR" sz="2600" b="0" i="0" u="none" strike="noStrike" cap="none" normalizeH="0" baseline="0" dirty="0" err="1">
                <a:ln>
                  <a:noFill/>
                </a:ln>
                <a:solidFill>
                  <a:srgbClr val="0A0A23"/>
                </a:solidFill>
                <a:effectLst/>
                <a:latin typeface="Roboto Mono"/>
              </a:rPr>
              <a:t>Quick</a:t>
            </a:r>
            <a:r>
              <a:rPr kumimoji="0" lang="pt-BR" altLang="pt-BR" sz="2600" b="0" i="0" u="none" strike="noStrike" cap="none" normalizeH="0" baseline="0" dirty="0">
                <a:ln>
                  <a:noFill/>
                </a:ln>
                <a:solidFill>
                  <a:srgbClr val="0A0A23"/>
                </a:solidFill>
                <a:effectLst/>
                <a:latin typeface="Roboto Mono"/>
              </a:rPr>
              <a:t> </a:t>
            </a:r>
            <a:r>
              <a:rPr kumimoji="0" lang="pt-BR" altLang="pt-BR" sz="2600" b="0" i="0" u="none" strike="noStrike" cap="none" normalizeH="0" baseline="0" dirty="0" err="1">
                <a:ln>
                  <a:noFill/>
                </a:ln>
                <a:solidFill>
                  <a:srgbClr val="0A0A23"/>
                </a:solidFill>
                <a:effectLst/>
                <a:latin typeface="Roboto Mono"/>
              </a:rPr>
              <a:t>sort</a:t>
            </a:r>
            <a:r>
              <a:rPr kumimoji="0" lang="pt-BR" altLang="pt-BR" sz="2600" b="0" i="0" u="none" strike="noStrike" cap="none" normalizeH="0" baseline="0" dirty="0">
                <a:ln>
                  <a:noFill/>
                </a:ln>
                <a:solidFill>
                  <a:srgbClr val="0A0A23"/>
                </a:solidFill>
                <a:effectLst/>
                <a:latin typeface="Lato" panose="020F0502020204030203" pitchFamily="34" charset="0"/>
              </a:rPr>
              <a:t> realizam a ordenação </a:t>
            </a:r>
            <a:r>
              <a:rPr kumimoji="0" lang="pt-BR" altLang="pt-BR" sz="2600" b="0" i="0" u="none" strike="noStrike" cap="none" normalizeH="0" baseline="0" dirty="0">
                <a:ln>
                  <a:noFill/>
                </a:ln>
                <a:solidFill>
                  <a:srgbClr val="0A0A23"/>
                </a:solidFill>
                <a:effectLst/>
                <a:latin typeface="Roboto Mono"/>
              </a:rPr>
              <a:t>in loco</a:t>
            </a:r>
            <a:r>
              <a:rPr kumimoji="0" lang="pt-BR" altLang="pt-BR" sz="2600" b="0" i="0" u="none" strike="noStrike" cap="none" normalizeH="0" baseline="0" dirty="0">
                <a:ln>
                  <a:noFill/>
                </a:ln>
                <a:solidFill>
                  <a:srgbClr val="0A0A23"/>
                </a:solidFill>
                <a:effectLst/>
                <a:latin typeface="Lato" panose="020F0502020204030203" pitchFamily="34" charset="0"/>
              </a:rPr>
              <a:t>, já que os elementos são movidos em torno de um ponto fixo e não utilizam um </a:t>
            </a:r>
            <a:r>
              <a:rPr kumimoji="0" lang="pt-BR" altLang="pt-BR" sz="2600" b="0" i="0" u="none" strike="noStrike" cap="none" normalizeH="0" baseline="0" dirty="0" err="1">
                <a:ln>
                  <a:noFill/>
                </a:ln>
                <a:solidFill>
                  <a:srgbClr val="0A0A23"/>
                </a:solidFill>
                <a:effectLst/>
                <a:latin typeface="Lato" panose="020F0502020204030203" pitchFamily="34" charset="0"/>
              </a:rPr>
              <a:t>array</a:t>
            </a:r>
            <a:r>
              <a:rPr kumimoji="0" lang="pt-BR" altLang="pt-BR" sz="2600" b="0" i="0" u="none" strike="noStrike" cap="none" normalizeH="0" baseline="0" dirty="0">
                <a:ln>
                  <a:noFill/>
                </a:ln>
                <a:solidFill>
                  <a:srgbClr val="0A0A23"/>
                </a:solidFill>
                <a:effectLst/>
                <a:latin typeface="Lato" panose="020F0502020204030203" pitchFamily="34" charset="0"/>
              </a:rPr>
              <a:t> à parte durante o processo de ordenação.</a:t>
            </a:r>
            <a:r>
              <a:rPr kumimoji="0" lang="pt-BR" altLang="pt-BR" sz="2600" b="0" i="0" u="none" strike="noStrike" cap="none" normalizeH="0" baseline="0" dirty="0">
                <a:ln>
                  <a:noFill/>
                </a:ln>
                <a:solidFill>
                  <a:schemeClr val="tx1"/>
                </a:solidFill>
                <a:effectLst/>
              </a:rPr>
              <a:t> </a:t>
            </a:r>
            <a:r>
              <a:rPr kumimoji="0" lang="pt-BR" altLang="pt-BR" sz="2600" b="0" i="0" u="none" strike="noStrike" cap="none" normalizeH="0" baseline="0" dirty="0">
                <a:ln>
                  <a:noFill/>
                </a:ln>
                <a:solidFill>
                  <a:srgbClr val="0A0A23"/>
                </a:solidFill>
                <a:effectLst/>
                <a:latin typeface="Lato" panose="020F0502020204030203" pitchFamily="34" charset="0"/>
              </a:rPr>
              <a:t>No </a:t>
            </a:r>
            <a:r>
              <a:rPr kumimoji="0" lang="pt-BR" altLang="pt-BR" sz="2600" b="0" i="0" u="none" strike="noStrike" cap="none" normalizeH="0" baseline="0" dirty="0">
                <a:ln>
                  <a:noFill/>
                </a:ln>
                <a:solidFill>
                  <a:srgbClr val="0A0A23"/>
                </a:solidFill>
                <a:effectLst/>
                <a:latin typeface="Roboto Mono"/>
              </a:rPr>
              <a:t>Merge </a:t>
            </a:r>
            <a:r>
              <a:rPr kumimoji="0" lang="pt-BR" altLang="pt-BR" sz="2600" b="0" i="0" u="none" strike="noStrike" cap="none" normalizeH="0" baseline="0" dirty="0" err="1">
                <a:ln>
                  <a:noFill/>
                </a:ln>
                <a:solidFill>
                  <a:srgbClr val="0A0A23"/>
                </a:solidFill>
                <a:effectLst/>
                <a:latin typeface="Roboto Mono"/>
              </a:rPr>
              <a:t>sort</a:t>
            </a:r>
            <a:r>
              <a:rPr kumimoji="0" lang="pt-BR" altLang="pt-BR" sz="2600" b="0" i="0" u="none" strike="noStrike" cap="none" normalizeH="0" baseline="0" dirty="0">
                <a:ln>
                  <a:noFill/>
                </a:ln>
                <a:solidFill>
                  <a:srgbClr val="0A0A23"/>
                </a:solidFill>
                <a:effectLst/>
                <a:latin typeface="Lato" panose="020F0502020204030203" pitchFamily="34" charset="0"/>
              </a:rPr>
              <a:t>, por outro lado, o tamanho da entrada deve ser alocado de antemão para armazenar a saída durante o processo de ordenação. Isso exige um espaço adicional na memória para o processo de ordenação</a:t>
            </a:r>
            <a:endParaRPr kumimoji="0" lang="pt-BR" altLang="pt-BR" sz="2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76674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g15c85613d16_0_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08" name="Google Shape;108;g15c85613d16_0_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09" name="Google Shape;109;g15c85613d16_0_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BUBBLE SORT - BOLHA  </a:t>
            </a:r>
            <a:endParaRPr sz="800" b="0" i="0" u="none" strike="noStrike" cap="none">
              <a:solidFill>
                <a:srgbClr val="000000"/>
              </a:solidFill>
              <a:latin typeface="Arial"/>
              <a:ea typeface="Arial"/>
              <a:cs typeface="Arial"/>
              <a:sym typeface="Arial"/>
            </a:endParaRPr>
          </a:p>
        </p:txBody>
      </p:sp>
      <p:sp>
        <p:nvSpPr>
          <p:cNvPr id="110" name="Google Shape;110;g15c85613d16_0_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11</a:t>
            </a:fld>
            <a:endParaRPr sz="6000">
              <a:solidFill>
                <a:schemeClr val="lt1"/>
              </a:solidFill>
              <a:latin typeface="Impact"/>
              <a:ea typeface="Impact"/>
              <a:cs typeface="Impact"/>
              <a:sym typeface="Impact"/>
            </a:endParaRPr>
          </a:p>
        </p:txBody>
      </p:sp>
      <p:sp>
        <p:nvSpPr>
          <p:cNvPr id="111" name="Google Shape;111;g15c85613d16_0_1"/>
          <p:cNvSpPr txBox="1"/>
          <p:nvPr/>
        </p:nvSpPr>
        <p:spPr>
          <a:xfrm>
            <a:off x="993400" y="1273325"/>
            <a:ext cx="10936800" cy="48885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Notavelmente lento e é o mais simples dos algoritmos de ordenação;</a:t>
            </a:r>
            <a:endParaRPr sz="2800" b="0" i="0" u="none" strike="noStrike" cap="none" dirty="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Funcionamento:</a:t>
            </a:r>
            <a:endParaRPr sz="2800" b="0" i="0" u="none" strike="noStrike" cap="none" dirty="0">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Comparação de dois números</a:t>
            </a:r>
            <a:endParaRPr sz="2800" b="0" i="0" u="none" strike="noStrike" cap="none" dirty="0">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Se o da esquerda for maior, os elementos devem ser trocados</a:t>
            </a:r>
            <a:endParaRPr sz="2800" b="0" i="0" u="none" strike="noStrike" cap="none" dirty="0">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Desloca-se uma posição à direita</a:t>
            </a:r>
            <a:endParaRPr sz="2800" b="0" i="0" u="none" strike="noStrike" cap="none" dirty="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À medida que o algoritmo avança, os itens maiores “surgem como uma bolha” na extremidade superior do vetor;</a:t>
            </a:r>
            <a:endParaRPr sz="2800" b="0" i="0" u="none" strike="noStrike" cap="none" dirty="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dirty="0">
                <a:solidFill>
                  <a:schemeClr val="dk1"/>
                </a:solidFill>
                <a:latin typeface="Calibri"/>
                <a:ea typeface="Calibri"/>
                <a:cs typeface="Calibri"/>
                <a:sym typeface="Calibri"/>
              </a:rPr>
              <a:t>Visualização on-line: </a:t>
            </a:r>
            <a:r>
              <a:rPr lang="pt-BR" sz="2800" b="0" i="0" u="sng" strike="noStrike" cap="none" dirty="0">
                <a:solidFill>
                  <a:schemeClr val="hlink"/>
                </a:solidFill>
                <a:latin typeface="Calibri"/>
                <a:ea typeface="Calibri"/>
                <a:cs typeface="Calibri"/>
                <a:sym typeface="Calibri"/>
                <a:hlinkClick r:id="rId5"/>
              </a:rPr>
              <a:t>https://visualgo.net/en/sorting</a:t>
            </a:r>
            <a:r>
              <a:rPr lang="pt-BR" sz="2800" b="0" i="0" u="none" strike="noStrike" cap="none" dirty="0">
                <a:solidFill>
                  <a:schemeClr val="dk1"/>
                </a:solidFill>
                <a:latin typeface="Calibri"/>
                <a:ea typeface="Calibri"/>
                <a:cs typeface="Calibri"/>
                <a:sym typeface="Calibri"/>
              </a:rPr>
              <a:t> </a:t>
            </a: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12" name="Google Shape;112;g15c85613d16_0_1"/>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g15c85613d16_0_1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18" name="Google Shape;118;g15c85613d16_0_1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19" name="Google Shape;119;g15c85613d16_0_1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BUBBLE SORT - BOLHA  </a:t>
            </a:r>
            <a:endParaRPr sz="800" b="0" i="0" u="none" strike="noStrike" cap="none">
              <a:solidFill>
                <a:srgbClr val="000000"/>
              </a:solidFill>
              <a:latin typeface="Arial"/>
              <a:ea typeface="Arial"/>
              <a:cs typeface="Arial"/>
              <a:sym typeface="Arial"/>
            </a:endParaRPr>
          </a:p>
        </p:txBody>
      </p:sp>
      <p:sp>
        <p:nvSpPr>
          <p:cNvPr id="120" name="Google Shape;120;g15c85613d16_0_1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12</a:t>
            </a:fld>
            <a:endParaRPr sz="6000">
              <a:solidFill>
                <a:schemeClr val="lt1"/>
              </a:solidFill>
              <a:latin typeface="Impact"/>
              <a:ea typeface="Impact"/>
              <a:cs typeface="Impact"/>
              <a:sym typeface="Impact"/>
            </a:endParaRPr>
          </a:p>
        </p:txBody>
      </p:sp>
      <p:sp>
        <p:nvSpPr>
          <p:cNvPr id="121" name="Google Shape;121;g15c85613d16_0_11"/>
          <p:cNvSpPr txBox="1"/>
          <p:nvPr/>
        </p:nvSpPr>
        <p:spPr>
          <a:xfrm>
            <a:off x="993400" y="1273325"/>
            <a:ext cx="10936800" cy="49839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 algoritmo com 10 elementos faz 9 comparações na primeira passagem, 8 na segunda, 7 na terceira, etc (n – 1, n – 2, n – 3);</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Para 10 itens: 9 + 8 + 7 + 6 + 5 + 4 + 3 + 2 + 1 = 45 comparações;</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 algoritmo faz em média N²/2 comparações;</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Há menos trocas do que há comparações, pois dois elementos serão trocados somente se precisarem;</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Se os dados forem aleatórios, uma troca será necessária mais ou menos N²/4;</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No pior caso, com os dados em modo inverso, uma troca será necessária a cada comparação.</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15c85613d16_0_2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27" name="Google Shape;127;g15c85613d16_0_2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28" name="Google Shape;128;g15c85613d16_0_22"/>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BUBBLE SORT - ALGORITMO  </a:t>
            </a:r>
            <a:endParaRPr sz="800" b="0" i="0" u="none" strike="noStrike" cap="none">
              <a:solidFill>
                <a:srgbClr val="000000"/>
              </a:solidFill>
              <a:latin typeface="Arial"/>
              <a:ea typeface="Arial"/>
              <a:cs typeface="Arial"/>
              <a:sym typeface="Arial"/>
            </a:endParaRPr>
          </a:p>
        </p:txBody>
      </p:sp>
      <p:sp>
        <p:nvSpPr>
          <p:cNvPr id="129" name="Google Shape;129;g15c85613d16_0_22"/>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13</a:t>
            </a:fld>
            <a:endParaRPr sz="6000">
              <a:solidFill>
                <a:schemeClr val="lt1"/>
              </a:solidFill>
              <a:latin typeface="Impact"/>
              <a:ea typeface="Impact"/>
              <a:cs typeface="Impact"/>
              <a:sym typeface="Impact"/>
            </a:endParaRPr>
          </a:p>
        </p:txBody>
      </p:sp>
      <p:sp>
        <p:nvSpPr>
          <p:cNvPr id="130" name="Google Shape;130;g15c85613d16_0_22"/>
          <p:cNvSpPr txBox="1"/>
          <p:nvPr/>
        </p:nvSpPr>
        <p:spPr>
          <a:xfrm>
            <a:off x="993400" y="1273325"/>
            <a:ext cx="10936800" cy="4830000"/>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buble_sort(array)</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n &lt;- tamanho(array)</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para cada</a:t>
            </a:r>
            <a:r>
              <a:rPr lang="pt-BR" sz="2800" b="0" i="0" u="none" strike="noStrike" cap="none">
                <a:solidFill>
                  <a:schemeClr val="dk1"/>
                </a:solidFill>
                <a:latin typeface="Calibri"/>
                <a:ea typeface="Calibri"/>
                <a:cs typeface="Calibri"/>
                <a:sym typeface="Calibri"/>
              </a:rPr>
              <a:t> </a:t>
            </a:r>
            <a:r>
              <a:rPr lang="pt-BR" sz="2800" b="0" i="1" u="none" strike="noStrike" cap="none">
                <a:solidFill>
                  <a:schemeClr val="dk1"/>
                </a:solidFill>
                <a:latin typeface="Calibri"/>
                <a:ea typeface="Calibri"/>
                <a:cs typeface="Calibri"/>
                <a:sym typeface="Calibri"/>
              </a:rPr>
              <a:t>i</a:t>
            </a:r>
            <a:r>
              <a:rPr lang="pt-BR" sz="2800" b="0" i="0" u="none" strike="noStrike" cap="none">
                <a:solidFill>
                  <a:schemeClr val="dk1"/>
                </a:solidFill>
                <a:latin typeface="Calibri"/>
                <a:ea typeface="Calibri"/>
                <a:cs typeface="Calibri"/>
                <a:sym typeface="Calibri"/>
              </a:rPr>
              <a:t> no range(n) </a:t>
            </a:r>
            <a:r>
              <a:rPr lang="pt-BR" sz="2800" b="1" i="0" u="none" strike="noStrike" cap="none">
                <a:solidFill>
                  <a:schemeClr val="dk1"/>
                </a:solidFill>
                <a:latin typeface="Calibri"/>
                <a:ea typeface="Calibri"/>
                <a:cs typeface="Calibri"/>
                <a:sym typeface="Calibri"/>
              </a:rPr>
              <a:t>faça</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	</a:t>
            </a:r>
            <a:r>
              <a:rPr lang="pt-BR" sz="2800" b="1" i="0" u="none" strike="noStrike" cap="none">
                <a:solidFill>
                  <a:schemeClr val="dk1"/>
                </a:solidFill>
                <a:latin typeface="Calibri"/>
                <a:ea typeface="Calibri"/>
                <a:cs typeface="Calibri"/>
                <a:sym typeface="Calibri"/>
              </a:rPr>
              <a:t>para cada</a:t>
            </a:r>
            <a:r>
              <a:rPr lang="pt-BR" sz="2800" b="0" i="0" u="none" strike="noStrike" cap="none">
                <a:solidFill>
                  <a:schemeClr val="dk1"/>
                </a:solidFill>
                <a:latin typeface="Calibri"/>
                <a:ea typeface="Calibri"/>
                <a:cs typeface="Calibri"/>
                <a:sym typeface="Calibri"/>
              </a:rPr>
              <a:t>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no range(0, n - </a:t>
            </a:r>
            <a:r>
              <a:rPr lang="pt-BR" sz="2800" b="0" i="1" u="none" strike="noStrike" cap="none">
                <a:solidFill>
                  <a:schemeClr val="dk1"/>
                </a:solidFill>
                <a:latin typeface="Calibri"/>
                <a:ea typeface="Calibri"/>
                <a:cs typeface="Calibri"/>
                <a:sym typeface="Calibri"/>
              </a:rPr>
              <a:t>i </a:t>
            </a:r>
            <a:r>
              <a:rPr lang="pt-BR" sz="2800" b="0" i="0" u="none" strike="noStrike" cap="none">
                <a:solidFill>
                  <a:schemeClr val="dk1"/>
                </a:solidFill>
                <a:latin typeface="Calibri"/>
                <a:ea typeface="Calibri"/>
                <a:cs typeface="Calibri"/>
                <a:sym typeface="Calibri"/>
              </a:rPr>
              <a:t>- 1) </a:t>
            </a:r>
            <a:r>
              <a:rPr lang="pt-BR" sz="2800" b="1" i="0" u="none" strike="noStrike" cap="none">
                <a:solidFill>
                  <a:schemeClr val="dk1"/>
                </a:solidFill>
                <a:latin typeface="Calibri"/>
                <a:ea typeface="Calibri"/>
                <a:cs typeface="Calibri"/>
                <a:sym typeface="Calibri"/>
              </a:rPr>
              <a:t>faça</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		</a:t>
            </a:r>
            <a:r>
              <a:rPr lang="pt-BR" sz="2800" b="1" i="0" u="none" strike="noStrike" cap="none">
                <a:solidFill>
                  <a:schemeClr val="dk1"/>
                </a:solidFill>
                <a:latin typeface="Calibri"/>
                <a:ea typeface="Calibri"/>
                <a:cs typeface="Calibri"/>
                <a:sym typeface="Calibri"/>
              </a:rPr>
              <a:t>se </a:t>
            </a:r>
            <a:r>
              <a:rPr lang="pt-BR" sz="2800" b="0" i="0" u="none" strike="noStrike" cap="none">
                <a:solidFill>
                  <a:schemeClr val="dk1"/>
                </a:solidFill>
                <a:latin typeface="Calibri"/>
                <a:ea typeface="Calibri"/>
                <a:cs typeface="Calibri"/>
                <a:sym typeface="Calibri"/>
              </a:rPr>
              <a:t>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&gt; 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 </a:t>
            </a:r>
            <a:r>
              <a:rPr lang="pt-BR" sz="2800" b="1" i="0" u="none" strike="noStrike" cap="none">
                <a:solidFill>
                  <a:schemeClr val="dk1"/>
                </a:solidFill>
                <a:latin typeface="Calibri"/>
                <a:ea typeface="Calibri"/>
                <a:cs typeface="Calibri"/>
                <a:sym typeface="Calibri"/>
              </a:rPr>
              <a:t>então</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137160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temp &lt;- array[ </a:t>
            </a:r>
            <a:r>
              <a:rPr lang="pt-BR" sz="2800" b="0" i="1" u="none" strike="noStrike" cap="none">
                <a:solidFill>
                  <a:schemeClr val="dk1"/>
                </a:solidFill>
                <a:latin typeface="Calibri"/>
                <a:ea typeface="Calibri"/>
                <a:cs typeface="Calibri"/>
                <a:sym typeface="Calibri"/>
              </a:rPr>
              <a:t>j </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137160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&lt;- array[</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a:t>
            </a:r>
            <a:endParaRPr sz="2800" b="0" i="0" u="none" strike="noStrike" cap="none">
              <a:solidFill>
                <a:schemeClr val="dk1"/>
              </a:solidFill>
              <a:latin typeface="Calibri"/>
              <a:ea typeface="Calibri"/>
              <a:cs typeface="Calibri"/>
              <a:sym typeface="Calibri"/>
            </a:endParaRPr>
          </a:p>
          <a:p>
            <a:pPr marL="137160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array[</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 &lt;- temp</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return </a:t>
            </a:r>
            <a:r>
              <a:rPr lang="pt-BR" sz="2800" b="0" i="0" u="none" strike="noStrike" cap="none">
                <a:solidFill>
                  <a:schemeClr val="dk1"/>
                </a:solidFill>
                <a:latin typeface="Calibri"/>
                <a:ea typeface="Calibri"/>
                <a:cs typeface="Calibri"/>
                <a:sym typeface="Calibri"/>
              </a:rPr>
              <a:t>array </a:t>
            </a:r>
            <a:endParaRPr sz="18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g15c85613d16_0_22"/>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g15c85613d16_0_3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37" name="Google Shape;137;g15c85613d16_0_3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38" name="Google Shape;138;g15c85613d16_0_3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INSERTION SORT </a:t>
            </a:r>
            <a:endParaRPr sz="800" b="0" i="0" u="none" strike="noStrike" cap="none">
              <a:solidFill>
                <a:srgbClr val="000000"/>
              </a:solidFill>
              <a:latin typeface="Arial"/>
              <a:ea typeface="Arial"/>
              <a:cs typeface="Arial"/>
              <a:sym typeface="Arial"/>
            </a:endParaRPr>
          </a:p>
        </p:txBody>
      </p:sp>
      <p:sp>
        <p:nvSpPr>
          <p:cNvPr id="139" name="Google Shape;139;g15c85613d16_0_3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14</a:t>
            </a:fld>
            <a:endParaRPr sz="6000">
              <a:solidFill>
                <a:schemeClr val="lt1"/>
              </a:solidFill>
              <a:latin typeface="Impact"/>
              <a:ea typeface="Impact"/>
              <a:cs typeface="Impact"/>
              <a:sym typeface="Impact"/>
            </a:endParaRPr>
          </a:p>
        </p:txBody>
      </p:sp>
      <p:sp>
        <p:nvSpPr>
          <p:cNvPr id="140" name="Google Shape;140;g15c85613d16_0_31"/>
          <p:cNvSpPr txBox="1"/>
          <p:nvPr/>
        </p:nvSpPr>
        <p:spPr>
          <a:xfrm>
            <a:off x="993400" y="1273325"/>
            <a:ext cx="10936800" cy="54798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É cerca de duas vezes mais rápido que a ordenação pelo método da bolha em arrays randômicos;</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Pode ser mais lento que o método da bolha caso o array já esteja ordenado de forma inversa;</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Funcionamento: </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Há um marcador em algum lugar no meio do vetor</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Os elementos à esquerda do marcador estão parcialmente ordenados (estão ordenados entre eles, porém não estão em suas posições finais)</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Os elementos à direita do marcador não estão ordenados</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Visualização on-line: </a:t>
            </a:r>
            <a:r>
              <a:rPr lang="pt-BR" sz="2800" b="0" i="0" u="sng" strike="noStrike" cap="none">
                <a:solidFill>
                  <a:schemeClr val="hlink"/>
                </a:solidFill>
                <a:latin typeface="Calibri"/>
                <a:ea typeface="Calibri"/>
                <a:cs typeface="Calibri"/>
                <a:sym typeface="Calibri"/>
                <a:hlinkClick r:id="rId5"/>
              </a:rPr>
              <a:t>https://visualgo.net/en/sorting</a:t>
            </a:r>
            <a:r>
              <a:rPr lang="pt-BR" sz="2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sp>
        <p:nvSpPr>
          <p:cNvPr id="141" name="Google Shape;141;g15c85613d16_0_31"/>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g15c85613d16_0_4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7" name="Google Shape;147;g15c85613d16_0_4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48" name="Google Shape;148;g15c85613d16_0_42"/>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INSERTION SORT </a:t>
            </a:r>
            <a:endParaRPr sz="800" b="0" i="0" u="none" strike="noStrike" cap="none">
              <a:solidFill>
                <a:srgbClr val="000000"/>
              </a:solidFill>
              <a:latin typeface="Arial"/>
              <a:ea typeface="Arial"/>
              <a:cs typeface="Arial"/>
              <a:sym typeface="Arial"/>
            </a:endParaRPr>
          </a:p>
        </p:txBody>
      </p:sp>
      <p:sp>
        <p:nvSpPr>
          <p:cNvPr id="149" name="Google Shape;149;g15c85613d16_0_42"/>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15</a:t>
            </a:fld>
            <a:endParaRPr sz="6000">
              <a:solidFill>
                <a:schemeClr val="lt1"/>
              </a:solidFill>
              <a:latin typeface="Impact"/>
              <a:ea typeface="Impact"/>
              <a:cs typeface="Impact"/>
              <a:sym typeface="Impact"/>
            </a:endParaRPr>
          </a:p>
        </p:txBody>
      </p:sp>
      <p:sp>
        <p:nvSpPr>
          <p:cNvPr id="150" name="Google Shape;150;g15c85613d16_0_42"/>
          <p:cNvSpPr txBox="1"/>
          <p:nvPr/>
        </p:nvSpPr>
        <p:spPr>
          <a:xfrm>
            <a:off x="993400" y="1273325"/>
            <a:ext cx="10936800" cy="54798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Na primeira passagem, é comparado no máximo um item. Na segunda passagem, máximo de dois itens, etc.</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1 + 2 + 3 + ... + N – 1 = N*(N-1)/2</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Como em cada passagem uma média de apenas metade do número máximo de itens é de fato comparada antes do ponto de inserção ser encontrado, então:</a:t>
            </a:r>
            <a:endParaRPr sz="2800" b="0" i="0" u="none" strike="noStrike" cap="none">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N*(N-1)/4</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O número de cópias é aproximadamente o mesmo que o número de comparações;</a:t>
            </a:r>
            <a:endParaRPr sz="2800" b="0" i="0" u="none" strike="noStrike" cap="none">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Para dados em ordem inversa, todas as comparações e deslocamentos são executados, podendo ser mais lento que o método bolha.</a:t>
            </a:r>
            <a:endParaRPr sz="1800" b="0" i="0" u="none" strike="noStrike" cap="none">
              <a:solidFill>
                <a:schemeClr val="dk1"/>
              </a:solidFill>
              <a:latin typeface="Calibri"/>
              <a:ea typeface="Calibri"/>
              <a:cs typeface="Calibri"/>
              <a:sym typeface="Calibri"/>
            </a:endParaRPr>
          </a:p>
        </p:txBody>
      </p:sp>
      <p:sp>
        <p:nvSpPr>
          <p:cNvPr id="151" name="Google Shape;151;g15c85613d16_0_42"/>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g15c85613d16_0_5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57" name="Google Shape;157;g15c85613d16_0_5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58" name="Google Shape;158;g15c85613d16_0_54"/>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b="0" i="0" u="none" strike="noStrike" cap="none">
                <a:solidFill>
                  <a:srgbClr val="003958"/>
                </a:solidFill>
                <a:latin typeface="Calibri"/>
                <a:ea typeface="Calibri"/>
                <a:cs typeface="Calibri"/>
                <a:sym typeface="Calibri"/>
              </a:rPr>
              <a:t>INSERTION SORT - ALGORITMO  </a:t>
            </a:r>
            <a:endParaRPr sz="800" b="0" i="0" u="none" strike="noStrike" cap="none">
              <a:solidFill>
                <a:srgbClr val="000000"/>
              </a:solidFill>
              <a:latin typeface="Arial"/>
              <a:ea typeface="Arial"/>
              <a:cs typeface="Arial"/>
              <a:sym typeface="Arial"/>
            </a:endParaRPr>
          </a:p>
        </p:txBody>
      </p:sp>
      <p:sp>
        <p:nvSpPr>
          <p:cNvPr id="159" name="Google Shape;159;g15c85613d16_0_54"/>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16</a:t>
            </a:fld>
            <a:endParaRPr sz="6000">
              <a:solidFill>
                <a:schemeClr val="lt1"/>
              </a:solidFill>
              <a:latin typeface="Impact"/>
              <a:ea typeface="Impact"/>
              <a:cs typeface="Impact"/>
              <a:sym typeface="Impact"/>
            </a:endParaRPr>
          </a:p>
        </p:txBody>
      </p:sp>
      <p:sp>
        <p:nvSpPr>
          <p:cNvPr id="160" name="Google Shape;160;g15c85613d16_0_54"/>
          <p:cNvSpPr txBox="1"/>
          <p:nvPr/>
        </p:nvSpPr>
        <p:spPr>
          <a:xfrm>
            <a:off x="993400" y="1273325"/>
            <a:ext cx="10936800" cy="5325600"/>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insertion_sort(array)</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n &lt;- tamanho(array)</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para cada</a:t>
            </a:r>
            <a:r>
              <a:rPr lang="pt-BR" sz="2800" b="0" i="0" u="none" strike="noStrike" cap="none">
                <a:solidFill>
                  <a:schemeClr val="dk1"/>
                </a:solidFill>
                <a:latin typeface="Calibri"/>
                <a:ea typeface="Calibri"/>
                <a:cs typeface="Calibri"/>
                <a:sym typeface="Calibri"/>
              </a:rPr>
              <a:t> </a:t>
            </a:r>
            <a:r>
              <a:rPr lang="pt-BR" sz="2800" b="0" i="1" u="none" strike="noStrike" cap="none">
                <a:solidFill>
                  <a:schemeClr val="dk1"/>
                </a:solidFill>
                <a:latin typeface="Calibri"/>
                <a:ea typeface="Calibri"/>
                <a:cs typeface="Calibri"/>
                <a:sym typeface="Calibri"/>
              </a:rPr>
              <a:t>i</a:t>
            </a:r>
            <a:r>
              <a:rPr lang="pt-BR" sz="2800" b="0" i="0" u="none" strike="noStrike" cap="none">
                <a:solidFill>
                  <a:schemeClr val="dk1"/>
                </a:solidFill>
                <a:latin typeface="Calibri"/>
                <a:ea typeface="Calibri"/>
                <a:cs typeface="Calibri"/>
                <a:sym typeface="Calibri"/>
              </a:rPr>
              <a:t> no range(1, n) </a:t>
            </a:r>
            <a:r>
              <a:rPr lang="pt-BR" sz="2800" b="1" i="0" u="none" strike="noStrike" cap="none">
                <a:solidFill>
                  <a:schemeClr val="dk1"/>
                </a:solidFill>
                <a:latin typeface="Calibri"/>
                <a:ea typeface="Calibri"/>
                <a:cs typeface="Calibri"/>
                <a:sym typeface="Calibri"/>
              </a:rPr>
              <a:t>faça</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	marcado &lt;- array[ </a:t>
            </a:r>
            <a:r>
              <a:rPr lang="pt-BR" sz="2800" b="0" i="1" u="none" strike="noStrike" cap="none">
                <a:solidFill>
                  <a:schemeClr val="dk1"/>
                </a:solidFill>
                <a:latin typeface="Calibri"/>
                <a:ea typeface="Calibri"/>
                <a:cs typeface="Calibri"/>
                <a:sym typeface="Calibri"/>
              </a:rPr>
              <a:t>i</a:t>
            </a:r>
            <a:r>
              <a:rPr lang="pt-BR" sz="2800" b="0" i="0" u="none" strike="noStrike" cap="none">
                <a:solidFill>
                  <a:schemeClr val="dk1"/>
                </a:solidFill>
                <a:latin typeface="Calibri"/>
                <a:ea typeface="Calibri"/>
                <a:cs typeface="Calibri"/>
                <a:sym typeface="Calibri"/>
              </a:rPr>
              <a:t> ]</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&lt;- </a:t>
            </a:r>
            <a:r>
              <a:rPr lang="pt-BR" sz="2800" b="0" i="1" u="none" strike="noStrike" cap="none">
                <a:solidFill>
                  <a:schemeClr val="dk1"/>
                </a:solidFill>
                <a:latin typeface="Calibri"/>
                <a:ea typeface="Calibri"/>
                <a:cs typeface="Calibri"/>
                <a:sym typeface="Calibri"/>
              </a:rPr>
              <a:t>i</a:t>
            </a:r>
            <a:r>
              <a:rPr lang="pt-BR" sz="2800" b="0" i="0" u="none" strike="noStrike" cap="none">
                <a:solidFill>
                  <a:schemeClr val="dk1"/>
                </a:solidFill>
                <a:latin typeface="Calibri"/>
                <a:ea typeface="Calibri"/>
                <a:cs typeface="Calibri"/>
                <a:sym typeface="Calibri"/>
              </a:rPr>
              <a:t> - 1</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	</a:t>
            </a:r>
            <a:r>
              <a:rPr lang="pt-BR" sz="2800" b="1" i="0" u="none" strike="noStrike" cap="none">
                <a:solidFill>
                  <a:schemeClr val="dk1"/>
                </a:solidFill>
                <a:latin typeface="Calibri"/>
                <a:ea typeface="Calibri"/>
                <a:cs typeface="Calibri"/>
                <a:sym typeface="Calibri"/>
              </a:rPr>
              <a:t>enquanto </a:t>
            </a:r>
            <a:r>
              <a:rPr lang="pt-BR" sz="2800" b="0" i="1" u="none" strike="noStrike" cap="none">
                <a:solidFill>
                  <a:schemeClr val="dk1"/>
                </a:solidFill>
                <a:latin typeface="Calibri"/>
                <a:ea typeface="Calibri"/>
                <a:cs typeface="Calibri"/>
                <a:sym typeface="Calibri"/>
              </a:rPr>
              <a:t>j &gt;= 0 </a:t>
            </a:r>
            <a:r>
              <a:rPr lang="pt-BR" sz="2800" b="0" i="0" u="none" strike="noStrike" cap="none">
                <a:solidFill>
                  <a:schemeClr val="dk1"/>
                </a:solidFill>
                <a:latin typeface="Calibri"/>
                <a:ea typeface="Calibri"/>
                <a:cs typeface="Calibri"/>
                <a:sym typeface="Calibri"/>
              </a:rPr>
              <a:t> </a:t>
            </a:r>
            <a:r>
              <a:rPr lang="pt-BR" sz="2800" b="1" i="0" u="none" strike="noStrike" cap="none">
                <a:solidFill>
                  <a:schemeClr val="dk1"/>
                </a:solidFill>
                <a:latin typeface="Calibri"/>
                <a:ea typeface="Calibri"/>
                <a:cs typeface="Calibri"/>
                <a:sym typeface="Calibri"/>
              </a:rPr>
              <a:t>E</a:t>
            </a:r>
            <a:r>
              <a:rPr lang="pt-BR" sz="2800" b="0" i="0" u="none" strike="noStrike" cap="none">
                <a:solidFill>
                  <a:schemeClr val="dk1"/>
                </a:solidFill>
                <a:latin typeface="Calibri"/>
                <a:ea typeface="Calibri"/>
                <a:cs typeface="Calibri"/>
                <a:sym typeface="Calibri"/>
              </a:rPr>
              <a:t> marcado &lt; 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a:t>
            </a:r>
            <a:r>
              <a:rPr lang="pt-BR" sz="2800" b="1" i="0" u="none" strike="noStrike" cap="none">
                <a:solidFill>
                  <a:schemeClr val="dk1"/>
                </a:solidFill>
                <a:latin typeface="Calibri"/>
                <a:ea typeface="Calibri"/>
                <a:cs typeface="Calibri"/>
                <a:sym typeface="Calibri"/>
              </a:rPr>
              <a:t>então</a:t>
            </a:r>
            <a:r>
              <a:rPr lang="pt-BR" sz="2800" b="0" i="0" u="none" strike="noStrike" cap="none">
                <a:solidFill>
                  <a:schemeClr val="dk1"/>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a:p>
            <a:pPr marL="914400" marR="0" lvl="0" indent="45720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 &lt;- array[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a:t>
            </a:r>
            <a:endParaRPr sz="2800" b="0" i="0" u="none" strike="noStrike" cap="none">
              <a:solidFill>
                <a:schemeClr val="dk1"/>
              </a:solidFill>
              <a:latin typeface="Calibri"/>
              <a:ea typeface="Calibri"/>
              <a:cs typeface="Calibri"/>
              <a:sym typeface="Calibri"/>
            </a:endParaRPr>
          </a:p>
          <a:p>
            <a:pPr marL="914400" marR="0" lvl="0" indent="457200" algn="just" rtl="0">
              <a:lnSpc>
                <a:spcPct val="115000"/>
              </a:lnSpc>
              <a:spcBef>
                <a:spcPts val="0"/>
              </a:spcBef>
              <a:spcAft>
                <a:spcPts val="0"/>
              </a:spcAft>
              <a:buClr>
                <a:srgbClr val="000000"/>
              </a:buClr>
              <a:buSzPts val="2800"/>
              <a:buFont typeface="Arial"/>
              <a:buNone/>
            </a:pP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&lt;- </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a:t>
            </a:r>
            <a:endParaRPr sz="2800" b="0" i="0" u="none" strike="noStrike" cap="none">
              <a:solidFill>
                <a:schemeClr val="dk1"/>
              </a:solidFill>
              <a:latin typeface="Calibri"/>
              <a:ea typeface="Calibri"/>
              <a:cs typeface="Calibri"/>
              <a:sym typeface="Calibri"/>
            </a:endParaRPr>
          </a:p>
          <a:p>
            <a:pPr marL="914400" marR="0" lvl="0" indent="0" algn="just" rtl="0">
              <a:lnSpc>
                <a:spcPct val="115000"/>
              </a:lnSpc>
              <a:spcBef>
                <a:spcPts val="0"/>
              </a:spcBef>
              <a:spcAft>
                <a:spcPts val="0"/>
              </a:spcAft>
              <a:buClr>
                <a:srgbClr val="000000"/>
              </a:buClr>
              <a:buSzPts val="2800"/>
              <a:buFont typeface="Arial"/>
              <a:buNone/>
            </a:pPr>
            <a:r>
              <a:rPr lang="pt-BR" sz="2800" b="0" i="0" u="none" strike="noStrike" cap="none">
                <a:solidFill>
                  <a:schemeClr val="dk1"/>
                </a:solidFill>
                <a:latin typeface="Calibri"/>
                <a:ea typeface="Calibri"/>
                <a:cs typeface="Calibri"/>
                <a:sym typeface="Calibri"/>
              </a:rPr>
              <a:t>array[</a:t>
            </a:r>
            <a:r>
              <a:rPr lang="pt-BR" sz="2800" b="0" i="1" u="none" strike="noStrike" cap="none">
                <a:solidFill>
                  <a:schemeClr val="dk1"/>
                </a:solidFill>
                <a:latin typeface="Calibri"/>
                <a:ea typeface="Calibri"/>
                <a:cs typeface="Calibri"/>
                <a:sym typeface="Calibri"/>
              </a:rPr>
              <a:t>j</a:t>
            </a:r>
            <a:r>
              <a:rPr lang="pt-BR" sz="2800" b="0" i="0" u="none" strike="noStrike" cap="none">
                <a:solidFill>
                  <a:schemeClr val="dk1"/>
                </a:solidFill>
                <a:latin typeface="Calibri"/>
                <a:ea typeface="Calibri"/>
                <a:cs typeface="Calibri"/>
                <a:sym typeface="Calibri"/>
              </a:rPr>
              <a:t> + 1] &lt;- marcado</a:t>
            </a:r>
            <a:endParaRPr sz="2800" b="0" i="0" u="none" strike="noStrike" cap="none">
              <a:solidFill>
                <a:schemeClr val="dk1"/>
              </a:solidFill>
              <a:latin typeface="Calibri"/>
              <a:ea typeface="Calibri"/>
              <a:cs typeface="Calibri"/>
              <a:sym typeface="Calibri"/>
            </a:endParaRPr>
          </a:p>
          <a:p>
            <a:pPr marL="0" marR="0" lvl="0" indent="457200" algn="just" rtl="0">
              <a:lnSpc>
                <a:spcPct val="115000"/>
              </a:lnSpc>
              <a:spcBef>
                <a:spcPts val="0"/>
              </a:spcBef>
              <a:spcAft>
                <a:spcPts val="0"/>
              </a:spcAft>
              <a:buClr>
                <a:srgbClr val="000000"/>
              </a:buClr>
              <a:buSzPts val="2800"/>
              <a:buFont typeface="Arial"/>
              <a:buNone/>
            </a:pPr>
            <a:r>
              <a:rPr lang="pt-BR" sz="2800" b="1" i="0" u="none" strike="noStrike" cap="none">
                <a:solidFill>
                  <a:schemeClr val="dk1"/>
                </a:solidFill>
                <a:latin typeface="Calibri"/>
                <a:ea typeface="Calibri"/>
                <a:cs typeface="Calibri"/>
                <a:sym typeface="Calibri"/>
              </a:rPr>
              <a:t>return </a:t>
            </a:r>
            <a:r>
              <a:rPr lang="pt-BR" sz="2800" b="0" i="0" u="none" strike="noStrike" cap="none">
                <a:solidFill>
                  <a:schemeClr val="dk1"/>
                </a:solidFill>
                <a:latin typeface="Calibri"/>
                <a:ea typeface="Calibri"/>
                <a:cs typeface="Calibri"/>
                <a:sym typeface="Calibri"/>
              </a:rPr>
              <a:t>array </a:t>
            </a:r>
            <a:endParaRPr sz="1800" b="0" i="0" u="none" strike="noStrike" cap="none">
              <a:solidFill>
                <a:schemeClr val="dk1"/>
              </a:solidFill>
              <a:latin typeface="Calibri"/>
              <a:ea typeface="Calibri"/>
              <a:cs typeface="Calibri"/>
              <a:sym typeface="Calibri"/>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1" name="Google Shape;161;g15c85613d16_0_54"/>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g15c85613d16_0_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09" name="Google Shape;109;g15c85613d16_0_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10" name="Google Shape;110;g15c85613d16_0_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MERGE</a:t>
            </a:r>
            <a:r>
              <a:rPr lang="pt-BR" sz="4200" b="0" i="0" u="none" strike="noStrike" cap="none">
                <a:solidFill>
                  <a:srgbClr val="003958"/>
                </a:solidFill>
                <a:latin typeface="Calibri"/>
                <a:ea typeface="Calibri"/>
                <a:cs typeface="Calibri"/>
                <a:sym typeface="Calibri"/>
              </a:rPr>
              <a:t> SORT  </a:t>
            </a:r>
            <a:endParaRPr sz="800" b="0" i="0" u="none" strike="noStrike" cap="none">
              <a:solidFill>
                <a:srgbClr val="000000"/>
              </a:solidFill>
              <a:latin typeface="Arial"/>
              <a:ea typeface="Arial"/>
              <a:cs typeface="Arial"/>
              <a:sym typeface="Arial"/>
            </a:endParaRPr>
          </a:p>
        </p:txBody>
      </p:sp>
      <p:sp>
        <p:nvSpPr>
          <p:cNvPr id="111" name="Google Shape;111;g15c85613d16_0_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17</a:t>
            </a:fld>
            <a:endParaRPr sz="6000">
              <a:solidFill>
                <a:schemeClr val="lt1"/>
              </a:solidFill>
              <a:latin typeface="Impact"/>
              <a:ea typeface="Impact"/>
              <a:cs typeface="Impact"/>
              <a:sym typeface="Impact"/>
            </a:endParaRPr>
          </a:p>
        </p:txBody>
      </p:sp>
      <p:sp>
        <p:nvSpPr>
          <p:cNvPr id="112" name="Google Shape;112;g15c85613d16_0_1"/>
          <p:cNvSpPr txBox="1"/>
          <p:nvPr/>
        </p:nvSpPr>
        <p:spPr>
          <a:xfrm>
            <a:off x="993400" y="1273325"/>
            <a:ext cx="10936800" cy="4888500"/>
          </a:xfrm>
          <a:prstGeom prst="rect">
            <a:avLst/>
          </a:prstGeom>
          <a:noFill/>
          <a:ln>
            <a:noFill/>
          </a:ln>
        </p:spPr>
        <p:txBody>
          <a:bodyPr spcFirstLastPara="1" wrap="square" lIns="91425" tIns="45700" rIns="91425" bIns="45700" anchor="t" anchorCtr="0">
            <a:spAutoFit/>
          </a:bodyPr>
          <a:lstStyle/>
          <a:p>
            <a:pPr marL="457200" marR="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Um dos algoritmos de ordenação mais populares</a:t>
            </a:r>
            <a:endParaRPr sz="280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Funcionamento:</a:t>
            </a:r>
            <a:endParaRPr sz="2800">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Divisão do problema em subproblemas (dividir e conquistar)</a:t>
            </a:r>
            <a:endParaRPr sz="2800">
              <a:solidFill>
                <a:schemeClr val="dk1"/>
              </a:solidFill>
              <a:latin typeface="Calibri"/>
              <a:ea typeface="Calibri"/>
              <a:cs typeface="Calibri"/>
              <a:sym typeface="Calibri"/>
            </a:endParaRPr>
          </a:p>
          <a:p>
            <a:pPr marL="914400" marR="0" lvl="1"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Divide o vetor continuamente pela metade, ordena e combina (merge)</a:t>
            </a:r>
            <a:endParaRPr sz="2800">
              <a:solidFill>
                <a:schemeClr val="dk1"/>
              </a:solidFill>
              <a:latin typeface="Calibri"/>
              <a:ea typeface="Calibri"/>
              <a:cs typeface="Calibri"/>
              <a:sym typeface="Calibri"/>
            </a:endParaRPr>
          </a:p>
          <a:p>
            <a:pPr marL="45720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Mesmo desempenho para melhor caso (randômico) e pior caso (ordenação inversa);</a:t>
            </a:r>
            <a:endParaRPr sz="280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Visualização on-line: </a:t>
            </a:r>
            <a:r>
              <a:rPr lang="pt-BR" sz="2800" b="0" i="0" u="sng" strike="noStrike" cap="none">
                <a:solidFill>
                  <a:schemeClr val="hlink"/>
                </a:solidFill>
                <a:latin typeface="Calibri"/>
                <a:ea typeface="Calibri"/>
                <a:cs typeface="Calibri"/>
                <a:sym typeface="Calibri"/>
                <a:hlinkClick r:id="rId5"/>
              </a:rPr>
              <a:t>https://visualgo.net/en/sorting</a:t>
            </a:r>
            <a:r>
              <a:rPr lang="pt-BR" sz="2800" b="0" i="0" u="none" strike="noStrike" cap="none">
                <a:solidFill>
                  <a:schemeClr val="dk1"/>
                </a:solidFill>
                <a:latin typeface="Calibri"/>
                <a:ea typeface="Calibri"/>
                <a:cs typeface="Calibri"/>
                <a:sym typeface="Calibri"/>
              </a:rPr>
              <a:t> </a:t>
            </a: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3" name="Google Shape;113;g15c85613d16_0_1"/>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g141241f429d_0_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19" name="Google Shape;119;g141241f429d_0_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20" name="Google Shape;120;g141241f429d_0_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MERGE</a:t>
            </a:r>
            <a:r>
              <a:rPr lang="pt-BR" sz="4200" b="0" i="0" u="none" strike="noStrike" cap="none">
                <a:solidFill>
                  <a:srgbClr val="003958"/>
                </a:solidFill>
                <a:latin typeface="Calibri"/>
                <a:ea typeface="Calibri"/>
                <a:cs typeface="Calibri"/>
                <a:sym typeface="Calibri"/>
              </a:rPr>
              <a:t> SORT  </a:t>
            </a:r>
            <a:endParaRPr sz="800" b="0" i="0" u="none" strike="noStrike" cap="none">
              <a:solidFill>
                <a:srgbClr val="000000"/>
              </a:solidFill>
              <a:latin typeface="Arial"/>
              <a:ea typeface="Arial"/>
              <a:cs typeface="Arial"/>
              <a:sym typeface="Arial"/>
            </a:endParaRPr>
          </a:p>
        </p:txBody>
      </p:sp>
      <p:sp>
        <p:nvSpPr>
          <p:cNvPr id="121" name="Google Shape;121;g141241f429d_0_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18</a:t>
            </a:fld>
            <a:endParaRPr sz="6000">
              <a:solidFill>
                <a:schemeClr val="lt1"/>
              </a:solidFill>
              <a:latin typeface="Impact"/>
              <a:ea typeface="Impact"/>
              <a:cs typeface="Impact"/>
              <a:sym typeface="Impact"/>
            </a:endParaRPr>
          </a:p>
        </p:txBody>
      </p:sp>
      <p:sp>
        <p:nvSpPr>
          <p:cNvPr id="122" name="Google Shape;122;g141241f429d_0_1"/>
          <p:cNvSpPr txBox="1"/>
          <p:nvPr/>
        </p:nvSpPr>
        <p:spPr>
          <a:xfrm>
            <a:off x="993400" y="1273325"/>
            <a:ext cx="10936800" cy="141900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3" name="Google Shape;123;g141241f429d_0_1"/>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Google Shape;124;g141241f429d_0_1"/>
          <p:cNvPicPr preferRelativeResize="0"/>
          <p:nvPr/>
        </p:nvPicPr>
        <p:blipFill>
          <a:blip r:embed="rId5">
            <a:alphaModFix/>
          </a:blip>
          <a:stretch>
            <a:fillRect/>
          </a:stretch>
        </p:blipFill>
        <p:spPr>
          <a:xfrm>
            <a:off x="3391188" y="1085400"/>
            <a:ext cx="5409601" cy="5021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g1414dea809f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30" name="Google Shape;130;g1414dea809f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31" name="Google Shape;131;g1414dea809f_0_0"/>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MERGE</a:t>
            </a:r>
            <a:r>
              <a:rPr lang="pt-BR" sz="4200" b="0" i="0" u="none" strike="noStrike" cap="none">
                <a:solidFill>
                  <a:srgbClr val="003958"/>
                </a:solidFill>
                <a:latin typeface="Calibri"/>
                <a:ea typeface="Calibri"/>
                <a:cs typeface="Calibri"/>
                <a:sym typeface="Calibri"/>
              </a:rPr>
              <a:t> SORT_PARTE 1  </a:t>
            </a:r>
            <a:endParaRPr sz="800" b="0" i="0" u="none" strike="noStrike" cap="none">
              <a:solidFill>
                <a:srgbClr val="000000"/>
              </a:solidFill>
              <a:latin typeface="Arial"/>
              <a:ea typeface="Arial"/>
              <a:cs typeface="Arial"/>
              <a:sym typeface="Arial"/>
            </a:endParaRPr>
          </a:p>
        </p:txBody>
      </p:sp>
      <p:sp>
        <p:nvSpPr>
          <p:cNvPr id="132" name="Google Shape;132;g1414dea809f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19</a:t>
            </a:fld>
            <a:endParaRPr sz="6000">
              <a:solidFill>
                <a:schemeClr val="lt1"/>
              </a:solidFill>
              <a:latin typeface="Impact"/>
              <a:ea typeface="Impact"/>
              <a:cs typeface="Impact"/>
              <a:sym typeface="Impact"/>
            </a:endParaRPr>
          </a:p>
        </p:txBody>
      </p:sp>
      <p:sp>
        <p:nvSpPr>
          <p:cNvPr id="133" name="Google Shape;133;g1414dea809f_0_0"/>
          <p:cNvSpPr txBox="1"/>
          <p:nvPr/>
        </p:nvSpPr>
        <p:spPr>
          <a:xfrm>
            <a:off x="993400" y="1273325"/>
            <a:ext cx="10936800" cy="54798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Clr>
                <a:schemeClr val="dk1"/>
              </a:buClr>
              <a:buSzPts val="1100"/>
              <a:buFont typeface="Arial"/>
              <a:buNone/>
            </a:pPr>
            <a:r>
              <a:rPr lang="pt-BR" sz="2800" b="1">
                <a:solidFill>
                  <a:schemeClr val="dk1"/>
                </a:solidFill>
                <a:latin typeface="Calibri"/>
                <a:ea typeface="Calibri"/>
                <a:cs typeface="Calibri"/>
                <a:sym typeface="Calibri"/>
              </a:rPr>
              <a:t>def merge_sort(array):</a:t>
            </a:r>
            <a:endParaRPr sz="2800" b="1">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b="1" i="1">
                <a:solidFill>
                  <a:schemeClr val="dk1"/>
                </a:solidFill>
                <a:latin typeface="Calibri"/>
                <a:ea typeface="Calibri"/>
                <a:cs typeface="Calibri"/>
                <a:sym typeface="Calibri"/>
              </a:rPr>
              <a:t># </a:t>
            </a:r>
            <a:r>
              <a:rPr lang="pt-BR" sz="2800" i="1" u="sng">
                <a:solidFill>
                  <a:schemeClr val="dk1"/>
                </a:solidFill>
                <a:latin typeface="Calibri"/>
                <a:ea typeface="Calibri"/>
                <a:cs typeface="Calibri"/>
                <a:sym typeface="Calibri"/>
              </a:rPr>
              <a:t>Divisão do Array</a:t>
            </a:r>
            <a:endParaRPr sz="2800" i="1" u="sng">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a:t>
            </a:r>
            <a:r>
              <a:rPr lang="pt-BR" sz="2800" b="1">
                <a:solidFill>
                  <a:schemeClr val="dk1"/>
                </a:solidFill>
                <a:latin typeface="Calibri"/>
                <a:ea typeface="Calibri"/>
                <a:cs typeface="Calibri"/>
                <a:sym typeface="Calibri"/>
              </a:rPr>
              <a:t>se </a:t>
            </a:r>
            <a:r>
              <a:rPr lang="pt-BR" sz="2800">
                <a:solidFill>
                  <a:schemeClr val="dk1"/>
                </a:solidFill>
                <a:latin typeface="Calibri"/>
                <a:ea typeface="Calibri"/>
                <a:cs typeface="Calibri"/>
                <a:sym typeface="Calibri"/>
              </a:rPr>
              <a:t>tamanho(array) &gt; 1 </a:t>
            </a:r>
            <a:r>
              <a:rPr lang="pt-BR" sz="2800" b="1">
                <a:solidFill>
                  <a:schemeClr val="dk1"/>
                </a:solidFill>
                <a:latin typeface="Calibri"/>
                <a:ea typeface="Calibri"/>
                <a:cs typeface="Calibri"/>
                <a:sym typeface="Calibri"/>
              </a:rPr>
              <a:t>então</a:t>
            </a:r>
            <a:r>
              <a:rPr lang="pt-BR"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divisão &lt;- metade(array)</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esquerda &lt;- </a:t>
            </a:r>
            <a:r>
              <a:rPr lang="pt-BR" sz="2800" b="1">
                <a:solidFill>
                  <a:schemeClr val="dk1"/>
                </a:solidFill>
                <a:latin typeface="Calibri"/>
                <a:ea typeface="Calibri"/>
                <a:cs typeface="Calibri"/>
                <a:sym typeface="Calibri"/>
              </a:rPr>
              <a:t>cópia</a:t>
            </a:r>
            <a:r>
              <a:rPr lang="pt-BR" sz="2800">
                <a:solidFill>
                  <a:schemeClr val="dk1"/>
                </a:solidFill>
                <a:latin typeface="Calibri"/>
                <a:ea typeface="Calibri"/>
                <a:cs typeface="Calibri"/>
                <a:sym typeface="Calibri"/>
              </a:rPr>
              <a:t>(array[0 até divisão])</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direita &lt;- </a:t>
            </a:r>
            <a:r>
              <a:rPr lang="pt-BR" sz="2800" b="1">
                <a:solidFill>
                  <a:schemeClr val="dk1"/>
                </a:solidFill>
                <a:latin typeface="Calibri"/>
                <a:ea typeface="Calibri"/>
                <a:cs typeface="Calibri"/>
                <a:sym typeface="Calibri"/>
              </a:rPr>
              <a:t>cópia</a:t>
            </a:r>
            <a:r>
              <a:rPr lang="pt-BR" sz="2800">
                <a:solidFill>
                  <a:schemeClr val="dk1"/>
                </a:solidFill>
                <a:latin typeface="Calibri"/>
                <a:ea typeface="Calibri"/>
                <a:cs typeface="Calibri"/>
                <a:sym typeface="Calibri"/>
              </a:rPr>
              <a:t>(array[divisão até final])</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merge_sort(esquerda)</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merge_sort(direita)</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i = j = k = 0</a:t>
            </a:r>
            <a:endParaRPr sz="1800" b="0" i="0" u="none" strike="noStrike" cap="none">
              <a:solidFill>
                <a:schemeClr val="dk1"/>
              </a:solidFill>
              <a:latin typeface="Calibri"/>
              <a:ea typeface="Calibri"/>
              <a:cs typeface="Calibri"/>
              <a:sym typeface="Calibri"/>
            </a:endParaRPr>
          </a:p>
        </p:txBody>
      </p:sp>
      <p:sp>
        <p:nvSpPr>
          <p:cNvPr id="134" name="Google Shape;134;g1414dea809f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g1414dea809f_0_1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0" name="Google Shape;140;g1414dea809f_0_1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41" name="Google Shape;141;g1414dea809f_0_13"/>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MERGE</a:t>
            </a:r>
            <a:r>
              <a:rPr lang="pt-BR" sz="4200" b="0" i="0" u="none" strike="noStrike" cap="none">
                <a:solidFill>
                  <a:srgbClr val="003958"/>
                </a:solidFill>
                <a:latin typeface="Calibri"/>
                <a:ea typeface="Calibri"/>
                <a:cs typeface="Calibri"/>
                <a:sym typeface="Calibri"/>
              </a:rPr>
              <a:t> SORT_</a:t>
            </a:r>
            <a:r>
              <a:rPr lang="pt-BR" sz="4200">
                <a:solidFill>
                  <a:srgbClr val="003958"/>
                </a:solidFill>
                <a:latin typeface="Calibri"/>
                <a:ea typeface="Calibri"/>
                <a:cs typeface="Calibri"/>
                <a:sym typeface="Calibri"/>
              </a:rPr>
              <a:t>PARTE 2 </a:t>
            </a:r>
            <a:r>
              <a:rPr lang="pt-BR" sz="4200" b="0" i="0" u="none" strike="noStrike" cap="none">
                <a:solidFill>
                  <a:srgbClr val="003958"/>
                </a:solidFill>
                <a:latin typeface="Calibri"/>
                <a:ea typeface="Calibri"/>
                <a:cs typeface="Calibri"/>
                <a:sym typeface="Calibri"/>
              </a:rPr>
              <a:t>  </a:t>
            </a:r>
            <a:endParaRPr sz="800" b="0" i="0" u="none" strike="noStrike" cap="none">
              <a:solidFill>
                <a:srgbClr val="000000"/>
              </a:solidFill>
              <a:latin typeface="Arial"/>
              <a:ea typeface="Arial"/>
              <a:cs typeface="Arial"/>
              <a:sym typeface="Arial"/>
            </a:endParaRPr>
          </a:p>
        </p:txBody>
      </p:sp>
      <p:sp>
        <p:nvSpPr>
          <p:cNvPr id="142" name="Google Shape;142;g1414dea809f_0_13"/>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20</a:t>
            </a:fld>
            <a:endParaRPr sz="6000">
              <a:solidFill>
                <a:schemeClr val="lt1"/>
              </a:solidFill>
              <a:latin typeface="Impact"/>
              <a:ea typeface="Impact"/>
              <a:cs typeface="Impact"/>
              <a:sym typeface="Impact"/>
            </a:endParaRPr>
          </a:p>
        </p:txBody>
      </p:sp>
      <p:sp>
        <p:nvSpPr>
          <p:cNvPr id="143" name="Google Shape;143;g1414dea809f_0_13"/>
          <p:cNvSpPr txBox="1"/>
          <p:nvPr/>
        </p:nvSpPr>
        <p:spPr>
          <a:xfrm>
            <a:off x="993400" y="1273325"/>
            <a:ext cx="10936800" cy="44883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Clr>
                <a:schemeClr val="dk1"/>
              </a:buClr>
              <a:buSzPts val="1100"/>
              <a:buFont typeface="Arial"/>
              <a:buNone/>
            </a:pPr>
            <a:r>
              <a:rPr lang="pt-BR" sz="2800" b="1" i="1">
                <a:solidFill>
                  <a:schemeClr val="dk1"/>
                </a:solidFill>
                <a:latin typeface="Calibri"/>
                <a:ea typeface="Calibri"/>
                <a:cs typeface="Calibri"/>
                <a:sym typeface="Calibri"/>
              </a:rPr>
              <a:t># </a:t>
            </a:r>
            <a:r>
              <a:rPr lang="pt-BR" sz="2800" i="1" u="sng">
                <a:solidFill>
                  <a:schemeClr val="dk1"/>
                </a:solidFill>
                <a:latin typeface="Calibri"/>
                <a:ea typeface="Calibri"/>
                <a:cs typeface="Calibri"/>
                <a:sym typeface="Calibri"/>
              </a:rPr>
              <a:t>Ordena esquerda e direita</a:t>
            </a:r>
            <a:endParaRPr sz="2800" i="1" u="sng">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b="1">
                <a:solidFill>
                  <a:schemeClr val="dk1"/>
                </a:solidFill>
                <a:latin typeface="Calibri"/>
                <a:ea typeface="Calibri"/>
                <a:cs typeface="Calibri"/>
                <a:sym typeface="Calibri"/>
              </a:rPr>
              <a:t>enquanto </a:t>
            </a:r>
            <a:r>
              <a:rPr lang="pt-BR" sz="2800">
                <a:solidFill>
                  <a:schemeClr val="dk1"/>
                </a:solidFill>
                <a:latin typeface="Calibri"/>
                <a:ea typeface="Calibri"/>
                <a:cs typeface="Calibri"/>
                <a:sym typeface="Calibri"/>
              </a:rPr>
              <a:t>i &lt; tamanho(esquerda) </a:t>
            </a:r>
            <a:r>
              <a:rPr lang="pt-BR" sz="2800" b="1">
                <a:solidFill>
                  <a:schemeClr val="dk1"/>
                </a:solidFill>
                <a:latin typeface="Calibri"/>
                <a:ea typeface="Calibri"/>
                <a:cs typeface="Calibri"/>
                <a:sym typeface="Calibri"/>
              </a:rPr>
              <a:t>E</a:t>
            </a:r>
            <a:r>
              <a:rPr lang="pt-BR" sz="2800">
                <a:solidFill>
                  <a:schemeClr val="dk1"/>
                </a:solidFill>
                <a:latin typeface="Calibri"/>
                <a:ea typeface="Calibri"/>
                <a:cs typeface="Calibri"/>
                <a:sym typeface="Calibri"/>
              </a:rPr>
              <a:t> j &lt; tamanho(direita) </a:t>
            </a:r>
            <a:r>
              <a:rPr lang="pt-BR" sz="2800" b="1">
                <a:solidFill>
                  <a:schemeClr val="dk1"/>
                </a:solidFill>
                <a:latin typeface="Calibri"/>
                <a:ea typeface="Calibri"/>
                <a:cs typeface="Calibri"/>
                <a:sym typeface="Calibri"/>
              </a:rPr>
              <a:t>então</a:t>
            </a:r>
            <a:r>
              <a:rPr lang="pt-BR"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a:t>
            </a:r>
            <a:r>
              <a:rPr lang="pt-BR" sz="2800" b="1">
                <a:solidFill>
                  <a:schemeClr val="dk1"/>
                </a:solidFill>
                <a:latin typeface="Calibri"/>
                <a:ea typeface="Calibri"/>
                <a:cs typeface="Calibri"/>
                <a:sym typeface="Calibri"/>
              </a:rPr>
              <a:t>se </a:t>
            </a:r>
            <a:r>
              <a:rPr lang="pt-BR" sz="2800">
                <a:solidFill>
                  <a:schemeClr val="dk1"/>
                </a:solidFill>
                <a:latin typeface="Calibri"/>
                <a:ea typeface="Calibri"/>
                <a:cs typeface="Calibri"/>
                <a:sym typeface="Calibri"/>
              </a:rPr>
              <a:t>esquerda[ i ] &lt; direita[ j ] </a:t>
            </a:r>
            <a:r>
              <a:rPr lang="pt-BR" sz="2800" b="1">
                <a:solidFill>
                  <a:schemeClr val="dk1"/>
                </a:solidFill>
                <a:latin typeface="Calibri"/>
                <a:ea typeface="Calibri"/>
                <a:cs typeface="Calibri"/>
                <a:sym typeface="Calibri"/>
              </a:rPr>
              <a:t>então</a:t>
            </a:r>
            <a:r>
              <a:rPr lang="pt-BR"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array[ k ] &lt;- esquerda[ i ]</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i += 1</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a:t>
            </a:r>
            <a:r>
              <a:rPr lang="pt-BR" sz="2800" b="1">
                <a:solidFill>
                  <a:schemeClr val="dk1"/>
                </a:solidFill>
                <a:latin typeface="Calibri"/>
                <a:ea typeface="Calibri"/>
                <a:cs typeface="Calibri"/>
                <a:sym typeface="Calibri"/>
              </a:rPr>
              <a:t>senão</a:t>
            </a:r>
            <a:r>
              <a:rPr lang="pt-BR"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array[ k ] &lt;- direita[ j ]</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j += 1</a:t>
            </a:r>
            <a:endParaRPr sz="2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800">
                <a:solidFill>
                  <a:schemeClr val="dk1"/>
                </a:solidFill>
                <a:latin typeface="Calibri"/>
                <a:ea typeface="Calibri"/>
                <a:cs typeface="Calibri"/>
                <a:sym typeface="Calibri"/>
              </a:rPr>
              <a:t>      k += 1</a:t>
            </a:r>
            <a:endParaRPr sz="3700" b="1">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g1414dea809f_0_2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9" name="Google Shape;149;g1414dea809f_0_2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50" name="Google Shape;150;g1414dea809f_0_22"/>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MERGE</a:t>
            </a:r>
            <a:r>
              <a:rPr lang="pt-BR" sz="4200" b="0" i="0" u="none" strike="noStrike" cap="none">
                <a:solidFill>
                  <a:srgbClr val="003958"/>
                </a:solidFill>
                <a:latin typeface="Calibri"/>
                <a:ea typeface="Calibri"/>
                <a:cs typeface="Calibri"/>
                <a:sym typeface="Calibri"/>
              </a:rPr>
              <a:t> SORT_</a:t>
            </a:r>
            <a:r>
              <a:rPr lang="pt-BR" sz="4200">
                <a:solidFill>
                  <a:srgbClr val="003958"/>
                </a:solidFill>
                <a:latin typeface="Calibri"/>
                <a:ea typeface="Calibri"/>
                <a:cs typeface="Calibri"/>
                <a:sym typeface="Calibri"/>
              </a:rPr>
              <a:t>PARTE 3</a:t>
            </a:r>
            <a:r>
              <a:rPr lang="pt-BR" sz="4200" b="0" i="0" u="none" strike="noStrike" cap="none">
                <a:solidFill>
                  <a:srgbClr val="003958"/>
                </a:solidFill>
                <a:latin typeface="Calibri"/>
                <a:ea typeface="Calibri"/>
                <a:cs typeface="Calibri"/>
                <a:sym typeface="Calibri"/>
              </a:rPr>
              <a:t>  </a:t>
            </a:r>
            <a:endParaRPr sz="800" b="0" i="0" u="none" strike="noStrike" cap="none">
              <a:solidFill>
                <a:srgbClr val="000000"/>
              </a:solidFill>
              <a:latin typeface="Arial"/>
              <a:ea typeface="Arial"/>
              <a:cs typeface="Arial"/>
              <a:sym typeface="Arial"/>
            </a:endParaRPr>
          </a:p>
        </p:txBody>
      </p:sp>
      <p:sp>
        <p:nvSpPr>
          <p:cNvPr id="151" name="Google Shape;151;g1414dea809f_0_22"/>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21</a:t>
            </a:fld>
            <a:endParaRPr sz="6000">
              <a:solidFill>
                <a:schemeClr val="lt1"/>
              </a:solidFill>
              <a:latin typeface="Impact"/>
              <a:ea typeface="Impact"/>
              <a:cs typeface="Impact"/>
              <a:sym typeface="Impact"/>
            </a:endParaRPr>
          </a:p>
        </p:txBody>
      </p:sp>
      <p:sp>
        <p:nvSpPr>
          <p:cNvPr id="152" name="Google Shape;152;g1414dea809f_0_22"/>
          <p:cNvSpPr txBox="1"/>
          <p:nvPr/>
        </p:nvSpPr>
        <p:spPr>
          <a:xfrm>
            <a:off x="993400" y="1085400"/>
            <a:ext cx="10936800" cy="57651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a:t>
            </a:r>
            <a:r>
              <a:rPr lang="pt-BR" sz="2700" i="1" u="sng">
                <a:solidFill>
                  <a:schemeClr val="dk1"/>
                </a:solidFill>
                <a:latin typeface="Calibri"/>
                <a:ea typeface="Calibri"/>
                <a:cs typeface="Calibri"/>
                <a:sym typeface="Calibri"/>
              </a:rPr>
              <a:t>Ordenação final</a:t>
            </a:r>
            <a:endParaRPr sz="2700" i="1" u="sng">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b="1">
                <a:solidFill>
                  <a:schemeClr val="dk1"/>
                </a:solidFill>
                <a:latin typeface="Calibri"/>
                <a:ea typeface="Calibri"/>
                <a:cs typeface="Calibri"/>
                <a:sym typeface="Calibri"/>
              </a:rPr>
              <a:t>enquanto </a:t>
            </a:r>
            <a:r>
              <a:rPr lang="pt-BR" sz="2700">
                <a:solidFill>
                  <a:schemeClr val="dk1"/>
                </a:solidFill>
                <a:latin typeface="Calibri"/>
                <a:ea typeface="Calibri"/>
                <a:cs typeface="Calibri"/>
                <a:sym typeface="Calibri"/>
              </a:rPr>
              <a:t>i &lt; tamanho(esquerda) </a:t>
            </a:r>
            <a:r>
              <a:rPr lang="pt-BR" sz="2700" b="1">
                <a:solidFill>
                  <a:schemeClr val="dk1"/>
                </a:solidFill>
                <a:latin typeface="Calibri"/>
                <a:ea typeface="Calibri"/>
                <a:cs typeface="Calibri"/>
                <a:sym typeface="Calibri"/>
              </a:rPr>
              <a:t>então</a:t>
            </a:r>
            <a:r>
              <a:rPr lang="pt-BR" sz="2700">
                <a:solidFill>
                  <a:schemeClr val="dk1"/>
                </a:solidFill>
                <a:latin typeface="Calibri"/>
                <a:ea typeface="Calibri"/>
                <a:cs typeface="Calibri"/>
                <a:sym typeface="Calibri"/>
              </a:rPr>
              <a:t>:</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array[ k ] &lt;- esquerda[ i ]</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i += 1</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k += 1</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b="1">
                <a:solidFill>
                  <a:schemeClr val="dk1"/>
                </a:solidFill>
                <a:latin typeface="Calibri"/>
                <a:ea typeface="Calibri"/>
                <a:cs typeface="Calibri"/>
                <a:sym typeface="Calibri"/>
              </a:rPr>
              <a:t>enquanto </a:t>
            </a:r>
            <a:r>
              <a:rPr lang="pt-BR" sz="2700">
                <a:solidFill>
                  <a:schemeClr val="dk1"/>
                </a:solidFill>
                <a:latin typeface="Calibri"/>
                <a:ea typeface="Calibri"/>
                <a:cs typeface="Calibri"/>
                <a:sym typeface="Calibri"/>
              </a:rPr>
              <a:t>j &lt; tamanho(direita) </a:t>
            </a:r>
            <a:r>
              <a:rPr lang="pt-BR" sz="2700" b="1">
                <a:solidFill>
                  <a:schemeClr val="dk1"/>
                </a:solidFill>
                <a:latin typeface="Calibri"/>
                <a:ea typeface="Calibri"/>
                <a:cs typeface="Calibri"/>
                <a:sym typeface="Calibri"/>
              </a:rPr>
              <a:t>então</a:t>
            </a:r>
            <a:r>
              <a:rPr lang="pt-BR" sz="2700">
                <a:solidFill>
                  <a:schemeClr val="dk1"/>
                </a:solidFill>
                <a:latin typeface="Calibri"/>
                <a:ea typeface="Calibri"/>
                <a:cs typeface="Calibri"/>
                <a:sym typeface="Calibri"/>
              </a:rPr>
              <a:t>:</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array[ k ] &lt;- direita[ j ]</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j += 1</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k += 1</a:t>
            </a: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27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2700">
                <a:solidFill>
                  <a:schemeClr val="dk1"/>
                </a:solidFill>
                <a:latin typeface="Calibri"/>
                <a:ea typeface="Calibri"/>
                <a:cs typeface="Calibri"/>
                <a:sym typeface="Calibri"/>
              </a:rPr>
              <a:t> </a:t>
            </a:r>
            <a:r>
              <a:rPr lang="pt-BR" sz="2700" b="1">
                <a:solidFill>
                  <a:schemeClr val="dk1"/>
                </a:solidFill>
                <a:latin typeface="Calibri"/>
                <a:ea typeface="Calibri"/>
                <a:cs typeface="Calibri"/>
                <a:sym typeface="Calibri"/>
              </a:rPr>
              <a:t>return </a:t>
            </a:r>
            <a:r>
              <a:rPr lang="pt-BR" sz="2700">
                <a:solidFill>
                  <a:schemeClr val="dk1"/>
                </a:solidFill>
                <a:latin typeface="Calibri"/>
                <a:ea typeface="Calibri"/>
                <a:cs typeface="Calibri"/>
                <a:sym typeface="Calibri"/>
              </a:rPr>
              <a:t>array</a:t>
            </a:r>
            <a:endParaRPr sz="4500" b="1">
              <a:solidFill>
                <a:schemeClr val="dk1"/>
              </a:solidFill>
              <a:latin typeface="Calibri"/>
              <a:ea typeface="Calibri"/>
              <a:cs typeface="Calibri"/>
              <a:sym typeface="Calibri"/>
            </a:endParaRPr>
          </a:p>
        </p:txBody>
      </p:sp>
      <p:sp>
        <p:nvSpPr>
          <p:cNvPr id="153" name="Google Shape;153;g1414dea809f_0_22"/>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g163fefff252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59" name="Google Shape;159;g163fefff252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0" name="Google Shape;160;g163fefff252_0_0"/>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QUICK</a:t>
            </a:r>
            <a:r>
              <a:rPr lang="pt-BR" sz="4200" b="0" i="0" u="none" strike="noStrike" cap="none">
                <a:solidFill>
                  <a:srgbClr val="003958"/>
                </a:solidFill>
                <a:latin typeface="Calibri"/>
                <a:ea typeface="Calibri"/>
                <a:cs typeface="Calibri"/>
                <a:sym typeface="Calibri"/>
              </a:rPr>
              <a:t> SORT  </a:t>
            </a:r>
            <a:endParaRPr sz="800" b="0" i="0" u="none" strike="noStrike" cap="none">
              <a:solidFill>
                <a:srgbClr val="000000"/>
              </a:solidFill>
              <a:latin typeface="Arial"/>
              <a:ea typeface="Arial"/>
              <a:cs typeface="Arial"/>
              <a:sym typeface="Arial"/>
            </a:endParaRPr>
          </a:p>
        </p:txBody>
      </p:sp>
      <p:sp>
        <p:nvSpPr>
          <p:cNvPr id="161" name="Google Shape;161;g163fefff252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22</a:t>
            </a:fld>
            <a:endParaRPr sz="6000">
              <a:solidFill>
                <a:schemeClr val="lt1"/>
              </a:solidFill>
              <a:latin typeface="Impact"/>
              <a:ea typeface="Impact"/>
              <a:cs typeface="Impact"/>
              <a:sym typeface="Impact"/>
            </a:endParaRPr>
          </a:p>
        </p:txBody>
      </p:sp>
      <p:sp>
        <p:nvSpPr>
          <p:cNvPr id="162" name="Google Shape;162;g163fefff252_0_0"/>
          <p:cNvSpPr txBox="1"/>
          <p:nvPr/>
        </p:nvSpPr>
        <p:spPr>
          <a:xfrm>
            <a:off x="993400" y="1273325"/>
            <a:ext cx="10936800" cy="4983900"/>
          </a:xfrm>
          <a:prstGeom prst="rect">
            <a:avLst/>
          </a:prstGeom>
          <a:noFill/>
          <a:ln>
            <a:noFill/>
          </a:ln>
        </p:spPr>
        <p:txBody>
          <a:bodyPr spcFirstLastPara="1" wrap="square" lIns="91425" tIns="45700" rIns="91425" bIns="45700" anchor="t" anchorCtr="0">
            <a:spAutoFit/>
          </a:bodyPr>
          <a:lstStyle/>
          <a:p>
            <a:pPr marL="45720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Algoritmo rápido e eficiente criado em 1960 para traduzir um dicionário de inglês para russo</a:t>
            </a:r>
            <a:endParaRPr sz="2800">
              <a:solidFill>
                <a:schemeClr val="dk1"/>
              </a:solidFill>
              <a:latin typeface="Calibri"/>
              <a:ea typeface="Calibri"/>
              <a:cs typeface="Calibri"/>
              <a:sym typeface="Calibri"/>
            </a:endParaRPr>
          </a:p>
          <a:p>
            <a:pPr marL="45720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Funcionamento:</a:t>
            </a:r>
            <a:endParaRPr sz="2800">
              <a:solidFill>
                <a:schemeClr val="dk1"/>
              </a:solidFill>
              <a:latin typeface="Calibri"/>
              <a:ea typeface="Calibri"/>
              <a:cs typeface="Calibri"/>
              <a:sym typeface="Calibri"/>
            </a:endParaRPr>
          </a:p>
          <a:p>
            <a:pPr marL="914400" lvl="1"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O vetor é dividido em sub vetores que são chamados recursivamente para ordenar os elementos;</a:t>
            </a:r>
            <a:endParaRPr sz="2800">
              <a:solidFill>
                <a:schemeClr val="dk1"/>
              </a:solidFill>
              <a:latin typeface="Calibri"/>
              <a:ea typeface="Calibri"/>
              <a:cs typeface="Calibri"/>
              <a:sym typeface="Calibri"/>
            </a:endParaRPr>
          </a:p>
          <a:p>
            <a:pPr marL="914400" lvl="1"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Estratégia da divisão e conquista</a:t>
            </a:r>
            <a:endParaRPr sz="2800">
              <a:solidFill>
                <a:schemeClr val="dk1"/>
              </a:solidFill>
              <a:latin typeface="Calibri"/>
              <a:ea typeface="Calibri"/>
              <a:cs typeface="Calibri"/>
              <a:sym typeface="Calibri"/>
            </a:endParaRPr>
          </a:p>
          <a:p>
            <a:pPr marL="45720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Pior caso: </a:t>
            </a:r>
            <a:r>
              <a:rPr lang="pt-BR" sz="2800" b="1">
                <a:solidFill>
                  <a:schemeClr val="dk1"/>
                </a:solidFill>
                <a:latin typeface="Calibri"/>
                <a:ea typeface="Calibri"/>
                <a:cs typeface="Calibri"/>
                <a:sym typeface="Calibri"/>
              </a:rPr>
              <a:t>O(n2)</a:t>
            </a:r>
            <a:r>
              <a:rPr lang="pt-BR" sz="2800">
                <a:solidFill>
                  <a:schemeClr val="dk1"/>
                </a:solidFill>
                <a:latin typeface="Calibri"/>
                <a:ea typeface="Calibri"/>
                <a:cs typeface="Calibri"/>
                <a:sym typeface="Calibri"/>
              </a:rPr>
              <a:t> – quando o elemento pivot é o maior ou menor elemento;</a:t>
            </a:r>
            <a:endParaRPr sz="2800">
              <a:solidFill>
                <a:schemeClr val="dk1"/>
              </a:solidFill>
              <a:latin typeface="Calibri"/>
              <a:ea typeface="Calibri"/>
              <a:cs typeface="Calibri"/>
              <a:sym typeface="Calibri"/>
            </a:endParaRPr>
          </a:p>
          <a:p>
            <a:pPr marL="457200" lvl="0" indent="-406400" algn="just" rtl="0">
              <a:lnSpc>
                <a:spcPct val="115000"/>
              </a:lnSpc>
              <a:spcBef>
                <a:spcPts val="0"/>
              </a:spcBef>
              <a:spcAft>
                <a:spcPts val="0"/>
              </a:spcAft>
              <a:buClr>
                <a:schemeClr val="dk1"/>
              </a:buClr>
              <a:buSzPts val="2800"/>
              <a:buFont typeface="Calibri"/>
              <a:buChar char="●"/>
            </a:pPr>
            <a:r>
              <a:rPr lang="pt-BR" sz="2800">
                <a:solidFill>
                  <a:schemeClr val="dk1"/>
                </a:solidFill>
                <a:latin typeface="Calibri"/>
                <a:ea typeface="Calibri"/>
                <a:cs typeface="Calibri"/>
                <a:sym typeface="Calibri"/>
              </a:rPr>
              <a:t>Melhor caso:</a:t>
            </a:r>
            <a:r>
              <a:rPr lang="pt-BR" sz="2800" b="1">
                <a:solidFill>
                  <a:schemeClr val="dk1"/>
                </a:solidFill>
                <a:latin typeface="Calibri"/>
                <a:ea typeface="Calibri"/>
                <a:cs typeface="Calibri"/>
                <a:sym typeface="Calibri"/>
              </a:rPr>
              <a:t> O(n*log n)</a:t>
            </a:r>
            <a:r>
              <a:rPr lang="pt-BR"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457200" marR="0" lvl="0" indent="-406400" algn="just" rtl="0">
              <a:lnSpc>
                <a:spcPct val="115000"/>
              </a:lnSpc>
              <a:spcBef>
                <a:spcPts val="0"/>
              </a:spcBef>
              <a:spcAft>
                <a:spcPts val="0"/>
              </a:spcAft>
              <a:buClr>
                <a:schemeClr val="dk1"/>
              </a:buClr>
              <a:buSzPts val="2800"/>
              <a:buFont typeface="Calibri"/>
              <a:buChar char="●"/>
            </a:pPr>
            <a:r>
              <a:rPr lang="pt-BR" sz="2800" b="0" i="0" u="none" strike="noStrike" cap="none">
                <a:solidFill>
                  <a:schemeClr val="dk1"/>
                </a:solidFill>
                <a:latin typeface="Calibri"/>
                <a:ea typeface="Calibri"/>
                <a:cs typeface="Calibri"/>
                <a:sym typeface="Calibri"/>
              </a:rPr>
              <a:t>Visualização on-line: </a:t>
            </a:r>
            <a:r>
              <a:rPr lang="pt-BR" sz="2800" b="0" i="0" u="sng" strike="noStrike" cap="none">
                <a:solidFill>
                  <a:schemeClr val="hlink"/>
                </a:solidFill>
                <a:latin typeface="Calibri"/>
                <a:ea typeface="Calibri"/>
                <a:cs typeface="Calibri"/>
                <a:sym typeface="Calibri"/>
                <a:hlinkClick r:id="rId5"/>
              </a:rPr>
              <a:t>https://visualgo.net/en/sorting</a:t>
            </a:r>
            <a:r>
              <a:rPr lang="pt-BR" sz="2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p:txBody>
      </p:sp>
      <p:sp>
        <p:nvSpPr>
          <p:cNvPr id="163" name="Google Shape;163;g163fefff252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g163fefff252_0_3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9" name="Google Shape;169;g163fefff252_0_3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70" name="Google Shape;170;g163fefff252_0_31"/>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QUICK</a:t>
            </a:r>
            <a:r>
              <a:rPr lang="pt-BR" sz="4200" b="0" i="0" u="none" strike="noStrike" cap="none">
                <a:solidFill>
                  <a:srgbClr val="003958"/>
                </a:solidFill>
                <a:latin typeface="Calibri"/>
                <a:ea typeface="Calibri"/>
                <a:cs typeface="Calibri"/>
                <a:sym typeface="Calibri"/>
              </a:rPr>
              <a:t> SORT_</a:t>
            </a:r>
            <a:r>
              <a:rPr lang="pt-BR" sz="4200">
                <a:solidFill>
                  <a:srgbClr val="003958"/>
                </a:solidFill>
                <a:latin typeface="Calibri"/>
                <a:ea typeface="Calibri"/>
                <a:cs typeface="Calibri"/>
                <a:sym typeface="Calibri"/>
              </a:rPr>
              <a:t>PARTE 1</a:t>
            </a:r>
            <a:r>
              <a:rPr lang="pt-BR" sz="4200" b="0" i="0" u="none" strike="noStrike" cap="none">
                <a:solidFill>
                  <a:srgbClr val="003958"/>
                </a:solidFill>
                <a:latin typeface="Calibri"/>
                <a:ea typeface="Calibri"/>
                <a:cs typeface="Calibri"/>
                <a:sym typeface="Calibri"/>
              </a:rPr>
              <a:t> </a:t>
            </a:r>
            <a:endParaRPr sz="800" b="0" i="0" u="none" strike="noStrike" cap="none">
              <a:solidFill>
                <a:srgbClr val="000000"/>
              </a:solidFill>
              <a:latin typeface="Arial"/>
              <a:ea typeface="Arial"/>
              <a:cs typeface="Arial"/>
              <a:sym typeface="Arial"/>
            </a:endParaRPr>
          </a:p>
        </p:txBody>
      </p:sp>
      <p:sp>
        <p:nvSpPr>
          <p:cNvPr id="171" name="Google Shape;171;g163fefff252_0_3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23</a:t>
            </a:fld>
            <a:endParaRPr sz="6000">
              <a:solidFill>
                <a:schemeClr val="lt1"/>
              </a:solidFill>
              <a:latin typeface="Impact"/>
              <a:ea typeface="Impact"/>
              <a:cs typeface="Impact"/>
              <a:sym typeface="Impact"/>
            </a:endParaRPr>
          </a:p>
        </p:txBody>
      </p:sp>
      <p:sp>
        <p:nvSpPr>
          <p:cNvPr id="172" name="Google Shape;172;g163fefff252_0_31"/>
          <p:cNvSpPr txBox="1"/>
          <p:nvPr/>
        </p:nvSpPr>
        <p:spPr>
          <a:xfrm>
            <a:off x="993400" y="1085400"/>
            <a:ext cx="10936800" cy="53334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Clr>
                <a:schemeClr val="dk1"/>
              </a:buClr>
              <a:buSzPts val="1100"/>
              <a:buFont typeface="Arial"/>
              <a:buNone/>
            </a:pPr>
            <a:r>
              <a:rPr lang="pt-BR" sz="3000" b="1">
                <a:solidFill>
                  <a:schemeClr val="dk1"/>
                </a:solidFill>
                <a:latin typeface="Calibri"/>
                <a:ea typeface="Calibri"/>
                <a:cs typeface="Calibri"/>
                <a:sym typeface="Calibri"/>
              </a:rPr>
              <a:t>def particao(array, inicio, final)</a:t>
            </a:r>
            <a:r>
              <a:rPr lang="pt-BR" sz="3000">
                <a:solidFill>
                  <a:schemeClr val="dk1"/>
                </a:solidFill>
                <a:latin typeface="Calibri"/>
                <a:ea typeface="Calibri"/>
                <a:cs typeface="Calibri"/>
                <a:sym typeface="Calibri"/>
              </a:rPr>
              <a:t>:</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pivo &lt;- vetor[ final ]</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i &lt;- inicio - 1</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para </a:t>
            </a:r>
            <a:r>
              <a:rPr lang="pt-BR" sz="3000">
                <a:solidFill>
                  <a:schemeClr val="dk1"/>
                </a:solidFill>
                <a:latin typeface="Calibri"/>
                <a:ea typeface="Calibri"/>
                <a:cs typeface="Calibri"/>
                <a:sym typeface="Calibri"/>
              </a:rPr>
              <a:t>cada j no range(inicio, final) </a:t>
            </a:r>
            <a:r>
              <a:rPr lang="pt-BR" sz="3000" b="1">
                <a:solidFill>
                  <a:schemeClr val="dk1"/>
                </a:solidFill>
                <a:latin typeface="Calibri"/>
                <a:ea typeface="Calibri"/>
                <a:cs typeface="Calibri"/>
                <a:sym typeface="Calibri"/>
              </a:rPr>
              <a:t>então</a:t>
            </a:r>
            <a:r>
              <a:rPr lang="pt-BR" sz="3000">
                <a:solidFill>
                  <a:schemeClr val="dk1"/>
                </a:solidFill>
                <a:latin typeface="Calibri"/>
                <a:ea typeface="Calibri"/>
                <a:cs typeface="Calibri"/>
                <a:sym typeface="Calibri"/>
              </a:rPr>
              <a:t>:</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se </a:t>
            </a:r>
            <a:r>
              <a:rPr lang="pt-BR" sz="3000">
                <a:solidFill>
                  <a:schemeClr val="dk1"/>
                </a:solidFill>
                <a:latin typeface="Calibri"/>
                <a:ea typeface="Calibri"/>
                <a:cs typeface="Calibri"/>
                <a:sym typeface="Calibri"/>
              </a:rPr>
              <a:t>array[ j ] &lt;= pivo </a:t>
            </a:r>
            <a:r>
              <a:rPr lang="pt-BR" sz="3000" b="1">
                <a:solidFill>
                  <a:schemeClr val="dk1"/>
                </a:solidFill>
                <a:latin typeface="Calibri"/>
                <a:ea typeface="Calibri"/>
                <a:cs typeface="Calibri"/>
                <a:sym typeface="Calibri"/>
              </a:rPr>
              <a:t>então</a:t>
            </a:r>
            <a:r>
              <a:rPr lang="pt-BR" sz="3000">
                <a:solidFill>
                  <a:schemeClr val="dk1"/>
                </a:solidFill>
                <a:latin typeface="Calibri"/>
                <a:ea typeface="Calibri"/>
                <a:cs typeface="Calibri"/>
                <a:sym typeface="Calibri"/>
              </a:rPr>
              <a:t>:</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i &lt;- i + 1</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array[ i ], array[ j ] &lt;- array[ j ], array[ i ]</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array[i + 1], array[final] &lt;- array[final], array[i + 1]</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return </a:t>
            </a:r>
            <a:r>
              <a:rPr lang="pt-BR" sz="3000">
                <a:solidFill>
                  <a:schemeClr val="dk1"/>
                </a:solidFill>
                <a:latin typeface="Calibri"/>
                <a:ea typeface="Calibri"/>
                <a:cs typeface="Calibri"/>
                <a:sym typeface="Calibri"/>
              </a:rPr>
              <a:t>i + 1</a:t>
            </a:r>
            <a:endParaRPr sz="3000">
              <a:solidFill>
                <a:schemeClr val="dk1"/>
              </a:solidFill>
              <a:latin typeface="Calibri"/>
              <a:ea typeface="Calibri"/>
              <a:cs typeface="Calibri"/>
              <a:sym typeface="Calibri"/>
            </a:endParaRPr>
          </a:p>
        </p:txBody>
      </p:sp>
      <p:sp>
        <p:nvSpPr>
          <p:cNvPr id="173" name="Google Shape;173;g163fefff252_0_31"/>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g163fefff252_0_4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79" name="Google Shape;179;g163fefff252_0_4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80" name="Google Shape;180;g163fefff252_0_42"/>
          <p:cNvSpPr txBox="1"/>
          <p:nvPr/>
        </p:nvSpPr>
        <p:spPr>
          <a:xfrm>
            <a:off x="1023257" y="346491"/>
            <a:ext cx="108771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a:solidFill>
                  <a:srgbClr val="003958"/>
                </a:solidFill>
                <a:latin typeface="Calibri"/>
                <a:ea typeface="Calibri"/>
                <a:cs typeface="Calibri"/>
                <a:sym typeface="Calibri"/>
              </a:rPr>
              <a:t>QUICK</a:t>
            </a:r>
            <a:r>
              <a:rPr lang="pt-BR" sz="4200" b="0" i="0" u="none" strike="noStrike" cap="none">
                <a:solidFill>
                  <a:srgbClr val="003958"/>
                </a:solidFill>
                <a:latin typeface="Calibri"/>
                <a:ea typeface="Calibri"/>
                <a:cs typeface="Calibri"/>
                <a:sym typeface="Calibri"/>
              </a:rPr>
              <a:t> SORT_</a:t>
            </a:r>
            <a:r>
              <a:rPr lang="pt-BR" sz="4200">
                <a:solidFill>
                  <a:srgbClr val="003958"/>
                </a:solidFill>
                <a:latin typeface="Calibri"/>
                <a:ea typeface="Calibri"/>
                <a:cs typeface="Calibri"/>
                <a:sym typeface="Calibri"/>
              </a:rPr>
              <a:t>PARTE 2</a:t>
            </a:r>
            <a:r>
              <a:rPr lang="pt-BR" sz="4200" b="0" i="0" u="none" strike="noStrike" cap="none">
                <a:solidFill>
                  <a:srgbClr val="003958"/>
                </a:solidFill>
                <a:latin typeface="Calibri"/>
                <a:ea typeface="Calibri"/>
                <a:cs typeface="Calibri"/>
                <a:sym typeface="Calibri"/>
              </a:rPr>
              <a:t> </a:t>
            </a:r>
            <a:endParaRPr sz="800" b="0" i="0" u="none" strike="noStrike" cap="none">
              <a:solidFill>
                <a:srgbClr val="000000"/>
              </a:solidFill>
              <a:latin typeface="Arial"/>
              <a:ea typeface="Arial"/>
              <a:cs typeface="Arial"/>
              <a:sym typeface="Arial"/>
            </a:endParaRPr>
          </a:p>
        </p:txBody>
      </p:sp>
      <p:sp>
        <p:nvSpPr>
          <p:cNvPr id="181" name="Google Shape;181;g163fefff252_0_42"/>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24</a:t>
            </a:fld>
            <a:endParaRPr sz="6000" dirty="0">
              <a:solidFill>
                <a:schemeClr val="lt1"/>
              </a:solidFill>
              <a:latin typeface="Impact"/>
              <a:ea typeface="Impact"/>
              <a:cs typeface="Impact"/>
              <a:sym typeface="Impact"/>
            </a:endParaRPr>
          </a:p>
        </p:txBody>
      </p:sp>
      <p:sp>
        <p:nvSpPr>
          <p:cNvPr id="182" name="Google Shape;182;g163fefff252_0_42"/>
          <p:cNvSpPr txBox="1"/>
          <p:nvPr/>
        </p:nvSpPr>
        <p:spPr>
          <a:xfrm>
            <a:off x="993400" y="1085400"/>
            <a:ext cx="10936800" cy="5333400"/>
          </a:xfrm>
          <a:prstGeom prst="rect">
            <a:avLst/>
          </a:prstGeom>
          <a:noFill/>
          <a:ln>
            <a:noFill/>
          </a:ln>
        </p:spPr>
        <p:txBody>
          <a:bodyPr spcFirstLastPara="1" wrap="square" lIns="91425" tIns="45700" rIns="91425" bIns="45700" anchor="t" anchorCtr="0">
            <a:spAutoFit/>
          </a:bodyPr>
          <a:lstStyle/>
          <a:p>
            <a:pPr marL="0" lvl="0" indent="0" algn="just" rtl="0">
              <a:lnSpc>
                <a:spcPct val="115000"/>
              </a:lnSpc>
              <a:spcBef>
                <a:spcPts val="0"/>
              </a:spcBef>
              <a:spcAft>
                <a:spcPts val="0"/>
              </a:spcAft>
              <a:buClr>
                <a:schemeClr val="dk1"/>
              </a:buClr>
              <a:buSzPts val="1100"/>
              <a:buFont typeface="Arial"/>
              <a:buNone/>
            </a:pPr>
            <a:r>
              <a:rPr lang="pt-BR" sz="3000" b="1">
                <a:solidFill>
                  <a:schemeClr val="dk1"/>
                </a:solidFill>
                <a:latin typeface="Calibri"/>
                <a:ea typeface="Calibri"/>
                <a:cs typeface="Calibri"/>
                <a:sym typeface="Calibri"/>
              </a:rPr>
              <a:t>def quick_sort(vetor, inicio, final)</a:t>
            </a:r>
            <a:r>
              <a:rPr lang="pt-BR" sz="3000">
                <a:solidFill>
                  <a:schemeClr val="dk1"/>
                </a:solidFill>
                <a:latin typeface="Calibri"/>
                <a:ea typeface="Calibri"/>
                <a:cs typeface="Calibri"/>
                <a:sym typeface="Calibri"/>
              </a:rPr>
              <a:t>:</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se </a:t>
            </a:r>
            <a:r>
              <a:rPr lang="pt-BR" sz="3000">
                <a:solidFill>
                  <a:schemeClr val="dk1"/>
                </a:solidFill>
                <a:latin typeface="Calibri"/>
                <a:ea typeface="Calibri"/>
                <a:cs typeface="Calibri"/>
                <a:sym typeface="Calibri"/>
              </a:rPr>
              <a:t>inicio &lt; final </a:t>
            </a:r>
            <a:r>
              <a:rPr lang="pt-BR" sz="3000" b="1">
                <a:solidFill>
                  <a:schemeClr val="dk1"/>
                </a:solidFill>
                <a:latin typeface="Calibri"/>
                <a:ea typeface="Calibri"/>
                <a:cs typeface="Calibri"/>
                <a:sym typeface="Calibri"/>
              </a:rPr>
              <a:t>então</a:t>
            </a:r>
            <a:r>
              <a:rPr lang="pt-BR" sz="3000">
                <a:solidFill>
                  <a:schemeClr val="dk1"/>
                </a:solidFill>
                <a:latin typeface="Calibri"/>
                <a:ea typeface="Calibri"/>
                <a:cs typeface="Calibri"/>
                <a:sym typeface="Calibri"/>
              </a:rPr>
              <a:t>:</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posicao &lt;- </a:t>
            </a:r>
            <a:r>
              <a:rPr lang="pt-BR" sz="3000" b="1">
                <a:solidFill>
                  <a:schemeClr val="dk1"/>
                </a:solidFill>
                <a:latin typeface="Calibri"/>
                <a:ea typeface="Calibri"/>
                <a:cs typeface="Calibri"/>
                <a:sym typeface="Calibri"/>
              </a:rPr>
              <a:t>particao</a:t>
            </a:r>
            <a:r>
              <a:rPr lang="pt-BR" sz="3000">
                <a:solidFill>
                  <a:schemeClr val="dk1"/>
                </a:solidFill>
                <a:latin typeface="Calibri"/>
                <a:ea typeface="Calibri"/>
                <a:cs typeface="Calibri"/>
                <a:sym typeface="Calibri"/>
              </a:rPr>
              <a:t>(vetor, inicio, final)</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 Esquerda</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quick_sort</a:t>
            </a:r>
            <a:r>
              <a:rPr lang="pt-BR" sz="3000">
                <a:solidFill>
                  <a:schemeClr val="dk1"/>
                </a:solidFill>
                <a:latin typeface="Calibri"/>
                <a:ea typeface="Calibri"/>
                <a:cs typeface="Calibri"/>
                <a:sym typeface="Calibri"/>
              </a:rPr>
              <a:t>(vetor, inicio, posicao - 1)</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 Direito</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quick_sort</a:t>
            </a:r>
            <a:r>
              <a:rPr lang="pt-BR" sz="3000">
                <a:solidFill>
                  <a:schemeClr val="dk1"/>
                </a:solidFill>
                <a:latin typeface="Calibri"/>
                <a:ea typeface="Calibri"/>
                <a:cs typeface="Calibri"/>
                <a:sym typeface="Calibri"/>
              </a:rPr>
              <a:t>(vetor, posicao + 1, final)</a:t>
            </a:r>
            <a:endParaRPr sz="30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pt-BR" sz="3000">
                <a:solidFill>
                  <a:schemeClr val="dk1"/>
                </a:solidFill>
                <a:latin typeface="Calibri"/>
                <a:ea typeface="Calibri"/>
                <a:cs typeface="Calibri"/>
                <a:sym typeface="Calibri"/>
              </a:rPr>
              <a:t>  </a:t>
            </a:r>
            <a:r>
              <a:rPr lang="pt-BR" sz="3000" b="1">
                <a:solidFill>
                  <a:schemeClr val="dk1"/>
                </a:solidFill>
                <a:latin typeface="Calibri"/>
                <a:ea typeface="Calibri"/>
                <a:cs typeface="Calibri"/>
                <a:sym typeface="Calibri"/>
              </a:rPr>
              <a:t>return </a:t>
            </a:r>
            <a:r>
              <a:rPr lang="pt-BR" sz="3000">
                <a:solidFill>
                  <a:schemeClr val="dk1"/>
                </a:solidFill>
                <a:latin typeface="Calibri"/>
                <a:ea typeface="Calibri"/>
                <a:cs typeface="Calibri"/>
                <a:sym typeface="Calibri"/>
              </a:rPr>
              <a:t>vetor</a:t>
            </a:r>
            <a:endParaRPr sz="3000" b="1">
              <a:solidFill>
                <a:schemeClr val="dk1"/>
              </a:solidFill>
              <a:latin typeface="Calibri"/>
              <a:ea typeface="Calibri"/>
              <a:cs typeface="Calibri"/>
              <a:sym typeface="Calibri"/>
            </a:endParaRPr>
          </a:p>
        </p:txBody>
      </p:sp>
      <p:sp>
        <p:nvSpPr>
          <p:cNvPr id="183" name="Google Shape;183;g163fefff252_0_42"/>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BB6FAC5E-0E0B-4035-9353-F01DADF51DA0}"/>
              </a:ext>
            </a:extLst>
          </p:cNvPr>
          <p:cNvSpPr>
            <a:spLocks noGrp="1"/>
          </p:cNvSpPr>
          <p:nvPr>
            <p:ph type="body" idx="1"/>
          </p:nvPr>
        </p:nvSpPr>
        <p:spPr>
          <a:xfrm>
            <a:off x="509587" y="396875"/>
            <a:ext cx="10515600" cy="4351338"/>
          </a:xfrm>
        </p:spPr>
        <p:txBody>
          <a:bodyPr>
            <a:noAutofit/>
          </a:bodyPr>
          <a:lstStyle/>
          <a:p>
            <a:pPr marL="114300" indent="0" algn="l">
              <a:buNone/>
            </a:pPr>
            <a:r>
              <a:rPr lang="pt-BR" sz="3200" b="1" i="0" dirty="0">
                <a:solidFill>
                  <a:schemeClr val="tx1"/>
                </a:solidFill>
                <a:effectLst/>
                <a:latin typeface="GeneralSans-Black"/>
              </a:rPr>
              <a:t>Tipos de algoritmos de ordenação em </a:t>
            </a:r>
            <a:r>
              <a:rPr lang="pt-BR" sz="3200" b="1" i="0" dirty="0">
                <a:solidFill>
                  <a:srgbClr val="FF0000"/>
                </a:solidFill>
                <a:effectLst/>
                <a:latin typeface="GeneralSans-Black"/>
              </a:rPr>
              <a:t>Python</a:t>
            </a:r>
          </a:p>
          <a:p>
            <a:pPr marL="114300" indent="0" algn="l">
              <a:buNone/>
            </a:pPr>
            <a:endParaRPr lang="pt-BR" sz="3200" b="1" i="0" dirty="0">
              <a:solidFill>
                <a:schemeClr val="tx1"/>
              </a:solidFill>
              <a:effectLst/>
              <a:latin typeface="GeneralSans-Black"/>
            </a:endParaRPr>
          </a:p>
          <a:p>
            <a:pPr marL="114300" indent="0" algn="just">
              <a:buNone/>
            </a:pPr>
            <a:r>
              <a:rPr lang="pt-BR" sz="2500" b="0" i="0" dirty="0">
                <a:solidFill>
                  <a:schemeClr val="tx1"/>
                </a:solidFill>
                <a:effectLst/>
                <a:latin typeface="GeneralSans-Medium"/>
              </a:rPr>
              <a:t>Um algoritmo de ordenação em Python é uma sequência de passos lógicos que permite rearranjar os elementos de uma lista de forma ascendente ou descendente. Esses algoritmos são amplamente utilizados em diversas áreas da computação, como bancos de dados, sistemas de busca e análise de dados.</a:t>
            </a:r>
          </a:p>
          <a:p>
            <a:pPr algn="l"/>
            <a:r>
              <a:rPr lang="pt-BR" sz="2500" b="1" i="0" dirty="0" err="1">
                <a:solidFill>
                  <a:schemeClr val="tx1"/>
                </a:solidFill>
                <a:effectLst/>
                <a:latin typeface="GeneralSans-Black"/>
              </a:rPr>
              <a:t>Bubble</a:t>
            </a:r>
            <a:r>
              <a:rPr lang="pt-BR" sz="2500" b="1" i="0" dirty="0">
                <a:solidFill>
                  <a:schemeClr val="tx1"/>
                </a:solidFill>
                <a:effectLst/>
                <a:latin typeface="GeneralSans-Black"/>
              </a:rPr>
              <a:t> </a:t>
            </a:r>
            <a:r>
              <a:rPr lang="pt-BR" sz="2500" b="1" i="0" dirty="0" err="1">
                <a:solidFill>
                  <a:schemeClr val="tx1"/>
                </a:solidFill>
                <a:effectLst/>
                <a:latin typeface="GeneralSans-Black"/>
              </a:rPr>
              <a:t>Sort</a:t>
            </a:r>
            <a:endParaRPr lang="pt-BR" sz="2500" b="1" i="0" dirty="0">
              <a:solidFill>
                <a:schemeClr val="tx1"/>
              </a:solidFill>
              <a:effectLst/>
              <a:latin typeface="GeneralSans-Black"/>
            </a:endParaRPr>
          </a:p>
          <a:p>
            <a:pPr marL="114300" indent="0" algn="just">
              <a:buNone/>
            </a:pPr>
            <a:r>
              <a:rPr lang="pt-BR" sz="2500" b="0" i="0" dirty="0">
                <a:solidFill>
                  <a:schemeClr val="tx1"/>
                </a:solidFill>
                <a:effectLst/>
                <a:latin typeface="GeneralSans-Medium"/>
              </a:rPr>
              <a:t>Um algoritmo simples que compara elementos adjacentes e os troca de posição se estiverem na ordem errada. Embora seja fácil de entender e implementar, o </a:t>
            </a:r>
            <a:r>
              <a:rPr lang="pt-BR" sz="2500" b="0" i="0" dirty="0" err="1">
                <a:solidFill>
                  <a:schemeClr val="tx1"/>
                </a:solidFill>
                <a:effectLst/>
                <a:latin typeface="GeneralSans-Medium"/>
              </a:rPr>
              <a:t>Bubble</a:t>
            </a:r>
            <a:r>
              <a:rPr lang="pt-BR" sz="2500" b="0" i="0" dirty="0">
                <a:solidFill>
                  <a:schemeClr val="tx1"/>
                </a:solidFill>
                <a:effectLst/>
                <a:latin typeface="GeneralSans-Medium"/>
              </a:rPr>
              <a:t> </a:t>
            </a:r>
            <a:r>
              <a:rPr lang="pt-BR" sz="2500" b="0" i="0" dirty="0" err="1">
                <a:solidFill>
                  <a:schemeClr val="tx1"/>
                </a:solidFill>
                <a:effectLst/>
                <a:latin typeface="GeneralSans-Medium"/>
              </a:rPr>
              <a:t>Sort</a:t>
            </a:r>
            <a:r>
              <a:rPr lang="pt-BR" sz="2500" b="0" i="0" dirty="0">
                <a:solidFill>
                  <a:schemeClr val="tx1"/>
                </a:solidFill>
                <a:effectLst/>
                <a:latin typeface="GeneralSans-Medium"/>
              </a:rPr>
              <a:t> possui uma complexidade alta e não é eficiente para grandes conjuntos de dados.</a:t>
            </a:r>
          </a:p>
          <a:p>
            <a:pPr algn="l"/>
            <a:r>
              <a:rPr lang="pt-BR" sz="2500" b="1" i="0" dirty="0" err="1">
                <a:solidFill>
                  <a:schemeClr val="tx1"/>
                </a:solidFill>
                <a:effectLst/>
                <a:latin typeface="GeneralSans-Black"/>
              </a:rPr>
              <a:t>Insertion</a:t>
            </a:r>
            <a:r>
              <a:rPr lang="pt-BR" sz="2500" b="1" i="0" dirty="0">
                <a:solidFill>
                  <a:schemeClr val="tx1"/>
                </a:solidFill>
                <a:effectLst/>
                <a:latin typeface="GeneralSans-Black"/>
              </a:rPr>
              <a:t> </a:t>
            </a:r>
            <a:r>
              <a:rPr lang="pt-BR" sz="2500" b="1" i="0" dirty="0" err="1">
                <a:solidFill>
                  <a:schemeClr val="tx1"/>
                </a:solidFill>
                <a:effectLst/>
                <a:latin typeface="GeneralSans-Black"/>
              </a:rPr>
              <a:t>Sort</a:t>
            </a:r>
            <a:endParaRPr lang="pt-BR" sz="2500" b="1" i="0" dirty="0">
              <a:solidFill>
                <a:schemeClr val="tx1"/>
              </a:solidFill>
              <a:effectLst/>
              <a:latin typeface="GeneralSans-Black"/>
            </a:endParaRPr>
          </a:p>
          <a:p>
            <a:pPr marL="114300" indent="0" algn="just">
              <a:buNone/>
            </a:pPr>
            <a:r>
              <a:rPr lang="pt-BR" sz="2500" b="0" i="0" dirty="0">
                <a:solidFill>
                  <a:schemeClr val="tx1"/>
                </a:solidFill>
                <a:effectLst/>
                <a:latin typeface="GeneralSans-Medium"/>
              </a:rPr>
              <a:t>Um algoritmo que percorre a lista e insere cada elemento em sua posição correta. É eficiente para listas pequenas, mas pode ser lento para listas maiores.</a:t>
            </a:r>
          </a:p>
          <a:p>
            <a:endParaRPr lang="pt-BR" sz="2500" dirty="0">
              <a:solidFill>
                <a:schemeClr val="tx1"/>
              </a:solidFill>
            </a:endParaRPr>
          </a:p>
        </p:txBody>
      </p:sp>
    </p:spTree>
    <p:extLst>
      <p:ext uri="{BB962C8B-B14F-4D97-AF65-F5344CB8AC3E}">
        <p14:creationId xmlns:p14="http://schemas.microsoft.com/office/powerpoint/2010/main" val="3730588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BB6FAC5E-0E0B-4035-9353-F01DADF51DA0}"/>
              </a:ext>
            </a:extLst>
          </p:cNvPr>
          <p:cNvSpPr>
            <a:spLocks noGrp="1"/>
          </p:cNvSpPr>
          <p:nvPr>
            <p:ph type="body" idx="1"/>
          </p:nvPr>
        </p:nvSpPr>
        <p:spPr>
          <a:xfrm>
            <a:off x="509587" y="396875"/>
            <a:ext cx="10515600" cy="4351338"/>
          </a:xfrm>
        </p:spPr>
        <p:txBody>
          <a:bodyPr>
            <a:noAutofit/>
          </a:bodyPr>
          <a:lstStyle/>
          <a:p>
            <a:pPr marL="114300" indent="0" algn="l">
              <a:buNone/>
            </a:pPr>
            <a:r>
              <a:rPr lang="pt-BR" sz="2500" b="1" i="0" dirty="0">
                <a:solidFill>
                  <a:schemeClr val="tx1"/>
                </a:solidFill>
                <a:effectLst/>
                <a:latin typeface="GeneralSans-Black"/>
              </a:rPr>
              <a:t>Merge </a:t>
            </a:r>
            <a:r>
              <a:rPr lang="pt-BR" sz="2500" b="1" i="0" dirty="0" err="1">
                <a:solidFill>
                  <a:schemeClr val="tx1"/>
                </a:solidFill>
                <a:effectLst/>
                <a:latin typeface="GeneralSans-Black"/>
              </a:rPr>
              <a:t>Sort</a:t>
            </a:r>
            <a:endParaRPr lang="pt-BR" sz="2500" b="1" i="0" dirty="0">
              <a:solidFill>
                <a:schemeClr val="tx1"/>
              </a:solidFill>
              <a:effectLst/>
              <a:latin typeface="GeneralSans-Black"/>
            </a:endParaRPr>
          </a:p>
          <a:p>
            <a:pPr algn="just"/>
            <a:r>
              <a:rPr lang="pt-BR" sz="2500" b="0" i="0" dirty="0">
                <a:solidFill>
                  <a:schemeClr val="tx1"/>
                </a:solidFill>
                <a:effectLst/>
                <a:latin typeface="GeneralSans-Medium"/>
              </a:rPr>
              <a:t>Um algoritmo de ordenação eficiente que divide a lista em duas metades, ordena cada metade separadamente e, em seguida, combina as duas metades em uma única lista ordenada.</a:t>
            </a:r>
          </a:p>
          <a:p>
            <a:pPr marL="114300" indent="0" algn="l">
              <a:buNone/>
            </a:pPr>
            <a:r>
              <a:rPr lang="pt-BR" sz="2500" b="1" i="0" dirty="0" err="1">
                <a:solidFill>
                  <a:schemeClr val="tx1"/>
                </a:solidFill>
                <a:effectLst/>
                <a:latin typeface="GeneralSans-Black"/>
              </a:rPr>
              <a:t>Quick</a:t>
            </a:r>
            <a:r>
              <a:rPr lang="pt-BR" sz="2500" b="1" i="0" dirty="0">
                <a:solidFill>
                  <a:schemeClr val="tx1"/>
                </a:solidFill>
                <a:effectLst/>
                <a:latin typeface="GeneralSans-Black"/>
              </a:rPr>
              <a:t> </a:t>
            </a:r>
            <a:r>
              <a:rPr lang="pt-BR" sz="2500" b="1" i="0" dirty="0" err="1">
                <a:solidFill>
                  <a:schemeClr val="tx1"/>
                </a:solidFill>
                <a:effectLst/>
                <a:latin typeface="GeneralSans-Black"/>
              </a:rPr>
              <a:t>Sort</a:t>
            </a:r>
            <a:endParaRPr lang="pt-BR" sz="2500" b="1" i="0" dirty="0">
              <a:solidFill>
                <a:schemeClr val="tx1"/>
              </a:solidFill>
              <a:effectLst/>
              <a:latin typeface="GeneralSans-Black"/>
            </a:endParaRPr>
          </a:p>
          <a:p>
            <a:pPr algn="just"/>
            <a:r>
              <a:rPr lang="pt-BR" sz="2500" b="0" i="0" dirty="0">
                <a:solidFill>
                  <a:schemeClr val="tx1"/>
                </a:solidFill>
                <a:effectLst/>
                <a:latin typeface="GeneralSans-Medium"/>
              </a:rPr>
              <a:t>Um algoritmo de ordenação rápido que seleciona um elemento chamado pivô e rearranja os outros elementos em relação a esse pivô. É um dos algoritmos mais eficientes para a maioria dos casos.</a:t>
            </a:r>
          </a:p>
          <a:p>
            <a:pPr marL="114300" indent="0" algn="l">
              <a:buNone/>
            </a:pPr>
            <a:r>
              <a:rPr lang="pt-BR" sz="2500" b="1" i="0" dirty="0" err="1">
                <a:solidFill>
                  <a:schemeClr val="tx1"/>
                </a:solidFill>
                <a:effectLst/>
                <a:latin typeface="GeneralSans-Black"/>
              </a:rPr>
              <a:t>Selection</a:t>
            </a:r>
            <a:r>
              <a:rPr lang="pt-BR" sz="2500" b="1" i="0" dirty="0">
                <a:solidFill>
                  <a:schemeClr val="tx1"/>
                </a:solidFill>
                <a:effectLst/>
                <a:latin typeface="GeneralSans-Black"/>
              </a:rPr>
              <a:t> </a:t>
            </a:r>
            <a:r>
              <a:rPr lang="pt-BR" sz="2500" b="1" i="0" dirty="0" err="1">
                <a:solidFill>
                  <a:schemeClr val="tx1"/>
                </a:solidFill>
                <a:effectLst/>
                <a:latin typeface="GeneralSans-Black"/>
              </a:rPr>
              <a:t>Sort</a:t>
            </a:r>
            <a:endParaRPr lang="pt-BR" sz="2500" b="1" i="0" dirty="0">
              <a:solidFill>
                <a:schemeClr val="tx1"/>
              </a:solidFill>
              <a:effectLst/>
              <a:latin typeface="GeneralSans-Black"/>
            </a:endParaRPr>
          </a:p>
          <a:p>
            <a:pPr algn="just"/>
            <a:r>
              <a:rPr lang="pt-BR" sz="2500" b="0" i="0" dirty="0">
                <a:solidFill>
                  <a:schemeClr val="tx1"/>
                </a:solidFill>
                <a:effectLst/>
                <a:latin typeface="GeneralSans-Medium"/>
              </a:rPr>
              <a:t>Um algoritmo que seleciona o menor elemento da lista e o coloca na primeira posição. Em seguida, seleciona o próximo menor elemento e o coloca na segunda posição, e assim por diante. Apesar de simples, o </a:t>
            </a:r>
            <a:r>
              <a:rPr lang="pt-BR" sz="2500" b="0" i="0" dirty="0" err="1">
                <a:solidFill>
                  <a:schemeClr val="tx1"/>
                </a:solidFill>
                <a:effectLst/>
                <a:latin typeface="GeneralSans-Medium"/>
              </a:rPr>
              <a:t>Selection</a:t>
            </a:r>
            <a:r>
              <a:rPr lang="pt-BR" sz="2500" b="0" i="0" dirty="0">
                <a:solidFill>
                  <a:schemeClr val="tx1"/>
                </a:solidFill>
                <a:effectLst/>
                <a:latin typeface="GeneralSans-Medium"/>
              </a:rPr>
              <a:t> </a:t>
            </a:r>
            <a:r>
              <a:rPr lang="pt-BR" sz="2500" b="0" i="0" dirty="0" err="1">
                <a:solidFill>
                  <a:schemeClr val="tx1"/>
                </a:solidFill>
                <a:effectLst/>
                <a:latin typeface="GeneralSans-Medium"/>
              </a:rPr>
              <a:t>Sort</a:t>
            </a:r>
            <a:r>
              <a:rPr lang="pt-BR" sz="2500" b="0" i="0" dirty="0">
                <a:solidFill>
                  <a:schemeClr val="tx1"/>
                </a:solidFill>
                <a:effectLst/>
                <a:latin typeface="GeneralSans-Medium"/>
              </a:rPr>
              <a:t> não é muito eficiente para grandes conjuntos de dados.</a:t>
            </a:r>
          </a:p>
          <a:p>
            <a:pPr algn="l"/>
            <a:endParaRPr lang="pt-BR" sz="2500" b="0" i="0" dirty="0">
              <a:solidFill>
                <a:schemeClr val="tx1"/>
              </a:solidFill>
              <a:effectLst/>
              <a:latin typeface="GeneralSans-Medium"/>
            </a:endParaRPr>
          </a:p>
          <a:p>
            <a:endParaRPr lang="pt-BR" sz="2500" dirty="0">
              <a:solidFill>
                <a:schemeClr val="tx1"/>
              </a:solidFill>
            </a:endParaRPr>
          </a:p>
        </p:txBody>
      </p:sp>
    </p:spTree>
    <p:extLst>
      <p:ext uri="{BB962C8B-B14F-4D97-AF65-F5344CB8AC3E}">
        <p14:creationId xmlns:p14="http://schemas.microsoft.com/office/powerpoint/2010/main" val="2150018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e1a337b696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7" name="Google Shape;167;g1e1a337b696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8" name="Google Shape;168;g1e1a337b696_0_0"/>
          <p:cNvSpPr txBox="1"/>
          <p:nvPr/>
        </p:nvSpPr>
        <p:spPr>
          <a:xfrm>
            <a:off x="1023257" y="346491"/>
            <a:ext cx="10877100" cy="86789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dirty="0">
                <a:solidFill>
                  <a:srgbClr val="003958"/>
                </a:solidFill>
                <a:latin typeface="Calibri"/>
                <a:ea typeface="Calibri"/>
                <a:cs typeface="Calibri"/>
                <a:sym typeface="Calibri"/>
              </a:rPr>
              <a:t>Exemplo:</a:t>
            </a:r>
            <a:r>
              <a:rPr lang="pt-BR" sz="4200" b="0" i="0" u="none" strike="noStrike" cap="none" dirty="0">
                <a:solidFill>
                  <a:srgbClr val="003958"/>
                </a:solidFill>
                <a:latin typeface="Calibri"/>
                <a:ea typeface="Calibri"/>
                <a:cs typeface="Calibri"/>
                <a:sym typeface="Calibri"/>
              </a:rPr>
              <a:t> </a:t>
            </a:r>
            <a:endParaRPr sz="800" b="0" i="0" u="none" strike="noStrike" cap="none" dirty="0">
              <a:solidFill>
                <a:srgbClr val="000000"/>
              </a:solidFill>
              <a:latin typeface="Arial"/>
              <a:ea typeface="Arial"/>
              <a:cs typeface="Arial"/>
              <a:sym typeface="Arial"/>
            </a:endParaRPr>
          </a:p>
        </p:txBody>
      </p:sp>
      <p:sp>
        <p:nvSpPr>
          <p:cNvPr id="169" name="Google Shape;169;g1e1a337b696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27</a:t>
            </a:fld>
            <a:endParaRPr sz="6000">
              <a:solidFill>
                <a:schemeClr val="lt1"/>
              </a:solidFill>
              <a:latin typeface="Impact"/>
              <a:ea typeface="Impact"/>
              <a:cs typeface="Impact"/>
              <a:sym typeface="Impact"/>
            </a:endParaRPr>
          </a:p>
        </p:txBody>
      </p:sp>
      <p:sp>
        <p:nvSpPr>
          <p:cNvPr id="171" name="Google Shape;171;g1e1a337b696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Imagem 3">
            <a:extLst>
              <a:ext uri="{FF2B5EF4-FFF2-40B4-BE49-F238E27FC236}">
                <a16:creationId xmlns:a16="http://schemas.microsoft.com/office/drawing/2014/main" id="{CF17B6F1-5A46-4D17-BCF5-89D86ECD33EE}"/>
              </a:ext>
            </a:extLst>
          </p:cNvPr>
          <p:cNvPicPr>
            <a:picLocks noChangeAspect="1"/>
          </p:cNvPicPr>
          <p:nvPr/>
        </p:nvPicPr>
        <p:blipFill>
          <a:blip r:embed="rId5"/>
          <a:stretch>
            <a:fillRect/>
          </a:stretch>
        </p:blipFill>
        <p:spPr>
          <a:xfrm>
            <a:off x="1023257" y="1428591"/>
            <a:ext cx="7863568" cy="5081075"/>
          </a:xfrm>
          <a:prstGeom prst="rect">
            <a:avLst/>
          </a:prstGeom>
        </p:spPr>
      </p:pic>
    </p:spTree>
    <p:extLst>
      <p:ext uri="{BB962C8B-B14F-4D97-AF65-F5344CB8AC3E}">
        <p14:creationId xmlns:p14="http://schemas.microsoft.com/office/powerpoint/2010/main" val="339172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e1a337b696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7" name="Google Shape;167;g1e1a337b696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8" name="Google Shape;168;g1e1a337b696_0_0"/>
          <p:cNvSpPr txBox="1"/>
          <p:nvPr/>
        </p:nvSpPr>
        <p:spPr>
          <a:xfrm>
            <a:off x="1023257" y="346491"/>
            <a:ext cx="10877100" cy="86789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dirty="0">
                <a:solidFill>
                  <a:srgbClr val="003958"/>
                </a:solidFill>
                <a:latin typeface="Calibri"/>
                <a:ea typeface="Calibri"/>
                <a:cs typeface="Calibri"/>
                <a:sym typeface="Calibri"/>
              </a:rPr>
              <a:t>Exemplo:</a:t>
            </a:r>
            <a:r>
              <a:rPr lang="pt-BR" sz="4200" b="0" i="0" u="none" strike="noStrike" cap="none" dirty="0">
                <a:solidFill>
                  <a:srgbClr val="003958"/>
                </a:solidFill>
                <a:latin typeface="Calibri"/>
                <a:ea typeface="Calibri"/>
                <a:cs typeface="Calibri"/>
                <a:sym typeface="Calibri"/>
              </a:rPr>
              <a:t> </a:t>
            </a:r>
            <a:endParaRPr sz="800" b="0" i="0" u="none" strike="noStrike" cap="none" dirty="0">
              <a:solidFill>
                <a:srgbClr val="000000"/>
              </a:solidFill>
              <a:latin typeface="Arial"/>
              <a:ea typeface="Arial"/>
              <a:cs typeface="Arial"/>
              <a:sym typeface="Arial"/>
            </a:endParaRPr>
          </a:p>
        </p:txBody>
      </p:sp>
      <p:sp>
        <p:nvSpPr>
          <p:cNvPr id="169" name="Google Shape;169;g1e1a337b696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28</a:t>
            </a:fld>
            <a:endParaRPr sz="6000">
              <a:solidFill>
                <a:schemeClr val="lt1"/>
              </a:solidFill>
              <a:latin typeface="Impact"/>
              <a:ea typeface="Impact"/>
              <a:cs typeface="Impact"/>
              <a:sym typeface="Impact"/>
            </a:endParaRPr>
          </a:p>
        </p:txBody>
      </p:sp>
      <p:sp>
        <p:nvSpPr>
          <p:cNvPr id="171" name="Google Shape;171;g1e1a337b696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Imagem 2">
            <a:extLst>
              <a:ext uri="{FF2B5EF4-FFF2-40B4-BE49-F238E27FC236}">
                <a16:creationId xmlns:a16="http://schemas.microsoft.com/office/drawing/2014/main" id="{A7A113D2-F9A9-4D13-BCBD-CC4131CF5F7F}"/>
              </a:ext>
            </a:extLst>
          </p:cNvPr>
          <p:cNvPicPr>
            <a:picLocks noChangeAspect="1"/>
          </p:cNvPicPr>
          <p:nvPr/>
        </p:nvPicPr>
        <p:blipFill>
          <a:blip r:embed="rId5"/>
          <a:stretch>
            <a:fillRect/>
          </a:stretch>
        </p:blipFill>
        <p:spPr>
          <a:xfrm>
            <a:off x="1023257" y="1337970"/>
            <a:ext cx="6663418" cy="5397123"/>
          </a:xfrm>
          <a:prstGeom prst="rect">
            <a:avLst/>
          </a:prstGeom>
        </p:spPr>
      </p:pic>
    </p:spTree>
    <p:extLst>
      <p:ext uri="{BB962C8B-B14F-4D97-AF65-F5344CB8AC3E}">
        <p14:creationId xmlns:p14="http://schemas.microsoft.com/office/powerpoint/2010/main" val="161256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e1a337b696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7" name="Google Shape;167;g1e1a337b696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8" name="Google Shape;168;g1e1a337b696_0_0"/>
          <p:cNvSpPr txBox="1"/>
          <p:nvPr/>
        </p:nvSpPr>
        <p:spPr>
          <a:xfrm>
            <a:off x="1023257" y="346491"/>
            <a:ext cx="10877100" cy="86789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dirty="0">
                <a:solidFill>
                  <a:srgbClr val="003958"/>
                </a:solidFill>
                <a:latin typeface="Calibri"/>
                <a:ea typeface="Calibri"/>
                <a:cs typeface="Calibri"/>
                <a:sym typeface="Calibri"/>
              </a:rPr>
              <a:t>Exemplo:</a:t>
            </a:r>
            <a:r>
              <a:rPr lang="pt-BR" sz="4200" b="0" i="0" u="none" strike="noStrike" cap="none" dirty="0">
                <a:solidFill>
                  <a:srgbClr val="003958"/>
                </a:solidFill>
                <a:latin typeface="Calibri"/>
                <a:ea typeface="Calibri"/>
                <a:cs typeface="Calibri"/>
                <a:sym typeface="Calibri"/>
              </a:rPr>
              <a:t> </a:t>
            </a:r>
            <a:endParaRPr sz="800" b="0" i="0" u="none" strike="noStrike" cap="none" dirty="0">
              <a:solidFill>
                <a:srgbClr val="000000"/>
              </a:solidFill>
              <a:latin typeface="Arial"/>
              <a:ea typeface="Arial"/>
              <a:cs typeface="Arial"/>
              <a:sym typeface="Arial"/>
            </a:endParaRPr>
          </a:p>
        </p:txBody>
      </p:sp>
      <p:sp>
        <p:nvSpPr>
          <p:cNvPr id="169" name="Google Shape;169;g1e1a337b696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29</a:t>
            </a:fld>
            <a:endParaRPr sz="6000">
              <a:solidFill>
                <a:schemeClr val="lt1"/>
              </a:solidFill>
              <a:latin typeface="Impact"/>
              <a:ea typeface="Impact"/>
              <a:cs typeface="Impact"/>
              <a:sym typeface="Impact"/>
            </a:endParaRPr>
          </a:p>
        </p:txBody>
      </p:sp>
      <p:sp>
        <p:nvSpPr>
          <p:cNvPr id="171" name="Google Shape;171;g1e1a337b696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Imagem 3">
            <a:extLst>
              <a:ext uri="{FF2B5EF4-FFF2-40B4-BE49-F238E27FC236}">
                <a16:creationId xmlns:a16="http://schemas.microsoft.com/office/drawing/2014/main" id="{EB475E2B-3228-4352-B70B-48018BF5456E}"/>
              </a:ext>
            </a:extLst>
          </p:cNvPr>
          <p:cNvPicPr>
            <a:picLocks noChangeAspect="1"/>
          </p:cNvPicPr>
          <p:nvPr/>
        </p:nvPicPr>
        <p:blipFill>
          <a:blip r:embed="rId5"/>
          <a:stretch>
            <a:fillRect/>
          </a:stretch>
        </p:blipFill>
        <p:spPr>
          <a:xfrm>
            <a:off x="1157751" y="1214381"/>
            <a:ext cx="5182799" cy="5493768"/>
          </a:xfrm>
          <a:prstGeom prst="rect">
            <a:avLst/>
          </a:prstGeom>
        </p:spPr>
      </p:pic>
      <p:pic>
        <p:nvPicPr>
          <p:cNvPr id="6" name="Imagem 5">
            <a:extLst>
              <a:ext uri="{FF2B5EF4-FFF2-40B4-BE49-F238E27FC236}">
                <a16:creationId xmlns:a16="http://schemas.microsoft.com/office/drawing/2014/main" id="{BC2B2F9D-A966-4E66-AE05-BEDECDA717D2}"/>
              </a:ext>
            </a:extLst>
          </p:cNvPr>
          <p:cNvPicPr>
            <a:picLocks noChangeAspect="1"/>
          </p:cNvPicPr>
          <p:nvPr/>
        </p:nvPicPr>
        <p:blipFill>
          <a:blip r:embed="rId6"/>
          <a:stretch>
            <a:fillRect/>
          </a:stretch>
        </p:blipFill>
        <p:spPr>
          <a:xfrm>
            <a:off x="6848547" y="1427864"/>
            <a:ext cx="4543812" cy="1647304"/>
          </a:xfrm>
          <a:prstGeom prst="rect">
            <a:avLst/>
          </a:prstGeom>
        </p:spPr>
      </p:pic>
    </p:spTree>
    <p:extLst>
      <p:ext uri="{BB962C8B-B14F-4D97-AF65-F5344CB8AC3E}">
        <p14:creationId xmlns:p14="http://schemas.microsoft.com/office/powerpoint/2010/main" val="393893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e1a337b696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7" name="Google Shape;167;g1e1a337b696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8" name="Google Shape;168;g1e1a337b696_0_0"/>
          <p:cNvSpPr txBox="1"/>
          <p:nvPr/>
        </p:nvSpPr>
        <p:spPr>
          <a:xfrm>
            <a:off x="1023257" y="346491"/>
            <a:ext cx="10877100" cy="86789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dirty="0">
                <a:solidFill>
                  <a:srgbClr val="003958"/>
                </a:solidFill>
                <a:latin typeface="Calibri"/>
                <a:ea typeface="Calibri"/>
                <a:cs typeface="Calibri"/>
                <a:sym typeface="Calibri"/>
              </a:rPr>
              <a:t>Exemplo:</a:t>
            </a:r>
            <a:r>
              <a:rPr lang="pt-BR" sz="4200" b="0" i="0" u="none" strike="noStrike" cap="none" dirty="0">
                <a:solidFill>
                  <a:srgbClr val="003958"/>
                </a:solidFill>
                <a:latin typeface="Calibri"/>
                <a:ea typeface="Calibri"/>
                <a:cs typeface="Calibri"/>
                <a:sym typeface="Calibri"/>
              </a:rPr>
              <a:t> </a:t>
            </a:r>
            <a:endParaRPr sz="800" b="0" i="0" u="none" strike="noStrike" cap="none" dirty="0">
              <a:solidFill>
                <a:srgbClr val="000000"/>
              </a:solidFill>
              <a:latin typeface="Arial"/>
              <a:ea typeface="Arial"/>
              <a:cs typeface="Arial"/>
              <a:sym typeface="Arial"/>
            </a:endParaRPr>
          </a:p>
        </p:txBody>
      </p:sp>
      <p:sp>
        <p:nvSpPr>
          <p:cNvPr id="169" name="Google Shape;169;g1e1a337b696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30</a:t>
            </a:fld>
            <a:endParaRPr sz="6000">
              <a:solidFill>
                <a:schemeClr val="lt1"/>
              </a:solidFill>
              <a:latin typeface="Impact"/>
              <a:ea typeface="Impact"/>
              <a:cs typeface="Impact"/>
              <a:sym typeface="Impact"/>
            </a:endParaRPr>
          </a:p>
        </p:txBody>
      </p:sp>
      <p:sp>
        <p:nvSpPr>
          <p:cNvPr id="171" name="Google Shape;171;g1e1a337b696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Imagem 2">
            <a:extLst>
              <a:ext uri="{FF2B5EF4-FFF2-40B4-BE49-F238E27FC236}">
                <a16:creationId xmlns:a16="http://schemas.microsoft.com/office/drawing/2014/main" id="{1889F637-711B-4401-B5B0-B9C3C45D5A7A}"/>
              </a:ext>
            </a:extLst>
          </p:cNvPr>
          <p:cNvPicPr>
            <a:picLocks noChangeAspect="1"/>
          </p:cNvPicPr>
          <p:nvPr/>
        </p:nvPicPr>
        <p:blipFill>
          <a:blip r:embed="rId5"/>
          <a:stretch>
            <a:fillRect/>
          </a:stretch>
        </p:blipFill>
        <p:spPr>
          <a:xfrm>
            <a:off x="1023257" y="1374717"/>
            <a:ext cx="7834993" cy="5039807"/>
          </a:xfrm>
          <a:prstGeom prst="rect">
            <a:avLst/>
          </a:prstGeom>
        </p:spPr>
      </p:pic>
    </p:spTree>
    <p:extLst>
      <p:ext uri="{BB962C8B-B14F-4D97-AF65-F5344CB8AC3E}">
        <p14:creationId xmlns:p14="http://schemas.microsoft.com/office/powerpoint/2010/main" val="58679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e1a337b696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7" name="Google Shape;167;g1e1a337b696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8" name="Google Shape;168;g1e1a337b696_0_0"/>
          <p:cNvSpPr txBox="1"/>
          <p:nvPr/>
        </p:nvSpPr>
        <p:spPr>
          <a:xfrm>
            <a:off x="1053101" y="935576"/>
            <a:ext cx="10135232" cy="422881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200" dirty="0">
                <a:solidFill>
                  <a:schemeClr val="tx1"/>
                </a:solidFill>
                <a:latin typeface="Calibri"/>
                <a:ea typeface="Calibri"/>
                <a:cs typeface="Calibri"/>
                <a:sym typeface="Calibri"/>
              </a:rPr>
              <a:t>Atividade Avaliativa (Duplas):</a:t>
            </a:r>
          </a:p>
          <a:p>
            <a:pPr marL="0" marR="0" lvl="0" indent="0" algn="l" rtl="0">
              <a:lnSpc>
                <a:spcPct val="120000"/>
              </a:lnSpc>
              <a:spcBef>
                <a:spcPts val="0"/>
              </a:spcBef>
              <a:spcAft>
                <a:spcPts val="0"/>
              </a:spcAft>
              <a:buClr>
                <a:srgbClr val="000000"/>
              </a:buClr>
              <a:buSzPts val="4800"/>
              <a:buFont typeface="Arial"/>
              <a:buNone/>
            </a:pPr>
            <a:endParaRPr lang="pt-BR" sz="4200" b="0" i="0" u="none" strike="noStrike" cap="none" dirty="0">
              <a:solidFill>
                <a:schemeClr val="tx1"/>
              </a:solidFill>
              <a:latin typeface="Calibri"/>
              <a:ea typeface="Calibri"/>
              <a:cs typeface="Calibri"/>
              <a:sym typeface="Calibri"/>
            </a:endParaRPr>
          </a:p>
          <a:p>
            <a:pPr marL="0" marR="0" lvl="0" indent="0" algn="l" rtl="0">
              <a:lnSpc>
                <a:spcPct val="120000"/>
              </a:lnSpc>
              <a:spcBef>
                <a:spcPts val="0"/>
              </a:spcBef>
              <a:spcAft>
                <a:spcPts val="0"/>
              </a:spcAft>
              <a:buClr>
                <a:srgbClr val="000000"/>
              </a:buClr>
              <a:buSzPts val="4800"/>
              <a:buFont typeface="Arial"/>
              <a:buNone/>
            </a:pPr>
            <a:r>
              <a:rPr lang="pt-BR" sz="2800" b="0" i="0" u="none" strike="noStrike" cap="none" dirty="0">
                <a:solidFill>
                  <a:schemeClr val="tx1"/>
                </a:solidFill>
                <a:latin typeface="Calibri"/>
                <a:ea typeface="Calibri"/>
                <a:cs typeface="Calibri"/>
                <a:sym typeface="Calibri"/>
              </a:rPr>
              <a:t>Utilizando o método de ordenação (sorteio) construa um programa em </a:t>
            </a:r>
            <a:r>
              <a:rPr lang="pt-BR" sz="2800" dirty="0">
                <a:solidFill>
                  <a:schemeClr val="tx1"/>
                </a:solidFill>
                <a:latin typeface="Calibri"/>
                <a:ea typeface="Calibri"/>
                <a:cs typeface="Calibri"/>
                <a:sym typeface="Calibri"/>
              </a:rPr>
              <a:t>Python onde o usuário informe a qtde de elementos da lista a ser criada (mínimo 10 elementos). Crie a lista e digite os elementos, após aplique </a:t>
            </a:r>
            <a:r>
              <a:rPr lang="pt-BR" sz="2800" b="1" dirty="0">
                <a:solidFill>
                  <a:schemeClr val="tx1"/>
                </a:solidFill>
                <a:latin typeface="Calibri"/>
                <a:ea typeface="Calibri"/>
                <a:cs typeface="Calibri"/>
                <a:sym typeface="Calibri"/>
              </a:rPr>
              <a:t>o método de ordenação.</a:t>
            </a:r>
            <a:r>
              <a:rPr lang="pt-BR" sz="2800" dirty="0">
                <a:solidFill>
                  <a:schemeClr val="tx1"/>
                </a:solidFill>
                <a:latin typeface="Calibri"/>
                <a:ea typeface="Calibri"/>
                <a:cs typeface="Calibri"/>
                <a:sym typeface="Calibri"/>
              </a:rPr>
              <a:t> Ao final mostrar a lista de elementos antes e depois da ordenação.</a:t>
            </a:r>
            <a:r>
              <a:rPr lang="pt-BR" sz="2800" b="0" i="0" u="none" strike="noStrike" cap="none" dirty="0">
                <a:solidFill>
                  <a:schemeClr val="tx1"/>
                </a:solidFill>
                <a:latin typeface="Calibri"/>
                <a:ea typeface="Calibri"/>
                <a:cs typeface="Calibri"/>
                <a:sym typeface="Calibri"/>
              </a:rPr>
              <a:t> </a:t>
            </a:r>
            <a:endParaRPr sz="2800" b="0" i="0" u="none" strike="noStrike" cap="none" dirty="0">
              <a:solidFill>
                <a:schemeClr val="tx1"/>
              </a:solidFill>
              <a:latin typeface="Arial"/>
              <a:ea typeface="Arial"/>
              <a:cs typeface="Arial"/>
              <a:sym typeface="Arial"/>
            </a:endParaRPr>
          </a:p>
        </p:txBody>
      </p:sp>
      <p:sp>
        <p:nvSpPr>
          <p:cNvPr id="169" name="Google Shape;169;g1e1a337b696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31</a:t>
            </a:fld>
            <a:endParaRPr sz="6000">
              <a:solidFill>
                <a:schemeClr val="lt1"/>
              </a:solidFill>
              <a:latin typeface="Impact"/>
              <a:ea typeface="Impact"/>
              <a:cs typeface="Impact"/>
              <a:sym typeface="Impact"/>
            </a:endParaRPr>
          </a:p>
        </p:txBody>
      </p:sp>
      <p:sp>
        <p:nvSpPr>
          <p:cNvPr id="171" name="Google Shape;171;g1e1a337b696_0_0"/>
          <p:cNvSpPr txBox="1"/>
          <p:nvPr/>
        </p:nvSpPr>
        <p:spPr>
          <a:xfrm>
            <a:off x="6747401" y="2921268"/>
            <a:ext cx="5182800" cy="307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364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2240</Words>
  <Application>Microsoft Office PowerPoint</Application>
  <PresentationFormat>Widescreen</PresentationFormat>
  <Paragraphs>227</Paragraphs>
  <Slides>31</Slides>
  <Notes>21</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31</vt:i4>
      </vt:variant>
    </vt:vector>
  </HeadingPairs>
  <TitlesOfParts>
    <vt:vector size="41" baseType="lpstr">
      <vt:lpstr>-apple-system</vt:lpstr>
      <vt:lpstr>Arial</vt:lpstr>
      <vt:lpstr>Calibri</vt:lpstr>
      <vt:lpstr>GeneralSans-Black</vt:lpstr>
      <vt:lpstr>GeneralSans-Medium</vt:lpstr>
      <vt:lpstr>Impact</vt:lpstr>
      <vt:lpstr>inherit</vt:lpstr>
      <vt:lpstr>Lato</vt:lpstr>
      <vt:lpstr>Roboto Mono</vt:lpstr>
      <vt:lpstr>Tema do Office</vt:lpstr>
      <vt:lpstr>Apresentação do PowerPoint</vt:lpstr>
      <vt:lpstr>Apresentação do PowerPoint</vt:lpstr>
      <vt:lpstr>O que é um algoritmo de ordenação? </vt:lpstr>
      <vt:lpstr>Vantagens e desvantagens dos algoritmos  </vt:lpstr>
      <vt:lpstr>Alguns algoritmos de ordenação: </vt:lpstr>
      <vt:lpstr>Classificação de um algoritmo de ordenação   </vt:lpstr>
      <vt:lpstr>Classificação de um algoritmo de ordenação   </vt:lpstr>
      <vt:lpstr>Classificação de um algoritmo de ordenação   </vt:lpstr>
      <vt:lpstr>Classificação de um algoritmo de ordenação   </vt:lpstr>
      <vt:lpstr>Classificação de um algoritmo de ordenação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Joao Marcos Garcia Vieira</dc:creator>
  <cp:lastModifiedBy>Cristiane Pavei Fernandes</cp:lastModifiedBy>
  <cp:revision>19</cp:revision>
  <dcterms:created xsi:type="dcterms:W3CDTF">2019-02-19T17:16:10Z</dcterms:created>
  <dcterms:modified xsi:type="dcterms:W3CDTF">2024-05-20T21:54:58Z</dcterms:modified>
</cp:coreProperties>
</file>