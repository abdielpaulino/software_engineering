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NVdq9bro4DaApwsZfgrk3pTYM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5c85613d16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15c85613d1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6ef449a60c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g16ef449a60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6ef449a60c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g16ef449a60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6ef449a60c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16ef449a60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6ef449a60c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g16ef449a60c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6ef449a60c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g16ef449a60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6f097f9a5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g16f097f9a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6f097f9a51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g16f097f9a5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6f097f9a51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g16f097f9a5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6f097f9a51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16f097f9a51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6f097f9a51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g16f097f9a5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6f097f9a51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g16f097f9a5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6f097f9a51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g16f097f9a51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6f097f9a51_0_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g16f097f9a5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isualgo.net/en/bst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isualgo.net/en/bst" TargetMode="Externa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isualgo.net/en/bst" TargetMode="Externa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isualgo.net/en/bst" TargetMode="Externa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isualgo.net/en/bst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2658" y="-5003"/>
            <a:ext cx="6669342" cy="6868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l="33888" r="11343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5438" y="2076426"/>
            <a:ext cx="2243122" cy="270514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6458541" y="2076420"/>
            <a:ext cx="55575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4400" b="0" i="0" u="none" strike="noStrike" cap="none" dirty="0">
                <a:solidFill>
                  <a:srgbClr val="003958"/>
                </a:solidFill>
                <a:latin typeface="Impact"/>
                <a:ea typeface="Impact"/>
                <a:cs typeface="Impact"/>
                <a:sym typeface="Impact"/>
              </a:rPr>
              <a:t>ESTRUTURA DE DADOS</a:t>
            </a:r>
            <a:endParaRPr sz="4400" b="0" i="0" u="none" strike="noStrike" cap="none" dirty="0">
              <a:solidFill>
                <a:srgbClr val="003958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4400" b="0" i="0" u="none" strike="noStrike" cap="none" dirty="0">
              <a:solidFill>
                <a:srgbClr val="003958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4400" b="0" i="0" u="none" strike="noStrike" cap="none" dirty="0">
                <a:solidFill>
                  <a:srgbClr val="003958"/>
                </a:solidFill>
                <a:latin typeface="Impact"/>
                <a:ea typeface="Impact"/>
                <a:cs typeface="Impact"/>
                <a:sym typeface="Impact"/>
              </a:rPr>
              <a:t>Aula 15 – Árvores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15c85613d16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15c85613d16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15c85613d16_0_1"/>
          <p:cNvSpPr txBox="1"/>
          <p:nvPr/>
        </p:nvSpPr>
        <p:spPr>
          <a:xfrm>
            <a:off x="1023257" y="346491"/>
            <a:ext cx="1087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200" b="0" i="0" u="none" strike="noStrike" cap="non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ÁRVORES  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15c85613d16_0_1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1" name="Google Shape;101;g15c85613d16_0_1"/>
          <p:cNvSpPr txBox="1"/>
          <p:nvPr/>
        </p:nvSpPr>
        <p:spPr>
          <a:xfrm>
            <a:off x="993400" y="1273325"/>
            <a:ext cx="10936800" cy="43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árvore combina as vantagens de duas estruturas: um array ordenado e uma lista encadeada;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rápida (como em um array ordenado);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Inserção e eliminação rápida (como em uma lista encadeada).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g15c85613d16_0_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1624" y="3640924"/>
            <a:ext cx="4793849" cy="27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15c85613d16_0_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30075" y="3361499"/>
            <a:ext cx="4658249" cy="333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16ef449a60c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16ef449a60c_0_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16ef449a60c_0_4"/>
          <p:cNvSpPr txBox="1"/>
          <p:nvPr/>
        </p:nvSpPr>
        <p:spPr>
          <a:xfrm>
            <a:off x="1023257" y="346491"/>
            <a:ext cx="1087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200" b="0" i="0" u="none" strike="noStrike" cap="non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ÁRVORE BINÁRIA  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16ef449a60c_0_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2" name="Google Shape;112;g16ef449a60c_0_4"/>
          <p:cNvSpPr txBox="1"/>
          <p:nvPr/>
        </p:nvSpPr>
        <p:spPr>
          <a:xfrm>
            <a:off x="993400" y="1273325"/>
            <a:ext cx="10936800" cy="43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árvore consiste em nós (círculos) conectados por arestas (linhas);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Máximo dois filhos;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Filho à esquerda e filho à direita;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 ter um ou nenhum filho.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g16ef449a60c_0_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62275" y="2858925"/>
            <a:ext cx="5123424" cy="35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16ef449a60c_0_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16ef449a60c_0_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16ef449a60c_0_16"/>
          <p:cNvSpPr txBox="1"/>
          <p:nvPr/>
        </p:nvSpPr>
        <p:spPr>
          <a:xfrm>
            <a:off x="1023257" y="346491"/>
            <a:ext cx="1087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200" b="0" i="0" u="none" strike="noStrike" cap="non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TERMINOLOGIA  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16ef449a60c_0_16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2" name="Google Shape;122;g16ef449a60c_0_16"/>
          <p:cNvSpPr txBox="1"/>
          <p:nvPr/>
        </p:nvSpPr>
        <p:spPr>
          <a:xfrm>
            <a:off x="993400" y="1273325"/>
            <a:ext cx="10936800" cy="53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Caminho</a:t>
            </a: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Caminho que liga um nó até outro nó.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Raiz</a:t>
            </a: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o nó na parte superior. Há apenas uma raiz em uma árvore e deve haver somente um caminho da raiz até qualquer outro nó.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g16ef449a60c_0_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00200" y="4076147"/>
            <a:ext cx="4983600" cy="238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16ef449a60c_0_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66625" y="3724850"/>
            <a:ext cx="4261625" cy="293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16ef449a60c_0_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16ef449a60c_0_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16ef449a60c_0_28"/>
          <p:cNvSpPr txBox="1"/>
          <p:nvPr/>
        </p:nvSpPr>
        <p:spPr>
          <a:xfrm>
            <a:off x="1023257" y="346491"/>
            <a:ext cx="1087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200" b="0" i="0" u="none" strike="noStrike" cap="non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TERMINOLOGIA  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16ef449a60c_0_2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3" name="Google Shape;133;g16ef449a60c_0_28"/>
          <p:cNvSpPr txBox="1"/>
          <p:nvPr/>
        </p:nvSpPr>
        <p:spPr>
          <a:xfrm>
            <a:off x="993400" y="1273325"/>
            <a:ext cx="10936800" cy="49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87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pt-BR" sz="2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</a:t>
            </a:r>
            <a:endParaRPr sz="2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7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○"/>
            </a:pPr>
            <a:r>
              <a:rPr lang="pt-BR"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Qualquer nó (exceto a raiz) tem exatamente uma aresta que sobe para outro nó. O nó acima dele é chamado de pai do nó. 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7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pt-BR" sz="2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Filho</a:t>
            </a:r>
            <a:endParaRPr sz="2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7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○"/>
            </a:pPr>
            <a:r>
              <a:rPr lang="pt-BR"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Qualquer nó pode ter uma ou mais linhas descendo para outros nós. Esses nós abaixo de um dado nó são chamados de seus filhos.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7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pt-BR" sz="2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Folha</a:t>
            </a:r>
            <a:endParaRPr sz="2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7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○"/>
            </a:pPr>
            <a:r>
              <a:rPr lang="pt-BR"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nó que não tem filhos.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g16ef449a60c_0_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66625" y="3911925"/>
            <a:ext cx="4143925" cy="2851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16ef449a60c_0_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16ef449a60c_0_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16ef449a60c_0_40"/>
          <p:cNvSpPr txBox="1"/>
          <p:nvPr/>
        </p:nvSpPr>
        <p:spPr>
          <a:xfrm>
            <a:off x="1023257" y="346491"/>
            <a:ext cx="1087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200" b="0" i="0" u="none" strike="noStrike" cap="non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ÁRVORE BINÁRIA DE BUSCA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16ef449a60c_0_4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3" name="Google Shape;143;g16ef449a60c_0_40"/>
          <p:cNvSpPr txBox="1"/>
          <p:nvPr/>
        </p:nvSpPr>
        <p:spPr>
          <a:xfrm>
            <a:off x="993400" y="1273325"/>
            <a:ext cx="10936800" cy="4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filho à esquerda de um nó tem que ter uma chave menor que seu pai e o filho à direita de um nó tem que ter uma chave maior ou igual ao seu pai.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g16ef449a60c_0_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87900" y="2929500"/>
            <a:ext cx="7607450" cy="334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16ef449a60c_0_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16ef449a60c_0_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16ef449a60c_0_51"/>
          <p:cNvSpPr txBox="1"/>
          <p:nvPr/>
        </p:nvSpPr>
        <p:spPr>
          <a:xfrm>
            <a:off x="1023257" y="346491"/>
            <a:ext cx="1087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200" b="0" i="0" u="none" strike="noStrike" cap="non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ÁRVORE BINÁRIA DE BUSCA - INSERÇÃO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16ef449a60c_0_51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3" name="Google Shape;153;g16ef449a60c_0_51"/>
          <p:cNvSpPr txBox="1"/>
          <p:nvPr/>
        </p:nvSpPr>
        <p:spPr>
          <a:xfrm>
            <a:off x="993400" y="1273325"/>
            <a:ext cx="10936800" cy="52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Primeiro, o local para inserir deve ser encontrado;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Segue-se o caminho da raiz até o devido nó, que será pai do novo nó;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esse pai for localizado, o novo nó será conectado como seu filho à esquerda ou a direita, dependendo da chave do novo nó ser menor ou maior que a do pai;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Visualização on-line: </a:t>
            </a:r>
            <a:r>
              <a:rPr lang="pt-BR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https://visualgo.net/en/bst</a:t>
            </a: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16f097f9a51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16f097f9a51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16f097f9a51_0_0"/>
          <p:cNvSpPr txBox="1"/>
          <p:nvPr/>
        </p:nvSpPr>
        <p:spPr>
          <a:xfrm>
            <a:off x="1023257" y="346491"/>
            <a:ext cx="1087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200" b="0" i="0" u="none" strike="noStrike" cap="non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ÁRVORE BINÁRIA DE BUSCA - PESQUISA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16f097f9a51_0_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2" name="Google Shape;162;g16f097f9a51_0_0"/>
          <p:cNvSpPr txBox="1"/>
          <p:nvPr/>
        </p:nvSpPr>
        <p:spPr>
          <a:xfrm>
            <a:off x="993400" y="1273325"/>
            <a:ext cx="10936800" cy="3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Procurar nas subárvores da esquerda ou direita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Visualização on-line: </a:t>
            </a:r>
            <a:r>
              <a:rPr lang="pt-BR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https://visualgo.net/en/bst</a:t>
            </a: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16f097f9a51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16f097f9a51_0_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16f097f9a51_0_9"/>
          <p:cNvSpPr txBox="1"/>
          <p:nvPr/>
        </p:nvSpPr>
        <p:spPr>
          <a:xfrm>
            <a:off x="1023257" y="346491"/>
            <a:ext cx="1087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200" b="0" i="0" u="none" strike="noStrike" cap="non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ÁRVORE BINÁRIA - TRAVESSIA PRÉ-ORDEM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16f097f9a51_0_9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9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1" name="Google Shape;171;g16f097f9a51_0_9"/>
          <p:cNvSpPr txBox="1"/>
          <p:nvPr/>
        </p:nvSpPr>
        <p:spPr>
          <a:xfrm>
            <a:off x="993400" y="1273325"/>
            <a:ext cx="10936800" cy="56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Char char="●"/>
            </a:pPr>
            <a:r>
              <a:rPr lang="pt-BR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Primeiro visita a raiz e depois </a:t>
            </a:r>
            <a:r>
              <a:rPr lang="pt-BR" sz="2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recursivamente</a:t>
            </a:r>
            <a:r>
              <a:rPr lang="pt-BR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faz uma travessia na subárvore esquerda, seguido de uma travessia recursiva na subárvore direita;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Char char="●"/>
            </a:pPr>
            <a:r>
              <a:rPr lang="pt-BR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Raiz, esquerda, direita.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16f097f9a51_0_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3250" y="3066225"/>
            <a:ext cx="6721750" cy="295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16f097f9a51_0_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1650" y="2524613"/>
            <a:ext cx="1240750" cy="403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16f097f9a51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16f097f9a51_0_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16f097f9a51_0_20"/>
          <p:cNvSpPr txBox="1"/>
          <p:nvPr/>
        </p:nvSpPr>
        <p:spPr>
          <a:xfrm>
            <a:off x="1023257" y="346491"/>
            <a:ext cx="1087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200" b="0" i="0" u="none" strike="noStrike" cap="non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ÁRVORE BINÁRIA - TRAVESSIA EM ORDEM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16f097f9a51_0_2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10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2" name="Google Shape;182;g16f097f9a51_0_20"/>
          <p:cNvSpPr txBox="1"/>
          <p:nvPr/>
        </p:nvSpPr>
        <p:spPr>
          <a:xfrm>
            <a:off x="993400" y="1273325"/>
            <a:ext cx="10936800" cy="5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Char char="●"/>
            </a:pPr>
            <a:r>
              <a:rPr lang="pt-BR" sz="2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Recursivamente </a:t>
            </a:r>
            <a:r>
              <a:rPr lang="pt-BR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 a travessia na subárvore esquerda, visita a raiz e faz uma travessia recursiva na subárvore direita;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Char char="●"/>
            </a:pPr>
            <a:r>
              <a:rPr lang="pt-BR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Esquerda, raiz, direita.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g16f097f9a51_0_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3250" y="3025725"/>
            <a:ext cx="6721750" cy="295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16f097f9a51_0_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26550" y="2023350"/>
            <a:ext cx="1000125" cy="4595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16f097f9a51_0_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16f097f9a51_0_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16f097f9a51_0_32"/>
          <p:cNvSpPr txBox="1"/>
          <p:nvPr/>
        </p:nvSpPr>
        <p:spPr>
          <a:xfrm>
            <a:off x="1023257" y="346491"/>
            <a:ext cx="1087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200" b="0" i="0" u="none" strike="noStrike" cap="non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ÁRVORE BINÁRIA - TRAVESSIA PÓS-ORDEM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16f097f9a51_0_32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11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3" name="Google Shape;193;g16f097f9a51_0_32"/>
          <p:cNvSpPr txBox="1"/>
          <p:nvPr/>
        </p:nvSpPr>
        <p:spPr>
          <a:xfrm>
            <a:off x="993400" y="1273325"/>
            <a:ext cx="10936800" cy="55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Char char="●"/>
            </a:pPr>
            <a:r>
              <a:rPr lang="pt-BR" sz="2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Recursivamente </a:t>
            </a:r>
            <a:r>
              <a:rPr lang="pt-BR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 a travessia na subárvore esquerda, faz uma travessia recursiva na subárvore direita e por fim visita a raiz;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Char char="●"/>
            </a:pPr>
            <a:r>
              <a:rPr lang="pt-BR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Esquerda, direita, raiz.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g16f097f9a51_0_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3250" y="3066225"/>
            <a:ext cx="6721750" cy="295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16f097f9a51_0_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22375" y="2607900"/>
            <a:ext cx="703850" cy="3845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g16f097f9a51_0_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16f097f9a51_0_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16f097f9a51_0_44"/>
          <p:cNvSpPr txBox="1"/>
          <p:nvPr/>
        </p:nvSpPr>
        <p:spPr>
          <a:xfrm>
            <a:off x="1023257" y="346491"/>
            <a:ext cx="1087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200" b="0" i="0" u="none" strike="noStrike" cap="non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ÁRVORE BINÁRIA DE BUSCA - EXCLUSÃO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16f097f9a51_0_4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12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4" name="Google Shape;204;g16f097f9a51_0_44"/>
          <p:cNvSpPr txBox="1"/>
          <p:nvPr/>
        </p:nvSpPr>
        <p:spPr>
          <a:xfrm>
            <a:off x="993400" y="1273325"/>
            <a:ext cx="10936800" cy="51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Inicia-se localizando o nó que deseja eliminar;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encontrar o nó: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○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nó a ser apagado é uma folha;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○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nó a ser apagado tem um filho;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○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nó a ser apagado tem dois filhos.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16f097f9a51_0_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16f097f9a51_0_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16f097f9a51_0_55"/>
          <p:cNvSpPr txBox="1"/>
          <p:nvPr/>
        </p:nvSpPr>
        <p:spPr>
          <a:xfrm>
            <a:off x="1023257" y="346491"/>
            <a:ext cx="1087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200" b="0" i="0" u="none" strike="noStrike" cap="non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ÁRVORE BINÁRIA DE BUSCA - EXCLUSÃO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16f097f9a51_0_55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3" name="Google Shape;213;g16f097f9a51_0_55"/>
          <p:cNvSpPr txBox="1"/>
          <p:nvPr/>
        </p:nvSpPr>
        <p:spPr>
          <a:xfrm>
            <a:off x="993400" y="1273325"/>
            <a:ext cx="10936800" cy="4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nó a ser apagado é uma folha;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mais simples operação;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Altera o campo apropriado para o filho no nó pai para apontar para nulo em vez do nó;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○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Visualização on-line: </a:t>
            </a:r>
            <a:r>
              <a:rPr lang="pt-BR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https://visualgo.net/en/bst</a:t>
            </a: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g16f097f9a51_0_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16f097f9a51_0_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16f097f9a51_0_64"/>
          <p:cNvSpPr txBox="1"/>
          <p:nvPr/>
        </p:nvSpPr>
        <p:spPr>
          <a:xfrm>
            <a:off x="1023257" y="346491"/>
            <a:ext cx="1087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200" b="0" i="0" u="none" strike="noStrike" cap="non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ÁRVORE BINÁRIA DE BUSCA - EXCLUSÃO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16f097f9a51_0_6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2" name="Google Shape;222;g16f097f9a51_0_64"/>
          <p:cNvSpPr txBox="1"/>
          <p:nvPr/>
        </p:nvSpPr>
        <p:spPr>
          <a:xfrm>
            <a:off x="993400" y="1273325"/>
            <a:ext cx="10936800" cy="4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nó a ser apagado tem um filho;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nó tem apenas duas conexões: com seu pai e com seu único filho;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Deseja-se “cortar” o nó dessa sequência conectando o pai dele diretamente ao filho dele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○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Visualização on-line: </a:t>
            </a:r>
            <a:r>
              <a:rPr lang="pt-BR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https://visualgo.net/en/bst</a:t>
            </a: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g16f097f9a51_0_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16f097f9a51_0_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16f097f9a51_0_73"/>
          <p:cNvSpPr txBox="1"/>
          <p:nvPr/>
        </p:nvSpPr>
        <p:spPr>
          <a:xfrm>
            <a:off x="1023257" y="346491"/>
            <a:ext cx="1087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200" b="0" i="0" u="none" strike="noStrike" cap="non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ÁRVORE BINÁRIA DE BUSCA - EXCLUSÃO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16f097f9a51_0_73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1" name="Google Shape;231;g16f097f9a51_0_73"/>
          <p:cNvSpPr txBox="1"/>
          <p:nvPr/>
        </p:nvSpPr>
        <p:spPr>
          <a:xfrm>
            <a:off x="993400" y="1273325"/>
            <a:ext cx="10936800" cy="4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nó a ser apagado tem dois filhos;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nó a ser apagado deve ser substituído por seu sucessor em ordem;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○"/>
            </a:pP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Visualização on-line: </a:t>
            </a:r>
            <a:r>
              <a:rPr lang="pt-BR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https://visualgo.net/en/bst</a:t>
            </a:r>
            <a:r>
              <a:rPr lang="pt-B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639</Words>
  <Application>Microsoft Office PowerPoint</Application>
  <PresentationFormat>Widescreen</PresentationFormat>
  <Paragraphs>139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Joao Marcos Garcia Vieira</dc:creator>
  <cp:lastModifiedBy>Cristiane Pavei Fernandes</cp:lastModifiedBy>
  <cp:revision>2</cp:revision>
  <dcterms:created xsi:type="dcterms:W3CDTF">2019-02-19T17:16:10Z</dcterms:created>
  <dcterms:modified xsi:type="dcterms:W3CDTF">2024-05-20T23:23:21Z</dcterms:modified>
</cp:coreProperties>
</file>