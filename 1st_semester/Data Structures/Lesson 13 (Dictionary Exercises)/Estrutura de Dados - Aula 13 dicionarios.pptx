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7"/>
  </p:notesMasterIdLst>
  <p:sldIdLst>
    <p:sldId id="314" r:id="rId2"/>
    <p:sldId id="365" r:id="rId3"/>
    <p:sldId id="428" r:id="rId4"/>
    <p:sldId id="453" r:id="rId5"/>
    <p:sldId id="468" r:id="rId6"/>
    <p:sldId id="356" r:id="rId7"/>
    <p:sldId id="357" r:id="rId8"/>
    <p:sldId id="358" r:id="rId9"/>
    <p:sldId id="470" r:id="rId10"/>
    <p:sldId id="469" r:id="rId11"/>
    <p:sldId id="437" r:id="rId12"/>
    <p:sldId id="364" r:id="rId13"/>
    <p:sldId id="436" r:id="rId14"/>
    <p:sldId id="438" r:id="rId15"/>
    <p:sldId id="435" r:id="rId16"/>
    <p:sldId id="439" r:id="rId17"/>
    <p:sldId id="359" r:id="rId18"/>
    <p:sldId id="440" r:id="rId19"/>
    <p:sldId id="361" r:id="rId20"/>
    <p:sldId id="441" r:id="rId21"/>
    <p:sldId id="362" r:id="rId22"/>
    <p:sldId id="442" r:id="rId23"/>
    <p:sldId id="443" r:id="rId24"/>
    <p:sldId id="363" r:id="rId25"/>
    <p:sldId id="444" r:id="rId26"/>
    <p:sldId id="449" r:id="rId27"/>
    <p:sldId id="445" r:id="rId28"/>
    <p:sldId id="424" r:id="rId29"/>
    <p:sldId id="450" r:id="rId30"/>
    <p:sldId id="451" r:id="rId31"/>
    <p:sldId id="446" r:id="rId32"/>
    <p:sldId id="447" r:id="rId33"/>
    <p:sldId id="448" r:id="rId34"/>
    <p:sldId id="433" r:id="rId35"/>
    <p:sldId id="434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89503" autoAdjust="0"/>
  </p:normalViewPr>
  <p:slideViewPr>
    <p:cSldViewPr snapToGrid="0">
      <p:cViewPr varScale="1">
        <p:scale>
          <a:sx n="63" d="100"/>
          <a:sy n="63" d="100"/>
        </p:scale>
        <p:origin x="100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11C30-626E-4C5C-9878-709A1E8994D6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9C0C7-1D2E-42D8-884C-02BEF678E9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973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9313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1785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1096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2913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6572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35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926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3515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200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455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044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2154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009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36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8998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924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4879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6623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19244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18035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44548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0231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6311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94280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1709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6388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2992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1434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44215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29895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4862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5409A9E-3941-4E40-B88F-DD43A5F0148D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6AD8385-8CD2-4003-9CD4-D1585CAC37A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64323B1F-25F9-44C6-B29D-609A44EEB13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FFB2BB53-CA80-4B3B-9DED-1CD33F5F3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0A55484-68C3-4AB3-8895-E103DE5734B3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A3E0EE07-BBF0-4775-91F9-569EEE9CBEE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C7CF7A86-734C-4476-90AC-D1977459F81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m 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066A9223-FB4F-4815-B641-3FECFE1D71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3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A38215F-4D46-46F3-9595-2C5D10F9AF94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AD401B0-27CD-4563-982B-1D24272D986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08BA0EDE-D02A-49E2-9EC9-0C5E537AA3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CF9D6FD-661C-4C15-B70F-49122791E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F733FA7-72CC-4177-A0C4-81C8ED3E2B0C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9F1BA48E-5484-4B3F-B298-F82BC73D773F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F87CF3AF-6649-40A9-9EFE-D08C25AD72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D4B46475-BD9D-45D1-8B4B-BFD01FEC52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3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3296962-F7FE-4B71-B4F5-E182C438161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07B45530-6EB5-4562-BD05-63F985B0873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E8C8BA90-4F4B-4B0A-ACF9-7825403611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0F79E05E-7BD9-4B27-99B4-31FC40C1D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406B26C5-A7F3-40EA-81D0-5FF10BEB50BF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3E916F81-8148-41DF-B575-EA269B3F06F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9C9F423-E5AD-4D0C-8249-DFCDCCBEF1B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ECF4FEB-A0E8-4F32-9DDD-92F5CE6C66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0B46B84-07BB-432B-B467-EA5E826F98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DE71647A-04E6-47BD-A53B-F9850E4751E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DC843C7-2E37-4031-9804-6B5803FADA6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E3DCB8CC-F0C2-4710-AA29-D75F92613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4C767C1-4281-457D-B858-2A96F9F0C50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2F7D956E-52DE-4671-BDFE-3480F014537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E237CC9-0D83-47B9-94EC-ADCAF5BAE7E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55BC1C63-B62C-4D72-986B-A8553733F3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1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6"/>
            <a:ext cx="10515600" cy="587828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1E81C7F-CE86-41CE-8CB4-36F7FB18E5C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E54B37D9-A246-4215-8B5B-CADF0E8B0CF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B63EA0EB-083D-43AF-8763-2A4AD6800F2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Número de Slide 5">
            <a:extLst>
              <a:ext uri="{FF2B5EF4-FFF2-40B4-BE49-F238E27FC236}">
                <a16:creationId xmlns:a16="http://schemas.microsoft.com/office/drawing/2014/main" id="{78B440E4-B93E-4124-9162-D18F2D5FC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F7EA419-53BB-4085-8069-69D9A98EA3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id="{E5979A07-C966-48C6-B8EE-EEC198DCC42B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4201B899-CDBD-46BF-BFDA-1985B633A5B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Imagem 1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7FBFF99F-9C33-4E25-A1D1-09EE731A15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3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413726B-29ED-4CCE-8E7F-B20E055900F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70C039E-8FB4-4B0B-857D-ADC78AC126D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1798E300-A761-4340-BB54-5D9FCBE86E6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Espaço Reservado para Número de Slide 5">
            <a:extLst>
              <a:ext uri="{FF2B5EF4-FFF2-40B4-BE49-F238E27FC236}">
                <a16:creationId xmlns:a16="http://schemas.microsoft.com/office/drawing/2014/main" id="{6907561A-CC1F-43BC-BAB2-D921B1545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39BC0B5B-180D-4566-BC71-BEF4FE060F9D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BE409561-B6D0-424D-8FB9-D881B5B9C90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C8CD70F-2F0C-42E6-BAD6-78DC751250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60E0FC7-913A-49F3-9150-56A5CE5666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46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BC66E6E-6288-477E-9B48-BB1F09936C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4FCB9A90-A49A-40F3-84D1-965C0E56629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4A9AAC23-66EB-43EA-A9B8-3746F2FB651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Espaço Reservado para Número de Slide 5">
            <a:extLst>
              <a:ext uri="{FF2B5EF4-FFF2-40B4-BE49-F238E27FC236}">
                <a16:creationId xmlns:a16="http://schemas.microsoft.com/office/drawing/2014/main" id="{CD7F9A15-3E74-45DD-89B3-17B50D9C3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D981D004-AFF4-44D5-B08E-7187786B8398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8651FFB3-0508-414F-8EB8-11ED66AFCBD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10C5DDB5-6BBD-4D49-B6DD-560E8070366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agem 9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3E412A2F-D452-4303-A8FE-A320209C5F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63B7304-D3E3-44B8-B186-01FDAC692F76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27327B8C-FB09-41D0-ACE5-68131E74319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006F54D-9B89-44F7-BAFF-8E809F630F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A4BA843D-E6F2-4A11-BD02-76AAF8824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8FDB391C-BB53-4AC7-8005-EDF934826CC4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2E00096-242A-4EA5-BD0F-2C5AD5C8974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8DEEC1B-AEF7-4C5D-B9E2-0FF689302D6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1C91CB67-8175-4CFB-9DD2-BBF4165110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1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B2AC046-02A9-43DC-993D-0509150F3610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9C982EB7-4ECE-40FF-8E3C-A6911C9CAD0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B14F083C-B1E6-4AD5-892E-2B0BCB0A33E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F4171601-B1A2-4724-882B-0FD9FC055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E00638C-D7F8-4591-99DE-B8D04F3A8066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3145D146-7234-4FA1-8EBA-622EE1340297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E3683D6-BC3E-44B2-ABC8-86AEA164C58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F3909B64-FDA9-463F-9DDC-E160E58D46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0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610B525-5A9A-47AC-8BE0-7FA389539D91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84DDE5BF-9C81-4C7E-906A-1A3462FE0BA9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A573DE45-5C64-44AD-9130-B22A9F7E6A8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D0E32D1-CD33-45E1-A41D-0ECCF14B3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D6D8575-EC83-4B80-B5A7-25F22D5B1A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461D1B9-55AC-48EB-A791-0D8CEE6AEE3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119D623-1617-400D-9EA3-870B7D910F7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2AC2369-94F0-4F65-A3AC-08763C67BC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5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Título Vertical 1">
            <a:extLst>
              <a:ext uri="{FF2B5EF4-FFF2-40B4-BE49-F238E27FC236}">
                <a16:creationId xmlns:a16="http://schemas.microsoft.com/office/drawing/2014/main" id="{435488B4-07BE-45F8-A08D-6998844833B4}"/>
              </a:ext>
            </a:extLst>
          </p:cNvPr>
          <p:cNvSpPr txBox="1">
            <a:spLocks/>
          </p:cNvSpPr>
          <p:nvPr userDrawn="1"/>
        </p:nvSpPr>
        <p:spPr>
          <a:xfrm>
            <a:off x="5943600" y="909637"/>
            <a:ext cx="2628900" cy="5811838"/>
          </a:xfrm>
          <a:prstGeom prst="rect">
            <a:avLst/>
          </a:prstGeom>
        </p:spPr>
        <p:txBody>
          <a:bodyPr vert="ea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6DD95DD-5473-47DF-896B-102132AA6C2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F0B38431-0FE0-4BB2-B82C-C9C68FB3247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BA8D6F62-C6FF-45CB-A864-91BE010C954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Espaço Reservado para Número de Slide 5">
            <a:extLst>
              <a:ext uri="{FF2B5EF4-FFF2-40B4-BE49-F238E27FC236}">
                <a16:creationId xmlns:a16="http://schemas.microsoft.com/office/drawing/2014/main" id="{C1894782-5F5B-4537-87DE-1E65CEBC5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BD8E15B-0CBB-4249-986D-3B87F76795EA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6D7DE2CC-E16A-434E-B039-F4F0293F435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408E9506-BDE6-4902-B945-89533560252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C724FA7-60F7-4824-813F-66D6438E67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4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275066" y="365125"/>
            <a:ext cx="9285218" cy="601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8861" y="1065888"/>
            <a:ext cx="11478684" cy="5512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67611C3-7981-41FD-9AB4-3BA9591ABAD7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1648A425-969A-4602-8324-6D36E5A7CAC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6504C654-8D56-4391-A532-1862C20C9F2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Imagem 26" descr="Desenho com traços pretos em fundo branco e letras pretas&#10;&#10;Descrição gerada automaticamente com confiança média">
            <a:extLst>
              <a:ext uri="{FF2B5EF4-FFF2-40B4-BE49-F238E27FC236}">
                <a16:creationId xmlns:a16="http://schemas.microsoft.com/office/drawing/2014/main" id="{906352E9-AC76-4B0E-A1D3-81199EDB1CA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04704" cy="842055"/>
          </a:xfrm>
          <a:prstGeom prst="rect">
            <a:avLst/>
          </a:prstGeom>
        </p:spPr>
      </p:pic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7238D1BF-9E73-4848-935C-825FB8F12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DC435A9-3247-4320-8DDB-1AE628E9B7D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E88F8B2-B90D-40D9-B386-6FFAFAF36935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9769E09-F4F0-4CC2-AFC1-66B37F3B72D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34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906F05A-FF54-4CB9-9DF3-C368ECDCC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348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sz="6000" dirty="0">
                <a:solidFill>
                  <a:srgbClr val="003958"/>
                </a:solidFill>
                <a:latin typeface="+mj-lt"/>
              </a:rPr>
              <a:t>Estrutura de Dados</a:t>
            </a:r>
            <a:br>
              <a:rPr lang="pt-BR" sz="6000" dirty="0">
                <a:solidFill>
                  <a:srgbClr val="003958"/>
                </a:solidFill>
                <a:latin typeface="+mj-lt"/>
              </a:rPr>
            </a:br>
            <a:br>
              <a:rPr lang="pt-BR" b="1" dirty="0">
                <a:cs typeface="Times New Roman" panose="02020603050405020304" pitchFamily="18" charset="0"/>
              </a:rPr>
            </a:br>
            <a:r>
              <a:rPr lang="pt-BR" b="1" dirty="0">
                <a:cs typeface="Times New Roman" panose="02020603050405020304" pitchFamily="18" charset="0"/>
              </a:rPr>
              <a:t>Dicionários em Python</a:t>
            </a:r>
            <a:br>
              <a:rPr lang="pt-BR" b="1" dirty="0">
                <a:cs typeface="Times New Roman" panose="02020603050405020304" pitchFamily="18" charset="0"/>
              </a:rPr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3159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E0F18AD-AB9F-4427-983D-D5356293741F}"/>
              </a:ext>
            </a:extLst>
          </p:cNvPr>
          <p:cNvSpPr txBox="1"/>
          <p:nvPr/>
        </p:nvSpPr>
        <p:spPr>
          <a:xfrm>
            <a:off x="657496" y="488236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Variáveis de estrutura de dados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D872585-2DA2-4D56-9B07-E82FDFEAE8E5}"/>
              </a:ext>
            </a:extLst>
          </p:cNvPr>
          <p:cNvSpPr txBox="1"/>
          <p:nvPr/>
        </p:nvSpPr>
        <p:spPr>
          <a:xfrm>
            <a:off x="752498" y="1451317"/>
            <a:ext cx="1068700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Em Python é possível compor estruturas de dados primitivas, e armazená-las em outras estruturas, chamadas de estruturas compostas.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Listas e Filas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Pilhas e Tuplas 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FF0000"/>
                </a:solidFill>
              </a:rPr>
              <a:t>Dicionários </a:t>
            </a:r>
          </a:p>
        </p:txBody>
      </p:sp>
    </p:spTree>
    <p:extLst>
      <p:ext uri="{BB962C8B-B14F-4D97-AF65-F5344CB8AC3E}">
        <p14:creationId xmlns:p14="http://schemas.microsoft.com/office/powerpoint/2010/main" val="398407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Seja a tupla </a:t>
            </a:r>
            <a:r>
              <a:rPr lang="pt-BR" sz="2800" b="1" dirty="0"/>
              <a:t>entrada</a:t>
            </a:r>
            <a:r>
              <a:rPr lang="pt-BR" sz="2800" dirty="0"/>
              <a:t> = (1000, 2000, 5, 15000, 12, 1, 0.5, -2, 1000). Elabore um script Python que, usando a instrução for, determine a soma de todos os números de valor menor do que 100.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42A8491A-6988-A6CF-72EB-80CB53846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28" y="3207951"/>
            <a:ext cx="6958634" cy="234651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DB1405B-EC32-4C96-9E89-A2FF4A49E67D}"/>
              </a:ext>
            </a:extLst>
          </p:cNvPr>
          <p:cNvSpPr txBox="1"/>
          <p:nvPr/>
        </p:nvSpPr>
        <p:spPr>
          <a:xfrm>
            <a:off x="657497" y="476969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</p:spTree>
    <p:extLst>
      <p:ext uri="{BB962C8B-B14F-4D97-AF65-F5344CB8AC3E}">
        <p14:creationId xmlns:p14="http://schemas.microsoft.com/office/powerpoint/2010/main" val="353036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7AF67D-0A4C-48E1-918B-4AFA15EF0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658" y="1494840"/>
            <a:ext cx="11478684" cy="25157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200" dirty="0"/>
              <a:t>1) Elabore um script Python para criar uma tupla, adicionando os dias da semana:</a:t>
            </a:r>
          </a:p>
          <a:p>
            <a:pPr marL="0" indent="0">
              <a:buNone/>
            </a:pPr>
            <a:r>
              <a:rPr lang="pt-BR" sz="2200" dirty="0"/>
              <a:t>Dias da semana:  </a:t>
            </a:r>
            <a:r>
              <a:rPr lang="pt-BR" sz="2000" dirty="0">
                <a:solidFill>
                  <a:srgbClr val="FF0000"/>
                </a:solidFill>
              </a:rPr>
              <a:t>semana = ("Domingo", "Segunda", "Terça", "Quarta", "Quinta", "Sexta", "Sábado“)</a:t>
            </a:r>
          </a:p>
          <a:p>
            <a:pPr marL="0" indent="0">
              <a:buNone/>
            </a:pPr>
            <a:endParaRPr lang="pt-BR" sz="2200" dirty="0"/>
          </a:p>
          <a:p>
            <a:pPr marL="0" indent="0">
              <a:buNone/>
            </a:pPr>
            <a:r>
              <a:rPr lang="pt-BR" sz="2400" b="1" dirty="0">
                <a:effectLst/>
                <a:latin typeface="Consolas" panose="020B0609020204030204" pitchFamily="49" charset="0"/>
              </a:rPr>
              <a:t>semana =</a:t>
            </a:r>
            <a:r>
              <a:rPr lang="pt-BR" sz="2000" b="1" dirty="0">
                <a:effectLst/>
                <a:latin typeface="Consolas" panose="020B0609020204030204" pitchFamily="49" charset="0"/>
              </a:rPr>
              <a:t> ('</a:t>
            </a:r>
            <a:r>
              <a:rPr lang="pt-BR" sz="2000" b="1" dirty="0" err="1">
                <a:effectLst/>
                <a:latin typeface="Consolas" panose="020B0609020204030204" pitchFamily="49" charset="0"/>
              </a:rPr>
              <a:t>Domingo','Segunda','Terça','Quarta','Quinta','Sexta','Sábado</a:t>
            </a:r>
            <a:r>
              <a:rPr lang="pt-BR" sz="2000" b="1" dirty="0">
                <a:effectLst/>
                <a:latin typeface="Consolas" panose="020B0609020204030204" pitchFamily="49" charset="0"/>
              </a:rPr>
              <a:t>')</a:t>
            </a:r>
          </a:p>
          <a:p>
            <a:pPr marL="0" indent="0">
              <a:buNone/>
            </a:pPr>
            <a:r>
              <a:rPr lang="pt-BR" sz="2400" b="1" dirty="0">
                <a:effectLst/>
                <a:latin typeface="Consolas" panose="020B0609020204030204" pitchFamily="49" charset="0"/>
              </a:rPr>
              <a:t>print ("Tupla criada: ",semana)</a:t>
            </a:r>
          </a:p>
          <a:p>
            <a:pPr marL="0" indent="0">
              <a:buNone/>
            </a:pPr>
            <a:endParaRPr lang="pt-BR" sz="2200" dirty="0"/>
          </a:p>
          <a:p>
            <a:pPr marL="0" indent="0">
              <a:buNone/>
            </a:pPr>
            <a:endParaRPr lang="pt-BR" sz="22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4</a:t>
            </a:fld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ECE453-FBF4-4269-9111-3D64DE056D71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</p:spTree>
    <p:extLst>
      <p:ext uri="{BB962C8B-B14F-4D97-AF65-F5344CB8AC3E}">
        <p14:creationId xmlns:p14="http://schemas.microsoft.com/office/powerpoint/2010/main" val="2775441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7AF67D-0A4C-48E1-918B-4AFA15EF0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116" y="831255"/>
            <a:ext cx="11478684" cy="23799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200" dirty="0"/>
              <a:t>2) Elabore um script Python para criar duas tuplas A e B com valores numéricos, após criar uma nova tupla  C com os valores da união das tuplas A e B</a:t>
            </a:r>
          </a:p>
          <a:p>
            <a:pPr marL="0" indent="0">
              <a:buNone/>
            </a:pPr>
            <a:endParaRPr lang="pt-BR" sz="22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5</a:t>
            </a:fld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ECE453-FBF4-4269-9111-3D64DE056D71}"/>
              </a:ext>
            </a:extLst>
          </p:cNvPr>
          <p:cNvSpPr txBox="1"/>
          <p:nvPr/>
        </p:nvSpPr>
        <p:spPr>
          <a:xfrm>
            <a:off x="745245" y="18597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0A88D3F-4BF8-4903-9EB6-05ED53F2B360}"/>
              </a:ext>
            </a:extLst>
          </p:cNvPr>
          <p:cNvSpPr txBox="1"/>
          <p:nvPr/>
        </p:nvSpPr>
        <p:spPr>
          <a:xfrm>
            <a:off x="637116" y="1690370"/>
            <a:ext cx="89001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>
                <a:effectLst/>
                <a:latin typeface="Consolas" panose="020B0609020204030204" pitchFamily="49" charset="0"/>
              </a:rPr>
              <a:t>tuplaA</a:t>
            </a:r>
            <a:r>
              <a:rPr lang="pt-BR" b="1" dirty="0">
                <a:effectLst/>
                <a:latin typeface="Consolas" panose="020B0609020204030204" pitchFamily="49" charset="0"/>
              </a:rPr>
              <a:t> = ()</a:t>
            </a:r>
          </a:p>
          <a:p>
            <a:r>
              <a:rPr lang="pt-BR" b="1" dirty="0" err="1">
                <a:effectLst/>
                <a:latin typeface="Consolas" panose="020B0609020204030204" pitchFamily="49" charset="0"/>
              </a:rPr>
              <a:t>tuplaB</a:t>
            </a:r>
            <a:r>
              <a:rPr lang="pt-BR" b="1" dirty="0">
                <a:effectLst/>
                <a:latin typeface="Consolas" panose="020B0609020204030204" pitchFamily="49" charset="0"/>
              </a:rPr>
              <a:t> = ()</a:t>
            </a:r>
          </a:p>
          <a:p>
            <a:r>
              <a:rPr lang="pt-BR" b="1" dirty="0" err="1">
                <a:effectLst/>
                <a:latin typeface="Consolas" panose="020B0609020204030204" pitchFamily="49" charset="0"/>
              </a:rPr>
              <a:t>tuplaC</a:t>
            </a:r>
            <a:r>
              <a:rPr lang="pt-BR" b="1" dirty="0">
                <a:effectLst/>
                <a:latin typeface="Consolas" panose="020B0609020204030204" pitchFamily="49" charset="0"/>
              </a:rPr>
              <a:t> = ()</a:t>
            </a:r>
          </a:p>
          <a:p>
            <a:br>
              <a:rPr lang="pt-BR" b="1" dirty="0">
                <a:effectLst/>
                <a:latin typeface="Consolas" panose="020B0609020204030204" pitchFamily="49" charset="0"/>
              </a:rPr>
            </a:br>
            <a:r>
              <a:rPr lang="pt-BR" b="1" dirty="0">
                <a:effectLst/>
                <a:latin typeface="Consolas" panose="020B0609020204030204" pitchFamily="49" charset="0"/>
              </a:rPr>
              <a:t>n1 =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b="1" dirty="0">
                <a:effectLst/>
                <a:latin typeface="Consolas" panose="020B0609020204030204" pitchFamily="49" charset="0"/>
              </a:rPr>
              <a:t>(input("Digite nr elementos tupla A: "))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for contador in range(n1):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    valor =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b="1" dirty="0">
                <a:effectLst/>
                <a:latin typeface="Consolas" panose="020B0609020204030204" pitchFamily="49" charset="0"/>
              </a:rPr>
              <a:t>(input("Digite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numeros</a:t>
            </a:r>
            <a:r>
              <a:rPr lang="pt-BR" b="1" dirty="0">
                <a:effectLst/>
                <a:latin typeface="Consolas" panose="020B0609020204030204" pitchFamily="49" charset="0"/>
              </a:rPr>
              <a:t> tupla A: "))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   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tuplaA</a:t>
            </a:r>
            <a:r>
              <a:rPr lang="pt-BR" b="1" dirty="0">
                <a:effectLst/>
                <a:latin typeface="Consolas" panose="020B0609020204030204" pitchFamily="49" charset="0"/>
              </a:rPr>
              <a:t> =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tuplaA</a:t>
            </a:r>
            <a:r>
              <a:rPr lang="pt-BR" b="1" dirty="0">
                <a:effectLst/>
                <a:latin typeface="Consolas" panose="020B0609020204030204" pitchFamily="49" charset="0"/>
              </a:rPr>
              <a:t> +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tuple</a:t>
            </a:r>
            <a:r>
              <a:rPr lang="pt-BR" b="1" dirty="0">
                <a:effectLst/>
                <a:latin typeface="Consolas" panose="020B0609020204030204" pitchFamily="49" charset="0"/>
              </a:rPr>
              <a:t>([valor])</a:t>
            </a:r>
          </a:p>
          <a:p>
            <a:br>
              <a:rPr lang="pt-BR" b="1" dirty="0">
                <a:effectLst/>
                <a:latin typeface="Consolas" panose="020B0609020204030204" pitchFamily="49" charset="0"/>
              </a:rPr>
            </a:br>
            <a:r>
              <a:rPr lang="pt-BR" b="1" dirty="0">
                <a:effectLst/>
                <a:latin typeface="Consolas" panose="020B0609020204030204" pitchFamily="49" charset="0"/>
              </a:rPr>
              <a:t>n2 =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b="1" dirty="0">
                <a:effectLst/>
                <a:latin typeface="Consolas" panose="020B0609020204030204" pitchFamily="49" charset="0"/>
              </a:rPr>
              <a:t>(input("Digite nr elementos tupla B: "))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for contador in range(n2):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    valor =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b="1" dirty="0">
                <a:effectLst/>
                <a:latin typeface="Consolas" panose="020B0609020204030204" pitchFamily="49" charset="0"/>
              </a:rPr>
              <a:t>(input("Digite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numeros</a:t>
            </a:r>
            <a:r>
              <a:rPr lang="pt-BR" b="1" dirty="0">
                <a:effectLst/>
                <a:latin typeface="Consolas" panose="020B0609020204030204" pitchFamily="49" charset="0"/>
              </a:rPr>
              <a:t> tupla B: "))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   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tuplaB</a:t>
            </a:r>
            <a:r>
              <a:rPr lang="pt-BR" b="1" dirty="0">
                <a:effectLst/>
                <a:latin typeface="Consolas" panose="020B0609020204030204" pitchFamily="49" charset="0"/>
              </a:rPr>
              <a:t> =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tuplaB</a:t>
            </a:r>
            <a:r>
              <a:rPr lang="pt-BR" b="1" dirty="0">
                <a:effectLst/>
                <a:latin typeface="Consolas" panose="020B0609020204030204" pitchFamily="49" charset="0"/>
              </a:rPr>
              <a:t> +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tuple</a:t>
            </a:r>
            <a:r>
              <a:rPr lang="pt-BR" b="1" dirty="0">
                <a:effectLst/>
                <a:latin typeface="Consolas" panose="020B0609020204030204" pitchFamily="49" charset="0"/>
              </a:rPr>
              <a:t>([valor])</a:t>
            </a:r>
          </a:p>
          <a:p>
            <a:br>
              <a:rPr lang="pt-BR" b="1" dirty="0">
                <a:effectLst/>
                <a:latin typeface="Consolas" panose="020B0609020204030204" pitchFamily="49" charset="0"/>
              </a:rPr>
            </a:br>
            <a:r>
              <a:rPr lang="pt-BR" b="1" dirty="0" err="1">
                <a:effectLst/>
                <a:latin typeface="Consolas" panose="020B0609020204030204" pitchFamily="49" charset="0"/>
              </a:rPr>
              <a:t>tuplaC</a:t>
            </a:r>
            <a:r>
              <a:rPr lang="pt-BR" b="1" dirty="0">
                <a:effectLst/>
                <a:latin typeface="Consolas" panose="020B0609020204030204" pitchFamily="49" charset="0"/>
              </a:rPr>
              <a:t> =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tuplaA</a:t>
            </a:r>
            <a:r>
              <a:rPr lang="pt-BR" b="1" dirty="0">
                <a:effectLst/>
                <a:latin typeface="Consolas" panose="020B0609020204030204" pitchFamily="49" charset="0"/>
              </a:rPr>
              <a:t> +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tuplaB</a:t>
            </a:r>
            <a:endParaRPr lang="pt-BR" b="1" dirty="0"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print (“Elementos Tupla A: ",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tuplaA</a:t>
            </a:r>
            <a:r>
              <a:rPr lang="pt-BR" b="1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print ("Elementos Tupla B: ",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tuplaB</a:t>
            </a:r>
            <a:r>
              <a:rPr lang="pt-BR" b="1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print ("Elementos Tupla C: ",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tuplaC</a:t>
            </a:r>
            <a:r>
              <a:rPr lang="pt-BR" b="1" dirty="0"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8009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Dicionários em Python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1023257" y="1153749"/>
            <a:ext cx="106870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Dicionário é um </a:t>
            </a:r>
            <a:r>
              <a:rPr lang="pt-BR" sz="2800" dirty="0">
                <a:solidFill>
                  <a:srgbClr val="FF0000"/>
                </a:solidFill>
              </a:rPr>
              <a:t>conjunto de valores</a:t>
            </a:r>
            <a:r>
              <a:rPr lang="pt-BR" sz="2800" dirty="0"/>
              <a:t>, onde cada valor é associado a uma </a:t>
            </a:r>
            <a:r>
              <a:rPr lang="pt-BR" sz="2800" dirty="0">
                <a:solidFill>
                  <a:srgbClr val="FF0000"/>
                </a:solidFill>
              </a:rPr>
              <a:t>chave de acesso única</a:t>
            </a:r>
            <a:r>
              <a:rPr lang="pt-BR" sz="2800" dirty="0"/>
              <a:t>. A chave precisa ser de um tipo imutável, geralmente são usadas </a:t>
            </a:r>
            <a:r>
              <a:rPr lang="pt-BR" sz="2800" dirty="0" err="1"/>
              <a:t>strings</a:t>
            </a:r>
            <a:r>
              <a:rPr lang="pt-BR" sz="2800" dirty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Listas, filas e tuplas são indexadas pela ordem dos elementos, isto é, são ordenadas. Já os dicionários, não são.</a:t>
            </a:r>
          </a:p>
          <a:p>
            <a:pPr algn="just"/>
            <a:r>
              <a:rPr lang="pt-BR" sz="2800" dirty="0"/>
              <a:t>Nos dicionários, cada elemento recebe uma </a:t>
            </a:r>
            <a:r>
              <a:rPr lang="pt-BR" sz="2800" dirty="0">
                <a:solidFill>
                  <a:srgbClr val="FF0000"/>
                </a:solidFill>
              </a:rPr>
              <a:t>etiqueta</a:t>
            </a:r>
            <a:r>
              <a:rPr lang="pt-BR" sz="2800" dirty="0"/>
              <a:t>. Além disso, são </a:t>
            </a:r>
            <a:r>
              <a:rPr lang="pt-BR" sz="2800" dirty="0">
                <a:solidFill>
                  <a:srgbClr val="FF0000"/>
                </a:solidFill>
              </a:rPr>
              <a:t>mutáveis</a:t>
            </a:r>
            <a:r>
              <a:rPr lang="pt-BR" sz="2800" dirty="0"/>
              <a:t> e </a:t>
            </a:r>
            <a:r>
              <a:rPr lang="pt-BR" sz="2800" dirty="0">
                <a:solidFill>
                  <a:srgbClr val="FF0000"/>
                </a:solidFill>
              </a:rPr>
              <a:t>heterogêneas</a:t>
            </a:r>
            <a:r>
              <a:rPr lang="pt-BR" sz="2800" dirty="0"/>
              <a:t>. </a:t>
            </a:r>
          </a:p>
        </p:txBody>
      </p:sp>
      <p:pic>
        <p:nvPicPr>
          <p:cNvPr id="4098" name="Picture 2" descr="Dicionários e Arquivos Python — Treinamento de Python 2017.08.0001">
            <a:extLst>
              <a:ext uri="{FF2B5EF4-FFF2-40B4-BE49-F238E27FC236}">
                <a16:creationId xmlns:a16="http://schemas.microsoft.com/office/drawing/2014/main" id="{701D17DF-6431-43FD-AB80-FAFF27619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758" y="4559968"/>
            <a:ext cx="4442084" cy="195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05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Declaração de Dicionários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73340" y="2174694"/>
            <a:ext cx="109369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7"/>
            <a:r>
              <a:rPr lang="pt-BR" sz="2800" dirty="0" err="1"/>
              <a:t>nome_dicionário</a:t>
            </a:r>
            <a:r>
              <a:rPr lang="pt-BR" sz="2800" dirty="0"/>
              <a:t> = { 	&lt;chave1&gt; : valor1,</a:t>
            </a:r>
          </a:p>
          <a:p>
            <a:pPr lvl="7"/>
            <a:r>
              <a:rPr lang="pt-BR" sz="2800" dirty="0"/>
              <a:t>				&lt;chave2&gt; : valor2,</a:t>
            </a:r>
          </a:p>
          <a:p>
            <a:pPr lvl="7"/>
            <a:r>
              <a:rPr lang="pt-BR" sz="2800" dirty="0"/>
              <a:t>				&lt;chave3&gt; : valor3,</a:t>
            </a:r>
          </a:p>
          <a:p>
            <a:pPr lvl="7"/>
            <a:r>
              <a:rPr lang="pt-BR" sz="2800" dirty="0"/>
              <a:t>				&lt;</a:t>
            </a:r>
            <a:r>
              <a:rPr lang="pt-BR" sz="2800" dirty="0" err="1"/>
              <a:t>chaveN</a:t>
            </a:r>
            <a:r>
              <a:rPr lang="pt-BR" sz="2800" dirty="0"/>
              <a:t>&gt; : </a:t>
            </a:r>
            <a:r>
              <a:rPr lang="pt-BR" sz="2800" dirty="0" err="1"/>
              <a:t>valorn</a:t>
            </a:r>
            <a:r>
              <a:rPr lang="pt-BR" sz="2800" dirty="0"/>
              <a:t>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1118258" y="1365838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Um dicionário em Python é declarado com chaves da seguinte forma: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FC4A16-54E3-F4AF-C9A1-6D13E2A8FB5E}"/>
              </a:ext>
            </a:extLst>
          </p:cNvPr>
          <p:cNvSpPr txBox="1"/>
          <p:nvPr/>
        </p:nvSpPr>
        <p:spPr>
          <a:xfrm>
            <a:off x="1023257" y="4583109"/>
            <a:ext cx="60985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&lt;dicionário&gt; = {}</a:t>
            </a:r>
          </a:p>
          <a:p>
            <a:r>
              <a:rPr lang="pt-BR" sz="2800" dirty="0"/>
              <a:t>&lt;dicionário&gt;[&lt;chave1&gt;] = &lt;valor1&gt;</a:t>
            </a:r>
          </a:p>
          <a:p>
            <a:r>
              <a:rPr lang="pt-BR" sz="2800" dirty="0"/>
              <a:t>&lt;dicionário&gt;[&lt;chave2&gt;] = &lt;valor2&gt;</a:t>
            </a:r>
          </a:p>
          <a:p>
            <a:r>
              <a:rPr lang="pt-BR" sz="2800" dirty="0"/>
              <a:t>&lt;dicionário&gt;[&lt;</a:t>
            </a:r>
            <a:r>
              <a:rPr lang="pt-BR" sz="2800" dirty="0" err="1"/>
              <a:t>chaveN</a:t>
            </a:r>
            <a:r>
              <a:rPr lang="pt-BR" sz="2800" dirty="0"/>
              <a:t>&gt;] = &lt;</a:t>
            </a:r>
            <a:r>
              <a:rPr lang="pt-BR" sz="2800" dirty="0" err="1"/>
              <a:t>valorN</a:t>
            </a:r>
            <a:r>
              <a:rPr lang="pt-BR" sz="2800" dirty="0"/>
              <a:t>&gt;</a:t>
            </a:r>
          </a:p>
        </p:txBody>
      </p:sp>
      <p:sp>
        <p:nvSpPr>
          <p:cNvPr id="4" name="CaixaDeTexto 12">
            <a:extLst>
              <a:ext uri="{FF2B5EF4-FFF2-40B4-BE49-F238E27FC236}">
                <a16:creationId xmlns:a16="http://schemas.microsoft.com/office/drawing/2014/main" id="{B8BA5A1B-7081-663E-3547-8EAEF5D1AC99}"/>
              </a:ext>
            </a:extLst>
          </p:cNvPr>
          <p:cNvSpPr txBox="1"/>
          <p:nvPr/>
        </p:nvSpPr>
        <p:spPr>
          <a:xfrm>
            <a:off x="1023256" y="3775365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Ou</a:t>
            </a:r>
          </a:p>
        </p:txBody>
      </p:sp>
    </p:spTree>
    <p:extLst>
      <p:ext uri="{BB962C8B-B14F-4D97-AF65-F5344CB8AC3E}">
        <p14:creationId xmlns:p14="http://schemas.microsoft.com/office/powerpoint/2010/main" val="333626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de Dicionário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27539" y="1532529"/>
            <a:ext cx="109369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O dicionário do Python não fornece garantia de que as chaves estarão ordenadas.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AD60B3C-A5FF-48D3-8DEB-95C042D3D5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17" b="21562"/>
          <a:stretch/>
        </p:blipFill>
        <p:spPr>
          <a:xfrm>
            <a:off x="627539" y="2666357"/>
            <a:ext cx="10192049" cy="170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72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de Dicionário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27539" y="1532529"/>
            <a:ext cx="10936919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Criando o dicionário com produtos (codigo e nome): </a:t>
            </a:r>
          </a:p>
          <a:p>
            <a:endParaRPr lang="pt-BR" sz="2000" b="0" dirty="0">
              <a:effectLst/>
              <a:latin typeface="Consolas" panose="020B0609020204030204" pitchFamily="49" charset="0"/>
            </a:endParaRP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estoque = {}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n = </a:t>
            </a:r>
            <a:r>
              <a:rPr lang="pt-BR" sz="2000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sz="2000" b="1" dirty="0">
                <a:effectLst/>
                <a:latin typeface="Consolas" panose="020B0609020204030204" pitchFamily="49" charset="0"/>
              </a:rPr>
              <a:t>(input("Quantos produtos deseja cadastrar? "))</a:t>
            </a:r>
          </a:p>
          <a:p>
            <a:br>
              <a:rPr lang="pt-BR" sz="2000" b="1" dirty="0">
                <a:effectLst/>
                <a:latin typeface="Consolas" panose="020B0609020204030204" pitchFamily="49" charset="0"/>
              </a:rPr>
            </a:br>
            <a:r>
              <a:rPr lang="pt-BR" sz="2000" b="1" dirty="0">
                <a:effectLst/>
                <a:latin typeface="Consolas" panose="020B0609020204030204" pitchFamily="49" charset="0"/>
              </a:rPr>
              <a:t>for i in range(n):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codigo = </a:t>
            </a:r>
            <a:r>
              <a:rPr lang="pt-BR" sz="2000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sz="2000" b="1" dirty="0">
                <a:effectLst/>
                <a:latin typeface="Consolas" panose="020B0609020204030204" pitchFamily="49" charset="0"/>
              </a:rPr>
              <a:t>(input("Digite codigo produto: "))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nome   = input("digite nome produto: ")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estoque[codigo] = nome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  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print ("Lista de produtos cadastrados:", estoque)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431490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de Dicionário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27539" y="1532529"/>
            <a:ext cx="10936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Criando o dicionário com contatos (nome e telefone): </a:t>
            </a:r>
          </a:p>
          <a:p>
            <a:endParaRPr lang="pt-BR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ECC6985-37F7-4391-AEB4-4B7F4C0AA48D}"/>
              </a:ext>
            </a:extLst>
          </p:cNvPr>
          <p:cNvSpPr txBox="1"/>
          <p:nvPr/>
        </p:nvSpPr>
        <p:spPr>
          <a:xfrm>
            <a:off x="734219" y="2621576"/>
            <a:ext cx="80592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effectLst/>
                <a:latin typeface="Consolas" panose="020B0609020204030204" pitchFamily="49" charset="0"/>
              </a:rPr>
              <a:t>contatos = {}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n = </a:t>
            </a:r>
            <a:r>
              <a:rPr lang="pt-BR" sz="2000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sz="2000" b="1" dirty="0">
                <a:effectLst/>
                <a:latin typeface="Consolas" panose="020B0609020204030204" pitchFamily="49" charset="0"/>
              </a:rPr>
              <a:t>(input("Quantos nomes deseja cadastrar? "))</a:t>
            </a:r>
          </a:p>
          <a:p>
            <a:br>
              <a:rPr lang="pt-BR" sz="2000" b="1" dirty="0">
                <a:effectLst/>
                <a:latin typeface="Consolas" panose="020B0609020204030204" pitchFamily="49" charset="0"/>
              </a:rPr>
            </a:br>
            <a:r>
              <a:rPr lang="pt-BR" sz="2000" b="1" dirty="0">
                <a:effectLst/>
                <a:latin typeface="Consolas" panose="020B0609020204030204" pitchFamily="49" charset="0"/>
              </a:rPr>
              <a:t>for i in range(n):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nome   = input("digite nome pessoa: ")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telefone = </a:t>
            </a:r>
            <a:r>
              <a:rPr lang="pt-BR" sz="2000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sz="2000" b="1" dirty="0">
                <a:effectLst/>
                <a:latin typeface="Consolas" panose="020B0609020204030204" pitchFamily="49" charset="0"/>
              </a:rPr>
              <a:t>(input("Digite telefone pessoa: "))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contatos[nome] = telefone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 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print ("Lista de contatos : ", contatos)</a:t>
            </a:r>
          </a:p>
        </p:txBody>
      </p:sp>
    </p:spTree>
    <p:extLst>
      <p:ext uri="{BB962C8B-B14F-4D97-AF65-F5344CB8AC3E}">
        <p14:creationId xmlns:p14="http://schemas.microsoft.com/office/powerpoint/2010/main" val="1591173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de Dicionário (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get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)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27539" y="1532529"/>
            <a:ext cx="109369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Uma outra maneira de acessar os elementos de um dicionário é usando o método </a:t>
            </a:r>
            <a:r>
              <a:rPr lang="pt-BR" sz="2800" b="1" dirty="0" err="1"/>
              <a:t>get</a:t>
            </a:r>
            <a:r>
              <a:rPr lang="pt-BR" sz="2800" b="1" dirty="0"/>
              <a:t>()</a:t>
            </a:r>
            <a:r>
              <a:rPr lang="pt-BR" sz="2800" dirty="0"/>
              <a:t>, cuja sintaxe é a seguinte:</a:t>
            </a:r>
          </a:p>
          <a:p>
            <a:endParaRPr lang="pt-BR" sz="2800" dirty="0"/>
          </a:p>
          <a:p>
            <a:r>
              <a:rPr lang="pt-BR" sz="2800" dirty="0"/>
              <a:t>	&lt;dicionário&gt;.</a:t>
            </a:r>
            <a:r>
              <a:rPr lang="pt-BR" sz="2800" b="1" dirty="0" err="1"/>
              <a:t>get</a:t>
            </a:r>
            <a:r>
              <a:rPr lang="pt-BR" sz="2800" b="1" dirty="0"/>
              <a:t>(</a:t>
            </a:r>
            <a:r>
              <a:rPr lang="pt-BR" sz="2800" dirty="0"/>
              <a:t>&lt;chave&gt;</a:t>
            </a:r>
            <a:r>
              <a:rPr lang="pt-BR" sz="2800" b="1" dirty="0"/>
              <a:t>)</a:t>
            </a:r>
          </a:p>
        </p:txBody>
      </p: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D808E9C-0EF1-4D22-2E9B-5482CFFBAB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25" y="3928669"/>
            <a:ext cx="10161602" cy="181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02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Atualização em Dicionários (Atribuição)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Inserindo e alterando um elemento de um dicionário.</a:t>
            </a:r>
            <a:endParaRPr lang="pt-BR" sz="2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46CE17B-5A31-4B55-B185-84B85CBF2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521" y="2475272"/>
            <a:ext cx="7903876" cy="88577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622E9C7-53E9-4E8C-99E0-73D797B22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521" y="3744147"/>
            <a:ext cx="8125318" cy="987984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369E6CD-FFEE-455B-82E9-943FD3A5EE2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929"/>
          <a:stretch/>
        </p:blipFill>
        <p:spPr>
          <a:xfrm>
            <a:off x="2227521" y="5013022"/>
            <a:ext cx="7871472" cy="89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1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Atualização em Dicionários (update)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Para incluir ou alterar elemento(s) em um dicionário, utiliza-se o método </a:t>
            </a:r>
            <a:r>
              <a:rPr lang="pt-BR" sz="2800" b="1" dirty="0">
                <a:solidFill>
                  <a:srgbClr val="000000"/>
                </a:solidFill>
              </a:rPr>
              <a:t>update()</a:t>
            </a:r>
            <a:r>
              <a:rPr lang="pt-BR" sz="2800" dirty="0">
                <a:solidFill>
                  <a:srgbClr val="000000"/>
                </a:solidFill>
              </a:rPr>
              <a:t>. Quando a chave já existe no dicionário, o valor associado a ela é alterado. Quando não, a chave e o valor são inseridos no dicionário.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A sintaxe básica é a seguinte: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	&lt;dicionário&gt;.</a:t>
            </a:r>
            <a:r>
              <a:rPr lang="pt-BR" sz="2800" b="1" dirty="0">
                <a:solidFill>
                  <a:srgbClr val="000000"/>
                </a:solidFill>
              </a:rPr>
              <a:t>update</a:t>
            </a:r>
            <a:r>
              <a:rPr lang="pt-BR" sz="2800" dirty="0">
                <a:solidFill>
                  <a:srgbClr val="000000"/>
                </a:solidFill>
              </a:rPr>
              <a:t>({&lt;chave&gt;: &lt;valor&gt;})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83518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Atualização em Dicionários (update)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Quando a chave já existe no dicionário, o valor associado a ela é alterado. Quando não, a chave e o valor são inseridos no dicionário.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2E8589E-E2B1-67A0-101A-DF2941AEE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28" y="3429000"/>
            <a:ext cx="10522343" cy="202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85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Tamanho do Dicionário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A função </a:t>
            </a:r>
            <a:r>
              <a:rPr lang="pt-BR" sz="2800" b="1" dirty="0" err="1">
                <a:solidFill>
                  <a:srgbClr val="000000"/>
                </a:solidFill>
              </a:rPr>
              <a:t>len</a:t>
            </a:r>
            <a:r>
              <a:rPr lang="pt-BR" sz="2800" b="1" dirty="0">
                <a:solidFill>
                  <a:srgbClr val="000000"/>
                </a:solidFill>
              </a:rPr>
              <a:t>()</a:t>
            </a:r>
            <a:r>
              <a:rPr lang="pt-BR" sz="2800" dirty="0">
                <a:solidFill>
                  <a:srgbClr val="000000"/>
                </a:solidFill>
              </a:rPr>
              <a:t> recebe como argumento o nome de um dicionário e retorna a quantidade de elementos existentes.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A sintaxe básica é a seguinte: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	</a:t>
            </a:r>
            <a:r>
              <a:rPr lang="pt-BR" sz="2800" b="1" dirty="0" err="1">
                <a:solidFill>
                  <a:srgbClr val="000000"/>
                </a:solidFill>
              </a:rPr>
              <a:t>len</a:t>
            </a:r>
            <a:r>
              <a:rPr lang="pt-BR" sz="2800" b="1" dirty="0">
                <a:solidFill>
                  <a:srgbClr val="000000"/>
                </a:solidFill>
              </a:rPr>
              <a:t>(</a:t>
            </a:r>
            <a:r>
              <a:rPr lang="pt-BR" sz="2800" dirty="0">
                <a:solidFill>
                  <a:srgbClr val="000000"/>
                </a:solidFill>
              </a:rPr>
              <a:t>&lt;dicionário&gt;</a:t>
            </a:r>
            <a:r>
              <a:rPr lang="pt-BR" sz="2800" b="1" dirty="0">
                <a:solidFill>
                  <a:srgbClr val="000000"/>
                </a:solidFill>
              </a:rPr>
              <a:t>)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191263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Tamanho do Dicionário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A função </a:t>
            </a:r>
            <a:r>
              <a:rPr lang="pt-BR" sz="2800" b="1" dirty="0" err="1">
                <a:solidFill>
                  <a:srgbClr val="000000"/>
                </a:solidFill>
              </a:rPr>
              <a:t>len</a:t>
            </a:r>
            <a:r>
              <a:rPr lang="pt-BR" sz="2800" b="1" dirty="0">
                <a:solidFill>
                  <a:srgbClr val="000000"/>
                </a:solidFill>
              </a:rPr>
              <a:t>()</a:t>
            </a:r>
            <a:r>
              <a:rPr lang="pt-BR" sz="2800" dirty="0">
                <a:solidFill>
                  <a:srgbClr val="000000"/>
                </a:solidFill>
              </a:rPr>
              <a:t> recebe como argumento o nome de um dicionário e retorna a quantidade de elementos existentes.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DB39C246-49D5-9280-C279-70B7D3C43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7" y="3158352"/>
            <a:ext cx="10015185" cy="287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40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Apagar Elementos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comando </a:t>
            </a:r>
            <a:r>
              <a:rPr lang="pt-BR" sz="2800" b="1" dirty="0" err="1">
                <a:effectLst/>
              </a:rPr>
              <a:t>del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 remove um par </a:t>
            </a:r>
            <a:r>
              <a:rPr lang="pt-BR" sz="2800" b="1" i="1" dirty="0">
                <a:solidFill>
                  <a:srgbClr val="000000"/>
                </a:solidFill>
                <a:effectLst/>
              </a:rPr>
              <a:t>chave-valor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dicionário. </a:t>
            </a:r>
            <a:endParaRPr lang="pt-BR" sz="2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7289DC-96C0-4B1C-B6EA-BDDFB3B3A2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676"/>
          <a:stretch/>
        </p:blipFill>
        <p:spPr>
          <a:xfrm>
            <a:off x="988331" y="2508823"/>
            <a:ext cx="9466310" cy="92690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97A6092-6313-4930-B036-4F08F7011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30" y="3852378"/>
            <a:ext cx="7900489" cy="106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36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Apagar Elementos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comando </a:t>
            </a:r>
            <a:r>
              <a:rPr lang="pt-BR" sz="2800" b="1" dirty="0" err="1">
                <a:effectLst/>
              </a:rPr>
              <a:t>del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 remove um par </a:t>
            </a:r>
            <a:r>
              <a:rPr lang="pt-BR" sz="2800" b="1" i="1" dirty="0">
                <a:solidFill>
                  <a:srgbClr val="000000"/>
                </a:solidFill>
                <a:effectLst/>
              </a:rPr>
              <a:t>chave-valor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dicionário. </a:t>
            </a:r>
            <a:endParaRPr lang="pt-BR" sz="2800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004281C2-1A38-452D-3667-6ECE685A1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0" y="2507383"/>
            <a:ext cx="9755032" cy="258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11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chaves em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i="0" dirty="0" err="1">
                <a:solidFill>
                  <a:srgbClr val="000000"/>
                </a:solidFill>
              </a:rPr>
              <a:t>k</a:t>
            </a:r>
            <a:r>
              <a:rPr lang="pt-BR" sz="2800" b="1" dirty="0" err="1">
                <a:effectLst/>
              </a:rPr>
              <a:t>eys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effectLst/>
              </a:rPr>
              <a:t> 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de um dicionário retorna uma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com as chaves do mesmo.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46C671B-E416-48FA-8F0A-ABBA0846F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436" y="2684384"/>
            <a:ext cx="8519127" cy="89289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4D290EE-2789-4C7F-AB07-CA9CA8583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436" y="3676431"/>
            <a:ext cx="5773978" cy="98611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7F291CA7-EE9C-4963-8D1E-E574343588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6436" y="4761697"/>
            <a:ext cx="3681502" cy="98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9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chaves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i="0" dirty="0" err="1">
                <a:solidFill>
                  <a:srgbClr val="000000"/>
                </a:solidFill>
              </a:rPr>
              <a:t>k</a:t>
            </a:r>
            <a:r>
              <a:rPr lang="pt-BR" sz="2800" b="1" dirty="0" err="1">
                <a:effectLst/>
              </a:rPr>
              <a:t>eys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effectLst/>
              </a:rPr>
              <a:t> 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de um dicionário retorna uma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com as chaves do mesmo.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E5CD8B8B-8EA4-9087-4594-8E0DFF4B8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617" y="2938270"/>
            <a:ext cx="10214427" cy="293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8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valores em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800100" y="1435033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dirty="0" err="1">
                <a:effectLst/>
              </a:rPr>
              <a:t>values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 retorna 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dos valores do mesmo.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46C671B-E416-48FA-8F0A-ABBA0846F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483" y="2455179"/>
            <a:ext cx="8519127" cy="89289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4D290EE-2789-4C7F-AB07-CA9CA8583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483" y="3524503"/>
            <a:ext cx="5773978" cy="98611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2119EE5-C65E-427C-BB57-130259B92D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3483" y="4687046"/>
            <a:ext cx="3668731" cy="120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0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valores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800100" y="1435033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dirty="0" err="1">
                <a:effectLst/>
              </a:rPr>
              <a:t>values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 retorna 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dos valores do mesmo.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3B2F3D5-FE65-04FC-254E-9D4DF9C04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3245307"/>
            <a:ext cx="10687003" cy="217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38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itens em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dirty="0" err="1">
                <a:effectLst/>
              </a:rPr>
              <a:t>items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 retorna ambos, na forma de uma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 de tuplas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- cada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tupla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com um par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chave-valor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46C671B-E416-48FA-8F0A-ABBA0846F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616" y="2803629"/>
            <a:ext cx="8519127" cy="89289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4D290EE-2789-4C7F-AB07-CA9CA8583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165" y="3879582"/>
            <a:ext cx="5773978" cy="98611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86F74CB-4705-487D-A850-0909A0E6A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5165" y="5104128"/>
            <a:ext cx="6569488" cy="98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3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itens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dirty="0" err="1">
                <a:effectLst/>
              </a:rPr>
              <a:t>items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 retorna ambos, na forma de uma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 de tuplas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- cada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tupla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com um par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chave-valor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.</a:t>
            </a:r>
          </a:p>
        </p:txBody>
      </p:sp>
      <p:pic>
        <p:nvPicPr>
          <p:cNvPr id="3" name="Picture 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6B6CC76-88CE-EBED-B622-A001D7D7F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63" y="3429000"/>
            <a:ext cx="10372273" cy="234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51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Remover Elementos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Para remover elementos de um dicionário, você pode utilizar o método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pop()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informando qual chave deseja remover, cuja sintaxe básica é a seguinte:</a:t>
            </a: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	&lt;dicionário&gt;.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pop(&lt;chave&gt;)</a:t>
            </a:r>
          </a:p>
        </p:txBody>
      </p:sp>
    </p:spTree>
    <p:extLst>
      <p:ext uri="{BB962C8B-B14F-4D97-AF65-F5344CB8AC3E}">
        <p14:creationId xmlns:p14="http://schemas.microsoft.com/office/powerpoint/2010/main" val="30575033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Remover Elementos em Dicionários 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6E84FE57-7D67-A89E-3A2C-43D128F30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00" y="2732510"/>
            <a:ext cx="11059799" cy="247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853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Clonar Dicionário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Para criar uma cópia de um dicionário, você pode utilizar a função 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dict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, cuja sintaxe básica é a seguinte:</a:t>
            </a: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	copia = 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dict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&lt;</a:t>
            </a:r>
            <a:r>
              <a:rPr lang="pt-BR" sz="2800" b="0" i="0" dirty="0" err="1">
                <a:solidFill>
                  <a:srgbClr val="000000"/>
                </a:solidFill>
                <a:effectLst/>
              </a:rPr>
              <a:t>dicionario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&gt;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)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onde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&lt;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dicionario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&gt;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é o dicionário que está sendo clonado.</a:t>
            </a: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Como resultado, o valor retornado pode ser atribuído a uma nova variável, formando um novo dicionário.</a:t>
            </a:r>
            <a:endParaRPr lang="pt-BR" sz="28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1417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Esvaziar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Caso você deseje esvaziar um dicionário, utilize o método 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clear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()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 A sintaxe básica é a seguinte: 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14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		&lt;dicionário&gt;.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clear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28277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Ordenar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Em um dicionário, para retornar os elementos de forma ordenada, tomando como base as chaves, pode-se utilizar a função 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sorted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, cuja sintaxe básica é a seguinte:</a:t>
            </a: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1" i="0" dirty="0" err="1">
                <a:solidFill>
                  <a:srgbClr val="000000"/>
                </a:solidFill>
                <a:effectLst/>
              </a:rPr>
              <a:t>sorted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&lt;dicionário&gt;, </a:t>
            </a:r>
            <a:r>
              <a:rPr lang="pt-BR" sz="2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reverse = [</a:t>
            </a:r>
            <a:r>
              <a:rPr lang="pt-BR" sz="28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True|False</a:t>
            </a:r>
            <a:r>
              <a:rPr lang="pt-BR" sz="2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]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)</a:t>
            </a: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onde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reverse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indica se o ordenamento deve ser reverso. Quando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reverse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= 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True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, o ordenamento é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decrescente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e quando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reverse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=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False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(que é o valor padrão e, por isso, não é necessário explicitá-lo), o ordenamento é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crescente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.</a:t>
            </a:r>
            <a:endParaRPr lang="pt-BR" sz="28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64169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Ordenar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6E4C7159-4C55-A140-4275-B8C0CE85F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09" y="2146192"/>
            <a:ext cx="11054782" cy="256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873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Dicionário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00563" y="1425798"/>
            <a:ext cx="106870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Construa um script em linguagem Python que utilize um dicionário cujas chaves são os códigos do produto e os valores são o nome do produto, o preço unitário e a quantidade comprada. </a:t>
            </a:r>
            <a:r>
              <a:rPr lang="pt-BR" sz="2800" i="0" dirty="0">
                <a:solidFill>
                  <a:srgbClr val="000000"/>
                </a:solidFill>
                <a:effectLst/>
              </a:rPr>
              <a:t>A partir do dicionário, o programa deve imprimir os itens da compra e calcular o subtotal de cada um deles, ou seja (quantidade * preço unitário). Por fim, o programa deve apresentar o valor total da compra.</a:t>
            </a:r>
          </a:p>
        </p:txBody>
      </p:sp>
    </p:spTree>
    <p:extLst>
      <p:ext uri="{BB962C8B-B14F-4D97-AF65-F5344CB8AC3E}">
        <p14:creationId xmlns:p14="http://schemas.microsoft.com/office/powerpoint/2010/main" val="13192908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Dicionário 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809F02E-7AB5-F730-80E5-7EB40E96C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487" y="1153749"/>
            <a:ext cx="6772758" cy="516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514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Dicionário 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CEBAE9AA-D0B2-E3FC-9C35-E3E30B9C5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257" y="1651091"/>
            <a:ext cx="8907084" cy="393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893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399394" y="1568956"/>
            <a:ext cx="112759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 – Elabore um script em  linguagem Python, utilizando Dicionários, que contenha 4 funcionários, com o índice numérico e seu nome. Em seguida, solicite do usuário demitir um dos funcionários conforme o número de cadastro e mostre na tela os funcionários restantes.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7E3B34B-7870-CB26-2BA7-0916F0DC2A76}"/>
              </a:ext>
            </a:extLst>
          </p:cNvPr>
          <p:cNvSpPr txBox="1"/>
          <p:nvPr/>
        </p:nvSpPr>
        <p:spPr>
          <a:xfrm>
            <a:off x="501978" y="3952981"/>
            <a:ext cx="106876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2 – Desenvolva um script em linguagem Python, utilizando Dicionários, que solicite ao usuário inserir o nome de 05 produtos de papelaria e seus respectivos preços e os mostre na tela.</a:t>
            </a:r>
          </a:p>
        </p:txBody>
      </p:sp>
    </p:spTree>
    <p:extLst>
      <p:ext uri="{BB962C8B-B14F-4D97-AF65-F5344CB8AC3E}">
        <p14:creationId xmlns:p14="http://schemas.microsoft.com/office/powerpoint/2010/main" val="312392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BED751-2D30-410F-A724-1777CB721858}"/>
              </a:ext>
            </a:extLst>
          </p:cNvPr>
          <p:cNvSpPr txBox="1"/>
          <p:nvPr/>
        </p:nvSpPr>
        <p:spPr>
          <a:xfrm>
            <a:off x="399393" y="1640651"/>
            <a:ext cx="108770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3 – Desenvolva um script em linguagem Python, utilizando Dicionários, que solicite ao usuário inserir o nome de 05 livros e seus respectivos autores e os mostre na tela.</a:t>
            </a:r>
          </a:p>
        </p:txBody>
      </p:sp>
    </p:spTree>
    <p:extLst>
      <p:ext uri="{BB962C8B-B14F-4D97-AF65-F5344CB8AC3E}">
        <p14:creationId xmlns:p14="http://schemas.microsoft.com/office/powerpoint/2010/main" val="271428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6619</TotalTime>
  <Words>1551</Words>
  <Application>Microsoft Office PowerPoint</Application>
  <PresentationFormat>Widescreen</PresentationFormat>
  <Paragraphs>213</Paragraphs>
  <Slides>35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Consolas</vt:lpstr>
      <vt:lpstr>Tema do Office</vt:lpstr>
      <vt:lpstr>Estrutura de Dados  Dicionários em Python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Vagner Da Silva Rodrigues</dc:creator>
  <cp:lastModifiedBy>Cristiane Pavei Fernandes</cp:lastModifiedBy>
  <cp:revision>438</cp:revision>
  <dcterms:created xsi:type="dcterms:W3CDTF">2019-07-27T22:06:45Z</dcterms:created>
  <dcterms:modified xsi:type="dcterms:W3CDTF">2024-05-13T21:50:32Z</dcterms:modified>
</cp:coreProperties>
</file>