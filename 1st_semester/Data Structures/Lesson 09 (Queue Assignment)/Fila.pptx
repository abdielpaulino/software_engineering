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4"/>
  </p:sldMasterIdLst>
  <p:sldIdLst>
    <p:sldId id="256" r:id="rId5"/>
    <p:sldId id="286" r:id="rId6"/>
    <p:sldId id="289" r:id="rId7"/>
    <p:sldId id="291" r:id="rId8"/>
    <p:sldId id="290" r:id="rId9"/>
    <p:sldId id="292" r:id="rId10"/>
    <p:sldId id="293" r:id="rId11"/>
    <p:sldId id="305" r:id="rId12"/>
    <p:sldId id="295" r:id="rId13"/>
    <p:sldId id="294" r:id="rId14"/>
    <p:sldId id="297" r:id="rId15"/>
    <p:sldId id="299" r:id="rId16"/>
    <p:sldId id="298" r:id="rId17"/>
    <p:sldId id="306" r:id="rId18"/>
    <p:sldId id="300" r:id="rId19"/>
    <p:sldId id="301" r:id="rId20"/>
    <p:sldId id="288" r:id="rId21"/>
    <p:sldId id="304" r:id="rId22"/>
    <p:sldId id="30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7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79" d="100"/>
          <a:sy n="79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3949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2456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881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61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9734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3437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8759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325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120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3068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568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5367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8555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92920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242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8656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0330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6A260F7-666A-4BA1-BCDA-18F60036BA34}" type="datetimeFigureOut">
              <a:rPr lang="pt-BR" smtClean="0"/>
              <a:t>15/04/2024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85785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95693" y="2230789"/>
            <a:ext cx="6855229" cy="1754175"/>
          </a:xfrm>
        </p:spPr>
        <p:txBody>
          <a:bodyPr/>
          <a:lstStyle/>
          <a:p>
            <a:pPr algn="ctr"/>
            <a:r>
              <a:rPr lang="pt-BR" b="1" dirty="0">
                <a:latin typeface="Bahnschrift SemiBold SemiConden" panose="020B0502040204020203" pitchFamily="34" charset="0"/>
              </a:rPr>
              <a:t>ESTRUTURA DE DADOS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476036" y="3800298"/>
            <a:ext cx="374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err="1"/>
              <a:t>Pofª</a:t>
            </a:r>
            <a:r>
              <a:rPr lang="pt-BR" sz="2800" dirty="0"/>
              <a:t> </a:t>
            </a:r>
            <a:r>
              <a:rPr lang="pt-BR" sz="2800" dirty="0" err="1"/>
              <a:t>MSc</a:t>
            </a:r>
            <a:r>
              <a:rPr lang="pt-BR" sz="2800" dirty="0"/>
              <a:t> Christine Viera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464024" y="5963473"/>
            <a:ext cx="4984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Slides baseados no curso de </a:t>
            </a:r>
            <a:r>
              <a:rPr lang="pt-BR" dirty="0" err="1"/>
              <a:t>java</a:t>
            </a:r>
            <a:r>
              <a:rPr lang="pt-BR" dirty="0"/>
              <a:t> da </a:t>
            </a:r>
            <a:r>
              <a:rPr lang="pt-BR" dirty="0" err="1"/>
              <a:t>loiane.training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9649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395785" y="196513"/>
            <a:ext cx="12037325" cy="1077229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3800" b="1" dirty="0"/>
              <a:t>F</a:t>
            </a:r>
            <a:r>
              <a:rPr lang="pt-BR" sz="6600" b="1" dirty="0"/>
              <a:t>ILA (QUEUE) – </a:t>
            </a:r>
            <a:r>
              <a:rPr lang="pt-BR" sz="6600" dirty="0"/>
              <a:t>filas estáticas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39" y="2081394"/>
            <a:ext cx="10365972" cy="493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12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47202" t="43423" r="18183" b="34188"/>
          <a:stretch/>
        </p:blipFill>
        <p:spPr>
          <a:xfrm>
            <a:off x="1214651" y="1392068"/>
            <a:ext cx="9990164" cy="363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35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721344" y="1743837"/>
            <a:ext cx="27109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600" b="1" dirty="0"/>
              <a:t>FIFO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989574" y="3446899"/>
            <a:ext cx="42338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 err="1"/>
              <a:t>First</a:t>
            </a:r>
            <a:r>
              <a:rPr lang="pt-BR" sz="4800" dirty="0"/>
              <a:t> In </a:t>
            </a:r>
            <a:r>
              <a:rPr lang="pt-BR" sz="4800" dirty="0" err="1"/>
              <a:t>First</a:t>
            </a:r>
            <a:r>
              <a:rPr lang="pt-BR" sz="4800" dirty="0"/>
              <a:t> Out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098041" y="4544701"/>
            <a:ext cx="67483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i="1" dirty="0"/>
              <a:t>Primeiro a entrar, primeiro a sair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532263" y="368490"/>
            <a:ext cx="49761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MOVIMENTO DA FILA</a:t>
            </a:r>
          </a:p>
        </p:txBody>
      </p:sp>
    </p:spTree>
    <p:extLst>
      <p:ext uri="{BB962C8B-B14F-4D97-AF65-F5344CB8AC3E}">
        <p14:creationId xmlns:p14="http://schemas.microsoft.com/office/powerpoint/2010/main" val="2005646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45734" t="35028" r="17238" b="36054"/>
          <a:stretch/>
        </p:blipFill>
        <p:spPr>
          <a:xfrm>
            <a:off x="1801505" y="1610435"/>
            <a:ext cx="8464518" cy="371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395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45629" t="36707" r="18183" b="32136"/>
          <a:stretch/>
        </p:blipFill>
        <p:spPr>
          <a:xfrm>
            <a:off x="1105469" y="1064525"/>
            <a:ext cx="10049655" cy="486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10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45944" t="34655" r="17973" b="29711"/>
          <a:stretch/>
        </p:blipFill>
        <p:spPr>
          <a:xfrm>
            <a:off x="2115403" y="1173707"/>
            <a:ext cx="8332709" cy="462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3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3F7FF9F-6827-5538-7AD7-2FC43D743412}"/>
              </a:ext>
            </a:extLst>
          </p:cNvPr>
          <p:cNvSpPr txBox="1"/>
          <p:nvPr/>
        </p:nvSpPr>
        <p:spPr>
          <a:xfrm>
            <a:off x="1037617" y="1668932"/>
            <a:ext cx="1011676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Assim como acontece com as pilhas, você pode implementar uma fila em Python de várias maneiras. </a:t>
            </a:r>
          </a:p>
          <a:p>
            <a:endParaRPr lang="pt-BR" sz="2800" dirty="0"/>
          </a:p>
          <a:p>
            <a:r>
              <a:rPr lang="pt-BR" sz="2800" dirty="0"/>
              <a:t>Uma maneira comum é usar a </a:t>
            </a:r>
            <a:r>
              <a:rPr lang="pt-BR" sz="2800" b="1" dirty="0">
                <a:solidFill>
                  <a:schemeClr val="accent6"/>
                </a:solidFill>
              </a:rPr>
              <a:t>classe deque do módulo </a:t>
            </a:r>
            <a:r>
              <a:rPr lang="pt-BR" sz="2800" b="1" dirty="0" err="1">
                <a:solidFill>
                  <a:schemeClr val="accent6"/>
                </a:solidFill>
              </a:rPr>
              <a:t>collections</a:t>
            </a:r>
            <a:r>
              <a:rPr lang="pt-BR" sz="2800" dirty="0"/>
              <a:t>, que fornece operações eficientes de adição e remoção de elementos tanto no início quanto no final da fila. </a:t>
            </a:r>
          </a:p>
        </p:txBody>
      </p:sp>
    </p:spTree>
    <p:extLst>
      <p:ext uri="{BB962C8B-B14F-4D97-AF65-F5344CB8AC3E}">
        <p14:creationId xmlns:p14="http://schemas.microsoft.com/office/powerpoint/2010/main" val="2519194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514901" y="805218"/>
            <a:ext cx="705513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Deque</a:t>
            </a:r>
          </a:p>
          <a:p>
            <a:pPr marL="285750" indent="-285750">
              <a:buFontTx/>
              <a:buChar char="-"/>
            </a:pPr>
            <a:endParaRPr lang="pt-BR" sz="3600" dirty="0"/>
          </a:p>
          <a:p>
            <a:pPr marL="285750" indent="-285750">
              <a:buFontTx/>
              <a:buChar char="-"/>
            </a:pPr>
            <a:r>
              <a:rPr lang="pt-BR" sz="3600" dirty="0"/>
              <a:t>Declarar uma fila</a:t>
            </a:r>
          </a:p>
          <a:p>
            <a:pPr marL="285750" indent="-285750">
              <a:buFontTx/>
              <a:buChar char="-"/>
            </a:pPr>
            <a:r>
              <a:rPr lang="pt-BR" sz="3600" dirty="0"/>
              <a:t>Adicionar elementos na fila</a:t>
            </a:r>
          </a:p>
          <a:p>
            <a:pPr marL="285750" indent="-285750">
              <a:buFontTx/>
              <a:buChar char="-"/>
            </a:pPr>
            <a:r>
              <a:rPr lang="pt-BR" sz="3600" dirty="0"/>
              <a:t>Mostra o primeiro elemento da fila</a:t>
            </a:r>
          </a:p>
          <a:p>
            <a:pPr marL="285750" indent="-285750">
              <a:buFontTx/>
              <a:buChar char="-"/>
            </a:pPr>
            <a:r>
              <a:rPr lang="pt-BR" sz="3600" dirty="0"/>
              <a:t>Remover um elemento da fila</a:t>
            </a:r>
          </a:p>
        </p:txBody>
      </p:sp>
    </p:spTree>
    <p:extLst>
      <p:ext uri="{BB962C8B-B14F-4D97-AF65-F5344CB8AC3E}">
        <p14:creationId xmlns:p14="http://schemas.microsoft.com/office/powerpoint/2010/main" val="4040955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696036" y="464023"/>
            <a:ext cx="10809026" cy="58477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sz="3200" b="1" dirty="0"/>
              <a:t>Declarar uma fila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9635FAD-34DF-8A53-C6B6-545A15ABC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309" y="2204031"/>
            <a:ext cx="9396330" cy="243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65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 flipH="1">
            <a:off x="755402" y="641446"/>
            <a:ext cx="778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ADICIONAR ELEMENTOS NA FILA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755402" y="1287777"/>
            <a:ext cx="28680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Comando </a:t>
            </a:r>
            <a:r>
              <a:rPr lang="pt-BR" sz="2800" b="1" dirty="0" err="1">
                <a:solidFill>
                  <a:schemeClr val="accent6"/>
                </a:solidFill>
              </a:rPr>
              <a:t>append</a:t>
            </a:r>
            <a:endParaRPr lang="pt-BR" sz="2800" b="1" dirty="0">
              <a:solidFill>
                <a:schemeClr val="accent6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DECEC35-3F64-7D5F-C008-91F6A2885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427" y="2790735"/>
            <a:ext cx="6556049" cy="232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546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 flipH="1">
            <a:off x="755401" y="641446"/>
            <a:ext cx="9562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MOSTRAR O PRIMEIRO ELEMENTO DA FILA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EEE6768-E3B3-7578-1F8F-5D88A4D14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82" y="1850979"/>
            <a:ext cx="8321503" cy="64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855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 flipH="1">
            <a:off x="755402" y="641446"/>
            <a:ext cx="778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REMOVE ELEMENTOS NA FILA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755402" y="1287777"/>
            <a:ext cx="28296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Comando </a:t>
            </a:r>
            <a:r>
              <a:rPr lang="pt-BR" sz="2800" b="1" dirty="0" err="1">
                <a:solidFill>
                  <a:schemeClr val="accent6"/>
                </a:solidFill>
              </a:rPr>
              <a:t>popleft</a:t>
            </a:r>
            <a:endParaRPr lang="pt-BR" sz="2800" b="1" dirty="0">
              <a:solidFill>
                <a:schemeClr val="accent6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6073CE2-CB0D-6695-F0FA-D60DA2A9C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02" y="2070606"/>
            <a:ext cx="8913239" cy="148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00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 flipH="1">
            <a:off x="755402" y="641446"/>
            <a:ext cx="7788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MOSTRAR A FILA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F8A5F2A-63E6-65FB-4B2B-74B3BE55B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82" y="1828801"/>
            <a:ext cx="9701516" cy="342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33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973540" y="919664"/>
            <a:ext cx="1032680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600" dirty="0"/>
              <a:t>Exemplos de uso de filas na computação: </a:t>
            </a:r>
          </a:p>
          <a:p>
            <a:endParaRPr lang="pt-BR" sz="3600" dirty="0"/>
          </a:p>
          <a:p>
            <a:r>
              <a:rPr lang="pt-BR" sz="3200" b="1" dirty="0">
                <a:solidFill>
                  <a:schemeClr val="accent6"/>
                </a:solidFill>
              </a:rPr>
              <a:t>– Filas de impressão</a:t>
            </a:r>
            <a:r>
              <a:rPr lang="pt-BR" sz="2400" dirty="0"/>
              <a:t>:  Impressoras tem uma fila, caso vários documentos sejam impressos, por um ou mais usuários, os primeiros documentos impressos serão de quem enviar primeiro; </a:t>
            </a:r>
          </a:p>
          <a:p>
            <a:r>
              <a:rPr lang="pt-BR" sz="3200" b="1" dirty="0">
                <a:solidFill>
                  <a:schemeClr val="accent6"/>
                </a:solidFill>
              </a:rPr>
              <a:t>– Filas de processos</a:t>
            </a:r>
            <a:r>
              <a:rPr lang="pt-BR" sz="2400" dirty="0"/>
              <a:t>:  Vários programas podem estar sendo executados pelo sistema operacional. O mesmo tem uma fila que indica a ordem de qual será executado primeiro; </a:t>
            </a:r>
          </a:p>
          <a:p>
            <a:r>
              <a:rPr lang="pt-BR" sz="3200" b="1" dirty="0">
                <a:solidFill>
                  <a:schemeClr val="accent6"/>
                </a:solidFill>
              </a:rPr>
              <a:t>– Filas de tarefas</a:t>
            </a:r>
            <a:r>
              <a:rPr lang="pt-BR" sz="2400" dirty="0"/>
              <a:t>:  Um programa pode ter um conjunto de dados para processar. Estes dados podem estar dispostos em uma fila, onde o que foi inserido primeiro, será atendido primeiro.</a:t>
            </a:r>
          </a:p>
        </p:txBody>
      </p:sp>
    </p:spTree>
    <p:extLst>
      <p:ext uri="{BB962C8B-B14F-4D97-AF65-F5344CB8AC3E}">
        <p14:creationId xmlns:p14="http://schemas.microsoft.com/office/powerpoint/2010/main" val="2084121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27880" y="671691"/>
            <a:ext cx="10681649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600" dirty="0"/>
              <a:t>Variações de Filas: </a:t>
            </a:r>
          </a:p>
          <a:p>
            <a:endParaRPr lang="pt-BR" sz="2400" dirty="0"/>
          </a:p>
          <a:p>
            <a:r>
              <a:rPr lang="pt-BR" sz="3200" b="1" dirty="0">
                <a:solidFill>
                  <a:schemeClr val="accent6"/>
                </a:solidFill>
              </a:rPr>
              <a:t>– Fila de Prioridades</a:t>
            </a:r>
            <a:r>
              <a:rPr lang="pt-BR" sz="2400" dirty="0"/>
              <a:t>:  Cada item tem uma prioridade. Elementos mais prioritários podem ser atendidos antes, mesmo não estando no inicio da fila; </a:t>
            </a:r>
          </a:p>
          <a:p>
            <a:endParaRPr lang="pt-BR" sz="2400" dirty="0"/>
          </a:p>
          <a:p>
            <a:r>
              <a:rPr lang="pt-BR" sz="3200" b="1" dirty="0">
                <a:solidFill>
                  <a:schemeClr val="accent6"/>
                </a:solidFill>
              </a:rPr>
              <a:t>– Fila Circular</a:t>
            </a:r>
            <a:r>
              <a:rPr lang="pt-BR" sz="2400" dirty="0"/>
              <a:t>:  Neste tipo de fila os elementos nem sempre são removidos ao serem atendidos, mas voltam ao fim da fila para serem atendidos novamente mais tarde.</a:t>
            </a:r>
          </a:p>
          <a:p>
            <a:endParaRPr lang="pt-BR" sz="2400" b="1" dirty="0">
              <a:latin typeface="Corbel" panose="020B0503020204020204" pitchFamily="34" charset="0"/>
            </a:endParaRPr>
          </a:p>
          <a:p>
            <a:r>
              <a:rPr lang="pt-BR" sz="3200" b="1" dirty="0">
                <a:solidFill>
                  <a:schemeClr val="accent6"/>
                </a:solidFill>
              </a:rPr>
              <a:t>- Fila de duas pontas (DEQUE): </a:t>
            </a:r>
            <a:r>
              <a:rPr lang="pt-BR" sz="2400" dirty="0">
                <a:latin typeface="Corbel" panose="020B0503020204020204" pitchFamily="34" charset="0"/>
              </a:rPr>
              <a:t>A estrutura de dados </a:t>
            </a:r>
            <a:r>
              <a:rPr lang="pt-BR" sz="2400" b="1" dirty="0">
                <a:latin typeface="Corbel" panose="020B0503020204020204" pitchFamily="34" charset="0"/>
              </a:rPr>
              <a:t>deque</a:t>
            </a:r>
            <a:r>
              <a:rPr lang="pt-BR" sz="2400" dirty="0">
                <a:latin typeface="Corbel" panose="020B0503020204020204" pitchFamily="34" charset="0"/>
              </a:rPr>
              <a:t> (abreviação de </a:t>
            </a:r>
            <a:r>
              <a:rPr lang="pt-BR" sz="2400" i="1" dirty="0" err="1">
                <a:latin typeface="Corbel" panose="020B0503020204020204" pitchFamily="34" charset="0"/>
              </a:rPr>
              <a:t>double-ended</a:t>
            </a:r>
            <a:r>
              <a:rPr lang="pt-BR" sz="2400" i="1" dirty="0">
                <a:latin typeface="Corbel" panose="020B0503020204020204" pitchFamily="34" charset="0"/>
              </a:rPr>
              <a:t> </a:t>
            </a:r>
            <a:r>
              <a:rPr lang="pt-BR" sz="2400" i="1" dirty="0" err="1">
                <a:latin typeface="Corbel" panose="020B0503020204020204" pitchFamily="34" charset="0"/>
              </a:rPr>
              <a:t>queue</a:t>
            </a:r>
            <a:r>
              <a:rPr lang="pt-BR" sz="2400" dirty="0">
                <a:latin typeface="Corbel" panose="020B0503020204020204" pitchFamily="34" charset="0"/>
              </a:rPr>
              <a:t> ou “fila de duas pontas”) é uma variação da fila que aceita inserção e remoção de elementos tanto do início quanto do final da fila.</a:t>
            </a:r>
          </a:p>
          <a:p>
            <a:r>
              <a:rPr lang="pt-BR" sz="2400" dirty="0">
                <a:latin typeface="Corbel" panose="020B0503020204020204" pitchFamily="34" charset="0"/>
              </a:rPr>
              <a:t>Uma outra forma de se entender a estrutura deque é como uma junção das estruturas de pilha e fila.</a:t>
            </a:r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60803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27547" y="454125"/>
            <a:ext cx="1164608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b="1" dirty="0">
                <a:latin typeface="Corbel" panose="020B0503020204020204" pitchFamily="34" charset="0"/>
              </a:rPr>
              <a:t>FILA CIRCULAR</a:t>
            </a:r>
          </a:p>
          <a:p>
            <a:r>
              <a:rPr lang="pt-BR" sz="2800" dirty="0">
                <a:latin typeface="Corbel" panose="020B0503020204020204" pitchFamily="34" charset="0"/>
              </a:rPr>
              <a:t>Outra variação da fila é a </a:t>
            </a:r>
            <a:r>
              <a:rPr lang="pt-BR" sz="2800" b="1" dirty="0">
                <a:latin typeface="Corbel" panose="020B0503020204020204" pitchFamily="34" charset="0"/>
              </a:rPr>
              <a:t>fila circular</a:t>
            </a:r>
            <a:r>
              <a:rPr lang="pt-BR" sz="2800" dirty="0">
                <a:latin typeface="Corbel" panose="020B0503020204020204" pitchFamily="34" charset="0"/>
              </a:rPr>
              <a:t> (</a:t>
            </a:r>
            <a:r>
              <a:rPr lang="pt-BR" sz="2800" i="1" dirty="0">
                <a:latin typeface="Corbel" panose="020B0503020204020204" pitchFamily="34" charset="0"/>
              </a:rPr>
              <a:t>circular </a:t>
            </a:r>
            <a:r>
              <a:rPr lang="pt-BR" sz="2800" i="1" dirty="0" err="1">
                <a:latin typeface="Corbel" panose="020B0503020204020204" pitchFamily="34" charset="0"/>
              </a:rPr>
              <a:t>queue</a:t>
            </a:r>
            <a:r>
              <a:rPr lang="pt-BR" sz="2800" dirty="0">
                <a:latin typeface="Corbel" panose="020B0503020204020204" pitchFamily="34" charset="0"/>
              </a:rPr>
              <a:t>), onde o último elemento é conectado com o primeiro elemento - como em um círculo:</a:t>
            </a:r>
            <a:endParaRPr lang="pt-BR" sz="2800" b="0" i="0" dirty="0">
              <a:effectLst/>
              <a:latin typeface="Corbel" panose="020B0503020204020204" pitchFamily="34" charset="0"/>
            </a:endParaRPr>
          </a:p>
        </p:txBody>
      </p:sp>
      <p:pic>
        <p:nvPicPr>
          <p:cNvPr id="2050" name="Picture 2" descr="Gráfico do tipo pizza dividido em 6 fatias com as mesmas proporções, cada fatia numerada com números de 0 a 5, em ordem. Por estarem ordenadas, a fatia de número 5 está ao lado da fatia de número 0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990" y="2448393"/>
            <a:ext cx="3718493" cy="3595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5518245" y="3022765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800" dirty="0">
                <a:latin typeface="Inter"/>
              </a:rPr>
              <a:t>A fila circular busca resolver uma limitação da fila linear, que é lidar com espaços vazios que podem se enfileirar após a retirada de elementos do início da fila.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966998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23331" y="960609"/>
            <a:ext cx="10822675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>
                <a:latin typeface="Inter"/>
              </a:rPr>
              <a:t>Usos da Fila Circular</a:t>
            </a:r>
          </a:p>
          <a:p>
            <a:endParaRPr lang="pt-BR" sz="2800" b="1" dirty="0">
              <a:latin typeface="Inter"/>
            </a:endParaRPr>
          </a:p>
          <a:p>
            <a:r>
              <a:rPr lang="pt-BR" sz="2800" dirty="0">
                <a:latin typeface="Inter"/>
              </a:rPr>
              <a:t>Um uso fácil de lembrar para a fila é justamente a fila de impressão dos sistemas operacionais: o último trabalho de impressão a ser adicionado à fila será o último a ser impresso.</a:t>
            </a:r>
          </a:p>
          <a:p>
            <a:endParaRPr lang="pt-BR" sz="2800" dirty="0">
              <a:latin typeface="Inter"/>
            </a:endParaRPr>
          </a:p>
          <a:p>
            <a:r>
              <a:rPr lang="pt-BR" sz="2800" dirty="0">
                <a:latin typeface="Inter"/>
              </a:rPr>
              <a:t>Além disso, as requisições feitas a um servidor também são organizadas em fila para serem respondidas, e quando alternamos entre programas utilizando o atalho </a:t>
            </a:r>
            <a:r>
              <a:rPr lang="pt-BR" sz="2800" dirty="0" err="1">
                <a:latin typeface="Inter"/>
              </a:rPr>
              <a:t>alt+tab</a:t>
            </a:r>
            <a:r>
              <a:rPr lang="pt-BR" sz="2800" dirty="0">
                <a:latin typeface="Inter"/>
              </a:rPr>
              <a:t>, o sistema operacional faz o gerenciamento da ordem utilizando o princípio de lista circular.</a:t>
            </a:r>
            <a:endParaRPr lang="pt-BR" sz="2800" b="0" i="0" dirty="0"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94855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83939D-41DF-B133-C47F-0C4F3050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B474615-0296-6E24-7924-6EFFB18BDAEE}"/>
              </a:ext>
            </a:extLst>
          </p:cNvPr>
          <p:cNvSpPr txBox="1"/>
          <p:nvPr/>
        </p:nvSpPr>
        <p:spPr>
          <a:xfrm>
            <a:off x="566635" y="1780163"/>
            <a:ext cx="11233016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/>
              <a:t>Você foi contratado para desenvolver um sistema de gerenciamento de pedidos em uma lanchonete. O sistema deve permitir que os clientes façam pedidos e que esses pedidos sejam processados na ordem em que foram feitos.</a:t>
            </a:r>
          </a:p>
          <a:p>
            <a:endParaRPr lang="pt-BR" sz="2200" dirty="0"/>
          </a:p>
          <a:p>
            <a:r>
              <a:rPr lang="pt-BR" sz="2200" dirty="0"/>
              <a:t>A fila deve gerenciar os pedidos dos clientes. </a:t>
            </a:r>
          </a:p>
          <a:p>
            <a:endParaRPr lang="pt-BR" sz="2200" dirty="0"/>
          </a:p>
          <a:p>
            <a:r>
              <a:rPr lang="pt-BR" sz="2200" dirty="0"/>
              <a:t>Deve ter o seguinte menu:</a:t>
            </a:r>
          </a:p>
          <a:p>
            <a:endParaRPr lang="pt-BR" sz="2200" dirty="0"/>
          </a:p>
          <a:p>
            <a:r>
              <a:rPr lang="pt-BR" sz="2200" dirty="0"/>
              <a:t>Fazer Pedido: Cadastra o pedido feito pelo cliente e adiciona este pedido à fila de pedidos.</a:t>
            </a:r>
          </a:p>
          <a:p>
            <a:r>
              <a:rPr lang="pt-BR" sz="2200" dirty="0"/>
              <a:t>Processar Pedido: Mostra o pedido e assim que o usuário der um OK remove o pedido da fila e retorna o próximo pedido da fila para ser processado. Se não houver pedidos na fila, deve retornar uma mensagem indicando que não há pedidos pendentes.</a:t>
            </a:r>
          </a:p>
          <a:p>
            <a:r>
              <a:rPr lang="pt-BR" sz="2200" dirty="0"/>
              <a:t>Mostrar Pedidos</a:t>
            </a:r>
            <a:r>
              <a:rPr lang="pt-BR" sz="2200"/>
              <a:t>: Exibe </a:t>
            </a:r>
            <a:r>
              <a:rPr lang="pt-BR" sz="2200" dirty="0"/>
              <a:t>todos os pedidos pendentes na fila.</a:t>
            </a:r>
          </a:p>
        </p:txBody>
      </p:sp>
    </p:spTree>
    <p:extLst>
      <p:ext uri="{BB962C8B-B14F-4D97-AF65-F5344CB8AC3E}">
        <p14:creationId xmlns:p14="http://schemas.microsoft.com/office/powerpoint/2010/main" val="439550905"/>
      </p:ext>
    </p:extLst>
  </p:cSld>
  <p:clrMapOvr>
    <a:masterClrMapping/>
  </p:clrMapOvr>
</p:sld>
</file>

<file path=ppt/theme/theme1.xml><?xml version="1.0" encoding="utf-8"?>
<a:theme xmlns:a="http://schemas.openxmlformats.org/drawingml/2006/main" name="Profundidade">
  <a:themeElements>
    <a:clrScheme name="Profundidad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undidad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undida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2BF650A7DE6EF4A925EE5473F6ED25D" ma:contentTypeVersion="2" ma:contentTypeDescription="Crie um novo documento." ma:contentTypeScope="" ma:versionID="efae871804c52467bc03e96769a5221c">
  <xsd:schema xmlns:xsd="http://www.w3.org/2001/XMLSchema" xmlns:xs="http://www.w3.org/2001/XMLSchema" xmlns:p="http://schemas.microsoft.com/office/2006/metadata/properties" xmlns:ns2="b6fab2f6-11c4-4308-b201-f608b9adc00b" targetNamespace="http://schemas.microsoft.com/office/2006/metadata/properties" ma:root="true" ma:fieldsID="2f87cb5956308ce3ca9a8d9d23e4bb26" ns2:_="">
    <xsd:import namespace="b6fab2f6-11c4-4308-b201-f608b9adc0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fab2f6-11c4-4308-b201-f608b9adc0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F1FBCC-A285-4E9F-8F34-8926C2CA54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98D5DC-D0FC-4235-90AB-51761B5CEF0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953B930-87DA-4F86-994A-A8ACB728F5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fab2f6-11c4-4308-b201-f608b9adc0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TM04033923[[fn=Profundidade]]</Template>
  <TotalTime>5948</TotalTime>
  <Words>640</Words>
  <Application>Microsoft Office PowerPoint</Application>
  <PresentationFormat>Widescreen</PresentationFormat>
  <Paragraphs>55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Bahnschrift SemiBold SemiConden</vt:lpstr>
      <vt:lpstr>Corbel</vt:lpstr>
      <vt:lpstr>Inter</vt:lpstr>
      <vt:lpstr>Profundidade</vt:lpstr>
      <vt:lpstr>ESTRUTURA DE DADOS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Exercício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CHRISTINE VIEIRA</dc:creator>
  <cp:lastModifiedBy>Christine Vieira</cp:lastModifiedBy>
  <cp:revision>146</cp:revision>
  <dcterms:created xsi:type="dcterms:W3CDTF">2022-03-21T23:50:49Z</dcterms:created>
  <dcterms:modified xsi:type="dcterms:W3CDTF">2024-04-15T21:39:03Z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0x01010032BF650A7DE6EF4A925EE5473F6ED25D</vt:lpwstr>
  </property>
</Properties>
</file>