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256" r:id="rId2"/>
    <p:sldId id="330" r:id="rId3"/>
    <p:sldId id="331" r:id="rId4"/>
    <p:sldId id="332" r:id="rId5"/>
    <p:sldId id="298" r:id="rId6"/>
    <p:sldId id="296" r:id="rId7"/>
    <p:sldId id="297" r:id="rId8"/>
    <p:sldId id="388" r:id="rId9"/>
    <p:sldId id="389" r:id="rId10"/>
    <p:sldId id="390" r:id="rId11"/>
    <p:sldId id="391" r:id="rId12"/>
    <p:sldId id="392" r:id="rId13"/>
    <p:sldId id="394" r:id="rId14"/>
    <p:sldId id="395" r:id="rId15"/>
    <p:sldId id="397" r:id="rId16"/>
    <p:sldId id="396" r:id="rId17"/>
    <p:sldId id="398" r:id="rId18"/>
    <p:sldId id="400" r:id="rId19"/>
    <p:sldId id="286" r:id="rId20"/>
    <p:sldId id="293" r:id="rId21"/>
    <p:sldId id="294" r:id="rId22"/>
    <p:sldId id="295" r:id="rId23"/>
    <p:sldId id="402" r:id="rId24"/>
    <p:sldId id="403" r:id="rId25"/>
    <p:sldId id="404" r:id="rId26"/>
    <p:sldId id="299" r:id="rId27"/>
    <p:sldId id="300" r:id="rId28"/>
    <p:sldId id="301" r:id="rId29"/>
    <p:sldId id="302" r:id="rId30"/>
    <p:sldId id="303" r:id="rId31"/>
    <p:sldId id="405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401" r:id="rId46"/>
    <p:sldId id="304" r:id="rId4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0519" autoAdjust="0"/>
  </p:normalViewPr>
  <p:slideViewPr>
    <p:cSldViewPr snapToGrid="0">
      <p:cViewPr varScale="1">
        <p:scale>
          <a:sx n="66" d="100"/>
          <a:sy n="66" d="100"/>
        </p:scale>
        <p:origin x="1253" y="-11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17:12:3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8468,'0'0'656,"0"0"-304,0 0-272,0 0-80,0 0 337,0 0 751,0 0-336,-43 0-47,43 6-545,-10 0-96,0 6 160,-10 0-192,13 0 16,7-9-48,0-3-512,0 0-3890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17:12:3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8468,'0'0'656,"0"0"-304,0 0-272,0 0-80,0 0 337,0 0 751,0 0-336,-43 0-47,43 6-545,-10 0-96,0 6 160,-10 0-192,13 0 16,7-9-48,0-3-512,0 0-3890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E8D53-2432-4DDB-A099-3E72A3296649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99B70-AA64-44CA-81E6-C1A8899923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820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Cada dado contribui com sua </a:t>
            </a:r>
            <a:r>
              <a:rPr lang="pt-PT" b="1" dirty="0"/>
              <a:t>própria probabilidade correta</a:t>
            </a:r>
            <a:r>
              <a:rPr lang="pt-PT" dirty="0"/>
              <a:t> (de 1 ou de 0).</a:t>
            </a:r>
          </a:p>
          <a:p>
            <a:r>
              <a:rPr lang="pt-PT" dirty="0"/>
              <a:t>Multiplicar tudo dá a chance conjunta do modelo acertar todos os dados ao mesmo tempo.</a:t>
            </a:r>
          </a:p>
          <a:p>
            <a:r>
              <a:rPr lang="pt-PT" dirty="0"/>
              <a:t>É isso que a maximização da verossimilhança vai otimizar.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5440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1714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gradiente do intercepto é a média de p−y. O gradiente de cada peso j é a média de (p−y)x_j. A regra de decisão é utilizada na inferência, após calcular a probabilidade.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Etapa | Equação | Papel</a:t>
            </a:r>
          </a:p>
          <a:p>
            <a:r>
              <a:t>Escore | zᵢ = w₀ + Σⱼ wⱼxᵢⱼ | Combinar as entradas</a:t>
            </a:r>
          </a:p>
          <a:p>
            <a:r>
              <a:t>Probabilidade | pᵢ = 1 / [1 + exp(−zᵢ)] | Transformar o escore</a:t>
            </a:r>
          </a:p>
          <a:p>
            <a:r>
              <a:t>Perda média | J = −Σᵢ[yᵢ ln pᵢ + (1−yᵢ) ln(1−pᵢ)]/n | Medir o ajuste</a:t>
            </a:r>
          </a:p>
          <a:p>
            <a:r>
              <a:t>Atualização | wⱼ ← wⱼ − η ∂J/∂wⱼ | Aprender os pesos</a:t>
            </a:r>
          </a:p>
          <a:p>
            <a:r>
              <a:t>Decisão | ŷᵢ = 1 se pᵢ ≥ τ; senão 0 | Produzir a classe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https://www.statlearning.com/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URL do CSV: https://raw.githubusercontent.com/mwaskom/seaborn-data/master/titanic.csv</a:t>
            </a:r>
          </a:p>
          <a:p>
            <a:r>
              <a:t>Data utilizada nesta revisão: 7 de setembro de 2026. O arquivo do Kaggle usa outros nomes e colunas; não misturar versões. A base é histórica e não valida decisões reais de segurança.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Estimar a probabilidade de sobrevivência a partir de características dos passageiros.</a:t>
            </a:r>
          </a:p>
          <a:p>
            <a:endParaRPr/>
          </a:p>
          <a:p>
            <a:r>
              <a:t>Fonte: versão pública do Titanic no repositório seaborn-data.</a:t>
            </a:r>
          </a:p>
          <a:p>
            <a:r>
              <a:t>891 passageiros: 342 sobreviveram e 549 não sobreviveram.</a:t>
            </a:r>
          </a:p>
          <a:p>
            <a:r>
              <a:t>Alvo: survived — 0 = não sobreviveu; 1 = sobreviveu.</a:t>
            </a:r>
          </a:p>
          <a:p>
            <a:endParaRPr/>
          </a:p>
          <a:p>
            <a:r>
              <a:t>Os exemplos seguintes usam os nomes de colunas dessa versão.</a:t>
            </a:r>
          </a:p>
          <a:p>
            <a:endParaRPr/>
          </a:p>
          <a:p>
            <a:r>
              <a:t>A coluna alive traduz o próprio alvo e nunca deve entrar em X.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https://github.com/mwaskom/seaborn-data/blob/master/titanic.csv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Conteúdo e equações para consulta:</a:t>
            </a:r>
          </a:p>
          <a:p>
            <a:r>
              <a:t>Colunas | Significado | Tratamento</a:t>
            </a:r>
          </a:p>
          <a:p>
            <a:r>
              <a:t>age, fare | Idade e tarifa | Numérico</a:t>
            </a:r>
          </a:p>
          <a:p>
            <a:r>
              <a:t>sibsp, parch | Familiares a bordo | Numérico</a:t>
            </a:r>
          </a:p>
          <a:p>
            <a:r>
              <a:t>sex, embarked | Sexo registrado e porto | Categórico</a:t>
            </a:r>
          </a:p>
          <a:p>
            <a:r>
              <a:t>pclass | Classe da passagem: 1, 2 ou 3 | Categórico nesta aula</a:t>
            </a:r>
          </a:p>
          <a:p>
            <a:endParaRPr/>
          </a:p>
          <a:p>
            <a:r>
              <a:t>Usamos uma lista explícita: só entram essas sete características.</a:t>
            </a:r>
          </a:p>
          <a:p>
            <a:endParaRPr/>
          </a:p>
          <a:p>
            <a:r>
              <a:t>Tratar pclass como categoria evita impor um efeito linear por nível.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https://github.com/mwaskom/seaborn-data/blob/master/titanic.csv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Ambiente de verificação: Python com scikit-learn 1.8.0, pandas 2.2.3 e NumPy 2.3.5. O CSV pode ser baixado automaticamente na primeira execução. Se necessário, instalar as dependências no ambiente do notebook.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import pandas as pd  # Leitura e manipulação da tabela.</a:t>
            </a:r>
          </a:p>
          <a:p>
            <a:r>
              <a:t>import numpy as np  # Operações numéricas.</a:t>
            </a:r>
          </a:p>
          <a:p>
            <a:r>
              <a:t>from pathlib import Path  # Caminho para a cópia local.</a:t>
            </a:r>
          </a:p>
          <a:p>
            <a:r>
              <a:t>from sklearn.model_selection import (</a:t>
            </a:r>
          </a:p>
          <a:p>
            <a:r>
              <a:t>    train_test_split, StratifiedKFold, cross_val_score)</a:t>
            </a:r>
          </a:p>
          <a:p>
            <a:r>
              <a:t>from sklearn.compose import ColumnTransformer</a:t>
            </a:r>
          </a:p>
          <a:p>
            <a:r>
              <a:t>from sklearn.pipeline import Pipeline</a:t>
            </a:r>
          </a:p>
          <a:p>
            <a:r>
              <a:t>from sklearn.impute import SimpleImputer</a:t>
            </a:r>
          </a:p>
          <a:p>
            <a:r>
              <a:t>from sklearn.preprocessing import StandardScaler, OneHotEncoder</a:t>
            </a:r>
          </a:p>
          <a:p>
            <a:r>
              <a:t>from sklearn.linear_model import LogisticRegression</a:t>
            </a:r>
          </a:p>
          <a:p>
            <a:r>
              <a:t>from sklearn.dummy import DummyClassifier</a:t>
            </a:r>
          </a:p>
          <a:p>
            <a:endParaRPr/>
          </a:p>
          <a:p>
            <a:r>
              <a:t>Execute as células do Titanic em ordem, no mesmo notebook.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https://scikit-learn.org/stable/modules/generated/sklearn.linear_model.LogisticRegression.html</a:t>
            </a:r>
          </a:p>
          <a:p>
            <a:endParaRPr/>
          </a:p>
          <a:p>
            <a:r>
              <a:t>https://scikit-learn.org/stable/common_pitfalls.html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Conteúdo e equações para consulta:</a:t>
            </a:r>
          </a:p>
          <a:p>
            <a:r>
              <a:t>from sklearn.metrics import (</a:t>
            </a:r>
          </a:p>
          <a:p>
            <a:r>
              <a:t>    accuracy_score, precision_score, recall_score, f1_score,</a:t>
            </a:r>
          </a:p>
          <a:p>
            <a:r>
              <a:t>    confusion_matrix, roc_auc_score, log_loss)</a:t>
            </a:r>
          </a:p>
          <a:p>
            <a:endParaRPr/>
          </a:p>
          <a:p>
            <a:r>
              <a:t># Estas funções compararão os rótulos reais e as previsões.</a:t>
            </a:r>
          </a:p>
          <a:p>
            <a:r>
              <a:t># AUC e log_loss usam probabilidades, não classes 0/1.</a:t>
            </a:r>
          </a:p>
          <a:p>
            <a:endParaRPr/>
          </a:p>
          <a:p>
            <a:r>
              <a:t>Acurácia, precisão, recall e F1 avaliam as classes.</a:t>
            </a:r>
          </a:p>
          <a:p>
            <a:r>
              <a:t>ROC-AUC avalia a ordenação dos escores.</a:t>
            </a:r>
          </a:p>
          <a:p>
            <a:r>
              <a:t>Log loss avalia as probabilidades atribuídas aos resultados.</a:t>
            </a:r>
          </a:p>
          <a:p>
            <a:endParaRPr/>
          </a:p>
          <a:p>
            <a:r>
              <a:t>Não é necessário transformar probabilidade em classe para calcular AUC.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https://www.statlearning.com/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leitura e o armazenamento do arquivo não ajustam transformações estatísticas. Antes de usar outro CSV chamado titanic.csv, conferir se contém o esquema do seaborn-data mostrado nesta aula.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url = (</a:t>
            </a:r>
          </a:p>
          <a:p>
            <a:r>
              <a:t>    "https://raw.githubusercontent.com/"</a:t>
            </a:r>
          </a:p>
          <a:p>
            <a:r>
              <a:t>    "mwaskom/seaborn-data/master/titanic.csv"</a:t>
            </a:r>
          </a:p>
          <a:p>
            <a:r>
              <a:t>)</a:t>
            </a:r>
          </a:p>
          <a:p>
            <a:r>
              <a:t>arquivo = Path("titanic.csv")</a:t>
            </a:r>
          </a:p>
          <a:p>
            <a:r>
              <a:t>if arquivo.exists():  # Reutiliza a cópia local.</a:t>
            </a:r>
          </a:p>
          <a:p>
            <a:r>
              <a:t>    df = pd.read_csv(arquivo)</a:t>
            </a:r>
          </a:p>
          <a:p>
            <a:r>
              <a:t>else:  # Primeira execução requer internet.</a:t>
            </a:r>
          </a:p>
          <a:p>
            <a:r>
              <a:t>    df = pd.read_csv(url)</a:t>
            </a:r>
          </a:p>
          <a:p>
            <a:r>
              <a:t>    df.to_csv(arquivo, index=False)</a:t>
            </a:r>
          </a:p>
          <a:p>
            <a:r>
              <a:t>print(df.shape)</a:t>
            </a:r>
          </a:p>
          <a:p>
            <a:r>
              <a:t>print(df.head())</a:t>
            </a:r>
          </a:p>
          <a:p>
            <a:endParaRPr/>
          </a:p>
          <a:p>
            <a:r>
              <a:t>Use o CSV indicado. A cópia local permite repetir a aula sem novo download.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https://github.com/mwaskom/seaborn-data/blob/master/titanic.csv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Conteúdo e equações para consulta:</a:t>
            </a:r>
          </a:p>
          <a:p>
            <a:r>
              <a:t>numericas = ["age", "fare", "sibsp", "parch"]</a:t>
            </a:r>
          </a:p>
          <a:p>
            <a:r>
              <a:t>categoricas = ["sex", "embarked", "pclass"]</a:t>
            </a:r>
          </a:p>
          <a:p>
            <a:r>
              <a:t>X = df[numericas + categoricas]  # Só as entradas selecionadas.</a:t>
            </a:r>
          </a:p>
          <a:p>
            <a:r>
              <a:t>y = df["survived"]  # Alvo separado.</a:t>
            </a:r>
          </a:p>
          <a:p>
            <a:endParaRPr/>
          </a:p>
          <a:p>
            <a:r>
              <a:t>X_train, X_test, y_train, y_test = train_test_split(</a:t>
            </a:r>
          </a:p>
          <a:p>
            <a:r>
              <a:t>    X, y, test_size=0.2, random_state=42, stratify=y)</a:t>
            </a:r>
          </a:p>
          <a:p>
            <a:endParaRPr/>
          </a:p>
          <a:p>
            <a:r>
              <a:t>print(len(X_train), len(X_test))  # 712 e 179.</a:t>
            </a:r>
          </a:p>
          <a:p>
            <a:r>
              <a:t>print(X_train.isna().sum())  # Exploração no treino.</a:t>
            </a:r>
          </a:p>
          <a:p>
            <a:endParaRPr/>
          </a:p>
          <a:p>
            <a:r>
              <a:t>stratify preserva aproximadamente a proporção das classes.</a:t>
            </a:r>
          </a:p>
          <a:p>
            <a:r>
              <a:t>O teste fica reservado para a avaliação final.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https://scikit-learn.org/stable/common_pitfalls.html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Conteúdo e equações para consulta:</a:t>
            </a:r>
          </a:p>
          <a:p>
            <a:r>
              <a:t>Operação | Aprende no treino | Aplica em novos dados</a:t>
            </a:r>
          </a:p>
          <a:p>
            <a:r>
              <a:t>Imputação | Mediana ou categoria mais frequente | Preenche os valores ausentes</a:t>
            </a:r>
          </a:p>
          <a:p>
            <a:r>
              <a:t>Padronização | Média μ e desvio-padrão s | Calcula (x − μ) / s</a:t>
            </a:r>
          </a:p>
          <a:p>
            <a:r>
              <a:t>One-hot | Categorias conhecidas | Cria indicadores 0/1</a:t>
            </a:r>
          </a:p>
          <a:p>
            <a:endParaRPr/>
          </a:p>
          <a:p>
            <a:r>
              <a:t>No teste, usamos os valores aprendidos no treino; não recalculamos as estatísticas.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https://scikit-learn.org/stable/common_pitfalls.html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pipeline numérico, o scaler aprende μ e s depois da imputação. A padronização facilita a otimização e torna a penalização mais comparável entre entradas numéricas; não torna as variáveis normalmente distribuídas.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bloco_num = Pipeline(steps=[</a:t>
            </a:r>
          </a:p>
          <a:p>
            <a:r>
              <a:t>    ("impute", SimpleImputer(strategy="median")),</a:t>
            </a:r>
          </a:p>
          <a:p>
            <a:r>
              <a:t>    ("scale", StandardScaler())</a:t>
            </a:r>
          </a:p>
          <a:p>
            <a:r>
              <a:t>])</a:t>
            </a:r>
          </a:p>
          <a:p>
            <a:endParaRPr/>
          </a:p>
          <a:p>
            <a:r>
              <a:t>1. A mediana de treino preenche cada valor ausente.</a:t>
            </a:r>
          </a:p>
          <a:p>
            <a:r>
              <a:t>2. A padronização coloca as variáveis em escalas comparáveis.</a:t>
            </a:r>
          </a:p>
          <a:p>
            <a:r>
              <a:t>3. A mesma sequência será aplicada ao teste.</a:t>
            </a:r>
          </a:p>
          <a:p>
            <a:endParaRPr/>
          </a:p>
          <a:p>
            <a:r>
              <a:t>Escolhemos a mediana pela menor sensibilidade a valores extremos.</a:t>
            </a:r>
          </a:p>
          <a:p>
            <a:endParaRPr/>
          </a:p>
          <a:p>
            <a:r>
              <a:t>O scaler preserva NaNs; a imputação os resolve para a regressão logística.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https://scikit-learn.org/stable/modules/generated/sklearn.preprocessing.StandardScaler.html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Usamos todas as categorias com regularização L2. Para interpretar efeitos entre categorias, comparar seus coeficientes; coeficientes individuais não usam uma categoria de referência omitida. O resultado pode ser matriz esparsa e lbfgs a aceita.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bloco_cat = Pipeline(steps=[</a:t>
            </a:r>
          </a:p>
          <a:p>
            <a:r>
              <a:t>    ("impute", SimpleImputer(strategy="most_frequent")),</a:t>
            </a:r>
          </a:p>
          <a:p>
            <a:r>
              <a:t>    ("encode", OneHotEncoder(handle_unknown="ignore"))</a:t>
            </a:r>
          </a:p>
          <a:p>
            <a:r>
              <a:t>])</a:t>
            </a:r>
          </a:p>
          <a:p>
            <a:endParaRPr/>
          </a:p>
          <a:p>
            <a:r>
              <a:t>Primeiro, preenchemos ausências com a categoria mais frequente no treino.</a:t>
            </a:r>
          </a:p>
          <a:p>
            <a:r>
              <a:t>Depois, cada categoria conhecida ganha um indicador 0/1.</a:t>
            </a:r>
          </a:p>
          <a:p>
            <a:endParaRPr/>
          </a:p>
          <a:p>
            <a:r>
              <a:t>Categoria inédita gera zeros no bloco daquela variável.</a:t>
            </a:r>
          </a:p>
          <a:p>
            <a:endParaRPr/>
          </a:p>
          <a:p>
            <a:r>
              <a:t>Isso evita erro de transformação; não garante uma previsão confiável.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https://scikit-learn.org/stable/modules/generated/sklearn.preprocessing.OneHotEncoder.html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Conteúdo e equações para consulta:</a:t>
            </a:r>
          </a:p>
          <a:p>
            <a:r>
              <a:t>preparo = ColumnTransformer(transformers=[</a:t>
            </a:r>
          </a:p>
          <a:p>
            <a:r>
              <a:t>    ("num", bloco_num, numericas),</a:t>
            </a:r>
          </a:p>
          <a:p>
            <a:r>
              <a:t>    ("cat", bloco_cat, categoricas)</a:t>
            </a:r>
          </a:p>
          <a:p>
            <a:r>
              <a:t>], remainder="drop")</a:t>
            </a:r>
          </a:p>
          <a:p>
            <a:endParaRPr/>
          </a:p>
          <a:p>
            <a:r>
              <a:t>O bloco numérico recebe apenas as colunas numéricas.</a:t>
            </a:r>
          </a:p>
          <a:p>
            <a:r>
              <a:t>O bloco categórico recebe apenas as colunas categóricas.</a:t>
            </a:r>
          </a:p>
          <a:p>
            <a:r>
              <a:t>Os resultados são concatenados em uma matriz de entrada.</a:t>
            </a:r>
          </a:p>
          <a:p>
            <a:endParaRPr/>
          </a:p>
          <a:p>
            <a:r>
              <a:t>remainder="drop" exclui colunas não listadas.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https://scikit-learn.org/stable/modules/generated/sklearn.compose.ColumnTransformer.html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scikit-learn usa regularização por padrão. Não comparar diretamente seus pesos com o exemplo NumPy sem igualar dados, objetivo, regularização e critério de parada. O solver lbfgs não é o gradiente descendente simples do exemplo manual.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modelo = Pipeline(steps=[</a:t>
            </a:r>
          </a:p>
          <a:p>
            <a:r>
              <a:t>    ("prep", preparo),</a:t>
            </a:r>
          </a:p>
          <a:p>
            <a:r>
              <a:t>    ("logit", LogisticRegression(</a:t>
            </a:r>
          </a:p>
          <a:p>
            <a:r>
              <a:t>        C=1.0, solver="lbfgs", max_iter=1000))</a:t>
            </a:r>
          </a:p>
          <a:p>
            <a:r>
              <a:t>])</a:t>
            </a:r>
          </a:p>
          <a:p>
            <a:endParaRPr/>
          </a:p>
          <a:p>
            <a:r>
              <a:t>C = 1,0 define a força de regularização utilizada.</a:t>
            </a:r>
          </a:p>
          <a:p>
            <a:r>
              <a:t>lbfgs é o método de otimização.</a:t>
            </a:r>
          </a:p>
          <a:p>
            <a:r>
              <a:t>max_iter = 1000 é um limite, não o número obrigatório de passos.</a:t>
            </a:r>
          </a:p>
          <a:p>
            <a:endParaRPr/>
          </a:p>
          <a:p>
            <a:r>
              <a:t>fit aprende a sequência; predict_proba aplica a sequência já aprendida.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https://scikit-learn.org/stable/modules/generated/sklearn.linear_model.LogisticRegression.html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desvio-padrão entre folds não é automaticamente um intervalo de confiança. Não há busca de hiperparâmetros nesta execução; C=1 e limiar=0.5 foram definidos previamente. cross_val_score clona o pipeline e não ajusta o objeto original.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cv = StratifiedKFold(</a:t>
            </a:r>
          </a:p>
          <a:p>
            <a:r>
              <a:t>    n_splits=5, shuffle=True, random_state=42)</a:t>
            </a:r>
          </a:p>
          <a:p>
            <a:r>
              <a:t>auc_cv = cross_val_score(</a:t>
            </a:r>
          </a:p>
          <a:p>
            <a:r>
              <a:t>    modelo, X_train, y_train, cv=cv, scoring="roc_auc")</a:t>
            </a:r>
          </a:p>
          <a:p>
            <a:r>
              <a:t>print(auc_cv.mean(), auc_cv.std())</a:t>
            </a:r>
          </a:p>
          <a:p>
            <a:endParaRPr/>
          </a:p>
          <a:p>
            <a:r>
              <a:t>Cada rodada aprende o pré-processamento apenas nas suas partes de treino.</a:t>
            </a:r>
          </a:p>
          <a:p>
            <a:endParaRPr/>
          </a:p>
          <a:p>
            <a:r>
              <a:t>Nesta execução: ROC-AUC média = 0,853;</a:t>
            </a:r>
          </a:p>
          <a:p>
            <a:r>
              <a:t>desvio-padrão entre as cinco partições = 0,022.</a:t>
            </a:r>
          </a:p>
          <a:p>
            <a:endParaRPr/>
          </a:p>
          <a:p>
            <a:r>
              <a:t>Ajustes de C, variáveis ou limiar devem usar validação, mantendo o teste reservado.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https://scikit-learn.org/stable/common_pitfalls.html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Conteúdo e equações para consulta:</a:t>
            </a:r>
          </a:p>
          <a:p>
            <a:r>
              <a:t>modelo.fit(X_train, y_train)  # Ajuste final com o treino.</a:t>
            </a:r>
          </a:p>
          <a:p>
            <a:r>
              <a:t>idx_1 = list(modelo.classes_).index(1)  # Coluna da classe 1.</a:t>
            </a:r>
          </a:p>
          <a:p>
            <a:r>
              <a:t>prob = modelo.predict_proba(X_test)[:, idx_1]</a:t>
            </a:r>
          </a:p>
          <a:p>
            <a:r>
              <a:t>pred = (prob &gt;= 0.5).astype(int)  # Limiar fixado antes.</a:t>
            </a:r>
          </a:p>
          <a:p>
            <a:endParaRPr/>
          </a:p>
          <a:p>
            <a:r>
              <a:t>print("Acurácia:", accuracy_score(y_test, pred))</a:t>
            </a:r>
          </a:p>
          <a:p>
            <a:r>
              <a:t>print("Precisão:", precision_score(y_test, pred))</a:t>
            </a:r>
          </a:p>
          <a:p>
            <a:r>
              <a:t>print("Recall:", recall_score(y_test, pred))</a:t>
            </a:r>
          </a:p>
          <a:p>
            <a:r>
              <a:t>print("F1:", f1_score(y_test, pred))</a:t>
            </a:r>
          </a:p>
          <a:p>
            <a:r>
              <a:t>print(confusion_matrix(y_test, pred, labels=[0, 1]))</a:t>
            </a:r>
          </a:p>
          <a:p>
            <a:endParaRPr/>
          </a:p>
          <a:p>
            <a:r>
              <a:t>y_test entra somente na avaliação, depois que as previsões foram calculadas.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https://scikit-learn.org/stable/common_pitfalls.html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Valores executados com scikit-learn 1.8.0, pandas 2.2.3 e NumPy 2.3.5. Baseline de classe majoritária: 110/179. Modelo: 144/179. Precisão 46/58, recall 46/69 e F1 92/127.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referencia = DummyClassifier(strategy="most_frequent")</a:t>
            </a:r>
          </a:p>
          <a:p>
            <a:r>
              <a:t>referencia.fit(X_train, y_train)</a:t>
            </a:r>
          </a:p>
          <a:p>
            <a:r>
              <a:t>pred_base = referencia.predict(X_test)</a:t>
            </a:r>
          </a:p>
          <a:p>
            <a:r>
              <a:t>print(accuracy_score(y_test, pred_base))</a:t>
            </a:r>
          </a:p>
          <a:p>
            <a:endParaRPr/>
          </a:p>
          <a:p>
            <a:r>
              <a:t>Métrica no teste | Referência: sempre 0 | Regressão logística</a:t>
            </a:r>
          </a:p>
          <a:p>
            <a:r>
              <a:t>Acurácia | 61,45% | 80,45%</a:t>
            </a:r>
          </a:p>
          <a:p>
            <a:r>
              <a:t>Precisão da classe 1 | Não prevê positivos | 79,31%</a:t>
            </a:r>
          </a:p>
          <a:p>
            <a:r>
              <a:t>Recall da classe 1 | 0% | 66,67%</a:t>
            </a:r>
          </a:p>
          <a:p>
            <a:r>
              <a:t>F1 da classe 1 | 0 | 0,724</a:t>
            </a:r>
          </a:p>
          <a:p>
            <a:endParaRPr/>
          </a:p>
          <a:p>
            <a:r>
              <a:t>Resultado de uma divisão específica de 179 casos; não é desempenho universal.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https://github.com/mwaskom/seaborn-data/blob/master/titanic.csv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Conteúdo e equações para consulta:</a:t>
            </a:r>
          </a:p>
          <a:p>
            <a:r>
              <a:t>Real ↓ / Previsto → | Não sobreviveu (0) | Sobreviveu (1)</a:t>
            </a:r>
          </a:p>
          <a:p>
            <a:r>
              <a:t>Não sobreviveu (0) | TN = 98 | FP = 12</a:t>
            </a:r>
          </a:p>
          <a:p>
            <a:r>
              <a:t>Sobreviveu (1) | FN = 23 | TP = 46</a:t>
            </a:r>
          </a:p>
          <a:p>
            <a:endParaRPr/>
          </a:p>
          <a:p>
            <a:r>
              <a:t>23 sobreviventes receberam previsão de não sobrevivência.</a:t>
            </a:r>
          </a:p>
          <a:p>
            <a:r>
              <a:t>12 não sobreviventes receberam previsão de sobrevivência.</a:t>
            </a:r>
          </a:p>
          <a:p>
            <a:endParaRPr/>
          </a:p>
          <a:p>
            <a:r>
              <a:t>Recall = 46 / (46 + 23) ≈ 66,7%</a:t>
            </a:r>
          </a:p>
          <a:p>
            <a:endParaRPr/>
          </a:p>
          <a:p>
            <a:r>
              <a:t>Mesmo com 80,45% de acurácia, o modelo deixou de detectar um terço dos positivos.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https://github.com/mwaskom/seaborn-data/blob/master/titanic.csv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Conteúdo e equações para consulta:</a:t>
            </a:r>
          </a:p>
          <a:p>
            <a:r>
              <a:t>print("ROC-AUC:", roc_auc_score(y_test, prob))</a:t>
            </a:r>
          </a:p>
          <a:p>
            <a:r>
              <a:t>print("Log loss:", log_loss(y_test, prob))</a:t>
            </a:r>
          </a:p>
          <a:p>
            <a:endParaRPr/>
          </a:p>
          <a:p>
            <a:r>
              <a:t>Métrica | Resultado | Interpretação</a:t>
            </a:r>
          </a:p>
          <a:p>
            <a:r>
              <a:t>ROC-AUC | 0,8427 | Ordenação de positivos e negativos; maior é melhor.</a:t>
            </a:r>
          </a:p>
          <a:p>
            <a:r>
              <a:t>Log loss | 0,4622 | Penaliza probabilidades erradas; menor é melhor.</a:t>
            </a:r>
          </a:p>
          <a:p>
            <a:endParaRPr/>
          </a:p>
          <a:p>
            <a:r>
              <a:t>AUC alta não comprova que as probabilidades estão bem calibradas.</a:t>
            </a:r>
          </a:p>
          <a:p>
            <a:endParaRPr/>
          </a:p>
          <a:p>
            <a:r>
              <a:t>Para estudar calibração, compare probabilidades e frequências observadas em dados independentes.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https://github.com/mwaskom/seaborn-data/blob/master/titanic.csv</a:t>
            </a:r>
          </a:p>
          <a:p>
            <a:endParaRPr/>
          </a:p>
          <a:p>
            <a:r>
              <a:t>https://scikit-learn.org/stable/modules/calibration.html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Caso hipotético para demonstrar a API. A probabilidade é uma saída do modelo histórico, não a frequência comprovada de sobrevivência de um indivíduo com essas características.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novo = pd.DataFrame([{</a:t>
            </a:r>
          </a:p>
          <a:p>
            <a:r>
              <a:t>    "age": 28, "fare": 30, "sibsp": 0, "parch": 0,</a:t>
            </a:r>
          </a:p>
          <a:p>
            <a:r>
              <a:t>    "sex": "female", "embarked": "S", "pclass": 2</a:t>
            </a:r>
          </a:p>
          <a:p>
            <a:r>
              <a:t>}])</a:t>
            </a:r>
          </a:p>
          <a:p>
            <a:r>
              <a:t>p_novo = modelo.predict_proba(novo)[0, idx_1]</a:t>
            </a:r>
          </a:p>
          <a:p>
            <a:r>
              <a:t>print(p_novo)</a:t>
            </a:r>
          </a:p>
          <a:p>
            <a:r>
              <a:t>print(int(p_novo &gt;= 0.5))</a:t>
            </a:r>
          </a:p>
          <a:p>
            <a:endParaRPr/>
          </a:p>
          <a:p>
            <a:r>
              <a:t>Passageira hipotética: p ≈ 0,8235; classe prevista = 1.</a:t>
            </a:r>
          </a:p>
          <a:p>
            <a:endParaRPr/>
          </a:p>
          <a:p>
            <a:r>
              <a:t>Não recalculamos mediana, escala, categorias ou pesos para essa linha.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https://github.com/mwaskom/seaborn-data/blob/master/titanic.csv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 one-hot completo, a razão de odds entre categorias a e b é exp(w_a−w_b), mantendo o restante fixo. Não interpretar cada exp(w_a) como comparação com uma referência omitida. Correlação entre entradas e regularização afetam os pesos.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nomes = modelo.named_steps["prep"].get_feature_names_out()</a:t>
            </a:r>
          </a:p>
          <a:p>
            <a:r>
              <a:t>pesos = modelo.named_steps["logit"].coef_[0]</a:t>
            </a:r>
          </a:p>
          <a:p>
            <a:r>
              <a:t>coeficientes = pd.Series(pesos, index=nomes)</a:t>
            </a:r>
          </a:p>
          <a:p>
            <a:r>
              <a:t>print(coeficientes.sort_values())</a:t>
            </a:r>
          </a:p>
          <a:p>
            <a:r>
              <a:t>print(modelo.named_steps["logit"].intercept_)</a:t>
            </a:r>
          </a:p>
          <a:p>
            <a:endParaRPr/>
          </a:p>
          <a:p>
            <a:r>
              <a:t>Variáveis padronizadas: uma unidade representa um desvio-padrão.</a:t>
            </a:r>
          </a:p>
          <a:p>
            <a:r>
              <a:t>Categorias: compare coeficientes entre categorias da mesma variável.</a:t>
            </a:r>
          </a:p>
          <a:p>
            <a:endParaRPr/>
          </a:p>
          <a:p>
            <a:r>
              <a:t>Coeficiente grande, isoladamente, não mede importância causal.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https://scikit-learn.org/stable/modules/generated/sklearn.linear_model.LogisticRegression.html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Conteúdo e equações para consulta:</a:t>
            </a:r>
          </a:p>
          <a:p>
            <a:r>
              <a:t>Situação | Procedimento correto</a:t>
            </a:r>
          </a:p>
          <a:p>
            <a:r>
              <a:t>Preencher ausências | Aprender a mediana somente com o treino.</a:t>
            </a:r>
          </a:p>
          <a:p>
            <a:r>
              <a:t>Selecionar variáveis ou C | Comparar usando validação dentro do treino.</a:t>
            </a:r>
          </a:p>
          <a:p>
            <a:r>
              <a:t>Ajustar o limiar | Escolher com validação e custo dos erros.</a:t>
            </a:r>
          </a:p>
          <a:p>
            <a:r>
              <a:t>Medir desempenho final | Usar o teste reservado, sem reajustar depois.</a:t>
            </a:r>
          </a:p>
          <a:p>
            <a:endParaRPr/>
          </a:p>
          <a:p>
            <a:r>
              <a:t>O pipeline protege o fluxo de transformações; não corrige uma variável que revela o alvo.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https://scikit-learn.org/stable/common_pitfalls.html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Conteúdo e equações para consulta:</a:t>
            </a:r>
          </a:p>
          <a:p>
            <a:r>
              <a:t>O modelo superou a referência de classe majoritária nessa divisão.</a:t>
            </a:r>
          </a:p>
          <a:p>
            <a:endParaRPr/>
          </a:p>
          <a:p>
            <a:r>
              <a:t>Mas os dados são históricos e limitados a esse conjunto.</a:t>
            </a:r>
          </a:p>
          <a:p>
            <a:r>
              <a:t>A associação entre características e sobrevivência não prova causalidade.</a:t>
            </a:r>
          </a:p>
          <a:p>
            <a:r>
              <a:t>Uma divisão aleatória não simula todos os cenários futuros.</a:t>
            </a:r>
          </a:p>
          <a:p>
            <a:endParaRPr/>
          </a:p>
          <a:p>
            <a:r>
              <a:t>Em aplicações reais, a separação pode precisar considerar tempo, grupos, lotes ou indivíduos.</a:t>
            </a:r>
          </a:p>
          <a:p>
            <a:endParaRPr/>
          </a:p>
          <a:p>
            <a:r>
              <a:t>As entradas devem estar disponíveis no momento em que a decisão será tomada.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https://www.statlearning.com/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Gabarito: 1) probabilidade é uma estimativa contínua; classe depende de uma regra. 2) mapeia R em (0,1). 3) não, a fronteira básica é linear nas características. 4) transforma produto em soma e preserva o máximo. 5) peso é aprendido, taxa controla o passo da otimização e limiar controla a decisão.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1. Por que prever 0,72 e prever classe 1 são operações diferentes?</a:t>
            </a:r>
          </a:p>
          <a:p>
            <a:r>
              <a:t>2. Por que aplicamos a sigmoide ao escore linear?</a:t>
            </a:r>
          </a:p>
          <a:p>
            <a:r>
              <a:t>3. Uma curva sigmoide implica fronteira de decisão curva?</a:t>
            </a:r>
          </a:p>
          <a:p>
            <a:r>
              <a:t>4. Por que usar o logaritmo da verossimilhança?</a:t>
            </a:r>
          </a:p>
          <a:p>
            <a:r>
              <a:t>5. Qual a diferença entre peso, taxa de aprendizagem e limiar?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https://www.statlearning.com/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Gabarito: 6) z=0.6, p=0.645656. 7) classe 1 com 0.5 e classe 0 com 0.7. 8) −ln(0.645656)=0.437488. 9) odds=3, logit=ln3=1.098612. 10) não: odds 0.25 vira 0.5 e p=1/3.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6. Com w₀ = −1, w₁ = 0,8 e x = 2, calcule z e p.</a:t>
            </a:r>
          </a:p>
          <a:p>
            <a:r>
              <a:t>7. Classifique esse caso com limiares 0,5 e 0,7.</a:t>
            </a:r>
          </a:p>
          <a:p>
            <a:r>
              <a:t>8. Se y = 1, calcule a perda individual desse caso.</a:t>
            </a:r>
          </a:p>
          <a:p>
            <a:r>
              <a:t>9. Se p = 0,75, calcule odds e logit.</a:t>
            </a:r>
          </a:p>
          <a:p>
            <a:r>
              <a:t>10. Se as odds dobram, p também dobra? Use p = 0,20.</a:t>
            </a:r>
          </a:p>
          <a:p>
            <a:endParaRPr/>
          </a:p>
          <a:p>
            <a:r>
              <a:t>Use ln natural e arredonde apenas o resultado final.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https://www.statlearning.com/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Exercício 11: reiniciar pesos e histórico a cada execução. 12: usar GridSearchCV sobre o pipeline com parâmetro logit__C. 13: alive é tradução do alvo survived. 14: FP não diminui e recall não diminui; ambos podem permanecer iguais. Precisão não é necessariamente monotônica.</a:t>
            </a:r>
          </a:p>
          <a:p>
            <a:endParaRPr/>
          </a:p>
          <a:p>
            <a:r>
              <a:t>Conteúdo e equações para consulta:</a:t>
            </a:r>
          </a:p>
          <a:p>
            <a:r>
              <a:t>11. No exemplo NumPy, teste η = 0,01 e η = 0,1. Compare a perda após 100 atualizações.</a:t>
            </a:r>
          </a:p>
          <a:p>
            <a:r>
              <a:t>12. No Titanic, compare C = 0,1; 1; 10 por validação cruzada no treino.</a:t>
            </a:r>
          </a:p>
          <a:p>
            <a:r>
              <a:t>13. Explique por que incluir alive torna a avaliação inválida.</a:t>
            </a:r>
          </a:p>
          <a:p>
            <a:r>
              <a:t>14. Qual erro aumenta quando reduzimos o limiar? O que acontece com o recall?</a:t>
            </a:r>
          </a:p>
          <a:p>
            <a:endParaRPr/>
          </a:p>
          <a:p>
            <a:r>
              <a:t>Mantenha o teste reservado. Registre as escolhas antes de avaliá-lo.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https://www.statlearning.com/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Conteúdo e equações para consulta:</a:t>
            </a:r>
          </a:p>
          <a:p>
            <a:r>
              <a:t>Item | Resultado</a:t>
            </a:r>
          </a:p>
          <a:p>
            <a:r>
              <a:t>6. Escore e probabilidade | z = 0,6; p ≈ 0,645656</a:t>
            </a:r>
          </a:p>
          <a:p>
            <a:r>
              <a:t>7. Classes | τ = 0,5 → 1; τ = 0,7 → 0</a:t>
            </a:r>
          </a:p>
          <a:p>
            <a:r>
              <a:t>8. Perda para y = 1 | −ln(0,645656) ≈ 0,437488</a:t>
            </a:r>
          </a:p>
          <a:p>
            <a:r>
              <a:t>9. Odds e logit | 3 e ln(3) ≈ 1,098612</a:t>
            </a:r>
          </a:p>
          <a:p>
            <a:r>
              <a:t>10. Dobrar odds de p = 0,20 | p novo ≈ 0,333333</a:t>
            </a:r>
          </a:p>
          <a:p>
            <a:endParaRPr/>
          </a:p>
          <a:p>
            <a:r>
              <a:t>O resultado pode ser classificado corretamente e ainda ter perda positiva.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https://www.statlearning.com/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Conteúdo e equações para consulta:</a:t>
            </a:r>
          </a:p>
          <a:p>
            <a:r>
              <a:t>As características produzem um escore; a sigmoide produz uma probabilidade.</a:t>
            </a:r>
          </a:p>
          <a:p>
            <a:endParaRPr/>
          </a:p>
          <a:p>
            <a:r>
              <a:t>A perda compara probabilidades com resultados reais.</a:t>
            </a:r>
          </a:p>
          <a:p>
            <a:r>
              <a:t>O otimizador modifica os pesos para reduzir essa perda.</a:t>
            </a:r>
          </a:p>
          <a:p>
            <a:r>
              <a:t>O limiar transforma probabilidades em decisões.</a:t>
            </a:r>
          </a:p>
          <a:p>
            <a:r>
              <a:t>A avaliação mede os erros em observações não usadas no ajuste.</a:t>
            </a:r>
          </a:p>
          <a:p>
            <a:endParaRPr/>
          </a:p>
          <a:p>
            <a:r>
              <a:t>Um bom modelo precisa de contas coerentes, dados adequados e avaliação honesta.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Identidade visual: arquivo original Aula 6 - Regressão Logistica.pptx, fornecido pelo usuário.</a:t>
            </a:r>
          </a:p>
          <a:p>
            <a:endParaRPr/>
          </a:p>
          <a:p>
            <a:r>
              <a:t>https://www.statlearning.com/</a:t>
            </a:r>
          </a:p>
          <a:p>
            <a:endParaRPr/>
          </a:p>
          <a:p>
            <a:r>
              <a:t>Cálculos e gráficos: execução própria registrada nesta revisão; dados artificiais identificados nos slides.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88EE9-35D9-44E0-934B-3B4AF87F1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E8BF95-7DB2-437B-8677-A2C48CE67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6F4C54-7F24-4815-B375-FCFB4621E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C66C-0622-4057-9A8F-41ABA6A00B0C}" type="datetime1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0A53F2-4991-4CFB-A5B0-BDD47575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5F577B-0B2F-425F-9538-09BAFD37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49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30A3B-2335-431B-A4F7-7B8BD9E5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80D06D-97B9-4B75-851D-17389329A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915DB4-4809-4B8E-897E-549BEC58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009-E659-4C5E-A085-389C3F5E6976}" type="datetime1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154262-8C63-4521-8A2C-678716B3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63663-9A1C-4989-96D6-7DFB5AE5A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303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D9DC2-B265-48A8-AA25-5BBB2513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C02AB0-B703-496D-9C90-FBAE9F2E4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745AC8-9C89-4673-846E-76A81A78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F52E-E385-45D6-9C9C-478A43B9B1F5}" type="datetime1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C252D0-390D-48BE-AAB6-66C2AB84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C295C5-22E7-4A9B-98BC-E26CB4651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1377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4A3CD-5C38-4029-AF67-261D547F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ABD9C0-5A79-482B-948E-8FF6C0F44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9C8404-21BE-406F-9053-B978A48D0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73A459-E728-451B-8A95-0C64F84A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1D87-8F45-48CC-ADFA-762C0DD5109C}" type="datetime1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6C32BC-B901-465B-B28B-09E582CF7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EEBFCE-B30C-43BA-82E6-0DF258E0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909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3D7D3-7F09-49A5-8A57-9689EFD5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4FCEF6-A69A-4EA2-AF2C-A4BE7F75F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4B67CD-358D-42FC-9893-933284851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9B8A791-FACA-4289-8FFE-D89E34054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A29A48-6090-4C40-853B-C62E4679B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0F660D0-9B73-4FB0-B826-55E83E2B6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DE3D-F89F-4DA6-AC8C-6B667814E987}" type="datetime1">
              <a:rPr lang="pt-BR" smtClean="0"/>
              <a:t>07/09/2026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AB1CA2-5169-4399-99F4-F3D50FE7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1A7A87C-7D0D-421B-9300-22774AE8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272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C8D08-1B39-4585-BFAC-725D77D0C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EC3431-BDC3-4753-A507-C3C4FB15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6EF6-53E0-4F04-B7D7-10D4755DAFEA}" type="datetime1">
              <a:rPr lang="pt-BR" smtClean="0"/>
              <a:t>07/09/2026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2AFBF5-FC87-41AD-9BE5-F901329A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17E06CC-B1E4-4382-90DC-7742D170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493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5DD363-144D-41CE-94CF-E2459E51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A54A-877B-448B-8F34-9B83D1A0E4C0}" type="datetime1">
              <a:rPr lang="pt-BR" smtClean="0"/>
              <a:t>07/09/2026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2E2A2A1-C7C1-457E-97D0-F2C44053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C7CEA-1299-483A-8AAB-2989DF0D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885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0F7D5-3A15-4932-9223-0F08DB7FA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BE542F-1125-4657-B31C-73427FC4A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886511-D02B-43BB-A182-600621BF3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ED9DDE-A5F5-4B4F-8C1B-7A9EEE0C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51FE5-6824-40F4-AA5C-1E93DC678B4C}" type="datetime1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ACA570-D4CB-4141-9BEF-8279C9043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4BD7F5-14B3-40E7-93B0-E5A5E2C0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50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C7D25-B680-42D6-9232-415FDA60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176EF1-DD74-4B3D-A094-5FACD19CA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A0AEB4-BD24-4F27-883F-F3B7FEA46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A3D6E0-56D0-4591-B9CE-CB7F25621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B790C-5A5D-48BE-9835-6F495E8F8169}" type="datetime1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85481D-E102-496F-86BB-95D7F6F42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AB937E-306E-4B5E-B150-F04718071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8852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46546-F711-4E8A-A332-C877EDFB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54CBB98-24D0-458E-A9AA-096A4F69D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9AF7F5-694A-4C82-A9A4-CE673690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B63F-CCA2-4A0C-A322-23A5B91B22F1}" type="datetime1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159477-D0AB-4157-B421-6E177310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52FA18-8268-4A18-8873-D1F855DF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457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886681-ABED-4846-B98E-CE18D4B53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1A0CC1-3933-4097-98AC-8566C4D17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993FB3-D199-408E-AF9A-66F2798C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C1F73-F02C-49A2-8376-2FC6168462DE}" type="datetime1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03D492-3731-4F74-8424-A042A518E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8807F5-8F66-49C8-AF20-57EF8873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992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B6AE854-0973-4056-B7D8-AF348DF3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5C39FB-1079-4E34-881D-DDF20003C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E36169-01FC-483E-B62A-5C134F3DF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D1542-75A7-4A64-8D19-5B158B383712}" type="datetime1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9B608C-064A-405D-9AAE-C7A2B4183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D129A6-A980-4CBF-A865-5A62B2F57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214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image" Target="../media/image2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6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.jp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7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image" Target="../media/image2.jpeg"/><Relationship Id="rId4" Type="http://schemas.openxmlformats.org/officeDocument/2006/relationships/image" Target="../media/image3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14:cNvPr>
              <p14:cNvContentPartPr/>
              <p14:nvPr/>
            </p14:nvContentPartPr>
            <p14:xfrm>
              <a:off x="4503141" y="3110426"/>
              <a:ext cx="32400" cy="18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4141" y="3101426"/>
                <a:ext cx="50040" cy="363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896F3CE-DE9A-4F5A-AE63-9DBB2CFDE036}"/>
              </a:ext>
            </a:extLst>
          </p:cNvPr>
          <p:cNvSpPr txBox="1"/>
          <p:nvPr/>
        </p:nvSpPr>
        <p:spPr>
          <a:xfrm>
            <a:off x="6387737" y="2966757"/>
            <a:ext cx="5557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003958"/>
                </a:solidFill>
                <a:latin typeface="Impact" panose="020B0806030902050204" pitchFamily="34" charset="0"/>
              </a:rPr>
              <a:t>Aula de Regressão Logística 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F505634-22BF-4832-B2EF-A87CBD713B85}"/>
              </a:ext>
            </a:extLst>
          </p:cNvPr>
          <p:cNvSpPr txBox="1"/>
          <p:nvPr/>
        </p:nvSpPr>
        <p:spPr>
          <a:xfrm>
            <a:off x="5336999" y="4781574"/>
            <a:ext cx="673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Dr. Rodrigo Ramos Silva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5F351CD-BC4A-0798-AC5F-AC6DDD2BED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175" y="-10003"/>
            <a:ext cx="3559701" cy="3181089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5BD3214F-2C10-FFAE-C8FC-9567DA311313}"/>
              </a:ext>
            </a:extLst>
          </p:cNvPr>
          <p:cNvSpPr/>
          <p:nvPr/>
        </p:nvSpPr>
        <p:spPr>
          <a:xfrm>
            <a:off x="661069" y="2803883"/>
            <a:ext cx="303391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00"/>
              </a:lnSpc>
              <a:buSzPct val="100000"/>
            </a:pPr>
            <a:r>
              <a:rPr lang="en-US" sz="1550" dirty="0" err="1">
                <a:latin typeface="Arial" panose="020B0604020202020204" pitchFamily="34" charset="0"/>
                <a:ea typeface="Epilogue" pitchFamily="34" charset="-122"/>
                <a:cs typeface="Arial" panose="020B0604020202020204" pitchFamily="34" charset="0"/>
              </a:rPr>
              <a:t>Curso</a:t>
            </a:r>
            <a:r>
              <a:rPr lang="en-US" sz="1550" dirty="0">
                <a:latin typeface="Arial" panose="020B0604020202020204" pitchFamily="34" charset="0"/>
                <a:ea typeface="Epilogue" pitchFamily="34" charset="-122"/>
                <a:cs typeface="Arial" panose="020B0604020202020204" pitchFamily="34" charset="0"/>
              </a:rPr>
              <a:t> de </a:t>
            </a:r>
            <a:r>
              <a:rPr lang="en-US" sz="1550" dirty="0" err="1">
                <a:latin typeface="Arial" panose="020B0604020202020204" pitchFamily="34" charset="0"/>
                <a:ea typeface="Epilogue" pitchFamily="34" charset="-122"/>
                <a:cs typeface="Arial" panose="020B0604020202020204" pitchFamily="34" charset="0"/>
              </a:rPr>
              <a:t>Engenharia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876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923505" y="1524000"/>
            <a:ext cx="1008566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Trata-se de uma classificação, não de um algoritmo de regressão. </a:t>
            </a:r>
            <a:r>
              <a:rPr lang="pt-PT" sz="2800" dirty="0"/>
              <a:t>A regressão logística estima a probabilidade de uma classe; um limiar transforma essa probabilidade em uma decisão.</a:t>
            </a:r>
            <a:endParaRPr lang="pt-BR" sz="2800" dirty="0"/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A regressão logística é um recurso que nos permite estimar a probabilidade associada à ocorrência de determinado evento em face de um conjunto de variáveis explanatórias.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ECDA951-1E3A-0BBD-F8AC-1DE5D21E1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1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9323E8-76DB-4C12-827A-B82B03DF6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82" y="2047210"/>
            <a:ext cx="55245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76DA1E5-9072-4D03-A806-B74E0A2CF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9758" y="2005646"/>
            <a:ext cx="3848637" cy="3324689"/>
          </a:xfrm>
          <a:prstGeom prst="rect">
            <a:avLst/>
          </a:prstGeom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6AB7C76C-E11D-46E4-9456-2C45592D9EE9}"/>
              </a:ext>
            </a:extLst>
          </p:cNvPr>
          <p:cNvSpPr/>
          <p:nvPr/>
        </p:nvSpPr>
        <p:spPr>
          <a:xfrm>
            <a:off x="6497513" y="3431581"/>
            <a:ext cx="1091045" cy="812658"/>
          </a:xfrm>
          <a:prstGeom prst="rightArrow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C41D91-8A6D-FB51-0C05-D6F96B268B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22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5A39594-791A-456D-93AF-BB25F92195F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846" y="1201882"/>
            <a:ext cx="6851072" cy="513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B6C3B15-AEB8-9616-ED22-B00F49F1F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43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155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 binomial ou binária</a:t>
            </a:r>
          </a:p>
          <a:p>
            <a:pPr>
              <a:lnSpc>
                <a:spcPts val="5760"/>
              </a:lnSpc>
            </a:pP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1023257" y="1214020"/>
            <a:ext cx="109369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2400" dirty="0"/>
          </a:p>
          <a:p>
            <a:pPr algn="just"/>
            <a:r>
              <a:rPr lang="pt-BR" sz="2800" dirty="0"/>
              <a:t>No modelo de regressão logística binomial, os objetos são classificados em dois grupos ou categorias. 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É quase um jogo entre o que é e o que não é. </a:t>
            </a:r>
          </a:p>
          <a:p>
            <a:pPr algn="just"/>
            <a:endParaRPr lang="pt-BR" sz="2400" dirty="0"/>
          </a:p>
          <a:p>
            <a:pPr algn="just"/>
            <a:endParaRPr lang="pt-BR" sz="2000" dirty="0"/>
          </a:p>
        </p:txBody>
      </p:sp>
      <p:pic>
        <p:nvPicPr>
          <p:cNvPr id="22530" name="Picture 2" descr="5 dicas para evitar que seu e-mail profissional seja considerado ...">
            <a:extLst>
              <a:ext uri="{FF2B5EF4-FFF2-40B4-BE49-F238E27FC236}">
                <a16:creationId xmlns:a16="http://schemas.microsoft.com/office/drawing/2014/main" id="{33B07302-DF3E-4DFD-9484-179E0DE7E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20" y="4139904"/>
            <a:ext cx="2457066" cy="231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4" name="Picture 6" descr="SPAM: Não seja essa pessoa inconveniente">
            <a:extLst>
              <a:ext uri="{FF2B5EF4-FFF2-40B4-BE49-F238E27FC236}">
                <a16:creationId xmlns:a16="http://schemas.microsoft.com/office/drawing/2014/main" id="{53199246-8F74-4387-A5A6-11716FA9D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586" y="4139904"/>
            <a:ext cx="2318790" cy="231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6" name="Picture 8" descr="Aplicativo transforma fotos preto e branco em coloridas iPhoto Channel">
            <a:extLst>
              <a:ext uri="{FF2B5EF4-FFF2-40B4-BE49-F238E27FC236}">
                <a16:creationId xmlns:a16="http://schemas.microsoft.com/office/drawing/2014/main" id="{E0111AE3-7A14-45C4-A232-5210B4417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455" y="4139904"/>
            <a:ext cx="3599871" cy="239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1835161-FFCC-C766-679F-FDD420F50B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18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155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 Ordinal</a:t>
            </a:r>
          </a:p>
          <a:p>
            <a:pPr>
              <a:lnSpc>
                <a:spcPts val="5760"/>
              </a:lnSpc>
            </a:pP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1023257" y="1237475"/>
            <a:ext cx="10936919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2800" dirty="0"/>
          </a:p>
          <a:p>
            <a:pPr algn="just"/>
            <a:r>
              <a:rPr lang="pt-BR" sz="2800" dirty="0"/>
              <a:t>O modelo de regressão logística ordinal é diferente porque trabalha com o conceito de categorias ordenadas.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Neste caso, os objetos são classificados em três ou mais classes que possuem uma ordem já determinada.</a:t>
            </a:r>
          </a:p>
          <a:p>
            <a:pPr algn="just"/>
            <a:endParaRPr lang="pt-BR" sz="2000" dirty="0"/>
          </a:p>
        </p:txBody>
      </p:sp>
      <p:pic>
        <p:nvPicPr>
          <p:cNvPr id="25602" name="Picture 2" descr="Qual a diferença entre números ordinais e cardinais?">
            <a:extLst>
              <a:ext uri="{FF2B5EF4-FFF2-40B4-BE49-F238E27FC236}">
                <a16:creationId xmlns:a16="http://schemas.microsoft.com/office/drawing/2014/main" id="{7B7CF23D-E994-41A7-8053-C7F996CB2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109" y="4408982"/>
            <a:ext cx="4669671" cy="244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7C3F9F7-F93A-5BF3-1057-9EEDFFE59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475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155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+mj-lt"/>
              </a:rPr>
              <a:t>Regressão logística </a:t>
            </a:r>
            <a:r>
              <a:rPr lang="pt-BR" sz="4400" dirty="0" err="1">
                <a:solidFill>
                  <a:srgbClr val="003958"/>
                </a:solidFill>
                <a:latin typeface="+mj-lt"/>
              </a:rPr>
              <a:t>multinomial</a:t>
            </a:r>
            <a:endParaRPr lang="pt-BR" sz="4400" dirty="0">
              <a:solidFill>
                <a:srgbClr val="003958"/>
              </a:solidFill>
              <a:latin typeface="+mj-lt"/>
            </a:endParaRPr>
          </a:p>
          <a:p>
            <a:pPr>
              <a:lnSpc>
                <a:spcPts val="5760"/>
              </a:lnSpc>
            </a:pP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1086631" y="1336624"/>
            <a:ext cx="94398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2400" dirty="0"/>
          </a:p>
          <a:p>
            <a:pPr algn="just"/>
            <a:r>
              <a:rPr lang="pt-BR" sz="2800" dirty="0"/>
              <a:t>No modelo de regressão logística </a:t>
            </a:r>
            <a:r>
              <a:rPr lang="pt-BR" sz="2800" dirty="0" err="1"/>
              <a:t>multinomial</a:t>
            </a:r>
            <a:r>
              <a:rPr lang="pt-BR" sz="2800" dirty="0"/>
              <a:t>, os objetos são classificados em três ou mais categorias que não possuem ordem entre si.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A66C3362-63AE-48C5-AF10-E58701CBB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003" y="3229604"/>
            <a:ext cx="5769513" cy="346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45182EC-A8F9-FF7A-B668-91379ACDD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25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2B887-81CC-8E9A-F779-CCD49D91C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F4DBCF0-058A-2257-036D-8CC6C00BE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FC7C50C-C38E-15A8-6589-D92C00955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10B7FE7-81A2-29E6-EFAC-E4E7DBEF3F95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4CBF5ED-E7C5-A815-DAC8-EDBB5D7B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145684B-4468-557E-AD68-F5C2879DE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637" y="1230561"/>
            <a:ext cx="10145659" cy="298220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48F00D7-7FDE-3D85-A116-3A0E5F72C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9696" y="3321860"/>
            <a:ext cx="7508226" cy="326228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8A7A838-BD00-7EA5-F157-1069C6361A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84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6185C-EDF7-50CE-9A8D-818A64A14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F8FC3A0-CA5B-E457-0B7D-8C91C5CAA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BCFA317-14DC-ED56-3633-D640A8B07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526B001-D736-1AE8-A56F-985A0629F717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A8A25E8-86A0-F393-6EE9-D2EB4349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979312C-FC14-8896-25D0-2897633BEC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080"/>
          <a:stretch>
            <a:fillRect/>
          </a:stretch>
        </p:blipFill>
        <p:spPr>
          <a:xfrm>
            <a:off x="1447800" y="1231737"/>
            <a:ext cx="8662057" cy="355453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17C7698-488E-224A-5490-39AF4693B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4891319"/>
            <a:ext cx="8456091" cy="100695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F56A79C-2B86-54D3-0254-15233E7D44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B2A6E2A-B07F-13D9-63A9-E450EF6EA0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1801262"/>
            <a:ext cx="9266357" cy="95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52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89A47-605D-8F19-06EE-D8B484672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7B5B7C6-D4F9-B84D-38EE-BD7C460A8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B9C46BB-3F7D-EBB5-4305-5F67A02F3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2FB00E2-E0C1-70FE-027A-577B3E602AF6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667C01E-F10B-ECD5-1FDC-EB8F0A93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FE9DE8-2DCC-8816-BF99-5EBB2BBA3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889" y="1149489"/>
            <a:ext cx="7955082" cy="50009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0254B4C-B63D-B9A0-A92A-741D9719F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87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CFBBF-816C-E5BB-E525-542228C8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0EE8645-EAA9-0784-A1A3-26302A1ED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DEE469F-FE0E-E6AA-74BB-CEE2C9319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A82B6EF-F9B4-0C95-863E-9C76976092ED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C4B48D8-E135-5128-BEB6-24582033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850C055-AB77-20B6-3359-0D6BAFBA9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1331007"/>
            <a:ext cx="9139032" cy="419598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1B1A0F1-5A1E-404A-5494-3D334CEF36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49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9F1B8-69B4-B460-C627-31E3E636E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101D92E-B28D-1CC3-9277-E99917689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F530806-E8E8-C06E-5010-358878EDC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4B7A1C4-3F46-B560-E51F-BDD9F30C9A95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5CA3E0-1196-B7E4-6704-DF1F597B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9A8C3F0-08A1-DB73-2E8D-73840BF8B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243406"/>
            <a:ext cx="8046290" cy="452670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11FA935-5600-4A7C-3991-14AFC13EC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32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304AB-7153-BEAF-2686-83CAED420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4E92CF5-133C-C303-E729-3E3B8A11F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CD45707-FF57-30E9-C5F4-E8D9278CF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23335EC-8310-1E4C-F398-F0672A07B1E1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17A6C33-A661-357D-D16E-DC3FA6C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1A66125-6F79-F940-00A1-351D3B8E7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4225" y="1007918"/>
            <a:ext cx="5449060" cy="229584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178D27F-5CD1-355C-A897-9536A57516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C5FBAD14-46F8-EF92-3AA1-A0DB72AC0A8B}"/>
              </a:ext>
            </a:extLst>
          </p:cNvPr>
          <p:cNvGrpSpPr/>
          <p:nvPr/>
        </p:nvGrpSpPr>
        <p:grpSpPr>
          <a:xfrm>
            <a:off x="2334225" y="3559628"/>
            <a:ext cx="6020640" cy="3134162"/>
            <a:chOff x="2334225" y="3559628"/>
            <a:chExt cx="6020640" cy="3134162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2651F751-0AE3-784A-F538-A44E1647C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34225" y="3559628"/>
              <a:ext cx="6020640" cy="3134162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9DA24296-AE5B-4C53-E242-DBD53A7A6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38798" y="5067211"/>
              <a:ext cx="4048690" cy="638264"/>
            </a:xfrm>
            <a:prstGeom prst="rect">
              <a:avLst/>
            </a:prstGeom>
          </p:spPr>
        </p:pic>
      </p:grpSp>
      <p:pic>
        <p:nvPicPr>
          <p:cNvPr id="16" name="Imagem 15">
            <a:extLst>
              <a:ext uri="{FF2B5EF4-FFF2-40B4-BE49-F238E27FC236}">
                <a16:creationId xmlns:a16="http://schemas.microsoft.com/office/drawing/2014/main" id="{706E0538-3F8C-0594-D6EE-C6AD6D181E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9792" y="5034554"/>
            <a:ext cx="2791215" cy="44773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684A4E4-8601-42F3-A3FF-19D13ABE81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9763" y="5391130"/>
            <a:ext cx="3124636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137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BEE84-5AD6-7889-6697-77FAF041E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9590C068-08F3-0FF3-868E-78DDECED0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E8597B7-5AF6-A848-1997-DDA4F935D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11863B3-4DA6-2A23-CAEC-4B2A78FCB035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21DF3BD-D710-E733-E992-ACF42B48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521027E-D339-5711-14FC-A7B6203DE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1032" y="964563"/>
            <a:ext cx="6706536" cy="187668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498C9FB-B4B2-04B9-6ACD-FF8445EE9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6709" y="2993155"/>
            <a:ext cx="6087325" cy="2600688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DEE80B59-5C86-2190-FF18-FDECB0213A91}"/>
              </a:ext>
            </a:extLst>
          </p:cNvPr>
          <p:cNvSpPr txBox="1"/>
          <p:nvPr/>
        </p:nvSpPr>
        <p:spPr>
          <a:xfrm>
            <a:off x="5882458" y="2479281"/>
            <a:ext cx="35842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b="1" dirty="0"/>
              <a:t>entropia cruzada</a:t>
            </a:r>
            <a:r>
              <a:rPr lang="pt-PT" sz="1200" dirty="0"/>
              <a:t> mede a distância entre a distribuição verdadeira y e a distribuição prevista p^</a:t>
            </a:r>
            <a:endParaRPr lang="pt-BR" sz="12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68D7F7A4-5CF1-9FEC-29DB-B39AAA5AB71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639"/>
          <a:stretch>
            <a:fillRect/>
          </a:stretch>
        </p:blipFill>
        <p:spPr>
          <a:xfrm>
            <a:off x="2126709" y="5646052"/>
            <a:ext cx="5468113" cy="115252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041A131C-9DC5-54D8-A951-78706B24B7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9" name="Rectangle 2">
            <a:extLst>
              <a:ext uri="{FF2B5EF4-FFF2-40B4-BE49-F238E27FC236}">
                <a16:creationId xmlns:a16="http://schemas.microsoft.com/office/drawing/2014/main" id="{483C43CC-6F23-5EEE-6F10-5C92DE1E6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0365" y="3263029"/>
            <a:ext cx="312803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 estatística clássica → trabalha-se com </a:t>
            </a: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máxima verossimilhança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(maximizar ℓ(w).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 aprendizado de máquina → quase todas as bibliotecas foram construídas com a convenção de </a:t>
            </a: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minimização de custo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Imagem 3" descr="5.1.1: Descenso de gradiente estocástico (SGD). (Arizan, R., y Hassibi, B., 2019)">
            <a:extLst>
              <a:ext uri="{FF2B5EF4-FFF2-40B4-BE49-F238E27FC236}">
                <a16:creationId xmlns:a16="http://schemas.microsoft.com/office/drawing/2014/main" id="{EB002718-6558-88AF-0D89-A58EBFA653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3419" y="762000"/>
            <a:ext cx="6896233" cy="55818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459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67BF9-2606-83DB-52E3-0B4EEEA86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85F95EB-731E-C275-9054-E64396887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4CEC6ED-8BAB-D0C7-6899-B651DF8D4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0CD1B14-32DC-DD50-A8FD-507532F3E8BF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C9214B7-977B-86B9-9CE0-983234786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AE995FD-1861-C7FE-7955-C9AA97DD5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0494" y="1289674"/>
            <a:ext cx="4839375" cy="242921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16C3130-EF5D-FE1F-63F4-5E3246B41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9572" y="4028143"/>
            <a:ext cx="4601217" cy="99073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C630D85-8FFA-FEF7-514B-2FA655903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1602" y="5234056"/>
            <a:ext cx="4477375" cy="1124107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9969154-A403-5887-025C-D2493FC89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341997"/>
              </p:ext>
            </p:extLst>
          </p:nvPr>
        </p:nvGraphicFramePr>
        <p:xfrm>
          <a:off x="702129" y="3373766"/>
          <a:ext cx="3570513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90171">
                  <a:extLst>
                    <a:ext uri="{9D8B030D-6E8A-4147-A177-3AD203B41FA5}">
                      <a16:colId xmlns:a16="http://schemas.microsoft.com/office/drawing/2014/main" val="2790600437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327682749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5395547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x</a:t>
                      </a:r>
                      <a:r>
                        <a:rPr lang="pt-BR" baseline="-25000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/>
                        <a:t>y</a:t>
                      </a:r>
                      <a:r>
                        <a:rPr lang="pt-BR" baseline="-25000" dirty="0" err="1"/>
                        <a:t>i</a:t>
                      </a:r>
                      <a:endParaRPr lang="pt-BR" baseline="-25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069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847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053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5323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17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258429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36D20336-2D8A-65E4-823C-3717916DB8CD}"/>
              </a:ext>
            </a:extLst>
          </p:cNvPr>
          <p:cNvSpPr txBox="1"/>
          <p:nvPr/>
        </p:nvSpPr>
        <p:spPr>
          <a:xfrm>
            <a:off x="800100" y="1289674"/>
            <a:ext cx="3374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/>
              <a:t>Mini-dataset</a:t>
            </a:r>
            <a:r>
              <a:rPr lang="pt-BR" sz="2400" b="1" dirty="0"/>
              <a:t> e contas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89F88F4-531E-84FC-DB4D-EBD547519A19}"/>
              </a:ext>
            </a:extLst>
          </p:cNvPr>
          <p:cNvSpPr txBox="1"/>
          <p:nvPr/>
        </p:nvSpPr>
        <p:spPr>
          <a:xfrm>
            <a:off x="800100" y="2705068"/>
            <a:ext cx="3570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horas de estudo (x</a:t>
            </a:r>
            <a:r>
              <a:rPr lang="pt-BR" b="1" baseline="-25000" dirty="0"/>
              <a:t>i</a:t>
            </a:r>
            <a:r>
              <a:rPr lang="pt-BR" b="1" dirty="0"/>
              <a:t>)→ passou (</a:t>
            </a:r>
            <a:r>
              <a:rPr lang="pt-BR" b="1" dirty="0" err="1"/>
              <a:t>y</a:t>
            </a:r>
            <a:r>
              <a:rPr lang="pt-BR" b="1" baseline="-25000" dirty="0" err="1"/>
              <a:t>i</a:t>
            </a:r>
            <a:r>
              <a:rPr lang="pt-BR" b="1" dirty="0"/>
              <a:t>)?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6C08E2C-A99E-057B-D878-202FD5B0FB91}"/>
              </a:ext>
            </a:extLst>
          </p:cNvPr>
          <p:cNvSpPr txBox="1"/>
          <p:nvPr/>
        </p:nvSpPr>
        <p:spPr>
          <a:xfrm>
            <a:off x="800100" y="5966493"/>
            <a:ext cx="3374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intercepto, então x</a:t>
            </a:r>
            <a:r>
              <a:rPr lang="pt-PT" baseline="-25000" dirty="0"/>
              <a:t>i</a:t>
            </a:r>
            <a:r>
              <a:rPr lang="pt-PT" dirty="0"/>
              <a:t> = [1, horas]</a:t>
            </a:r>
            <a:endParaRPr lang="pt-BR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39114625-3C39-27C6-9C93-07C2EFAE9E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962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604F8-7C35-FA0D-E706-4D07A22DF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FFDEA52F-3296-0A72-4A66-D54BB4980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6979F6A-7832-69FC-4A12-CCC4BACE2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CB491AC-3F90-1A85-75FB-3AA6D9C77478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6805B37-B4B6-C680-1D0B-2F5DBD0A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88E776D5-1FC9-C524-FF3C-79A69ED18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524000"/>
            <a:ext cx="4887007" cy="298174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75734A6-AC34-44F9-DBC2-A64F9283D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524000"/>
            <a:ext cx="4429743" cy="4039164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012CF7D5-6A99-2B09-2530-A3AFE5FE10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978EFDF4-5AC0-5C2A-016B-FC48EB2726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5811" y="3003984"/>
            <a:ext cx="2715285" cy="101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78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4D4AD-8633-1027-6BF2-FCDC1298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87A6311-FB9A-A70B-1869-C8FF252C5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81716FB-48D2-B928-FD40-D7B7344D9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CB2E46F-3092-01C4-873A-8524F8655C5C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BFCDC9F-E7E6-DFC0-02B6-A28C34D05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85384AE-CB40-44AF-129E-35D0EF4A7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843" y="1371599"/>
            <a:ext cx="8161866" cy="429033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912FB0B-432A-94ED-3888-2AD665396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594" y="972028"/>
            <a:ext cx="8318115" cy="530970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91BFCF4-1B8B-FD79-6A39-BAD6D6AA6F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5186" y="1371599"/>
            <a:ext cx="8991335" cy="4851827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5CD0CFEA-26CC-C595-6CCE-0F02BBA40D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5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3BE0C-6C00-179C-ED23-B4641ECF1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9365116-59E2-0818-C2EF-1F1E45637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F101EE0-330B-968B-F026-D79CCDEEE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38CEDD1-4682-AC43-AD7D-2C06E1CE786A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360BDDA-A78E-D3D3-1D95-AC0F3A12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6278CA-8123-F012-6EEA-0CFD34C54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705" y="1209461"/>
            <a:ext cx="9254157" cy="371088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80F6D61-AEC0-F1D7-A54E-CCC7CD8216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E6AE7F6F-462A-9FBC-3DEF-057ED42978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034" y="749980"/>
            <a:ext cx="4189936" cy="267902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CF632A1-037F-B9CA-68EB-CB084180A7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0355" y="3154669"/>
            <a:ext cx="7306500" cy="3405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979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4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As equações se conectam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D172A7C5-A0CC-7B36-F236-345181E6AD72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19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7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BAD6CE6A-F6F0-BF20-7361-FA273CC707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7544203"/>
                  </p:ext>
                </p:extLst>
              </p:nvPr>
            </p:nvGraphicFramePr>
            <p:xfrm>
              <a:off x="1428750" y="1354136"/>
              <a:ext cx="9334500" cy="4351339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787903">
                      <a:extLst>
                        <a:ext uri="{9D8B030D-6E8A-4147-A177-3AD203B41FA5}">
                          <a16:colId xmlns:a16="http://schemas.microsoft.com/office/drawing/2014/main" val="2002074539"/>
                        </a:ext>
                      </a:extLst>
                    </a:gridCol>
                    <a:gridCol w="4435097">
                      <a:extLst>
                        <a:ext uri="{9D8B030D-6E8A-4147-A177-3AD203B41FA5}">
                          <a16:colId xmlns:a16="http://schemas.microsoft.com/office/drawing/2014/main" val="935672133"/>
                        </a:ext>
                      </a:extLst>
                    </a:gridCol>
                    <a:gridCol w="3111500">
                      <a:extLst>
                        <a:ext uri="{9D8B030D-6E8A-4147-A177-3AD203B41FA5}">
                          <a16:colId xmlns:a16="http://schemas.microsoft.com/office/drawing/2014/main" val="2894883760"/>
                        </a:ext>
                      </a:extLst>
                    </a:gridCol>
                  </a:tblGrid>
                  <a:tr h="29192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Etapa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Equação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Papel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485472499"/>
                      </a:ext>
                    </a:extLst>
                  </a:tr>
                  <a:tr h="5502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Escore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sz="1400"/>
                                    </m:ctrlPr>
                                  </m:sSubPr>
                                  <m:e>
                                    <m:r>
                                      <a:rPr lang="pt-BR" sz="1400"/>
                                      <m:t>𝑧</m:t>
                                    </m:r>
                                  </m:e>
                                  <m:sub>
                                    <m:r>
                                      <a:rPr lang="pt-BR" sz="1400"/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400"/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400"/>
                                    </m:ctrlPr>
                                  </m:sSubPr>
                                  <m:e>
                                    <m:r>
                                      <a:rPr lang="pt-BR" sz="1400"/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400"/>
                                      <m:t>0</m:t>
                                    </m:r>
                                  </m:sub>
                                </m:sSub>
                                <m:r>
                                  <a:rPr lang="pt-BR" sz="1400"/>
                                  <m:t>+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grow m:val="on"/>
                                    <m:ctrlPr>
                                      <a:rPr lang="pt-BR" sz="1400"/>
                                    </m:ctrlPr>
                                  </m:naryPr>
                                  <m:sub>
                                    <m:r>
                                      <a:rPr lang="pt-BR" sz="1400"/>
                                      <m:t>𝑗</m:t>
                                    </m:r>
                                    <m:r>
                                      <a:rPr lang="pt-BR" sz="1400"/>
                                      <m:t>=1</m:t>
                                    </m:r>
                                  </m:sub>
                                  <m:sup>
                                    <m:r>
                                      <a:rPr lang="pt-BR" sz="1400"/>
                                      <m:t>𝑑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pt-BR" sz="1400"/>
                                        </m:ctrlPr>
                                      </m:sSubPr>
                                      <m:e>
                                        <m:r>
                                          <a:rPr lang="pt-BR" sz="1400"/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1400"/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pt-BR" sz="1400"/>
                                    </m:ctrlPr>
                                  </m:sSubPr>
                                  <m:e>
                                    <m:r>
                                      <a:rPr lang="pt-BR" sz="1400"/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400"/>
                                      <m:t>𝑖𝑗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/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Combinar as entradas com os coeficientes.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2864233166"/>
                      </a:ext>
                    </a:extLst>
                  </a:tr>
                  <a:tr h="51086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Probabilidade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sz="1400"/>
                                    </m:ctrlPr>
                                  </m:sSubPr>
                                  <m:e>
                                    <m:r>
                                      <a:rPr lang="pt-BR" sz="1400"/>
                                      <m:t>𝑝</m:t>
                                    </m:r>
                                  </m:e>
                                  <m:sub>
                                    <m:r>
                                      <a:rPr lang="pt-BR" sz="1400"/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400"/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/>
                                    </m:ctrlPr>
                                  </m:fPr>
                                  <m:num>
                                    <m:r>
                                      <a:rPr lang="pt-BR" sz="1400"/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/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pt-BR" sz="1400"/>
                                        </m:ctrlPr>
                                      </m:sSupPr>
                                      <m:e>
                                        <m:r>
                                          <a:rPr lang="pt-BR" sz="1400"/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pt-BR" sz="1400"/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1400"/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400"/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/>
                                              <m:t>𝑖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pt-BR" sz="1400"/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Transformar o escore em probabilidade.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4054954210"/>
                      </a:ext>
                    </a:extLst>
                  </a:tr>
                  <a:tr h="9455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Perda média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400"/>
                                  <m:t>𝐽</m:t>
                                </m:r>
                                <m:r>
                                  <a:rPr lang="pt-BR" sz="1400"/>
                                  <m:t>=−</m:t>
                                </m:r>
                                <m:f>
                                  <m:fPr>
                                    <m:ctrlPr>
                                      <a:rPr lang="pt-BR" sz="1400"/>
                                    </m:ctrlPr>
                                  </m:fPr>
                                  <m:num>
                                    <m:r>
                                      <a:rPr lang="pt-BR" sz="1400"/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/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subSup"/>
                                    <m:grow m:val="on"/>
                                    <m:ctrlPr>
                                      <a:rPr lang="pt-BR" sz="1400"/>
                                    </m:ctrlPr>
                                  </m:naryPr>
                                  <m:sub>
                                    <m:r>
                                      <a:rPr lang="pt-BR" sz="1400"/>
                                      <m:t>𝑖</m:t>
                                    </m:r>
                                    <m:r>
                                      <a:rPr lang="pt-BR" sz="1400"/>
                                      <m:t>=1</m:t>
                                    </m:r>
                                  </m:sub>
                                  <m:sup>
                                    <m:r>
                                      <a:rPr lang="pt-BR" sz="1400"/>
                                      <m:t>𝑛</m:t>
                                    </m:r>
                                  </m:sup>
                                  <m:e>
                                    <m:r>
                                      <a:rPr lang="pt-BR" sz="1400"/>
                                      <m:t>[</m:t>
                                    </m:r>
                                  </m:e>
                                </m:nary>
                                <m:d>
                                  <m:dPr>
                                    <m:begChr m:val=""/>
                                    <m:endChr m:val="]"/>
                                    <m:ctrlPr>
                                      <a:rPr lang="pt-BR" sz="1400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400"/>
                                        </m:ctrlPr>
                                      </m:sSubPr>
                                      <m:e>
                                        <m:r>
                                          <a:rPr lang="pt-BR" sz="140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pt-BR" sz="1400"/>
                                          <m:t>𝑖</m:t>
                                        </m:r>
                                      </m:sub>
                                    </m:sSub>
                                    <m:func>
                                      <m:funcPr>
                                        <m:ctrlPr>
                                          <a:rPr lang="pt-BR" sz="1400"/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pt-BR" sz="1400"/>
                                          <m:t>ln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pt-BR" sz="1400"/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400"/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/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  <m:r>
                                      <a:rPr lang="pt-BR" sz="1400"/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pt-BR" sz="1400"/>
                                        </m:ctrlPr>
                                      </m:dPr>
                                      <m:e>
                                        <m:r>
                                          <a:rPr lang="pt-BR" sz="1400"/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1400"/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400"/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/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pt-BR" sz="1400"/>
                                      <m:t>ln</m:t>
                                    </m:r>
                                    <m:r>
                                      <a:rPr lang="pt-BR" sz="1400"/>
                                      <m:t>⁡</m:t>
                                    </m:r>
                                    <m:d>
                                      <m:dPr>
                                        <m:ctrlPr>
                                          <a:rPr lang="pt-BR" sz="1400"/>
                                        </m:ctrlPr>
                                      </m:dPr>
                                      <m:e>
                                        <m:r>
                                          <a:rPr lang="pt-BR" sz="1400"/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1400"/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400"/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pt-BR" sz="1400"/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pt-BR" sz="1400"/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Reunir as perdas das observações em um único valor.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2667592208"/>
                      </a:ext>
                    </a:extLst>
                  </a:tr>
                  <a:tr h="99076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Gradientes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pt-BR" sz="1400"/>
                                    </m:ctrlPr>
                                  </m:fPr>
                                  <m:num>
                                    <m:r>
                                      <a:rPr lang="pt-BR" sz="1400"/>
                                      <m:t>∂</m:t>
                                    </m:r>
                                    <m:r>
                                      <a:rPr lang="pt-BR" sz="1400"/>
                                      <m:t>𝐽</m:t>
                                    </m:r>
                                  </m:num>
                                  <m:den>
                                    <m:r>
                                      <a:rPr lang="pt-BR" sz="1400"/>
                                      <m:t>∂</m:t>
                                    </m:r>
                                    <m:sSub>
                                      <m:sSubPr>
                                        <m:ctrlPr>
                                          <a:rPr lang="pt-BR" sz="1400"/>
                                        </m:ctrlPr>
                                      </m:sSubPr>
                                      <m:e>
                                        <m:r>
                                          <a:rPr lang="pt-BR" sz="1400"/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1400"/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pt-BR" sz="1400"/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/>
                                    </m:ctrlPr>
                                  </m:fPr>
                                  <m:num>
                                    <m:r>
                                      <a:rPr lang="pt-BR" sz="1400"/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/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subSup"/>
                                    <m:grow m:val="on"/>
                                    <m:supHide m:val="on"/>
                                    <m:ctrlPr>
                                      <a:rPr lang="pt-BR" sz="1400"/>
                                    </m:ctrlPr>
                                  </m:naryPr>
                                  <m:sub>
                                    <m:r>
                                      <a:rPr lang="pt-BR" sz="1400"/>
                                      <m:t>𝑖</m:t>
                                    </m:r>
                                  </m:sub>
                                  <m:sup/>
                                  <m:e>
                                    <m:r>
                                      <a:rPr lang="pt-BR" sz="1400"/>
                                      <m:t>(</m:t>
                                    </m:r>
                                  </m:e>
                                </m:nary>
                                <m:d>
                                  <m:dPr>
                                    <m:begChr m:val=""/>
                                    <m:ctrlPr>
                                      <a:rPr lang="pt-BR" sz="1400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400"/>
                                        </m:ctrlPr>
                                      </m:sSubPr>
                                      <m:e>
                                        <m:r>
                                          <a:rPr lang="pt-BR" sz="1400"/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pt-BR" sz="1400"/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400"/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400"/>
                                        </m:ctrlPr>
                                      </m:sSubPr>
                                      <m:e>
                                        <m:r>
                                          <a:rPr lang="pt-BR" sz="140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pt-BR" sz="1400"/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f>
                                  <m:fPr>
                                    <m:ctrlPr>
                                      <a:rPr lang="pt-BR" sz="1400"/>
                                    </m:ctrlPr>
                                  </m:fPr>
                                  <m:num>
                                    <m:r>
                                      <a:rPr lang="pt-BR" sz="1400"/>
                                      <m:t>∂</m:t>
                                    </m:r>
                                    <m:r>
                                      <a:rPr lang="pt-BR" sz="1400"/>
                                      <m:t>𝐽</m:t>
                                    </m:r>
                                  </m:num>
                                  <m:den>
                                    <m:r>
                                      <a:rPr lang="pt-BR" sz="1400"/>
                                      <m:t>∂</m:t>
                                    </m:r>
                                    <m:sSub>
                                      <m:sSubPr>
                                        <m:ctrlPr>
                                          <a:rPr lang="pt-BR" sz="1400"/>
                                        </m:ctrlPr>
                                      </m:sSubPr>
                                      <m:e>
                                        <m:r>
                                          <a:rPr lang="pt-BR" sz="1400"/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1400"/>
                                          <m:t>𝑗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pt-BR" sz="1400"/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/>
                                    </m:ctrlPr>
                                  </m:fPr>
                                  <m:num>
                                    <m:r>
                                      <a:rPr lang="pt-BR" sz="1400"/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/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subSup"/>
                                    <m:grow m:val="on"/>
                                    <m:supHide m:val="on"/>
                                    <m:ctrlPr>
                                      <a:rPr lang="pt-BR" sz="1400"/>
                                    </m:ctrlPr>
                                  </m:naryPr>
                                  <m:sub>
                                    <m:r>
                                      <a:rPr lang="pt-BR" sz="1400"/>
                                      <m:t>𝑖</m:t>
                                    </m:r>
                                  </m:sub>
                                  <m:sup/>
                                  <m:e>
                                    <m:r>
                                      <a:rPr lang="pt-BR" sz="1400"/>
                                      <m:t>(</m:t>
                                    </m:r>
                                  </m:e>
                                </m:nary>
                                <m:d>
                                  <m:dPr>
                                    <m:begChr m:val=""/>
                                    <m:ctrlPr>
                                      <a:rPr lang="pt-BR" sz="1400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400"/>
                                        </m:ctrlPr>
                                      </m:sSubPr>
                                      <m:e>
                                        <m:r>
                                          <a:rPr lang="pt-BR" sz="1400"/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pt-BR" sz="1400"/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400"/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400"/>
                                        </m:ctrlPr>
                                      </m:sSubPr>
                                      <m:e>
                                        <m:r>
                                          <a:rPr lang="pt-BR" sz="140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pt-BR" sz="1400"/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pt-BR" sz="1400"/>
                                    </m:ctrlPr>
                                  </m:sSubPr>
                                  <m:e>
                                    <m:r>
                                      <a:rPr lang="pt-BR" sz="1400"/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400"/>
                                      <m:t>𝑖𝑗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/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Indicar como a perda varia quando alteramos cada coeficiente.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3303886445"/>
                      </a:ext>
                    </a:extLst>
                  </a:tr>
                  <a:tr h="5510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Atualização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sz="1400"/>
                                    </m:ctrlPr>
                                  </m:sSubPr>
                                  <m:e>
                                    <m:r>
                                      <a:rPr lang="pt-BR" sz="1400"/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400"/>
                                      <m:t>0</m:t>
                                    </m:r>
                                  </m:sub>
                                </m:sSub>
                                <m:r>
                                  <a:rPr lang="pt-BR" sz="1400"/>
                                  <m:t>←</m:t>
                                </m:r>
                                <m:sSub>
                                  <m:sSubPr>
                                    <m:ctrlPr>
                                      <a:rPr lang="pt-BR" sz="1400"/>
                                    </m:ctrlPr>
                                  </m:sSubPr>
                                  <m:e>
                                    <m:r>
                                      <a:rPr lang="pt-BR" sz="1400"/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400"/>
                                      <m:t>0</m:t>
                                    </m:r>
                                  </m:sub>
                                </m:sSub>
                                <m:r>
                                  <a:rPr lang="pt-BR" sz="1400"/>
                                  <m:t>−</m:t>
                                </m:r>
                                <m:r>
                                  <a:rPr lang="pt-BR" sz="1400"/>
                                  <m:t>𝜂</m:t>
                                </m:r>
                                <m:f>
                                  <m:fPr>
                                    <m:ctrlPr>
                                      <a:rPr lang="pt-BR" sz="1400"/>
                                    </m:ctrlPr>
                                  </m:fPr>
                                  <m:num>
                                    <m:r>
                                      <a:rPr lang="pt-BR" sz="1400"/>
                                      <m:t>∂</m:t>
                                    </m:r>
                                    <m:r>
                                      <a:rPr lang="pt-BR" sz="1400"/>
                                      <m:t>𝐽</m:t>
                                    </m:r>
                                  </m:num>
                                  <m:den>
                                    <m:r>
                                      <a:rPr lang="pt-BR" sz="1400"/>
                                      <m:t>∂</m:t>
                                    </m:r>
                                    <m:sSub>
                                      <m:sSubPr>
                                        <m:ctrlPr>
                                          <a:rPr lang="pt-BR" sz="1400"/>
                                        </m:ctrlPr>
                                      </m:sSubPr>
                                      <m:e>
                                        <m:r>
                                          <a:rPr lang="pt-BR" sz="1400"/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1400"/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sSub>
                                  <m:sSubPr>
                                    <m:ctrlPr>
                                      <a:rPr lang="pt-BR" sz="1400"/>
                                    </m:ctrlPr>
                                  </m:sSubPr>
                                  <m:e>
                                    <m:r>
                                      <a:rPr lang="pt-BR" sz="1400"/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400"/>
                                      <m:t>𝑗</m:t>
                                    </m:r>
                                  </m:sub>
                                </m:sSub>
                                <m:r>
                                  <a:rPr lang="pt-BR" sz="1400"/>
                                  <m:t>←</m:t>
                                </m:r>
                                <m:sSub>
                                  <m:sSubPr>
                                    <m:ctrlPr>
                                      <a:rPr lang="pt-BR" sz="1400"/>
                                    </m:ctrlPr>
                                  </m:sSubPr>
                                  <m:e>
                                    <m:r>
                                      <a:rPr lang="pt-BR" sz="1400"/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400"/>
                                      <m:t>𝑗</m:t>
                                    </m:r>
                                  </m:sub>
                                </m:sSub>
                                <m:r>
                                  <a:rPr lang="pt-BR" sz="1400"/>
                                  <m:t>−</m:t>
                                </m:r>
                                <m:r>
                                  <a:rPr lang="pt-BR" sz="1400"/>
                                  <m:t>𝜂</m:t>
                                </m:r>
                                <m:f>
                                  <m:fPr>
                                    <m:ctrlPr>
                                      <a:rPr lang="pt-BR" sz="1400"/>
                                    </m:ctrlPr>
                                  </m:fPr>
                                  <m:num>
                                    <m:r>
                                      <a:rPr lang="pt-BR" sz="1400"/>
                                      <m:t>∂</m:t>
                                    </m:r>
                                    <m:r>
                                      <a:rPr lang="pt-BR" sz="1400"/>
                                      <m:t>𝐽</m:t>
                                    </m:r>
                                  </m:num>
                                  <m:den>
                                    <m:r>
                                      <a:rPr lang="pt-BR" sz="1400"/>
                                      <m:t>∂</m:t>
                                    </m:r>
                                    <m:sSub>
                                      <m:sSubPr>
                                        <m:ctrlPr>
                                          <a:rPr lang="pt-BR" sz="1400"/>
                                        </m:ctrlPr>
                                      </m:sSubPr>
                                      <m:e>
                                        <m:r>
                                          <a:rPr lang="pt-BR" sz="1400"/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1400"/>
                                          <m:t>𝑗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pt-BR" sz="1400"/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Ajustar o intercepto e os demais coeficientes para reduzir a perda.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1817504833"/>
                      </a:ext>
                    </a:extLst>
                  </a:tr>
                  <a:tr h="51086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Decisão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sz="1400"/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BR" sz="1400"/>
                                        </m:ctrlPr>
                                      </m:accPr>
                                      <m:e>
                                        <m:r>
                                          <a:rPr lang="pt-BR" sz="1400"/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pt-BR" sz="1400"/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400"/>
                                  <m:t>=1</m:t>
                                </m:r>
                                <m:r>
                                  <m:rPr>
                                    <m:nor/>
                                  </m:rPr>
                                  <a:rPr lang="pt-BR" sz="1400"/>
                                  <m:t> se </m:t>
                                </m:r>
                                <m:sSub>
                                  <m:sSubPr>
                                    <m:ctrlPr>
                                      <a:rPr lang="pt-BR" sz="1400"/>
                                    </m:ctrlPr>
                                  </m:sSubPr>
                                  <m:e>
                                    <m:r>
                                      <a:rPr lang="pt-BR" sz="1400"/>
                                      <m:t>𝑝</m:t>
                                    </m:r>
                                  </m:e>
                                  <m:sub>
                                    <m:r>
                                      <a:rPr lang="pt-BR" sz="1400"/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400"/>
                                  <m:t>≥</m:t>
                                </m:r>
                                <m:r>
                                  <a:rPr lang="pt-BR" sz="1400"/>
                                  <m:t>𝜏</m:t>
                                </m:r>
                                <m:r>
                                  <a:rPr lang="pt-BR" sz="1400"/>
                                  <m:t>;</m:t>
                                </m:r>
                                <m:r>
                                  <m:rPr>
                                    <m:nor/>
                                  </m:rPr>
                                  <a:rPr lang="pt-BR" sz="1400"/>
                                  <m:t> sen</m:t>
                                </m:r>
                                <m:limUpp>
                                  <m:limUppPr>
                                    <m:ctrlPr>
                                      <a:rPr lang="pt-BR" sz="1400"/>
                                    </m:ctrlPr>
                                  </m:limUp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pt-BR" sz="1400"/>
                                      <m:t>a</m:t>
                                    </m:r>
                                  </m:e>
                                  <m:lim>
                                    <m:r>
                                      <a:rPr lang="pt-BR" sz="1400"/>
                                      <m:t>˜</m:t>
                                    </m:r>
                                  </m:lim>
                                </m:limUpp>
                                <m:r>
                                  <m:rPr>
                                    <m:nor/>
                                  </m:rPr>
                                  <a:rPr lang="pt-BR" sz="1400"/>
                                  <m:t>o </m:t>
                                </m:r>
                                <m:r>
                                  <a:rPr lang="pt-BR" sz="1400"/>
                                  <m:t>0</m:t>
                                </m:r>
                              </m:oMath>
                            </m:oMathPara>
                          </a14:m>
                          <a:endParaRPr lang="pt-BR" sz="1400"/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 dirty="0"/>
                            <a:t>Transformar a probabilidade em classe.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161231612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BAD6CE6A-F6F0-BF20-7361-FA273CC707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7544203"/>
                  </p:ext>
                </p:extLst>
              </p:nvPr>
            </p:nvGraphicFramePr>
            <p:xfrm>
              <a:off x="1428750" y="1354136"/>
              <a:ext cx="9334500" cy="4351339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787903">
                      <a:extLst>
                        <a:ext uri="{9D8B030D-6E8A-4147-A177-3AD203B41FA5}">
                          <a16:colId xmlns:a16="http://schemas.microsoft.com/office/drawing/2014/main" val="2002074539"/>
                        </a:ext>
                      </a:extLst>
                    </a:gridCol>
                    <a:gridCol w="4435097">
                      <a:extLst>
                        <a:ext uri="{9D8B030D-6E8A-4147-A177-3AD203B41FA5}">
                          <a16:colId xmlns:a16="http://schemas.microsoft.com/office/drawing/2014/main" val="935672133"/>
                        </a:ext>
                      </a:extLst>
                    </a:gridCol>
                    <a:gridCol w="3111500">
                      <a:extLst>
                        <a:ext uri="{9D8B030D-6E8A-4147-A177-3AD203B41FA5}">
                          <a16:colId xmlns:a16="http://schemas.microsoft.com/office/drawing/2014/main" val="2894883760"/>
                        </a:ext>
                      </a:extLst>
                    </a:gridCol>
                  </a:tblGrid>
                  <a:tr h="29192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Etapa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Equação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Papel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485472499"/>
                      </a:ext>
                    </a:extLst>
                  </a:tr>
                  <a:tr h="5502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Escore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72981" marR="72981" marT="36490" marB="36490" anchor="ctr">
                        <a:blipFill>
                          <a:blip r:embed="rId6"/>
                          <a:stretch>
                            <a:fillRect l="-40385" t="-130000" r="-70467" b="-6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Combinar as entradas com os coeficientes.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2864233166"/>
                      </a:ext>
                    </a:extLst>
                  </a:tr>
                  <a:tr h="51086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Probabilidade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72981" marR="72981" marT="36490" marB="36490" anchor="ctr">
                        <a:blipFill>
                          <a:blip r:embed="rId6"/>
                          <a:stretch>
                            <a:fillRect l="-40385" t="-246429" r="-70467" b="-58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Transformar o escore em probabilidade.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4054954210"/>
                      </a:ext>
                    </a:extLst>
                  </a:tr>
                  <a:tr h="9455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Perda média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72981" marR="72981" marT="36490" marB="36490" anchor="ctr">
                        <a:blipFill>
                          <a:blip r:embed="rId6"/>
                          <a:stretch>
                            <a:fillRect l="-40385" t="-187742" r="-70467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Reunir as perdas das observações em um único valor.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2667592208"/>
                      </a:ext>
                    </a:extLst>
                  </a:tr>
                  <a:tr h="99076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Gradientes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72981" marR="72981" marT="36490" marB="36490" anchor="ctr">
                        <a:blipFill>
                          <a:blip r:embed="rId6"/>
                          <a:stretch>
                            <a:fillRect l="-40385" t="-273620" r="-70467" b="-1085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Indicar como a perda varia quando alteramos cada coeficiente.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3303886445"/>
                      </a:ext>
                    </a:extLst>
                  </a:tr>
                  <a:tr h="5510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Atualização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72981" marR="72981" marT="36490" marB="36490" anchor="ctr">
                        <a:blipFill>
                          <a:blip r:embed="rId6"/>
                          <a:stretch>
                            <a:fillRect l="-40385" t="-676667" r="-70467" b="-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Ajustar o intercepto e os demais coeficientes para reduzir a perda.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1817504833"/>
                      </a:ext>
                    </a:extLst>
                  </a:tr>
                  <a:tr h="51086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/>
                            <a:t>Decisão</a:t>
                          </a:r>
                        </a:p>
                      </a:txBody>
                      <a:tcPr marL="72981" marR="72981" marT="36490" marB="3649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72981" marR="72981" marT="36490" marB="36490" anchor="ctr">
                        <a:blipFill>
                          <a:blip r:embed="rId6"/>
                          <a:stretch>
                            <a:fillRect l="-40385" t="-832143" r="-70467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400" dirty="0"/>
                            <a:t>Transformar a probabilidade em classe.</a:t>
                          </a:r>
                        </a:p>
                      </a:txBody>
                      <a:tcPr marL="72981" marR="72981" marT="36490" marB="36490" anchor="ctr"/>
                    </a:tc>
                    <a:extLst>
                      <a:ext uri="{0D108BD9-81ED-4DB2-BD59-A6C34878D82A}">
                        <a16:rowId xmlns:a16="http://schemas.microsoft.com/office/drawing/2014/main" val="16123161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38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7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Titanic: o problema e a fonte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855A7F00-3259-A23D-D734-A322A9F9DD63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20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0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38-block1-lead">
            <a:extLst>
              <a:ext uri="{FF2B5EF4-FFF2-40B4-BE49-F238E27FC236}">
                <a16:creationId xmlns:a16="http://schemas.microsoft.com/office/drawing/2014/main" id="{AFB5580D-0E07-45A0-AF46-CEC86A786449}"/>
              </a:ext>
            </a:extLst>
          </p:cNvPr>
          <p:cNvSpPr>
            <a:spLocks noGrp="1"/>
          </p:cNvSpPr>
          <p:nvPr/>
        </p:nvSpPr>
        <p:spPr>
          <a:xfrm>
            <a:off x="914400" y="1788319"/>
            <a:ext cx="10096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Estimar a probabilidade de sobrevivência a partir de características dos passageiros.</a:t>
            </a:r>
          </a:p>
        </p:txBody>
      </p:sp>
      <p:sp>
        <p:nvSpPr>
          <p:cNvPr id="13" name="s38-block2-text">
            <a:extLst>
              <a:ext uri="{FF2B5EF4-FFF2-40B4-BE49-F238E27FC236}">
                <a16:creationId xmlns:a16="http://schemas.microsoft.com/office/drawing/2014/main" id="{3139672D-1681-47A4-8ACC-2DE8CC6BC345}"/>
              </a:ext>
            </a:extLst>
          </p:cNvPr>
          <p:cNvSpPr>
            <a:spLocks noGrp="1"/>
          </p:cNvSpPr>
          <p:nvPr/>
        </p:nvSpPr>
        <p:spPr>
          <a:xfrm>
            <a:off x="914400" y="2769394"/>
            <a:ext cx="10096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Fonte: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versão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pública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do Titanic no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repositório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seaborn-data.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891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passageiros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: 342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sobreviveram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e 549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não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sobreviveram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Alvo: survived</a:t>
            </a:r>
            <a:r>
              <a:rPr lang="pt-PT"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, sendo: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0 =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não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sobreviveu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; 1 =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sobreviveu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s38-block3-lead">
            <a:extLst>
              <a:ext uri="{FF2B5EF4-FFF2-40B4-BE49-F238E27FC236}">
                <a16:creationId xmlns:a16="http://schemas.microsoft.com/office/drawing/2014/main" id="{E124DFC4-A6FC-4D86-9DD1-1E3448D74918}"/>
              </a:ext>
            </a:extLst>
          </p:cNvPr>
          <p:cNvSpPr>
            <a:spLocks noGrp="1"/>
          </p:cNvSpPr>
          <p:nvPr/>
        </p:nvSpPr>
        <p:spPr>
          <a:xfrm>
            <a:off x="914400" y="4083844"/>
            <a:ext cx="10096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Os exemplos seguintes usam os nomes de colunas dessa versão.</a:t>
            </a:r>
          </a:p>
        </p:txBody>
      </p:sp>
      <p:sp>
        <p:nvSpPr>
          <p:cNvPr id="15" name="s38-block4-caption">
            <a:extLst>
              <a:ext uri="{FF2B5EF4-FFF2-40B4-BE49-F238E27FC236}">
                <a16:creationId xmlns:a16="http://schemas.microsoft.com/office/drawing/2014/main" id="{EDF8AB23-8BEB-42A3-B953-9D8FA45ED1A4}"/>
              </a:ext>
            </a:extLst>
          </p:cNvPr>
          <p:cNvSpPr>
            <a:spLocks noGrp="1"/>
          </p:cNvSpPr>
          <p:nvPr/>
        </p:nvSpPr>
        <p:spPr>
          <a:xfrm>
            <a:off x="914400" y="4702969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 coluna alive traduz o próprio alvo e nunca deve entrar em X.</a:t>
            </a:r>
          </a:p>
        </p:txBody>
      </p:sp>
    </p:spTree>
    <p:extLst>
      <p:ext uri="{BB962C8B-B14F-4D97-AF65-F5344CB8AC3E}">
        <p14:creationId xmlns:p14="http://schemas.microsoft.com/office/powerpoint/2010/main" val="2172360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6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155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Quais variáveis entram no modelo?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6166C477-A387-35CF-F492-F54B4FA4FEC9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21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9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graphicFrame>
        <p:nvGraphicFramePr>
          <p:cNvPr id="20" name="Tabela 19"/>
          <p:cNvGraphicFramePr/>
          <p:nvPr/>
        </p:nvGraphicFramePr>
        <p:xfrm>
          <a:off x="914400" y="1783556"/>
          <a:ext cx="10096500" cy="2143125"/>
        </p:xfrm>
        <a:graphic>
          <a:graphicData uri="http://schemas.openxmlformats.org/drawingml/2006/table">
            <a:tbl>
              <a:tblPr/>
              <a:tblGrid>
                <a:gridCol w="2927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1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7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Colunas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Significado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Tratamento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age, fare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Idade e tarifa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Numérico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sibsp, parch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Familiares a bordo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Numérico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sex, embarked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Sexo registrado e porto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Categórico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pclass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Classe da passagem: 1, 2 ou 3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Categórico nesta aula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39-block2-lead">
            <a:extLst>
              <a:ext uri="{FF2B5EF4-FFF2-40B4-BE49-F238E27FC236}">
                <a16:creationId xmlns:a16="http://schemas.microsoft.com/office/drawing/2014/main" id="{F85F2460-04D8-4131-9F61-CA4176880AC7}"/>
              </a:ext>
            </a:extLst>
          </p:cNvPr>
          <p:cNvSpPr>
            <a:spLocks noGrp="1"/>
          </p:cNvSpPr>
          <p:nvPr/>
        </p:nvSpPr>
        <p:spPr>
          <a:xfrm>
            <a:off x="914400" y="4098131"/>
            <a:ext cx="10096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Usamos uma lista explícita: só entram essas sete características.</a:t>
            </a:r>
          </a:p>
        </p:txBody>
      </p:sp>
      <p:sp>
        <p:nvSpPr>
          <p:cNvPr id="14" name="s39-block3-caption">
            <a:extLst>
              <a:ext uri="{FF2B5EF4-FFF2-40B4-BE49-F238E27FC236}">
                <a16:creationId xmlns:a16="http://schemas.microsoft.com/office/drawing/2014/main" id="{2E5A0D7D-893D-4407-A90B-924F96596415}"/>
              </a:ext>
            </a:extLst>
          </p:cNvPr>
          <p:cNvSpPr>
            <a:spLocks noGrp="1"/>
          </p:cNvSpPr>
          <p:nvPr/>
        </p:nvSpPr>
        <p:spPr>
          <a:xfrm>
            <a:off x="914400" y="4717256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Tratar pclass como categoria evita impor um efeito linear por nível.</a:t>
            </a:r>
          </a:p>
        </p:txBody>
      </p:sp>
    </p:spTree>
    <p:extLst>
      <p:ext uri="{BB962C8B-B14F-4D97-AF65-F5344CB8AC3E}">
        <p14:creationId xmlns:p14="http://schemas.microsoft.com/office/powerpoint/2010/main" val="3082779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5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Python: importar as ferramentas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C0C89EF0-BE71-8D92-BDDF-FF7D05F0AC04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22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8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40-block1-code">
            <a:extLst>
              <a:ext uri="{FF2B5EF4-FFF2-40B4-BE49-F238E27FC236}">
                <a16:creationId xmlns:a16="http://schemas.microsoft.com/office/drawing/2014/main" id="{1C6A5E5A-0AD7-4797-B0D0-A00E12336889}"/>
              </a:ext>
            </a:extLst>
          </p:cNvPr>
          <p:cNvSpPr>
            <a:spLocks noGrp="1"/>
          </p:cNvSpPr>
          <p:nvPr/>
        </p:nvSpPr>
        <p:spPr>
          <a:xfrm>
            <a:off x="914400" y="1709738"/>
            <a:ext cx="10096500" cy="3057525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import pandas as pd  # Leitura e manipulação da tabela.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import numpy as np  # Operações numéricas.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pathlib import Path  # Caminho para a cópia local.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sklearn.model_selection import 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train_test_split, StratifiedKFold, cross_val_score)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sklearn.compose import ColumnTransformer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sklearn.pipeline import Pipeline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sklearn.impute import SimpleImputer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sklearn.preprocessing import StandardScaler, OneHotEncoder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sklearn.linear_model import LogisticRegression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sklearn.dummy import DummyClassifier</a:t>
            </a:r>
          </a:p>
        </p:txBody>
      </p:sp>
      <p:sp>
        <p:nvSpPr>
          <p:cNvPr id="13" name="s40-block2-caption">
            <a:extLst>
              <a:ext uri="{FF2B5EF4-FFF2-40B4-BE49-F238E27FC236}">
                <a16:creationId xmlns:a16="http://schemas.microsoft.com/office/drawing/2014/main" id="{28F3E7B3-BF33-420D-A1CF-23C9CC82E6A5}"/>
              </a:ext>
            </a:extLst>
          </p:cNvPr>
          <p:cNvSpPr>
            <a:spLocks noGrp="1"/>
          </p:cNvSpPr>
          <p:nvPr/>
        </p:nvSpPr>
        <p:spPr>
          <a:xfrm>
            <a:off x="914400" y="4938713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Execute as células do Titanic em ordem, no mesmo notebook.</a:t>
            </a:r>
          </a:p>
        </p:txBody>
      </p:sp>
    </p:spTree>
    <p:extLst>
      <p:ext uri="{BB962C8B-B14F-4D97-AF65-F5344CB8AC3E}">
        <p14:creationId xmlns:p14="http://schemas.microsoft.com/office/powerpoint/2010/main" val="715436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6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Importar as métricas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9CAEC632-A9E6-82AB-6034-3014BC3905A0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23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9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41-block1-code">
            <a:extLst>
              <a:ext uri="{FF2B5EF4-FFF2-40B4-BE49-F238E27FC236}">
                <a16:creationId xmlns:a16="http://schemas.microsoft.com/office/drawing/2014/main" id="{8C915730-EC1B-43D3-B510-F5240F7D1D41}"/>
              </a:ext>
            </a:extLst>
          </p:cNvPr>
          <p:cNvSpPr>
            <a:spLocks noGrp="1"/>
          </p:cNvSpPr>
          <p:nvPr/>
        </p:nvSpPr>
        <p:spPr>
          <a:xfrm>
            <a:off x="914400" y="1707356"/>
            <a:ext cx="10096500" cy="17526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sklearn.metrics import 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accuracy_score, precision_score, recall_score, f1_score,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confusion_matrix, roc_auc_score, log_loss)</a:t>
            </a:r>
          </a:p>
          <a:p>
            <a:endParaRPr sz="1650" b="0">
              <a:solidFill>
                <a:srgbClr val="202B32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# Estas funções compararão os rótulos reais e as previsões.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# AUC e log_loss usam probabilidades, não classes 0/1.</a:t>
            </a:r>
          </a:p>
        </p:txBody>
      </p:sp>
      <p:sp>
        <p:nvSpPr>
          <p:cNvPr id="13" name="s41-block2-text">
            <a:extLst>
              <a:ext uri="{FF2B5EF4-FFF2-40B4-BE49-F238E27FC236}">
                <a16:creationId xmlns:a16="http://schemas.microsoft.com/office/drawing/2014/main" id="{9DCA679D-A87A-4B48-AD37-E8CFCFD83B4E}"/>
              </a:ext>
            </a:extLst>
          </p:cNvPr>
          <p:cNvSpPr>
            <a:spLocks noGrp="1"/>
          </p:cNvSpPr>
          <p:nvPr/>
        </p:nvSpPr>
        <p:spPr>
          <a:xfrm>
            <a:off x="914400" y="3631406"/>
            <a:ext cx="10096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Acurácia, precisão, recall e F1 avaliam as classes.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ROC-AUC avalia a ordenação dos escores.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Log loss avalia as probabilidades atribuídas aos resultados.</a:t>
            </a:r>
          </a:p>
        </p:txBody>
      </p:sp>
      <p:sp>
        <p:nvSpPr>
          <p:cNvPr id="14" name="s41-block3-caption">
            <a:extLst>
              <a:ext uri="{FF2B5EF4-FFF2-40B4-BE49-F238E27FC236}">
                <a16:creationId xmlns:a16="http://schemas.microsoft.com/office/drawing/2014/main" id="{FD3C9146-F540-442C-9C38-D625FB197764}"/>
              </a:ext>
            </a:extLst>
          </p:cNvPr>
          <p:cNvSpPr>
            <a:spLocks noGrp="1"/>
          </p:cNvSpPr>
          <p:nvPr/>
        </p:nvSpPr>
        <p:spPr>
          <a:xfrm>
            <a:off x="914400" y="4945856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Não é necessário transformar probabilidade em classe para calcular AUC.</a:t>
            </a:r>
          </a:p>
        </p:txBody>
      </p:sp>
    </p:spTree>
    <p:extLst>
      <p:ext uri="{BB962C8B-B14F-4D97-AF65-F5344CB8AC3E}">
        <p14:creationId xmlns:p14="http://schemas.microsoft.com/office/powerpoint/2010/main" val="3123120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5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155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Ler e guardar uma cópia dos dados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675CE1F1-F8E2-E359-8FD1-A9FA98B3A676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24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8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42-block1-code">
            <a:extLst>
              <a:ext uri="{FF2B5EF4-FFF2-40B4-BE49-F238E27FC236}">
                <a16:creationId xmlns:a16="http://schemas.microsoft.com/office/drawing/2014/main" id="{BB590462-5450-433B-A299-108F38A54899}"/>
              </a:ext>
            </a:extLst>
          </p:cNvPr>
          <p:cNvSpPr>
            <a:spLocks noGrp="1"/>
          </p:cNvSpPr>
          <p:nvPr/>
        </p:nvSpPr>
        <p:spPr>
          <a:xfrm>
            <a:off x="914400" y="1645444"/>
            <a:ext cx="10096500" cy="33147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url = 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"https://raw.githubusercontent.com/"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"mwaskom/seaborn-data/master/titanic.csv"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arquivo = Path("titanic.csv")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if arquivo.exists():  # Reutiliza a cópia local.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df = pd.read_csv(arquivo)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else:  # Primeira execução requer internet.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df = pd.read_csv(url)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df.to_csv(arquivo, index=False)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print(df.shape)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print(df.head())</a:t>
            </a:r>
          </a:p>
        </p:txBody>
      </p:sp>
      <p:sp>
        <p:nvSpPr>
          <p:cNvPr id="13" name="s42-block2-caption">
            <a:extLst>
              <a:ext uri="{FF2B5EF4-FFF2-40B4-BE49-F238E27FC236}">
                <a16:creationId xmlns:a16="http://schemas.microsoft.com/office/drawing/2014/main" id="{D2C9F0C5-46B7-42C0-9EEF-5B3BED9D4A71}"/>
              </a:ext>
            </a:extLst>
          </p:cNvPr>
          <p:cNvSpPr>
            <a:spLocks noGrp="1"/>
          </p:cNvSpPr>
          <p:nvPr/>
        </p:nvSpPr>
        <p:spPr>
          <a:xfrm>
            <a:off x="914400" y="5131594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Use o CSV indicado. A cópia local permite repetir a aula sem novo download.</a:t>
            </a:r>
          </a:p>
        </p:txBody>
      </p:sp>
    </p:spTree>
    <p:extLst>
      <p:ext uri="{BB962C8B-B14F-4D97-AF65-F5344CB8AC3E}">
        <p14:creationId xmlns:p14="http://schemas.microsoft.com/office/powerpoint/2010/main" val="3858103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5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155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Separar antes de aprender qualquer média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270EE3B2-1325-F8E9-D276-8EA80C32ED19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25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8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43-block1-code">
            <a:extLst>
              <a:ext uri="{FF2B5EF4-FFF2-40B4-BE49-F238E27FC236}">
                <a16:creationId xmlns:a16="http://schemas.microsoft.com/office/drawing/2014/main" id="{65919B91-7233-471A-A05D-E53A3F58D2A8}"/>
              </a:ext>
            </a:extLst>
          </p:cNvPr>
          <p:cNvSpPr>
            <a:spLocks noGrp="1"/>
          </p:cNvSpPr>
          <p:nvPr/>
        </p:nvSpPr>
        <p:spPr>
          <a:xfrm>
            <a:off x="914400" y="1707356"/>
            <a:ext cx="10096500" cy="2790825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numericas = ["age", "fare", "sibsp", "parch"]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categoricas = ["sex", "embarked", "pclass"]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X = df[numericas + categoricas]  # Só as entradas selecionadas.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y = df["survived"]  # Alvo separado.</a:t>
            </a:r>
          </a:p>
          <a:p>
            <a:endParaRPr sz="1650" b="0">
              <a:solidFill>
                <a:srgbClr val="202B32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X_train, X_test, y_train, y_test = train_test_split(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X, y, test_size=0.2, random_state=42, stratify=y)</a:t>
            </a:r>
          </a:p>
          <a:p>
            <a:endParaRPr sz="1650" b="0">
              <a:solidFill>
                <a:srgbClr val="202B32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print(len(X_train), len(X_test))  # 712 e 179.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print(X_train.isna().sum())  # Exploração no treino.</a:t>
            </a:r>
          </a:p>
        </p:txBody>
      </p:sp>
      <p:sp>
        <p:nvSpPr>
          <p:cNvPr id="13" name="s43-block2-caption">
            <a:extLst>
              <a:ext uri="{FF2B5EF4-FFF2-40B4-BE49-F238E27FC236}">
                <a16:creationId xmlns:a16="http://schemas.microsoft.com/office/drawing/2014/main" id="{907D2CB0-4288-4041-90AB-577FB602DF71}"/>
              </a:ext>
            </a:extLst>
          </p:cNvPr>
          <p:cNvSpPr>
            <a:spLocks noGrp="1"/>
          </p:cNvSpPr>
          <p:nvPr/>
        </p:nvSpPr>
        <p:spPr>
          <a:xfrm>
            <a:off x="914400" y="4669631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stratify preserva aproximadamente a proporção das classes.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O teste fica reservado para a avaliação final.</a:t>
            </a:r>
          </a:p>
        </p:txBody>
      </p:sp>
    </p:spTree>
    <p:extLst>
      <p:ext uri="{BB962C8B-B14F-4D97-AF65-F5344CB8AC3E}">
        <p14:creationId xmlns:p14="http://schemas.microsoft.com/office/powerpoint/2010/main" val="3554541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5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155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O que o pré-processamento aprende?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1110800D-D5E6-B48B-B335-F070B0EAA3B9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26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8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graphicFrame>
        <p:nvGraphicFramePr>
          <p:cNvPr id="19" name="Tabela 18"/>
          <p:cNvGraphicFramePr/>
          <p:nvPr/>
        </p:nvGraphicFramePr>
        <p:xfrm>
          <a:off x="914400" y="1862138"/>
          <a:ext cx="10096500" cy="1990725"/>
        </p:xfrm>
        <a:graphic>
          <a:graphicData uri="http://schemas.openxmlformats.org/drawingml/2006/table">
            <a:tbl>
              <a:tblPr/>
              <a:tblGrid>
                <a:gridCol w="2322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Operação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Aprende no treino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Aplica em novos dados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Imputação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Mediana ou categoria mais frequente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Preenche os valores ausentes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Padronização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Média μ e desvio-padrão 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Calcula (x − μ) / 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One-hot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Categorias conhecidas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Cria indicadores 0/1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44-block2-lead">
            <a:extLst>
              <a:ext uri="{FF2B5EF4-FFF2-40B4-BE49-F238E27FC236}">
                <a16:creationId xmlns:a16="http://schemas.microsoft.com/office/drawing/2014/main" id="{70C54EFF-2502-43F0-AE6C-F7A2706F4928}"/>
              </a:ext>
            </a:extLst>
          </p:cNvPr>
          <p:cNvSpPr>
            <a:spLocks noGrp="1"/>
          </p:cNvSpPr>
          <p:nvPr/>
        </p:nvSpPr>
        <p:spPr>
          <a:xfrm>
            <a:off x="914400" y="4024313"/>
            <a:ext cx="10096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No teste, usamos os valores aprendidos no treino; não recalculamos as estatísticas.</a:t>
            </a:r>
          </a:p>
        </p:txBody>
      </p:sp>
    </p:spTree>
    <p:extLst>
      <p:ext uri="{BB962C8B-B14F-4D97-AF65-F5344CB8AC3E}">
        <p14:creationId xmlns:p14="http://schemas.microsoft.com/office/powerpoint/2010/main" val="808512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7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Preparar as variáveis numéricas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AE060EEA-E29B-CF3D-E7B7-BE01DFE3A2D2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27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0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45-block1-code">
            <a:extLst>
              <a:ext uri="{FF2B5EF4-FFF2-40B4-BE49-F238E27FC236}">
                <a16:creationId xmlns:a16="http://schemas.microsoft.com/office/drawing/2014/main" id="{AC53E30D-11CB-4841-82CD-8E2B09A9DA69}"/>
              </a:ext>
            </a:extLst>
          </p:cNvPr>
          <p:cNvSpPr>
            <a:spLocks noGrp="1"/>
          </p:cNvSpPr>
          <p:nvPr/>
        </p:nvSpPr>
        <p:spPr>
          <a:xfrm>
            <a:off x="914400" y="1590675"/>
            <a:ext cx="10096500" cy="123825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bloco_num = Pipeline(steps=[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("impute", SimpleImputer(strategy="median")),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("scale", StandardScaler())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])</a:t>
            </a:r>
          </a:p>
        </p:txBody>
      </p:sp>
      <p:sp>
        <p:nvSpPr>
          <p:cNvPr id="13" name="s45-block2-text">
            <a:extLst>
              <a:ext uri="{FF2B5EF4-FFF2-40B4-BE49-F238E27FC236}">
                <a16:creationId xmlns:a16="http://schemas.microsoft.com/office/drawing/2014/main" id="{7690A05D-5F98-4A33-B97C-7CBFD04689B4}"/>
              </a:ext>
            </a:extLst>
          </p:cNvPr>
          <p:cNvSpPr>
            <a:spLocks noGrp="1"/>
          </p:cNvSpPr>
          <p:nvPr/>
        </p:nvSpPr>
        <p:spPr>
          <a:xfrm>
            <a:off x="914400" y="3000375"/>
            <a:ext cx="10096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1. A mediana de treino preenche cada valor ausente.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2. A padronização coloca as variáveis em escalas comparáveis.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3. A mesma sequência será aplicada ao teste.</a:t>
            </a:r>
          </a:p>
        </p:txBody>
      </p:sp>
      <p:sp>
        <p:nvSpPr>
          <p:cNvPr id="14" name="s45-block3-lead">
            <a:extLst>
              <a:ext uri="{FF2B5EF4-FFF2-40B4-BE49-F238E27FC236}">
                <a16:creationId xmlns:a16="http://schemas.microsoft.com/office/drawing/2014/main" id="{5E316266-3E27-4E8C-B00B-A95374E7B83C}"/>
              </a:ext>
            </a:extLst>
          </p:cNvPr>
          <p:cNvSpPr>
            <a:spLocks noGrp="1"/>
          </p:cNvSpPr>
          <p:nvPr/>
        </p:nvSpPr>
        <p:spPr>
          <a:xfrm>
            <a:off x="914400" y="4314825"/>
            <a:ext cx="10096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Escolhemos a mediana pela menor sensibilidade a valores extremos.</a:t>
            </a:r>
          </a:p>
        </p:txBody>
      </p:sp>
      <p:sp>
        <p:nvSpPr>
          <p:cNvPr id="15" name="s45-block4-caption">
            <a:extLst>
              <a:ext uri="{FF2B5EF4-FFF2-40B4-BE49-F238E27FC236}">
                <a16:creationId xmlns:a16="http://schemas.microsoft.com/office/drawing/2014/main" id="{034FCE14-8945-4CF0-AE11-19D133157018}"/>
              </a:ext>
            </a:extLst>
          </p:cNvPr>
          <p:cNvSpPr>
            <a:spLocks noGrp="1"/>
          </p:cNvSpPr>
          <p:nvPr/>
        </p:nvSpPr>
        <p:spPr>
          <a:xfrm>
            <a:off x="914400" y="5295900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O scaler preserva NaNs; a imputação os resolve para a regressão logística.</a:t>
            </a:r>
          </a:p>
        </p:txBody>
      </p:sp>
    </p:spTree>
    <p:extLst>
      <p:ext uri="{BB962C8B-B14F-4D97-AF65-F5344CB8AC3E}">
        <p14:creationId xmlns:p14="http://schemas.microsoft.com/office/powerpoint/2010/main" val="1866110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7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Preparar as variáveis categóricas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472DB7CE-501A-BBF4-0CAD-B084CE0A592C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28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0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46-block1-code">
            <a:extLst>
              <a:ext uri="{FF2B5EF4-FFF2-40B4-BE49-F238E27FC236}">
                <a16:creationId xmlns:a16="http://schemas.microsoft.com/office/drawing/2014/main" id="{8CF3E6FC-47D4-4F2A-9E06-FB46FD1E4608}"/>
              </a:ext>
            </a:extLst>
          </p:cNvPr>
          <p:cNvSpPr>
            <a:spLocks noGrp="1"/>
          </p:cNvSpPr>
          <p:nvPr/>
        </p:nvSpPr>
        <p:spPr>
          <a:xfrm>
            <a:off x="914400" y="1681163"/>
            <a:ext cx="10096500" cy="123825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bloco_cat = Pipeline(steps=[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("impute", SimpleImputer(strategy="most_frequent")),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("encode", OneHotEncoder(handle_unknown="ignore"))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])</a:t>
            </a:r>
          </a:p>
        </p:txBody>
      </p:sp>
      <p:sp>
        <p:nvSpPr>
          <p:cNvPr id="13" name="s46-block2-text">
            <a:extLst>
              <a:ext uri="{FF2B5EF4-FFF2-40B4-BE49-F238E27FC236}">
                <a16:creationId xmlns:a16="http://schemas.microsoft.com/office/drawing/2014/main" id="{88B3802F-34FE-4A21-BC26-9BC601D89850}"/>
              </a:ext>
            </a:extLst>
          </p:cNvPr>
          <p:cNvSpPr>
            <a:spLocks noGrp="1"/>
          </p:cNvSpPr>
          <p:nvPr/>
        </p:nvSpPr>
        <p:spPr>
          <a:xfrm>
            <a:off x="914400" y="3090863"/>
            <a:ext cx="10096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Primeiro, preenchemos ausências com a categoria mais frequente no treino.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Depois, cada categoria conhecida ganha um indicador 0/1.</a:t>
            </a:r>
          </a:p>
        </p:txBody>
      </p:sp>
      <p:sp>
        <p:nvSpPr>
          <p:cNvPr id="14" name="s46-block3-lead">
            <a:extLst>
              <a:ext uri="{FF2B5EF4-FFF2-40B4-BE49-F238E27FC236}">
                <a16:creationId xmlns:a16="http://schemas.microsoft.com/office/drawing/2014/main" id="{33A18FFB-B2E8-4EC7-9249-45E76D2A7741}"/>
              </a:ext>
            </a:extLst>
          </p:cNvPr>
          <p:cNvSpPr>
            <a:spLocks noGrp="1"/>
          </p:cNvSpPr>
          <p:nvPr/>
        </p:nvSpPr>
        <p:spPr>
          <a:xfrm>
            <a:off x="914400" y="4405313"/>
            <a:ext cx="10096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Categoria inédita gera zeros no bloco daquela variável.</a:t>
            </a:r>
          </a:p>
        </p:txBody>
      </p:sp>
      <p:sp>
        <p:nvSpPr>
          <p:cNvPr id="15" name="s46-block4-caption">
            <a:extLst>
              <a:ext uri="{FF2B5EF4-FFF2-40B4-BE49-F238E27FC236}">
                <a16:creationId xmlns:a16="http://schemas.microsoft.com/office/drawing/2014/main" id="{F50FFC24-9CFE-46AC-B4EB-3D837EF14FCC}"/>
              </a:ext>
            </a:extLst>
          </p:cNvPr>
          <p:cNvSpPr>
            <a:spLocks noGrp="1"/>
          </p:cNvSpPr>
          <p:nvPr/>
        </p:nvSpPr>
        <p:spPr>
          <a:xfrm>
            <a:off x="914400" y="5024438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Isso evita erro de transformação; não garante uma previsão confiável.</a:t>
            </a:r>
          </a:p>
        </p:txBody>
      </p:sp>
    </p:spTree>
    <p:extLst>
      <p:ext uri="{BB962C8B-B14F-4D97-AF65-F5344CB8AC3E}">
        <p14:creationId xmlns:p14="http://schemas.microsoft.com/office/powerpoint/2010/main" val="2534339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6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155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Aplicar cada bloco às suas colunas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F766E625-45F0-7FC0-7206-B9D4780D3461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29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9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47-block1-code">
            <a:extLst>
              <a:ext uri="{FF2B5EF4-FFF2-40B4-BE49-F238E27FC236}">
                <a16:creationId xmlns:a16="http://schemas.microsoft.com/office/drawing/2014/main" id="{20643603-000F-4E81-861C-D681DED4E673}"/>
              </a:ext>
            </a:extLst>
          </p:cNvPr>
          <p:cNvSpPr>
            <a:spLocks noGrp="1"/>
          </p:cNvSpPr>
          <p:nvPr/>
        </p:nvSpPr>
        <p:spPr>
          <a:xfrm>
            <a:off x="914400" y="1812131"/>
            <a:ext cx="10096500" cy="123825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preparo = ColumnTransformer(transformers=[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("num", bloco_num, numericas),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("cat", bloco_cat, categoricas)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], remainder="drop")</a:t>
            </a:r>
          </a:p>
        </p:txBody>
      </p:sp>
      <p:sp>
        <p:nvSpPr>
          <p:cNvPr id="13" name="s47-block2-text">
            <a:extLst>
              <a:ext uri="{FF2B5EF4-FFF2-40B4-BE49-F238E27FC236}">
                <a16:creationId xmlns:a16="http://schemas.microsoft.com/office/drawing/2014/main" id="{8523E46A-A7A0-44BF-9929-89BD4E834913}"/>
              </a:ext>
            </a:extLst>
          </p:cNvPr>
          <p:cNvSpPr>
            <a:spLocks noGrp="1"/>
          </p:cNvSpPr>
          <p:nvPr/>
        </p:nvSpPr>
        <p:spPr>
          <a:xfrm>
            <a:off x="914400" y="3221831"/>
            <a:ext cx="10096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 bloco numérico recebe apenas as colunas numéricas.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 bloco categórico recebe apenas as colunas categóricas.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Os resultados são concatenados em uma matriz de entrada.</a:t>
            </a:r>
          </a:p>
        </p:txBody>
      </p:sp>
      <p:sp>
        <p:nvSpPr>
          <p:cNvPr id="14" name="s47-block3-lead">
            <a:extLst>
              <a:ext uri="{FF2B5EF4-FFF2-40B4-BE49-F238E27FC236}">
                <a16:creationId xmlns:a16="http://schemas.microsoft.com/office/drawing/2014/main" id="{653D2B0B-7A47-4C1D-86CA-7250BEACB5A2}"/>
              </a:ext>
            </a:extLst>
          </p:cNvPr>
          <p:cNvSpPr>
            <a:spLocks noGrp="1"/>
          </p:cNvSpPr>
          <p:nvPr/>
        </p:nvSpPr>
        <p:spPr>
          <a:xfrm>
            <a:off x="914400" y="4536281"/>
            <a:ext cx="10096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remainder="drop" exclui colunas não listadas.</a:t>
            </a:r>
          </a:p>
        </p:txBody>
      </p:sp>
    </p:spTree>
    <p:extLst>
      <p:ext uri="{BB962C8B-B14F-4D97-AF65-F5344CB8AC3E}">
        <p14:creationId xmlns:p14="http://schemas.microsoft.com/office/powerpoint/2010/main" val="14019387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6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Unir preparo e modelo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79CF87E8-8F71-04A5-6F3A-BEE8F630D5E2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30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9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48-block1-code">
            <a:extLst>
              <a:ext uri="{FF2B5EF4-FFF2-40B4-BE49-F238E27FC236}">
                <a16:creationId xmlns:a16="http://schemas.microsoft.com/office/drawing/2014/main" id="{FDC7CF59-E164-4CBB-8F2F-7809B7AB127B}"/>
              </a:ext>
            </a:extLst>
          </p:cNvPr>
          <p:cNvSpPr>
            <a:spLocks noGrp="1"/>
          </p:cNvSpPr>
          <p:nvPr/>
        </p:nvSpPr>
        <p:spPr>
          <a:xfrm>
            <a:off x="914400" y="1771650"/>
            <a:ext cx="10096500" cy="1495425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modelo = Pipeline(steps=[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("prep", preparo),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("logit", LogisticRegression(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    C=1.0, solver="lbfgs", max_iter=1000))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])</a:t>
            </a:r>
          </a:p>
        </p:txBody>
      </p:sp>
      <p:sp>
        <p:nvSpPr>
          <p:cNvPr id="13" name="s48-block2-text">
            <a:extLst>
              <a:ext uri="{FF2B5EF4-FFF2-40B4-BE49-F238E27FC236}">
                <a16:creationId xmlns:a16="http://schemas.microsoft.com/office/drawing/2014/main" id="{51C060C3-107B-4F3B-976D-7F91B60303C7}"/>
              </a:ext>
            </a:extLst>
          </p:cNvPr>
          <p:cNvSpPr>
            <a:spLocks noGrp="1"/>
          </p:cNvSpPr>
          <p:nvPr/>
        </p:nvSpPr>
        <p:spPr>
          <a:xfrm>
            <a:off x="914400" y="3438525"/>
            <a:ext cx="10096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C = 1,0 define a força de regularização utilizada.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lbfgs é o método de otimização.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max_iter = 1000 é um limite, não o número obrigatório de passos.</a:t>
            </a:r>
          </a:p>
        </p:txBody>
      </p:sp>
      <p:sp>
        <p:nvSpPr>
          <p:cNvPr id="14" name="s48-block3-caption">
            <a:extLst>
              <a:ext uri="{FF2B5EF4-FFF2-40B4-BE49-F238E27FC236}">
                <a16:creationId xmlns:a16="http://schemas.microsoft.com/office/drawing/2014/main" id="{E9CF4868-23E0-4CFD-8384-3BF5B7CA3DC7}"/>
              </a:ext>
            </a:extLst>
          </p:cNvPr>
          <p:cNvSpPr>
            <a:spLocks noGrp="1"/>
          </p:cNvSpPr>
          <p:nvPr/>
        </p:nvSpPr>
        <p:spPr>
          <a:xfrm>
            <a:off x="914400" y="4752975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fit aprende a sequência; predict_proba aplica a sequência já aprendida.</a:t>
            </a:r>
          </a:p>
        </p:txBody>
      </p:sp>
    </p:spTree>
    <p:extLst>
      <p:ext uri="{BB962C8B-B14F-4D97-AF65-F5344CB8AC3E}">
        <p14:creationId xmlns:p14="http://schemas.microsoft.com/office/powerpoint/2010/main" val="3312979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7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Validar usando somente o treino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AD74175A-4E66-87FD-D56A-AAD4D4BBF877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31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0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49-block1-code">
            <a:extLst>
              <a:ext uri="{FF2B5EF4-FFF2-40B4-BE49-F238E27FC236}">
                <a16:creationId xmlns:a16="http://schemas.microsoft.com/office/drawing/2014/main" id="{D7CEE168-3F25-449A-A3BD-9138B414963C}"/>
              </a:ext>
            </a:extLst>
          </p:cNvPr>
          <p:cNvSpPr>
            <a:spLocks noGrp="1"/>
          </p:cNvSpPr>
          <p:nvPr/>
        </p:nvSpPr>
        <p:spPr>
          <a:xfrm>
            <a:off x="914400" y="1614488"/>
            <a:ext cx="10096500" cy="1495425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cv = StratifiedKFold(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n_splits=5, shuffle=True, random_state=42)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auc_cv = cross_val_score(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modelo, X_train, y_train, cv=cv, scoring="roc_auc")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print(auc_cv.mean(), auc_cv.std())</a:t>
            </a:r>
          </a:p>
        </p:txBody>
      </p:sp>
      <p:sp>
        <p:nvSpPr>
          <p:cNvPr id="13" name="s49-block2-lead">
            <a:extLst>
              <a:ext uri="{FF2B5EF4-FFF2-40B4-BE49-F238E27FC236}">
                <a16:creationId xmlns:a16="http://schemas.microsoft.com/office/drawing/2014/main" id="{C6EBCEBA-4C89-4DED-8051-3C07D9F26472}"/>
              </a:ext>
            </a:extLst>
          </p:cNvPr>
          <p:cNvSpPr>
            <a:spLocks noGrp="1"/>
          </p:cNvSpPr>
          <p:nvPr/>
        </p:nvSpPr>
        <p:spPr>
          <a:xfrm>
            <a:off x="914400" y="3281363"/>
            <a:ext cx="10096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Cada rodada aprende o pré-processamento apenas nas suas partes de treino.</a:t>
            </a:r>
          </a:p>
        </p:txBody>
      </p:sp>
      <p:sp>
        <p:nvSpPr>
          <p:cNvPr id="14" name="s49-block3-text">
            <a:extLst>
              <a:ext uri="{FF2B5EF4-FFF2-40B4-BE49-F238E27FC236}">
                <a16:creationId xmlns:a16="http://schemas.microsoft.com/office/drawing/2014/main" id="{1A85592B-4664-436B-8F0C-5EF155165BCB}"/>
              </a:ext>
            </a:extLst>
          </p:cNvPr>
          <p:cNvSpPr>
            <a:spLocks noGrp="1"/>
          </p:cNvSpPr>
          <p:nvPr/>
        </p:nvSpPr>
        <p:spPr>
          <a:xfrm>
            <a:off x="914400" y="4262438"/>
            <a:ext cx="100965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Nesta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execução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: ROC-AUC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média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= 0,853;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desvio-padrão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entre as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cinco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2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partições</a:t>
            </a:r>
            <a:r>
              <a:rPr sz="22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= 0,022.</a:t>
            </a:r>
          </a:p>
        </p:txBody>
      </p:sp>
      <p:sp>
        <p:nvSpPr>
          <p:cNvPr id="15" name="s49-block4-caption">
            <a:extLst>
              <a:ext uri="{FF2B5EF4-FFF2-40B4-BE49-F238E27FC236}">
                <a16:creationId xmlns:a16="http://schemas.microsoft.com/office/drawing/2014/main" id="{CAD6C2C4-F4CE-4D66-B1BD-F864B9EDEC8A}"/>
              </a:ext>
            </a:extLst>
          </p:cNvPr>
          <p:cNvSpPr>
            <a:spLocks noGrp="1"/>
          </p:cNvSpPr>
          <p:nvPr/>
        </p:nvSpPr>
        <p:spPr>
          <a:xfrm>
            <a:off x="914400" y="5224463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Ajustes de C, variáveis ou limiar devem usar validação, mantendo o teste reservado.</a:t>
            </a:r>
          </a:p>
        </p:txBody>
      </p:sp>
    </p:spTree>
    <p:extLst>
      <p:ext uri="{BB962C8B-B14F-4D97-AF65-F5344CB8AC3E}">
        <p14:creationId xmlns:p14="http://schemas.microsoft.com/office/powerpoint/2010/main" val="27955691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5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Treinar e avaliar as classes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3491E0C6-B3E9-2F0E-6F4F-4638278C4AE4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32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8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0-block1-code">
            <a:extLst>
              <a:ext uri="{FF2B5EF4-FFF2-40B4-BE49-F238E27FC236}">
                <a16:creationId xmlns:a16="http://schemas.microsoft.com/office/drawing/2014/main" id="{3E900D98-8D3E-4DDE-BBAE-9C485D6B5D1F}"/>
              </a:ext>
            </a:extLst>
          </p:cNvPr>
          <p:cNvSpPr>
            <a:spLocks noGrp="1"/>
          </p:cNvSpPr>
          <p:nvPr/>
        </p:nvSpPr>
        <p:spPr>
          <a:xfrm>
            <a:off x="914400" y="1776413"/>
            <a:ext cx="10096500" cy="2790825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modelo.fit(X_train, y_train)  # Ajuste final com o treino.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idx_1 = list(modelo.classes_).index(1)  # Coluna da classe 1.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prob = modelo.predict_proba(X_test)[:, idx_1]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pred = (prob &gt;= 0.5).astype(int)  # Limiar fixado antes.</a:t>
            </a:r>
          </a:p>
          <a:p>
            <a:endParaRPr sz="1650" b="0">
              <a:solidFill>
                <a:srgbClr val="202B32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print("Acurácia:", accuracy_score(y_test, pred))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print("Precisão:", precision_score(y_test, pred))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print("Recall:", recall_score(y_test, pred))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print("F1:", f1_score(y_test, pred))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print(confusion_matrix(y_test, pred, labels=[0, 1]))</a:t>
            </a:r>
          </a:p>
        </p:txBody>
      </p:sp>
      <p:sp>
        <p:nvSpPr>
          <p:cNvPr id="13" name="s50-block2-caption">
            <a:extLst>
              <a:ext uri="{FF2B5EF4-FFF2-40B4-BE49-F238E27FC236}">
                <a16:creationId xmlns:a16="http://schemas.microsoft.com/office/drawing/2014/main" id="{7E58173E-0A05-4254-99F0-57043B4C1D83}"/>
              </a:ext>
            </a:extLst>
          </p:cNvPr>
          <p:cNvSpPr>
            <a:spLocks noGrp="1"/>
          </p:cNvSpPr>
          <p:nvPr/>
        </p:nvSpPr>
        <p:spPr>
          <a:xfrm>
            <a:off x="914400" y="4738688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y_test entra somente na avaliação, depois que as previsões foram calculadas.</a:t>
            </a:r>
          </a:p>
        </p:txBody>
      </p:sp>
    </p:spTree>
    <p:extLst>
      <p:ext uri="{BB962C8B-B14F-4D97-AF65-F5344CB8AC3E}">
        <p14:creationId xmlns:p14="http://schemas.microsoft.com/office/powerpoint/2010/main" val="2718701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6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Comparar com uma referência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6043A58D-60CA-DFB2-80EC-B65AE4CB9481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33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9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1-block1-code">
            <a:extLst>
              <a:ext uri="{FF2B5EF4-FFF2-40B4-BE49-F238E27FC236}">
                <a16:creationId xmlns:a16="http://schemas.microsoft.com/office/drawing/2014/main" id="{FD96999C-8107-41D3-8209-F0FD28D534AD}"/>
              </a:ext>
            </a:extLst>
          </p:cNvPr>
          <p:cNvSpPr>
            <a:spLocks noGrp="1"/>
          </p:cNvSpPr>
          <p:nvPr/>
        </p:nvSpPr>
        <p:spPr>
          <a:xfrm>
            <a:off x="914400" y="1585913"/>
            <a:ext cx="10096500" cy="123825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referencia = DummyClassifier(strategy="most_frequent")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referencia.fit(X_train, y_train)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pred_base = referencia.predict(X_test)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print(accuracy_score(y_test, pred_base))</a:t>
            </a:r>
          </a:p>
        </p:txBody>
      </p:sp>
      <p:graphicFrame>
        <p:nvGraphicFramePr>
          <p:cNvPr id="21" name="Tabela 20"/>
          <p:cNvGraphicFramePr/>
          <p:nvPr/>
        </p:nvGraphicFramePr>
        <p:xfrm>
          <a:off x="914400" y="2995613"/>
          <a:ext cx="10096500" cy="2143125"/>
        </p:xfrm>
        <a:graphic>
          <a:graphicData uri="http://schemas.openxmlformats.org/drawingml/2006/table">
            <a:tbl>
              <a:tblPr/>
              <a:tblGrid>
                <a:gridCol w="3432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1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1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Métrica no teste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Referência: sempre 0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Regressão logística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Acurácia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61,45%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80,45%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Precisão da classe 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Não prevê positivos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79,31%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Recall da classe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66,67%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F1 da classe 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0,724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51-block3-caption">
            <a:extLst>
              <a:ext uri="{FF2B5EF4-FFF2-40B4-BE49-F238E27FC236}">
                <a16:creationId xmlns:a16="http://schemas.microsoft.com/office/drawing/2014/main" id="{E0F59B12-ED80-4B0B-AC93-CCF9DCCB3E14}"/>
              </a:ext>
            </a:extLst>
          </p:cNvPr>
          <p:cNvSpPr>
            <a:spLocks noGrp="1"/>
          </p:cNvSpPr>
          <p:nvPr/>
        </p:nvSpPr>
        <p:spPr>
          <a:xfrm>
            <a:off x="914400" y="5310188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Resultado de uma divisão específica de 179 casos; não é desempenho universal.</a:t>
            </a:r>
          </a:p>
        </p:txBody>
      </p:sp>
    </p:spTree>
    <p:extLst>
      <p:ext uri="{BB962C8B-B14F-4D97-AF65-F5344CB8AC3E}">
        <p14:creationId xmlns:p14="http://schemas.microsoft.com/office/powerpoint/2010/main" val="3328581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7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Ler a matriz de confusão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E633A456-5465-3671-5B0B-A8DFBB753E5A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34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0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graphicFrame>
        <p:nvGraphicFramePr>
          <p:cNvPr id="21" name="Tabela 20"/>
          <p:cNvGraphicFramePr/>
          <p:nvPr/>
        </p:nvGraphicFramePr>
        <p:xfrm>
          <a:off x="914400" y="1735931"/>
          <a:ext cx="10096500" cy="1285875"/>
        </p:xfrm>
        <a:graphic>
          <a:graphicData uri="http://schemas.openxmlformats.org/drawingml/2006/table">
            <a:tbl>
              <a:tblPr/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Real ↓ / Previsto →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Não sobreviveu (0)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Sobreviveu (1)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Não sobreviveu (0)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TN = 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FP = 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Sobreviveu (1)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FN = 23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TP = 46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52-block2-text">
            <a:extLst>
              <a:ext uri="{FF2B5EF4-FFF2-40B4-BE49-F238E27FC236}">
                <a16:creationId xmlns:a16="http://schemas.microsoft.com/office/drawing/2014/main" id="{BE33B282-FD38-4AE6-B674-4331602D7619}"/>
              </a:ext>
            </a:extLst>
          </p:cNvPr>
          <p:cNvSpPr>
            <a:spLocks noGrp="1"/>
          </p:cNvSpPr>
          <p:nvPr/>
        </p:nvSpPr>
        <p:spPr>
          <a:xfrm>
            <a:off x="914400" y="3193256"/>
            <a:ext cx="100965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23 sobreviventes receberam previsão de não sobrevivência.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12 não sobreviventes receberam previsão de sobrevivência.</a:t>
            </a: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198144" y="4155281"/>
            <a:ext cx="3529013" cy="495300"/>
          </a:xfrm>
          <a:prstGeom prst="rect">
            <a:avLst/>
          </a:prstGeom>
        </p:spPr>
      </p:pic>
      <p:sp>
        <p:nvSpPr>
          <p:cNvPr id="15" name="s52-block4-caption">
            <a:extLst>
              <a:ext uri="{FF2B5EF4-FFF2-40B4-BE49-F238E27FC236}">
                <a16:creationId xmlns:a16="http://schemas.microsoft.com/office/drawing/2014/main" id="{24662C34-C42B-4416-AFA5-FC11957B3A11}"/>
              </a:ext>
            </a:extLst>
          </p:cNvPr>
          <p:cNvSpPr>
            <a:spLocks noGrp="1"/>
          </p:cNvSpPr>
          <p:nvPr/>
        </p:nvSpPr>
        <p:spPr>
          <a:xfrm>
            <a:off x="914400" y="4860131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Mesmo com 80,45% de acurácia, o modelo deixou de detectar um terço dos positivos.</a:t>
            </a:r>
          </a:p>
        </p:txBody>
      </p:sp>
    </p:spTree>
    <p:extLst>
      <p:ext uri="{BB962C8B-B14F-4D97-AF65-F5344CB8AC3E}">
        <p14:creationId xmlns:p14="http://schemas.microsoft.com/office/powerpoint/2010/main" val="3555532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7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155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Avaliar também as probabilidades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4477B42F-3A06-F812-16D6-7080D8A12563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35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0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478756"/>
            <a:ext cx="10096500" cy="714375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print("ROC-AUC:", roc_auc_score(y_test, prob))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print("Log loss:", log_loss(y_test, prob))</a:t>
            </a:r>
          </a:p>
        </p:txBody>
      </p:sp>
      <p:graphicFrame>
        <p:nvGraphicFramePr>
          <p:cNvPr id="22" name="Tabela 21"/>
          <p:cNvGraphicFramePr/>
          <p:nvPr/>
        </p:nvGraphicFramePr>
        <p:xfrm>
          <a:off x="914400" y="2364581"/>
          <a:ext cx="10096500" cy="1838325"/>
        </p:xfrm>
        <a:graphic>
          <a:graphicData uri="http://schemas.openxmlformats.org/drawingml/2006/table">
            <a:tbl>
              <a:tblPr/>
              <a:tblGrid>
                <a:gridCol w="2221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5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Métrica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Resultado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Interpretação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ROC-AUC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0,8427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Ordenação de positivos e negativos; maior é melhor.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Log loss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0,4622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Penaliza probabilidades erradas; menor é melhor.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374356"/>
            <a:ext cx="10096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AUC alta não comprova que as probabilidades estão bem calibradas.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5355431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Para estudar calibração, compare probabilidades e frequências observadas em dados independentes.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6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Prever uma nova observação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2FFCF489-DFD6-64BD-BCB3-4D97AF36B1FB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36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9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4-block1-code">
            <a:extLst>
              <a:ext uri="{FF2B5EF4-FFF2-40B4-BE49-F238E27FC236}">
                <a16:creationId xmlns:a16="http://schemas.microsoft.com/office/drawing/2014/main" id="{44163523-C9EB-4321-9F18-3A83C88FB90C}"/>
              </a:ext>
            </a:extLst>
          </p:cNvPr>
          <p:cNvSpPr>
            <a:spLocks noGrp="1"/>
          </p:cNvSpPr>
          <p:nvPr/>
        </p:nvSpPr>
        <p:spPr>
          <a:xfrm>
            <a:off x="914400" y="1816894"/>
            <a:ext cx="10096500" cy="2009775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novo = pd.DataFrame([{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"age": 28, "fare": 30, "sibsp": 0, "parch": 0,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"sex": "female", "embarked": "S", "pclass": 2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}])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p_novo = modelo.predict_proba(novo)[0, idx_1]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print(p_novo)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print(int(p_novo &gt;= 0.5))</a:t>
            </a:r>
          </a:p>
        </p:txBody>
      </p:sp>
      <p:sp>
        <p:nvSpPr>
          <p:cNvPr id="13" name="s54-block2-lead">
            <a:extLst>
              <a:ext uri="{FF2B5EF4-FFF2-40B4-BE49-F238E27FC236}">
                <a16:creationId xmlns:a16="http://schemas.microsoft.com/office/drawing/2014/main" id="{68AB914D-D20C-4EE0-A591-F5EB0ED5CB6F}"/>
              </a:ext>
            </a:extLst>
          </p:cNvPr>
          <p:cNvSpPr>
            <a:spLocks noGrp="1"/>
          </p:cNvSpPr>
          <p:nvPr/>
        </p:nvSpPr>
        <p:spPr>
          <a:xfrm>
            <a:off x="914400" y="3998119"/>
            <a:ext cx="10096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Passageira hipotética: p ≈ 0,8235; classe prevista = 1.</a:t>
            </a:r>
          </a:p>
        </p:txBody>
      </p:sp>
      <p:sp>
        <p:nvSpPr>
          <p:cNvPr id="14" name="s54-block3-caption">
            <a:extLst>
              <a:ext uri="{FF2B5EF4-FFF2-40B4-BE49-F238E27FC236}">
                <a16:creationId xmlns:a16="http://schemas.microsoft.com/office/drawing/2014/main" id="{8658F621-7C7D-4985-88DC-3F3F39FD395C}"/>
              </a:ext>
            </a:extLst>
          </p:cNvPr>
          <p:cNvSpPr>
            <a:spLocks noGrp="1"/>
          </p:cNvSpPr>
          <p:nvPr/>
        </p:nvSpPr>
        <p:spPr>
          <a:xfrm>
            <a:off x="914400" y="4617244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Não recalculamos mediana, escala, categorias ou pesos para essa linha.</a:t>
            </a:r>
          </a:p>
        </p:txBody>
      </p:sp>
    </p:spTree>
    <p:extLst>
      <p:ext uri="{BB962C8B-B14F-4D97-AF65-F5344CB8AC3E}">
        <p14:creationId xmlns:p14="http://schemas.microsoft.com/office/powerpoint/2010/main" val="31142492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6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Inspecionar os coeficientes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4C0BC6D5-207B-F838-F994-CD836D38A6B0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37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9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5-block1-code">
            <a:extLst>
              <a:ext uri="{FF2B5EF4-FFF2-40B4-BE49-F238E27FC236}">
                <a16:creationId xmlns:a16="http://schemas.microsoft.com/office/drawing/2014/main" id="{B509DB0F-D5C3-4CB0-8192-E53764EB9FA5}"/>
              </a:ext>
            </a:extLst>
          </p:cNvPr>
          <p:cNvSpPr>
            <a:spLocks noGrp="1"/>
          </p:cNvSpPr>
          <p:nvPr/>
        </p:nvSpPr>
        <p:spPr>
          <a:xfrm>
            <a:off x="914400" y="1771650"/>
            <a:ext cx="10096500" cy="1495425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nomes = modelo.named_steps["prep"].get_feature_names_out()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pesos = modelo.named_steps["logit"].coef_[0]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coeficientes = pd.Series(pesos, index=nomes)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print(coeficientes.sort_values())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print(modelo.named_steps["logit"].intercept_)</a:t>
            </a:r>
          </a:p>
        </p:txBody>
      </p:sp>
      <p:sp>
        <p:nvSpPr>
          <p:cNvPr id="13" name="s55-block2-text">
            <a:extLst>
              <a:ext uri="{FF2B5EF4-FFF2-40B4-BE49-F238E27FC236}">
                <a16:creationId xmlns:a16="http://schemas.microsoft.com/office/drawing/2014/main" id="{2FFF1BF4-7734-4BC4-A66A-2F22F1B1DA51}"/>
              </a:ext>
            </a:extLst>
          </p:cNvPr>
          <p:cNvSpPr>
            <a:spLocks noGrp="1"/>
          </p:cNvSpPr>
          <p:nvPr/>
        </p:nvSpPr>
        <p:spPr>
          <a:xfrm>
            <a:off x="914400" y="3438525"/>
            <a:ext cx="10096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Variáveis padronizadas: uma unidade representa um desvio-padrão.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Categorias: compare coeficientes entre categorias da mesma variável.</a:t>
            </a:r>
          </a:p>
        </p:txBody>
      </p:sp>
      <p:sp>
        <p:nvSpPr>
          <p:cNvPr id="14" name="s55-block3-caption">
            <a:extLst>
              <a:ext uri="{FF2B5EF4-FFF2-40B4-BE49-F238E27FC236}">
                <a16:creationId xmlns:a16="http://schemas.microsoft.com/office/drawing/2014/main" id="{C0DD4523-BF0A-45D7-98A3-E88F6F7DEE6A}"/>
              </a:ext>
            </a:extLst>
          </p:cNvPr>
          <p:cNvSpPr>
            <a:spLocks noGrp="1"/>
          </p:cNvSpPr>
          <p:nvPr/>
        </p:nvSpPr>
        <p:spPr>
          <a:xfrm>
            <a:off x="914400" y="4752975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Coeficiente grande, isoladamente, não mede importância causal.</a:t>
            </a:r>
          </a:p>
        </p:txBody>
      </p:sp>
    </p:spTree>
    <p:extLst>
      <p:ext uri="{BB962C8B-B14F-4D97-AF65-F5344CB8AC3E}">
        <p14:creationId xmlns:p14="http://schemas.microsoft.com/office/powerpoint/2010/main" val="18889796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5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Evitar vazamento de dados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53265AEE-4D99-0673-12C8-99EFF695690A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38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8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graphicFrame>
        <p:nvGraphicFramePr>
          <p:cNvPr id="19" name="Tabela 18"/>
          <p:cNvGraphicFramePr/>
          <p:nvPr/>
        </p:nvGraphicFramePr>
        <p:xfrm>
          <a:off x="914400" y="1938338"/>
          <a:ext cx="10096500" cy="2143125"/>
        </p:xfrm>
        <a:graphic>
          <a:graphicData uri="http://schemas.openxmlformats.org/drawingml/2006/table">
            <a:tbl>
              <a:tblPr/>
              <a:tblGrid>
                <a:gridCol w="353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Situação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Procedimento correto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Preencher ausências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Aprender a mediana somente com o treino.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Selecionar variáveis ou C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Comparar usando validação dentro do treino.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Ajustar o limiar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Escolher com validação e custo dos erros.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Medir desempenho final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Usar o teste reservado, sem reajustar depois.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56-block2-caption">
            <a:extLst>
              <a:ext uri="{FF2B5EF4-FFF2-40B4-BE49-F238E27FC236}">
                <a16:creationId xmlns:a16="http://schemas.microsoft.com/office/drawing/2014/main" id="{FABA7421-E93E-4FEC-9962-98DE4B223F61}"/>
              </a:ext>
            </a:extLst>
          </p:cNvPr>
          <p:cNvSpPr>
            <a:spLocks noGrp="1"/>
          </p:cNvSpPr>
          <p:nvPr/>
        </p:nvSpPr>
        <p:spPr>
          <a:xfrm>
            <a:off x="914400" y="4252913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O pipeline protege o fluxo de transformações; não corrige uma variável que revela o alvo.</a:t>
            </a:r>
          </a:p>
        </p:txBody>
      </p:sp>
    </p:spTree>
    <p:extLst>
      <p:ext uri="{BB962C8B-B14F-4D97-AF65-F5344CB8AC3E}">
        <p14:creationId xmlns:p14="http://schemas.microsoft.com/office/powerpoint/2010/main" val="3809544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7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155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O que este resultado permite concluir?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8F0DF58B-F0CC-EE04-B3E8-87EC24B7009F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39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0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7-block1-lead">
            <a:extLst>
              <a:ext uri="{FF2B5EF4-FFF2-40B4-BE49-F238E27FC236}">
                <a16:creationId xmlns:a16="http://schemas.microsoft.com/office/drawing/2014/main" id="{8C1AF14D-164C-42FB-B0F8-502CEE1F9A10}"/>
              </a:ext>
            </a:extLst>
          </p:cNvPr>
          <p:cNvSpPr>
            <a:spLocks noGrp="1"/>
          </p:cNvSpPr>
          <p:nvPr/>
        </p:nvSpPr>
        <p:spPr>
          <a:xfrm>
            <a:off x="914400" y="1700213"/>
            <a:ext cx="10096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O modelo superou a referência de classe majoritária nessa divisão.</a:t>
            </a:r>
          </a:p>
        </p:txBody>
      </p:sp>
      <p:sp>
        <p:nvSpPr>
          <p:cNvPr id="13" name="s57-block2-text">
            <a:extLst>
              <a:ext uri="{FF2B5EF4-FFF2-40B4-BE49-F238E27FC236}">
                <a16:creationId xmlns:a16="http://schemas.microsoft.com/office/drawing/2014/main" id="{0F0C1967-E049-4E1F-AC93-91A40A8B62B4}"/>
              </a:ext>
            </a:extLst>
          </p:cNvPr>
          <p:cNvSpPr>
            <a:spLocks noGrp="1"/>
          </p:cNvSpPr>
          <p:nvPr/>
        </p:nvSpPr>
        <p:spPr>
          <a:xfrm>
            <a:off x="914400" y="2319338"/>
            <a:ext cx="10096500" cy="1495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Mas os dados são históricos e limitados a esse conjunto.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A associação entre características e sobrevivência não prova causalidade.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Uma divisão aleatória não simula todos os cenários futuros.</a:t>
            </a:r>
          </a:p>
        </p:txBody>
      </p:sp>
      <p:sp>
        <p:nvSpPr>
          <p:cNvPr id="14" name="s57-block3-lead">
            <a:extLst>
              <a:ext uri="{FF2B5EF4-FFF2-40B4-BE49-F238E27FC236}">
                <a16:creationId xmlns:a16="http://schemas.microsoft.com/office/drawing/2014/main" id="{13173BC9-DA34-4AF6-BC11-877F0C7C7A1D}"/>
              </a:ext>
            </a:extLst>
          </p:cNvPr>
          <p:cNvSpPr>
            <a:spLocks noGrp="1"/>
          </p:cNvSpPr>
          <p:nvPr/>
        </p:nvSpPr>
        <p:spPr>
          <a:xfrm>
            <a:off x="914400" y="3986213"/>
            <a:ext cx="10096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Em aplicações reais, a separação pode precisar considerar tempo, grupos, lotes ou indivíduos.</a:t>
            </a:r>
          </a:p>
        </p:txBody>
      </p:sp>
      <p:sp>
        <p:nvSpPr>
          <p:cNvPr id="15" name="s57-block4-caption">
            <a:extLst>
              <a:ext uri="{FF2B5EF4-FFF2-40B4-BE49-F238E27FC236}">
                <a16:creationId xmlns:a16="http://schemas.microsoft.com/office/drawing/2014/main" id="{4FCB726F-3DEE-4118-8E5E-68A52833307E}"/>
              </a:ext>
            </a:extLst>
          </p:cNvPr>
          <p:cNvSpPr>
            <a:spLocks noGrp="1"/>
          </p:cNvSpPr>
          <p:nvPr/>
        </p:nvSpPr>
        <p:spPr>
          <a:xfrm>
            <a:off x="914400" y="4967288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As entradas devem estar disponíveis no momento em que a decisão será tomada.</a:t>
            </a:r>
          </a:p>
        </p:txBody>
      </p:sp>
    </p:spTree>
    <p:extLst>
      <p:ext uri="{BB962C8B-B14F-4D97-AF65-F5344CB8AC3E}">
        <p14:creationId xmlns:p14="http://schemas.microsoft.com/office/powerpoint/2010/main" val="9072639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4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155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Exercícios: explique o mecanismo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AC5D86DB-0D22-4F3A-B798-73C3EACC87D6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40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7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8-block1-text">
            <a:extLst>
              <a:ext uri="{FF2B5EF4-FFF2-40B4-BE49-F238E27FC236}">
                <a16:creationId xmlns:a16="http://schemas.microsoft.com/office/drawing/2014/main" id="{297A0D96-086F-4F78-9968-7FF48C99BF7C}"/>
              </a:ext>
            </a:extLst>
          </p:cNvPr>
          <p:cNvSpPr>
            <a:spLocks noGrp="1"/>
          </p:cNvSpPr>
          <p:nvPr/>
        </p:nvSpPr>
        <p:spPr>
          <a:xfrm>
            <a:off x="914400" y="2143125"/>
            <a:ext cx="10096500" cy="1847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1. Por que prever 0,72 e prever classe 1 são operações diferentes?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2. Por que aplicamos a sigmoide ao escore linear?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3. Uma curva sigmoide implica fronteira de decisão curva?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4. Por que usar o logaritmo da verossimilhança?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5. Qual a diferença entre peso, taxa de aprendizagem e limiar?</a:t>
            </a:r>
          </a:p>
        </p:txBody>
      </p:sp>
    </p:spTree>
    <p:extLst>
      <p:ext uri="{BB962C8B-B14F-4D97-AF65-F5344CB8AC3E}">
        <p14:creationId xmlns:p14="http://schemas.microsoft.com/office/powerpoint/2010/main" val="21311245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5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Exercícios: calcule e interprete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39F1FA4F-5E1D-6DD7-8899-DB45C4C32C6E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41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8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9-block1-text">
            <a:extLst>
              <a:ext uri="{FF2B5EF4-FFF2-40B4-BE49-F238E27FC236}">
                <a16:creationId xmlns:a16="http://schemas.microsoft.com/office/drawing/2014/main" id="{D08D6E40-9E0B-4830-B44B-091BA3B38483}"/>
              </a:ext>
            </a:extLst>
          </p:cNvPr>
          <p:cNvSpPr>
            <a:spLocks noGrp="1"/>
          </p:cNvSpPr>
          <p:nvPr/>
        </p:nvSpPr>
        <p:spPr>
          <a:xfrm>
            <a:off x="914400" y="2012156"/>
            <a:ext cx="10096500" cy="1847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6. Com w₀ = −1, w₁ = 0,8 e x = 2, calcule z e p.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7. Classifique esse caso com limiares 0,5 e 0,7.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8. Se y = 1, calcule a perda individual desse caso.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9. Se p = 0,75, calcule odds e logit.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10. Se as odds dobram, p também dobra? Use p = 0,20.</a:t>
            </a:r>
          </a:p>
        </p:txBody>
      </p:sp>
      <p:sp>
        <p:nvSpPr>
          <p:cNvPr id="13" name="s59-block2-caption">
            <a:extLst>
              <a:ext uri="{FF2B5EF4-FFF2-40B4-BE49-F238E27FC236}">
                <a16:creationId xmlns:a16="http://schemas.microsoft.com/office/drawing/2014/main" id="{EFD5B6B7-36E7-4857-A589-9FA8DFB3D208}"/>
              </a:ext>
            </a:extLst>
          </p:cNvPr>
          <p:cNvSpPr>
            <a:spLocks noGrp="1"/>
          </p:cNvSpPr>
          <p:nvPr/>
        </p:nvSpPr>
        <p:spPr>
          <a:xfrm>
            <a:off x="914400" y="4031456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Use ln natural e arredonde apenas o resultado final.</a:t>
            </a:r>
          </a:p>
        </p:txBody>
      </p:sp>
    </p:spTree>
    <p:extLst>
      <p:ext uri="{BB962C8B-B14F-4D97-AF65-F5344CB8AC3E}">
        <p14:creationId xmlns:p14="http://schemas.microsoft.com/office/powerpoint/2010/main" val="17337358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5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Exercícios: investigue em Python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28F55584-BE3A-83D9-FA7F-21221C333295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42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8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60-block1-text">
            <a:extLst>
              <a:ext uri="{FF2B5EF4-FFF2-40B4-BE49-F238E27FC236}">
                <a16:creationId xmlns:a16="http://schemas.microsoft.com/office/drawing/2014/main" id="{2C900A05-2387-4479-A5A3-5F85F6B4EC7A}"/>
              </a:ext>
            </a:extLst>
          </p:cNvPr>
          <p:cNvSpPr>
            <a:spLocks noGrp="1"/>
          </p:cNvSpPr>
          <p:nvPr/>
        </p:nvSpPr>
        <p:spPr>
          <a:xfrm>
            <a:off x="914400" y="1833563"/>
            <a:ext cx="10096500" cy="2562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11. No exemplo NumPy, teste η = 0,01 e η = 0,1. Compare a perda após 100 atualizações.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12. No Titanic, compare C = 0,1; 1; 10 por validação cruzada no treino.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13. Explique por que incluir alive torna a avaliação inválida.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14. Qual erro aumenta quando reduzimos o limiar? O que acontece com o recall?</a:t>
            </a:r>
          </a:p>
        </p:txBody>
      </p:sp>
      <p:sp>
        <p:nvSpPr>
          <p:cNvPr id="13" name="s60-block2-caption">
            <a:extLst>
              <a:ext uri="{FF2B5EF4-FFF2-40B4-BE49-F238E27FC236}">
                <a16:creationId xmlns:a16="http://schemas.microsoft.com/office/drawing/2014/main" id="{70D8D5B5-CC93-4A8D-8FF7-A8D6492D01A5}"/>
              </a:ext>
            </a:extLst>
          </p:cNvPr>
          <p:cNvSpPr>
            <a:spLocks noGrp="1"/>
          </p:cNvSpPr>
          <p:nvPr/>
        </p:nvSpPr>
        <p:spPr>
          <a:xfrm>
            <a:off x="914400" y="4567238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Mantenha o teste reservado. Registre as escolhas antes de avaliá-lo.</a:t>
            </a:r>
          </a:p>
        </p:txBody>
      </p:sp>
    </p:spTree>
    <p:extLst>
      <p:ext uri="{BB962C8B-B14F-4D97-AF65-F5344CB8AC3E}">
        <p14:creationId xmlns:p14="http://schemas.microsoft.com/office/powerpoint/2010/main" val="5486321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5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Conferência do cálculo manual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F1E013D6-0C4B-FE2D-855A-F1342FCB0974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43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8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graphicFrame>
        <p:nvGraphicFramePr>
          <p:cNvPr id="19" name="Tabela 18"/>
          <p:cNvGraphicFramePr/>
          <p:nvPr/>
        </p:nvGraphicFramePr>
        <p:xfrm>
          <a:off x="914400" y="1831181"/>
          <a:ext cx="10096500" cy="2571750"/>
        </p:xfrm>
        <a:graphic>
          <a:graphicData uri="http://schemas.openxmlformats.org/drawingml/2006/table">
            <a:tbl>
              <a:tblPr/>
              <a:tblGrid>
                <a:gridCol w="4341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5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Resultado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6. Escore e probabilidade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z = 0,6; p ≈ 0,645656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7. Classes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τ = 0,5 → 1; τ = 0,7 → 0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8. Perda para y =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−ln(0,645656) ≈ 0,437488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9. Odds e logit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3 e ln(3) ≈ 1,098612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10. Dobrar odds de p = 0,20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 novo ≈ 0,333333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61-block2-caption">
            <a:extLst>
              <a:ext uri="{FF2B5EF4-FFF2-40B4-BE49-F238E27FC236}">
                <a16:creationId xmlns:a16="http://schemas.microsoft.com/office/drawing/2014/main" id="{EC43914D-FBD7-464D-A0A7-4D6193AE19A1}"/>
              </a:ext>
            </a:extLst>
          </p:cNvPr>
          <p:cNvSpPr>
            <a:spLocks noGrp="1"/>
          </p:cNvSpPr>
          <p:nvPr/>
        </p:nvSpPr>
        <p:spPr>
          <a:xfrm>
            <a:off x="914400" y="4574381"/>
            <a:ext cx="1009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O resultado pode ser classificado corretamente e ainda ter perda positiva.</a:t>
            </a:r>
          </a:p>
        </p:txBody>
      </p:sp>
    </p:spTree>
    <p:extLst>
      <p:ext uri="{BB962C8B-B14F-4D97-AF65-F5344CB8AC3E}">
        <p14:creationId xmlns:p14="http://schemas.microsoft.com/office/powerpoint/2010/main" val="869646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16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334500" cy="822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Como as partes trabalham juntas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E71E1DC6-F89D-8D69-6333-36D980A4F9DD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44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19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62-block1-lead">
            <a:extLst>
              <a:ext uri="{FF2B5EF4-FFF2-40B4-BE49-F238E27FC236}">
                <a16:creationId xmlns:a16="http://schemas.microsoft.com/office/drawing/2014/main" id="{6FC78C60-2D22-49C4-8104-979A04F8A99C}"/>
              </a:ext>
            </a:extLst>
          </p:cNvPr>
          <p:cNvSpPr>
            <a:spLocks noGrp="1"/>
          </p:cNvSpPr>
          <p:nvPr/>
        </p:nvSpPr>
        <p:spPr>
          <a:xfrm>
            <a:off x="914400" y="1740694"/>
            <a:ext cx="10096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As características produzem um escore; a sigmoide produz uma probabilidade.</a:t>
            </a:r>
          </a:p>
        </p:txBody>
      </p:sp>
      <p:sp>
        <p:nvSpPr>
          <p:cNvPr id="13" name="s62-block2-text">
            <a:extLst>
              <a:ext uri="{FF2B5EF4-FFF2-40B4-BE49-F238E27FC236}">
                <a16:creationId xmlns:a16="http://schemas.microsoft.com/office/drawing/2014/main" id="{71A25B85-88DE-4601-AF39-82557EBBDA97}"/>
              </a:ext>
            </a:extLst>
          </p:cNvPr>
          <p:cNvSpPr>
            <a:spLocks noGrp="1"/>
          </p:cNvSpPr>
          <p:nvPr/>
        </p:nvSpPr>
        <p:spPr>
          <a:xfrm>
            <a:off x="914400" y="2721769"/>
            <a:ext cx="10096500" cy="1495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A perda compara probabilidades com resultados reais.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 otimizador modifica os pesos para reduzir essa perda.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 limiar transforma probabilidades em decisões.</a:t>
            </a:r>
          </a:p>
          <a:p>
            <a:pPr algn="l">
              <a:lnSpc>
                <a:spcPct val="112000"/>
              </a:lnSpc>
              <a:buNone/>
              <a:defRPr sz="22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A avaliação mede os erros em observações não usadas no ajuste.</a:t>
            </a:r>
          </a:p>
        </p:txBody>
      </p:sp>
      <p:sp>
        <p:nvSpPr>
          <p:cNvPr id="14" name="s62-block3-lead">
            <a:extLst>
              <a:ext uri="{FF2B5EF4-FFF2-40B4-BE49-F238E27FC236}">
                <a16:creationId xmlns:a16="http://schemas.microsoft.com/office/drawing/2014/main" id="{86712E72-A318-45B5-9E15-2EA6655CD861}"/>
              </a:ext>
            </a:extLst>
          </p:cNvPr>
          <p:cNvSpPr>
            <a:spLocks noGrp="1"/>
          </p:cNvSpPr>
          <p:nvPr/>
        </p:nvSpPr>
        <p:spPr>
          <a:xfrm>
            <a:off x="914400" y="4388644"/>
            <a:ext cx="10096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Um bom modelo precisa de contas coerentes, dados adequados e avaliação honesta.</a:t>
            </a:r>
          </a:p>
        </p:txBody>
      </p:sp>
    </p:spTree>
    <p:extLst>
      <p:ext uri="{BB962C8B-B14F-4D97-AF65-F5344CB8AC3E}">
        <p14:creationId xmlns:p14="http://schemas.microsoft.com/office/powerpoint/2010/main" val="14553280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F8B39-90F7-E11A-9F08-87BC950FC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69B287B-E84D-F509-84A2-2C213E732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01E2308-AE2D-6E2B-7283-3A5C591AE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199144D-FC08-1BFF-E87C-7723117508B3}"/>
              </a:ext>
            </a:extLst>
          </p:cNvPr>
          <p:cNvSpPr txBox="1"/>
          <p:nvPr/>
        </p:nvSpPr>
        <p:spPr>
          <a:xfrm>
            <a:off x="1921032" y="0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Logística – onde se aplica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256F17B-8C63-C7DB-611E-F5C7A4FA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6BCB4BA-86AC-2CC7-6830-6E15DDB4D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28977D9-BADA-3857-262C-68DC0D3F9B7E}"/>
              </a:ext>
            </a:extLst>
          </p:cNvPr>
          <p:cNvSpPr txBox="1"/>
          <p:nvPr/>
        </p:nvSpPr>
        <p:spPr>
          <a:xfrm>
            <a:off x="1600200" y="1443841"/>
            <a:ext cx="94705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b="1" dirty="0"/>
              <a:t>Regressão Logística se aplica bem:</a:t>
            </a:r>
          </a:p>
          <a:p>
            <a:pPr>
              <a:buNone/>
            </a:pPr>
            <a:endParaRPr lang="pt-PT" b="1" dirty="0"/>
          </a:p>
          <a:p>
            <a:pPr marL="271463" indent="-271463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pt-PT" b="1" dirty="0"/>
              <a:t>Marketing e vendas:</a:t>
            </a:r>
            <a:r>
              <a:rPr lang="pt-PT" dirty="0"/>
              <a:t> prever se um cliente </a:t>
            </a:r>
            <a:r>
              <a:rPr lang="pt-PT" b="1" dirty="0"/>
              <a:t>vai ou não comprar</a:t>
            </a:r>
            <a:r>
              <a:rPr lang="pt-PT" dirty="0"/>
              <a:t> após ver um anúncio.</a:t>
            </a:r>
          </a:p>
          <a:p>
            <a:pPr marL="271463" indent="-271463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pt-PT" b="1" dirty="0"/>
              <a:t>Operações e logística:</a:t>
            </a:r>
            <a:r>
              <a:rPr lang="pt-PT" dirty="0"/>
              <a:t> prever se um pedido será </a:t>
            </a:r>
            <a:r>
              <a:rPr lang="pt-PT" b="1" dirty="0"/>
              <a:t>entregue no prazo</a:t>
            </a:r>
            <a:r>
              <a:rPr lang="pt-PT" dirty="0"/>
              <a:t> (sim/não).</a:t>
            </a:r>
          </a:p>
          <a:p>
            <a:pPr marL="271463" indent="-271463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pt-PT" b="1" dirty="0"/>
              <a:t>Manufatura e qualidade:</a:t>
            </a:r>
            <a:r>
              <a:rPr lang="pt-PT" dirty="0"/>
              <a:t> prever se um produto estará </a:t>
            </a:r>
            <a:r>
              <a:rPr lang="pt-PT" b="1" dirty="0"/>
              <a:t>dentro da especificação</a:t>
            </a:r>
            <a:r>
              <a:rPr lang="pt-PT" dirty="0"/>
              <a:t> (aprovado/reprovado).</a:t>
            </a:r>
          </a:p>
          <a:p>
            <a:pPr marL="271463" indent="-271463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pt-PT" b="1" dirty="0"/>
              <a:t>Saúde e biologia:</a:t>
            </a:r>
            <a:r>
              <a:rPr lang="pt-PT" dirty="0"/>
              <a:t> prever se um paciente terá </a:t>
            </a:r>
            <a:r>
              <a:rPr lang="pt-PT" b="1" dirty="0"/>
              <a:t>complicação após cirurgia</a:t>
            </a:r>
            <a:r>
              <a:rPr lang="pt-PT" dirty="0"/>
              <a:t> (sim/não).</a:t>
            </a:r>
          </a:p>
          <a:p>
            <a:pPr marL="271463" indent="-271463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pt-PT" b="1" dirty="0"/>
              <a:t>Finanças:</a:t>
            </a:r>
            <a:r>
              <a:rPr lang="pt-PT" dirty="0"/>
              <a:t> prever se um cliente dará </a:t>
            </a:r>
            <a:r>
              <a:rPr lang="pt-PT" b="1" dirty="0"/>
              <a:t>default em um empréstimo</a:t>
            </a:r>
            <a:r>
              <a:rPr lang="pt-PT" dirty="0"/>
              <a:t> (sim/não).</a:t>
            </a:r>
          </a:p>
          <a:p>
            <a:pPr marL="271463" indent="-271463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pt-PT" b="1" dirty="0"/>
              <a:t>Energia:</a:t>
            </a:r>
            <a:r>
              <a:rPr lang="pt-PT" dirty="0"/>
              <a:t> prever se haverá </a:t>
            </a:r>
            <a:r>
              <a:rPr lang="pt-PT" b="1" dirty="0"/>
              <a:t>apagão</a:t>
            </a:r>
            <a:r>
              <a:rPr lang="pt-PT" dirty="0"/>
              <a:t> em determinada condição (sim/não).</a:t>
            </a:r>
          </a:p>
          <a:p>
            <a:pPr marL="271463" indent="-271463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pt-PT" b="1" dirty="0"/>
              <a:t>Tecnologia (web/app):</a:t>
            </a:r>
            <a:r>
              <a:rPr lang="pt-PT" dirty="0"/>
              <a:t> prever se um usuário </a:t>
            </a:r>
            <a:r>
              <a:rPr lang="pt-PT" b="1" dirty="0"/>
              <a:t>clicará em um link ou anúncio</a:t>
            </a:r>
            <a:r>
              <a:rPr lang="pt-PT" dirty="0"/>
              <a:t> (sim/não).</a:t>
            </a:r>
          </a:p>
          <a:p>
            <a:pPr marL="271463" indent="-271463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pt-PT" b="1" dirty="0"/>
              <a:t>Transporte:</a:t>
            </a:r>
            <a:r>
              <a:rPr lang="pt-PT" dirty="0"/>
              <a:t> prever se o transporte </a:t>
            </a:r>
            <a:r>
              <a:rPr lang="pt-PT" b="1" dirty="0"/>
              <a:t>chegará atrasado</a:t>
            </a:r>
            <a:r>
              <a:rPr lang="pt-PT" dirty="0"/>
              <a:t> (sim/não).</a:t>
            </a:r>
          </a:p>
          <a:p>
            <a:pPr marL="271463" indent="-271463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pt-PT" b="1" dirty="0"/>
              <a:t>Agricultura:</a:t>
            </a:r>
            <a:r>
              <a:rPr lang="pt-PT" dirty="0"/>
              <a:t> prever se uma plantação ficará </a:t>
            </a:r>
            <a:r>
              <a:rPr lang="pt-PT" b="1" dirty="0"/>
              <a:t>acima ou abaixo de certo nível de produtividade</a:t>
            </a:r>
            <a:r>
              <a:rPr lang="pt-PT" dirty="0"/>
              <a:t>.</a:t>
            </a:r>
          </a:p>
          <a:p>
            <a:pPr marL="271463" indent="-271463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pt-PT" b="1" dirty="0"/>
              <a:t>Meio ambiente:</a:t>
            </a:r>
            <a:r>
              <a:rPr lang="pt-PT" dirty="0"/>
              <a:t> prever se a poluição </a:t>
            </a:r>
            <a:r>
              <a:rPr lang="pt-PT" b="1" dirty="0"/>
              <a:t>ultrapassará um limite crítico</a:t>
            </a:r>
            <a:r>
              <a:rPr lang="pt-PT" dirty="0"/>
              <a:t> (sim/não).</a:t>
            </a:r>
          </a:p>
          <a:p>
            <a:pPr marL="271463" indent="-271463"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pt-PT" b="1" dirty="0"/>
              <a:t>Esportes:</a:t>
            </a:r>
            <a:r>
              <a:rPr lang="pt-PT" dirty="0"/>
              <a:t> prever se um atleta </a:t>
            </a:r>
            <a:r>
              <a:rPr lang="pt-PT" b="1" dirty="0"/>
              <a:t>passará ou não de uma marca mínima</a:t>
            </a:r>
            <a:r>
              <a:rPr lang="pt-P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43878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14:cNvPr>
              <p14:cNvContentPartPr/>
              <p14:nvPr/>
            </p14:nvContentPartPr>
            <p14:xfrm>
              <a:off x="4503141" y="3110426"/>
              <a:ext cx="32400" cy="18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4240" y="3101426"/>
                <a:ext cx="49846" cy="363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896F3CE-DE9A-4F5A-AE63-9DBB2CFDE036}"/>
              </a:ext>
            </a:extLst>
          </p:cNvPr>
          <p:cNvSpPr txBox="1"/>
          <p:nvPr/>
        </p:nvSpPr>
        <p:spPr>
          <a:xfrm>
            <a:off x="6518366" y="2644170"/>
            <a:ext cx="5557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rgbClr val="003958"/>
                </a:solidFill>
                <a:latin typeface="Impact" panose="020B0806030902050204" pitchFamily="34" charset="0"/>
              </a:rPr>
              <a:t>FIM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CC51EFB-4F5D-53BC-EE25-67F6C4F6B0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626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23986</TotalTime>
  <Words>7507</Words>
  <Application>Microsoft Office PowerPoint</Application>
  <PresentationFormat>Widescreen</PresentationFormat>
  <Paragraphs>993</Paragraphs>
  <Slides>46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DejaVu Sans Mono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Joao Marcos Garcia Vieira</dc:creator>
  <cp:lastModifiedBy>Rodrigo Ramos</cp:lastModifiedBy>
  <cp:revision>168</cp:revision>
  <dcterms:created xsi:type="dcterms:W3CDTF">2019-02-19T17:16:10Z</dcterms:created>
  <dcterms:modified xsi:type="dcterms:W3CDTF">2026-09-08T10:48:22Z</dcterms:modified>
</cp:coreProperties>
</file>