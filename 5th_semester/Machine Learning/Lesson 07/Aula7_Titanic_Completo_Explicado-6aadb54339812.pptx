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Como transformar características dos passageiros em probabilidades e avaliar o que o modelo aprendeu?</a:t>
            </a:r>
          </a:p>
          <a:p>
            <a:endParaRPr/>
          </a:p>
          <a:p>
            <a:r>
              <a:t>Nesta prática, cada linha representa um passageiro. As entradas descrevem suas características; a resposta conhecida informa se sobreviveu.</a:t>
            </a:r>
          </a:p>
          <a:p>
            <a:endParaRPr/>
          </a:p>
          <a:p>
            <a:r>
              <a:t>Vamos preparar os dados, treinar a regressão logística e acompanhar cada resultado até chegar a uma conclusão sobre os acertos e os erros.</a:t>
            </a:r>
          </a:p>
          <a:p>
            <a:endParaRPr/>
          </a:p>
          <a:p>
            <a:r>
              <a:t>Aula 6 • Regressão logística • Dr. Rodrigo Ramos Silva</a:t>
            </a:r>
          </a:p>
          <a:p>
            <a:r>
              <a:t>Estudo didático com dados históricos; classe positiva = sobreviveu.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Etapa | Pergunta que precisamos responder</a:t>
            </a:r>
          </a:p>
          <a:p>
            <a:r>
              <a:t>1. Definir X e y | Que informação entra e o que queremos prever?</a:t>
            </a:r>
          </a:p>
          <a:p>
            <a:r>
              <a:t>2. Separar e preparar | Como tratar ausências e categorias sem usar o teste?</a:t>
            </a:r>
          </a:p>
          <a:p>
            <a:r>
              <a:t>3. Validar e treinar | O modelo aprende um padrão que se repete?</a:t>
            </a:r>
          </a:p>
          <a:p>
            <a:r>
              <a:t>4. Prever e avaliar | Quem acertou, quem errou e de que maneira?</a:t>
            </a:r>
          </a:p>
          <a:p>
            <a:r>
              <a:t>5. Interpretar | O ganho supera uma regra simples? Quais limites restam?</a:t>
            </a:r>
          </a:p>
          <a:p>
            <a:endParaRPr/>
          </a:p>
          <a:p>
            <a:r>
              <a:t>Cada etapa produz algo que a próxima utiliza. Execute os blocos de código na ordem da apresentação, no mesmo notebook.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Alvo y = survived: 0 = não sobreviveu; 1 = sobreviveu.</a:t>
            </a:r>
          </a:p>
          <a:p>
            <a:endParaRPr/>
          </a:p>
          <a:p>
            <a:r>
              <a:t>Quantidade | O que representa</a:t>
            </a:r>
          </a:p>
          <a:p>
            <a:r>
              <a:t>891 passageiros | Total desta versão do conjunto de dados.</a:t>
            </a:r>
          </a:p>
          <a:p>
            <a:r>
              <a:t>342 positivos | Passageiros que sobreviveram.</a:t>
            </a:r>
          </a:p>
          <a:p>
            <a:r>
              <a:t>549 negativos | Passageiros que não sobreviveram.</a:t>
            </a:r>
          </a:p>
          <a:p>
            <a:endParaRPr/>
          </a:p>
          <a:p>
            <a:r>
              <a:t>Positivo é apenas o nome da classe 1. Não significa que o resultado é bom em todo problema: em fraude, por exemplo, positivo pode significar fraude.</a:t>
            </a:r>
          </a:p>
          <a:p>
            <a:endParaRPr/>
          </a:p>
          <a:p>
            <a:r>
              <a:t>A fonte é o CSV público do repositório seaborn-data. Outras versões do Titanic podem ter colunas e quantidades diferentes.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Coluna | Significado no Titanic | Tratamento</a:t>
            </a:r>
          </a:p>
          <a:p>
            <a:r>
              <a:t>age | Idade do passageiro, em anos. | Numérico</a:t>
            </a:r>
          </a:p>
          <a:p>
            <a:r>
              <a:t>fare | Tarifa paga pela passagem. | Numérico</a:t>
            </a:r>
          </a:p>
          <a:p>
            <a:r>
              <a:t>sibsp | Número de irmãos e cônjuges a bordo. | Numérico</a:t>
            </a:r>
          </a:p>
          <a:p>
            <a:r>
              <a:t>parch | Número de pais e filhos a bordo. | Numérico</a:t>
            </a:r>
          </a:p>
          <a:p>
            <a:r>
              <a:t>sex | Sexo registrado no conjunto. | Categoria</a:t>
            </a:r>
          </a:p>
          <a:p>
            <a:r>
              <a:t>embarked | Porto: C, Q ou S. | Categoria</a:t>
            </a:r>
          </a:p>
          <a:p>
            <a:r>
              <a:t>pclass | Classe da passagem: 1, 2 ou 3. | Categoria</a:t>
            </a:r>
          </a:p>
          <a:p>
            <a:endParaRPr/>
          </a:p>
          <a:p>
            <a:r>
              <a:t>pclass tem ordem, mas será codificada por indicadores: o modelo não precisa supor o mesmo efeito ao passar de 1 para 2 e de 2 para 3.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 contém as pistas; y contém a resposta que o modelo deve aprender a prever.</a:t>
            </a:r>
          </a:p>
          <a:p>
            <a:endParaRPr/>
          </a:p>
          <a:p>
            <a:r>
              <a:t>Selecionamos explicitamente sete características. survived fica apenas em y. A coluna alive também informa a sobrevivência e não pode entrar em X.</a:t>
            </a:r>
          </a:p>
          <a:p>
            <a:endParaRPr/>
          </a:p>
          <a:p>
            <a:r>
              <a:t>Situação | Por que altera a avaliação?</a:t>
            </a:r>
          </a:p>
          <a:p>
            <a:r>
              <a:t>Usar alive como entrada | Entrega a resposta ao modelo; o acerto deixa de representar previsão.</a:t>
            </a:r>
          </a:p>
          <a:p>
            <a:r>
              <a:t>Calcular a mediana antes da divisão | Usa informação do teste para preparar o treino.</a:t>
            </a:r>
          </a:p>
          <a:p>
            <a:endParaRPr/>
          </a:p>
          <a:p>
            <a:r>
              <a:t>Vazamento de dados é permitir que informação reservada à avaliação influencie o aprendizado. O pipeline evita parte desses erros; a escolha das colunas continua sendo nossa responsabilidade.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um notebook Jupyter ou Google Colab e mantenha as células na sequência.</a:t>
            </a:r>
          </a:p>
          <a:p>
            <a:endParaRPr/>
          </a:p>
          <a:p>
            <a:r>
              <a:t># Se faltar alguma biblioteca, execute em uma célula:</a:t>
            </a:r>
          </a:p>
          <a:p>
            <a:r>
              <a:t># %pip install pandas numpy scikit-learn matplotlib</a:t>
            </a:r>
          </a:p>
          <a:p>
            <a:r>
              <a:t>import pandas as pd  # Lê e organiza tabelas.</a:t>
            </a:r>
          </a:p>
          <a:p>
            <a:r>
              <a:t>import numpy as np  # Trabalha com vetores e números.</a:t>
            </a:r>
          </a:p>
          <a:p>
            <a:r>
              <a:t>from pathlib import Path  # Representa o caminho do CSV.</a:t>
            </a:r>
          </a:p>
          <a:p>
            <a:endParaRPr/>
          </a:p>
          <a:p>
            <a:r>
              <a:t>import carrega uma biblioteca. O apelido pd permite escrever pd.read_csv; np permite escrever np.log. Path ajuda a verificar se a cópia local já existe.</a:t>
            </a:r>
          </a:p>
          <a:p>
            <a:endParaRPr/>
          </a:p>
          <a:p>
            <a:r>
              <a:t>Resultados conferidos com pandas 2.2.3, NumPy 2.3.5 e scikit-learn 1.8.0. Versões e dados diferentes podem produzir pequenas diferenças numéricas.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sklearn.model_selection import (</a:t>
            </a:r>
          </a:p>
          <a:p>
            <a:r>
              <a:t>    train_test_split,  # Separa treino e teste.</a:t>
            </a:r>
          </a:p>
          <a:p>
            <a:r>
              <a:t>    StratifiedKFold,  # Cria partições para validação.</a:t>
            </a:r>
          </a:p>
          <a:p>
            <a:r>
              <a:t>    cross_val_score,  # Avalia cada partição.</a:t>
            </a:r>
          </a:p>
          <a:p>
            <a:r>
              <a:t>    cross_val_predict)  # Prevê fora do próprio ajuste.</a:t>
            </a:r>
          </a:p>
          <a:p>
            <a:r>
              <a:t>from sklearn.pipeline import Pipeline  # Encadeia etapas.</a:t>
            </a:r>
          </a:p>
          <a:p>
            <a:r>
              <a:t>from sklearn.compose import ColumnTransformer  # Divide colunas.</a:t>
            </a:r>
          </a:p>
          <a:p>
            <a:r>
              <a:t>from sklearn.impute import SimpleImputer  # Preenche ausências.</a:t>
            </a:r>
          </a:p>
          <a:p>
            <a:r>
              <a:t>from sklearn.preprocessing import (</a:t>
            </a:r>
          </a:p>
          <a:p>
            <a:r>
              <a:t>    StandardScaler,  # Padroniza valores numéricos.</a:t>
            </a:r>
          </a:p>
          <a:p>
            <a:r>
              <a:t>    OneHotEncoder)  # Converte categorias em indicadores.</a:t>
            </a:r>
          </a:p>
          <a:p>
            <a:endParaRPr/>
          </a:p>
          <a:p>
            <a:r>
              <a:t>Essas ferramentas têm funções diferentes: separar os dados, aprender transformações e aplicar a sequência corretamente. Importar uma ferramenta ainda não treina nada.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sklearn.linear_model import LogisticRegression  # Modelo.</a:t>
            </a:r>
          </a:p>
          <a:p>
            <a:r>
              <a:t>from sklearn.dummy import DummyClassifier  # Regra de referência.</a:t>
            </a:r>
          </a:p>
          <a:p>
            <a:r>
              <a:t>from sklearn.metrics import (</a:t>
            </a:r>
          </a:p>
          <a:p>
            <a:r>
              <a:t>    confusion_matrix,  # Conta os quatro tipos de resultado.</a:t>
            </a:r>
          </a:p>
          <a:p>
            <a:r>
              <a:t>    accuracy_score,  # Proporção total de acertos.</a:t>
            </a:r>
          </a:p>
          <a:p>
            <a:r>
              <a:t>    precision_score,  # Acertos entre os positivos previstos.</a:t>
            </a:r>
          </a:p>
          <a:p>
            <a:r>
              <a:t>    recall_score,  # Positivos reais encontrados.</a:t>
            </a:r>
          </a:p>
          <a:p>
            <a:r>
              <a:t>    f1_score,  # Combina precisão e recall.</a:t>
            </a:r>
          </a:p>
          <a:p>
            <a:r>
              <a:t>    roc_auc_score,  # Avalia a ordenação dos escores.</a:t>
            </a:r>
          </a:p>
          <a:p>
            <a:r>
              <a:t>    log_loss)  # Avalia as probabilidades atribuídas.</a:t>
            </a:r>
          </a:p>
          <a:p>
            <a:endParaRPr/>
          </a:p>
          <a:p>
            <a:r>
              <a:t>Primeiro produzimos previsões. Depois, as métricas comparam essas previsões com a resposta real. Cada métrica responde a uma pergunta diferente.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url = (  # Endereço da versão utilizada nesta aula.</a:t>
            </a:r>
          </a:p>
          <a:p>
            <a:r>
              <a:t>    "https://raw.githubusercontent.com/"</a:t>
            </a:r>
          </a:p>
          <a:p>
            <a:r>
              <a:t>    "mwaskom/seaborn-data/master/titanic.csv")</a:t>
            </a:r>
          </a:p>
          <a:p>
            <a:r>
              <a:t>arquivo = Path("titanic_seaborn.csv")  # Cópia local.</a:t>
            </a:r>
          </a:p>
          <a:p>
            <a:r>
              <a:t>if arquivo.exists():  # Se já existe, reutiliza.</a:t>
            </a:r>
          </a:p>
          <a:p>
            <a:r>
              <a:t>    df = pd.read_csv(arquivo)  # Lê o CSV local.</a:t>
            </a:r>
          </a:p>
          <a:p>
            <a:r>
              <a:t>else:  # A primeira leitura requer internet.</a:t>
            </a:r>
          </a:p>
          <a:p>
            <a:r>
              <a:t>    df = pd.read_csv(url)  # Baixa e lê a tabela.</a:t>
            </a:r>
          </a:p>
          <a:p>
            <a:r>
              <a:t>    df.to_csv(arquivo, index=False)  # Salva sem o índice.</a:t>
            </a:r>
          </a:p>
          <a:p>
            <a:r>
              <a:t>print(df.shape)  # Mostra linhas e colunas: (891, 15).</a:t>
            </a:r>
          </a:p>
          <a:p>
            <a:endParaRPr/>
          </a:p>
          <a:p>
            <a:r>
              <a:t>df é um DataFrame: uma tabela com linhas e colunas. O nome local específico evita confundir esse CSV com outra versão do Titanic.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numericas = ["age", "fare", "sibsp", "parch"]  # Números.</a:t>
            </a:r>
          </a:p>
          <a:p>
            <a:r>
              <a:t>categoricas = ["sex", "embarked", "pclass"]  # Categorias.</a:t>
            </a:r>
          </a:p>
          <a:p>
            <a:r>
              <a:t>X = df[numericas + categoricas]  # Seleciona as sete entradas.</a:t>
            </a:r>
          </a:p>
          <a:p>
            <a:r>
              <a:t>y = df["survived"]  # Seleciona a resposta real.</a:t>
            </a:r>
          </a:p>
          <a:p>
            <a:r>
              <a:t>print(X.shape)  # (891, 7): passageiros e características.</a:t>
            </a:r>
          </a:p>
          <a:p>
            <a:r>
              <a:t>print(y.value_counts())  # 0: 549; 1: 342.</a:t>
            </a:r>
          </a:p>
          <a:p>
            <a:endParaRPr/>
          </a:p>
          <a:p>
            <a:r>
              <a:t>X é uma tabela: cada passageiro possui sete valores de entrada. y é uma série: um único resultado real para cada passageiro. A ordem das linhas precisa continuar correspondente.</a:t>
            </a:r>
          </a:p>
          <a:p>
            <a:endParaRPr/>
          </a:p>
          <a:p>
            <a:r>
              <a:t>O modelo recebe X para prever. Durante o treinamento, também recebe y para aprender a relação entre as entradas e a resposta.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X_train, X_test, y_train, y_test = train_test_split(</a:t>
            </a:r>
          </a:p>
          <a:p>
            <a:r>
              <a:t>    X, y,  # Divide entradas e respostas em conjunto.</a:t>
            </a:r>
          </a:p>
          <a:p>
            <a:r>
              <a:t>    test_size=0.2,  # Reserva cerca de 20% para teste.</a:t>
            </a:r>
          </a:p>
          <a:p>
            <a:r>
              <a:t>    random_state=42,  # Torna esta divisão reproduzível.</a:t>
            </a:r>
          </a:p>
          <a:p>
            <a:r>
              <a:t>    stratify=y)  # Preserva aproximadamente as proporções.</a:t>
            </a:r>
          </a:p>
          <a:p>
            <a:r>
              <a:t>print(len(X_train), len(X_test))  # 712 e 179.</a:t>
            </a:r>
          </a:p>
          <a:p>
            <a:endParaRPr/>
          </a:p>
          <a:p>
            <a:r>
              <a:t>Conjunto | Não sobreviveram | Sobreviveram | Função</a:t>
            </a:r>
          </a:p>
          <a:p>
            <a:r>
              <a:t>Treino: 712 | 439 | 273 | Aprender e validar.</a:t>
            </a:r>
          </a:p>
          <a:p>
            <a:r>
              <a:t>Teste: 179 | 110 | 69 | Avaliar ao final.</a:t>
            </a:r>
          </a:p>
          <a:p>
            <a:endParaRPr/>
          </a:p>
          <a:p>
            <a:r>
              <a:t>random_state não melhora o modelo: fixa o sorteio. O teste deve continuar reservado enquanto escolhemos transformações e parâmetros.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print(X_train.head())  # Exibe algumas linhas do treino.</a:t>
            </a:r>
          </a:p>
          <a:p>
            <a:r>
              <a:t>print(X_train.dtypes)  # Mostra os tipos das colunas.</a:t>
            </a:r>
          </a:p>
          <a:p>
            <a:r>
              <a:t>print(X_train.isna().sum())  # Conta ausências por coluna.</a:t>
            </a:r>
          </a:p>
          <a:p>
            <a:endParaRPr/>
          </a:p>
          <a:p>
            <a:r>
              <a:t>Achado no treino | O que significa | O que faremos</a:t>
            </a:r>
          </a:p>
          <a:p>
            <a:r>
              <a:t>age: 137 ausências | Não sabemos a idade desses passageiros. | Preencher com mediana.</a:t>
            </a:r>
          </a:p>
          <a:p>
            <a:r>
              <a:t>embarked: 2 ausências | O porto não está registrado. | Preencher com moda.</a:t>
            </a:r>
          </a:p>
          <a:p>
            <a:r>
              <a:t>Demais entradas: 0 | Não há ausências nesta divisão. | Manter o tratamento previsto.</a:t>
            </a:r>
          </a:p>
          <a:p>
            <a:endParaRPr/>
          </a:p>
          <a:p>
            <a:r>
              <a:t>Ausência não significa zero. Idade desconhecida é diferente de idade zero. As estatísticas usadas para preencher valores serão aprendidas somente no treino.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Imputar é substituir um valor ausente por uma regra definida.</a:t>
            </a:r>
          </a:p>
          <a:p>
            <a:endParaRPr/>
          </a:p>
          <a:p>
            <a:r>
              <a:t>Nas variáveis numéricas, usamos a mediana: o valor central depois de ordenar os dados. Ela é menos sensível a valores extremos que a média.</a:t>
            </a:r>
          </a:p>
          <a:p>
            <a:endParaRPr/>
          </a:p>
          <a:p>
            <a:r>
              <a:t>Exemplo | Antes | Depois</a:t>
            </a:r>
          </a:p>
          <a:p>
            <a:r>
              <a:t>Idades ilustrativas | 20, 30, ausente, 40, 90 | Mediana conhecida = 35; preenche com 35.</a:t>
            </a:r>
          </a:p>
          <a:p>
            <a:r>
              <a:t>Idade no treino do Titanic | 137 valores ausentes | Mediana aprendida = 28,5 anos.</a:t>
            </a:r>
          </a:p>
          <a:p>
            <a:endParaRPr/>
          </a:p>
          <a:p>
            <a:r>
              <a:t>Na variável categórica, usamos a moda: a categoria mais frequente no treino. O mesmo valor aprendido será aplicado às ausências do teste.</a:t>
            </a:r>
          </a:p>
          <a:p>
            <a:endParaRPr/>
          </a:p>
          <a:p>
            <a:r>
              <a:t>O preenchimento permite executar o modelo, mas não recupera a idade ou o porto verdadeiro daquele passageiro.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StandardScaler centraliza cada coluna numérica e a expressa em desvios-padrão.</a:t>
            </a:r>
          </a:p>
          <a:p>
            <a:endParaRPr/>
          </a:p>
          <a:p>
            <a:r>
              <a:t>Fórmula: x_padronizado = (x − média do treino) / desvio-padrão do treino.</a:t>
            </a:r>
          </a:p>
          <a:p>
            <a:r>
              <a:t>Exemplo ilustrativo: média de idade = 30, desvio = 10 e idade = 40 → (40 − 30)/10 = 1.</a:t>
            </a:r>
          </a:p>
          <a:p>
            <a:endParaRPr/>
          </a:p>
          <a:p>
            <a:r>
              <a:t>Valor padronizado | Como interpretar</a:t>
            </a:r>
          </a:p>
          <a:p>
            <a:r>
              <a:t>0 | Igual à média aprendida.</a:t>
            </a:r>
          </a:p>
          <a:p>
            <a:r>
              <a:t>+1 | Um desvio-padrão acima da média.</a:t>
            </a:r>
          </a:p>
          <a:p>
            <a:r>
              <a:t>−1 | Um desvio-padrão abaixo da média.</a:t>
            </a:r>
          </a:p>
          <a:p>
            <a:endParaRPr/>
          </a:p>
          <a:p>
            <a:r>
              <a:t>Por que usar: facilita a otimização e torna a penalização dos coeficientes mais comparável entre escalas. Não transforma toda distribuição em normal.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bloco_num = Pipeline(steps=[  # Sequência para números.</a:t>
            </a:r>
          </a:p>
          <a:p>
            <a:r>
              <a:t>    ("impute", SimpleImputer(strategy="median")),</a:t>
            </a:r>
          </a:p>
          <a:p>
            <a:r>
              <a:t>    ("scale", StandardScaler())</a:t>
            </a:r>
          </a:p>
          <a:p>
            <a:r>
              <a:t>])  # Primeiro preenche, depois padroniza.</a:t>
            </a:r>
          </a:p>
          <a:p>
            <a:endParaRPr/>
          </a:p>
          <a:p>
            <a:r>
              <a:t>impute e scale são nomes escolhidos para identificar as etapas. SimpleImputer aprende a mediana de cada coluna; StandardScaler aprende a média e o desvio após o preenchimento.</a:t>
            </a:r>
          </a:p>
          <a:p>
            <a:endParaRPr/>
          </a:p>
          <a:p>
            <a:r>
              <a:t>Por que essa ordem? Precisamos de entradas completas para a regressão logística, e a escala deve ser calculada sobre o resultado do preenchimento.</a:t>
            </a:r>
          </a:p>
          <a:p>
            <a:endParaRPr/>
          </a:p>
          <a:p>
            <a:r>
              <a:t>Neste momento, apenas descrevemos o procedimento. Os valores são aprendidos quando o pipeline recebe fit. StandardScaler preserva NaNs; é o imputer que os resolve.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One-hot cria uma coluna indicadora para cada categoria conhecida.</a:t>
            </a:r>
          </a:p>
          <a:p>
            <a:endParaRPr/>
          </a:p>
          <a:p>
            <a:r>
              <a:t>pclass original | pclass_1 | pclass_2 | pclass_3</a:t>
            </a:r>
          </a:p>
          <a:p>
            <a:r>
              <a:t>1 | 1 | 0 | 0</a:t>
            </a:r>
          </a:p>
          <a:p>
            <a:r>
              <a:t>2 | 0 | 1 | 0</a:t>
            </a:r>
          </a:p>
          <a:p>
            <a:r>
              <a:t>3 | 0 | 0 | 1</a:t>
            </a:r>
          </a:p>
          <a:p>
            <a:endParaRPr/>
          </a:p>
          <a:p>
            <a:r>
              <a:t>O indicador 1 significa “pertence a esta categoria”; 0 significa “não pertence”. A regressão pode aprender um coeficiente próprio para cada indicador.</a:t>
            </a:r>
          </a:p>
          <a:p>
            <a:endParaRPr/>
          </a:p>
          <a:p>
            <a:r>
              <a:t>Por que usar: evita tratar códigos como distâncias numéricas. Aqui mantemos todas as categorias e usamos regularização L2; para interpretar categorias, compararemos seus coeficientes.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bloco_cat = Pipeline(steps=[  # Sequência para categorias.</a:t>
            </a:r>
          </a:p>
          <a:p>
            <a:r>
              <a:t>    ("impute", SimpleImputer(strategy="most_frequent")),</a:t>
            </a:r>
          </a:p>
          <a:p>
            <a:r>
              <a:t>    ("encode", OneHotEncoder(handle_unknown="ignore"))</a:t>
            </a:r>
          </a:p>
          <a:p>
            <a:r>
              <a:t>])  # Primeiro preenche, depois cria indicadores.</a:t>
            </a:r>
          </a:p>
          <a:p>
            <a:endParaRPr/>
          </a:p>
          <a:p>
            <a:r>
              <a:t>most_frequent preenche com a categoria mais frequente do treino. encode aprende quais categorias existem e cria suas colunas indicadoras.</a:t>
            </a:r>
          </a:p>
          <a:p>
            <a:endParaRPr/>
          </a:p>
          <a:p>
            <a:r>
              <a:t>handle_unknown="ignore": se surgir uma categoria inédita, seu bloco fica com zeros em vez de interromper a transformação.</a:t>
            </a:r>
          </a:p>
          <a:p>
            <a:endParaRPr/>
          </a:p>
          <a:p>
            <a:r>
              <a:t>Evitar um erro de execução não garante uma previsão boa para categorias inéditas. Os dados de entrada ainda precisam representar o contexto aprendido.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preparo = ColumnTransformer(transformers=[</a:t>
            </a:r>
          </a:p>
          <a:p>
            <a:r>
              <a:t>    ("num", bloco_num, numericas),  # Só recebe números.</a:t>
            </a:r>
          </a:p>
          <a:p>
            <a:r>
              <a:t>    ("cat", bloco_cat, categoricas)  # Só recebe categorias.</a:t>
            </a:r>
          </a:p>
          <a:p>
            <a:r>
              <a:t>], remainder="drop")  # Descarta outras colunas.</a:t>
            </a:r>
          </a:p>
          <a:p>
            <a:endParaRPr/>
          </a:p>
          <a:p>
            <a:r>
              <a:t>ColumnTransformer distribui as colunas: num executa o bloco numérico e cat executa o categórico. Depois, concatena os resultados lado a lado.</a:t>
            </a:r>
          </a:p>
          <a:p>
            <a:endParaRPr/>
          </a:p>
          <a:p>
            <a:r>
              <a:t>Entrada: sete características originais. Saída nesta divisão: 12 colunas numéricas para o modelo.</a:t>
            </a:r>
          </a:p>
          <a:p>
            <a:endParaRPr/>
          </a:p>
          <a:p>
            <a:r>
              <a:t>São quatro colunas numéricas + dois indicadores de sex + três de embarked + três de pclass. O alvo survived não participa dessa transformação.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modelo = Pipeline(steps=[  # Fluxo completo de aprendizado.</a:t>
            </a:r>
          </a:p>
          <a:p>
            <a:r>
              <a:t>    ("prep", preparo),  # Converte X em uma matriz numérica.</a:t>
            </a:r>
          </a:p>
          <a:p>
            <a:r>
              <a:t>    ("logit", LogisticRegression(</a:t>
            </a:r>
          </a:p>
          <a:p>
            <a:r>
              <a:t>        C=1.0,  # Controla inversamente a regularização.</a:t>
            </a:r>
          </a:p>
          <a:p>
            <a:r>
              <a:t>        solver="lbfgs",  # Método que ajusta os coeficientes.</a:t>
            </a:r>
          </a:p>
          <a:p>
            <a:r>
              <a:t>        max_iter=1000))  # Limite de iterações do otimizador.</a:t>
            </a:r>
          </a:p>
          <a:p>
            <a:r>
              <a:t>])</a:t>
            </a:r>
          </a:p>
          <a:p>
            <a:endParaRPr/>
          </a:p>
          <a:p>
            <a:r>
              <a:t>Pipeline executa as etapas na ordem. No fit, aprende o preparo e os coeficientes. Na previsão, reutiliza o preparo aprendido e aplica o modelo.</a:t>
            </a:r>
          </a:p>
          <a:p>
            <a:endParaRPr/>
          </a:p>
          <a:p>
            <a:r>
              <a:t>O objeto modelo guarda a sequência inteira. Isso permite prever uma nova tabela com as mesmas sete colunas originais.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Parâmetro | O que é | Por que usar</a:t>
            </a:r>
          </a:p>
          <a:p>
            <a:r>
              <a:t>C = 1,0 | Inverso da força de regularização. | Menor C penaliza mais coeficientes grandes.</a:t>
            </a:r>
          </a:p>
          <a:p>
            <a:r>
              <a:t>solver = lbfgs | Método numérico de otimização. | Busca coeficientes que reduzam o objetivo.</a:t>
            </a:r>
          </a:p>
          <a:p>
            <a:r>
              <a:t>max_iter = 1000 | Limite de iterações. | Dá tempo para convergir; não exige 1.000 passos.</a:t>
            </a:r>
          </a:p>
          <a:p>
            <a:endParaRPr/>
          </a:p>
          <a:p>
            <a:r>
              <a:t>Regularização L2 acrescenta uma penalização aos coeficientes para controlar sua magnitude. O ajuste equilibra a perda dos dados e essa penalização.</a:t>
            </a:r>
          </a:p>
          <a:p>
            <a:endParaRPr/>
          </a:p>
          <a:p>
            <a:r>
              <a:t>C não é taxa de aprendizagem nem limiar. Neste ajuste, o otimizador executou 14 iterações. Se houver aviso de convergência, investigue a escala e o limite de iterações.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Validação cruzada divide os 712 passageiros de treino em cinco partes.</a:t>
            </a:r>
          </a:p>
          <a:p>
            <a:endParaRPr/>
          </a:p>
          <a:p>
            <a:r>
              <a:t>Em cada rodada, o modelo aprende com quatro partes e é avaliado na quinta. Repetimos até todas as partes terem sido usadas para avaliação.</a:t>
            </a:r>
          </a:p>
          <a:p>
            <a:endParaRPr/>
          </a:p>
          <a:p>
            <a:r>
              <a:t>Por que usar: uma única divisão pode favorecer ou prejudicar o resultado. As cinco rodadas mostram como o desempenho varia dentro do treino.</a:t>
            </a:r>
          </a:p>
          <a:p>
            <a:endParaRPr/>
          </a:p>
          <a:p>
            <a:r>
              <a:t>Em cada rodada, medianas, escalas, categorias e coeficientes são aprendidos novamente usando apenas as quatro partes de ajuste.</a:t>
            </a:r>
          </a:p>
          <a:p>
            <a:endParaRPr/>
          </a:p>
          <a:p>
            <a:r>
              <a:t>Os 179 passageiros do teste não entram nessas rodadas. ROC-AUC será a métrica de validação para comparar a capacidade de distinguir as classes.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cv = StratifiedKFold(  # Divide mantendo proporções de classes.</a:t>
            </a:r>
          </a:p>
          <a:p>
            <a:r>
              <a:t>    n_splits=5, shuffle=True, random_state=42)</a:t>
            </a:r>
          </a:p>
          <a:p>
            <a:r>
              <a:t>auc_cv = cross_val_score(  # Um resultado para cada rodada.</a:t>
            </a:r>
          </a:p>
          <a:p>
            <a:r>
              <a:t>    modelo, X_train, y_train,  # Usa somente o treino.</a:t>
            </a:r>
          </a:p>
          <a:p>
            <a:r>
              <a:t>    cv=cv, scoring="roc_auc")  # Mede ROC-AUC.</a:t>
            </a:r>
          </a:p>
          <a:p>
            <a:r>
              <a:t>print(auc_cv)  # Mostra os cinco resultados.</a:t>
            </a:r>
          </a:p>
          <a:p>
            <a:r>
              <a:t>print(auc_cv.mean(), auc_cv.std())  # Média e dispersão.</a:t>
            </a:r>
          </a:p>
          <a:p>
            <a:endParaRPr/>
          </a:p>
          <a:p>
            <a:r>
              <a:t>n_splits define quantas partes são usadas. shuffle embaralha antes de dividir; random_state fixa esse embaralhamento. scoring informa o critério de avaliação.</a:t>
            </a:r>
          </a:p>
          <a:p>
            <a:endParaRPr/>
          </a:p>
          <a:p>
            <a:r>
              <a:t>cross_val_score ajusta cópias do pipeline. Depois da validação, ainda precisamos ajustar o modelo final com os 712 passageiros de treino.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Rodada | ROC-AUC</a:t>
            </a:r>
          </a:p>
          <a:p>
            <a:r>
              <a:t>1 | 0,8563</a:t>
            </a:r>
          </a:p>
          <a:p>
            <a:r>
              <a:t>2 | 0,8235</a:t>
            </a:r>
          </a:p>
          <a:p>
            <a:r>
              <a:t>3 | 0,8772</a:t>
            </a:r>
          </a:p>
          <a:p>
            <a:r>
              <a:t>4 | 0,8332</a:t>
            </a:r>
          </a:p>
          <a:p>
            <a:r>
              <a:t>5 | 0,8758</a:t>
            </a:r>
          </a:p>
          <a:p>
            <a:endParaRPr/>
          </a:p>
          <a:p>
            <a:r>
              <a:t>Média = 0,8532; desvio-padrão entre rodadas = 0,0218.</a:t>
            </a:r>
          </a:p>
          <a:p>
            <a:endParaRPr/>
          </a:p>
          <a:p>
            <a:r>
              <a:t>A ordenação das classes foi relativamente semelhante nas cinco rodadas. O desvio indica dispersão, não uma margem de erro garantida. Esses resultados ainda não são a avaliação final do teste.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modelo.fit(X_train, y_train)  # Aprende usando os 712 casos.</a:t>
            </a:r>
          </a:p>
          <a:p>
            <a:r>
              <a:t>idx_1 = list(modelo.classes_).index(1)  # Localiza a classe 1.</a:t>
            </a:r>
          </a:p>
          <a:p>
            <a:r>
              <a:t>prob = modelo.predict_proba(X_test)[:, idx_1]  # P(y=1).</a:t>
            </a:r>
          </a:p>
          <a:p>
            <a:r>
              <a:t>pred = (prob &gt;= 0.5).astype(int)  # Converte em classe.</a:t>
            </a:r>
          </a:p>
          <a:p>
            <a:r>
              <a:t>print(prob[:5])  # Primeiras cinco probabilidades.</a:t>
            </a:r>
          </a:p>
          <a:p>
            <a:r>
              <a:t>print(pred[:5])  # Primeiras cinco decisões 0/1.</a:t>
            </a:r>
          </a:p>
          <a:p>
            <a:endParaRPr/>
          </a:p>
          <a:p>
            <a:r>
              <a:t>predict_proba retorna uma coluna por classe. [:, idx_1] seleciona todas as linhas e somente a coluna de sobrevivência. astype(int) converte False/True em 0/1.</a:t>
            </a:r>
          </a:p>
          <a:p>
            <a:endParaRPr/>
          </a:p>
          <a:p>
            <a:r>
              <a:t>O modelo prevê usando X_test. y_test será consultado depois, para conferir essas previsões. O limiar de 0,5 foi fixado antes dessa avaliação.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Símbolo / variável | O que é | Exemplo ilustrativo</a:t>
            </a:r>
          </a:p>
          <a:p>
            <a:r>
              <a:t>y / y_test | O que realmente aconteceu. | 1: sobreviveu.</a:t>
            </a:r>
          </a:p>
          <a:p>
            <a:r>
              <a:t>p / prob | Probabilidade estimada de sobreviver. | 0,67: estimativa de 67%.</a:t>
            </a:r>
          </a:p>
          <a:p>
            <a:r>
              <a:t>ŷ / pred | Decisão após aplicar o limiar. | 1, pois 0,67 ≥ 0,5.</a:t>
            </a:r>
          </a:p>
          <a:p>
            <a:endParaRPr/>
          </a:p>
          <a:p>
            <a:r>
              <a:t>A probabilidade vem da sigmoide aplicada ao escore. A classe vem de uma regra de decisão. Nenhuma das duas altera o que realmente aconteceu.</a:t>
            </a:r>
          </a:p>
          <a:p>
            <a:endParaRPr/>
          </a:p>
          <a:p>
            <a:r>
              <a:t>Uma previsão de 67% não significa que o passageiro “sobreviveu 67%”. É uma estimativa probabilística para um resultado que, nos dados históricos, foi 0 ou 1.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Índice no CSV | Real y | Probabilidade | Classe prevista | Resultado</a:t>
            </a:r>
          </a:p>
          <a:p>
            <a:r>
              <a:t>565 | 0 | 0,0680 | 0 | TN</a:t>
            </a:r>
          </a:p>
          <a:p>
            <a:r>
              <a:t>297 | 0 | 0,9658 | 1 | FP</a:t>
            </a:r>
          </a:p>
          <a:p>
            <a:r>
              <a:t>553 | 1 | 0,1572 | 0 | FN</a:t>
            </a:r>
          </a:p>
          <a:p>
            <a:r>
              <a:t>241 | 1 | 0,6708 | 1 | TP</a:t>
            </a:r>
          </a:p>
          <a:p>
            <a:endParaRPr/>
          </a:p>
          <a:p>
            <a:r>
              <a:t>O passageiro de índice 297 recebeu alta probabilidade de sobreviver, mas não sobreviveu. O de índice 553 recebeu baixa probabilidade, mas sobreviveu.</a:t>
            </a:r>
          </a:p>
          <a:p>
            <a:endParaRPr/>
          </a:p>
          <a:p>
            <a:r>
              <a:t>Exemplos extraídos do teste desta execução. Índice é a posição original da linha, iniciada em zero; não é PassengerId. Mesmo uma probabilidade alta pode acompanhar uma previsão errada.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matriz = confusion_matrix(y_test, pred, labels=[0, 1])</a:t>
            </a:r>
          </a:p>
          <a:p>
            <a:r>
              <a:t>print(matriz)  # Linhas: reais; colunas: previstas.</a:t>
            </a:r>
          </a:p>
          <a:p>
            <a:endParaRPr/>
          </a:p>
          <a:p>
            <a:r>
              <a:t>Real ↓ / Previsto → | Não sobreviveu (0) | Sobreviveu (1)</a:t>
            </a:r>
          </a:p>
          <a:p>
            <a:r>
              <a:t>Não sobreviveu (0) | TN = 98 | FP = 12</a:t>
            </a:r>
          </a:p>
          <a:p>
            <a:r>
              <a:t>Sobreviveu (1) | FN = 23 | TP = 46</a:t>
            </a:r>
          </a:p>
          <a:p>
            <a:endParaRPr/>
          </a:p>
          <a:p>
            <a:r>
              <a:t>A diagonal reúne os acertos: 98 + 46 = 144. Fora da diagonal ficam os erros: 12 + 23 = 35. Total: 179 passageiros.</a:t>
            </a:r>
          </a:p>
          <a:p>
            <a:endParaRPr/>
          </a:p>
          <a:p>
            <a:r>
              <a:t>labels=[0, 1] fixa a ordem das classes. Leia os nomes dos eixos: outras apresentações podem colocar o positivo na primeira linha.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Sigla | Definição | Leitura dos passageiros</a:t>
            </a:r>
          </a:p>
          <a:p>
            <a:r>
              <a:t>TP = 46 | Positivo verdadeiro. | Sobreviveu e foi previsto como sobrevivente.</a:t>
            </a:r>
          </a:p>
          <a:p>
            <a:r>
              <a:t>TN = 98 | Negativo verdadeiro. | Não sobreviveu e foi previsto como não sobrevivente.</a:t>
            </a:r>
          </a:p>
          <a:p>
            <a:r>
              <a:t>FP = 12 | Falso positivo. | Não sobreviveu, mas foi previsto como sobrevivente.</a:t>
            </a:r>
          </a:p>
          <a:p>
            <a:r>
              <a:t>FN = 23 | Falso negativo. | Sobreviveu, mas foi previsto como não sobrevivente.</a:t>
            </a:r>
          </a:p>
          <a:p>
            <a:endParaRPr/>
          </a:p>
          <a:p>
            <a:r>
              <a:t>Positivo = sobrevivência. As métricas seguintes usam essas mesmas quatro quantidades; muda o grupo que colocamos no denominador.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Pergunta: de todas as previsões, quantas coincidiram com o resultado real?</a:t>
            </a:r>
          </a:p>
          <a:p>
            <a:endParaRPr/>
          </a:p>
          <a:p>
            <a:r>
              <a:t>O que é: proporção total de acertos. Usa as duas classes.</a:t>
            </a:r>
          </a:p>
          <a:p>
            <a:r>
              <a:t>Fórmula: Acurácia = (TP + TN) / (TP + TN + FP + FN).</a:t>
            </a:r>
          </a:p>
          <a:p>
            <a:endParaRPr/>
          </a:p>
          <a:p>
            <a:r>
              <a:t>Neste teste: (46 + 98) / 179 = 144 / 179 = 80,45%.</a:t>
            </a:r>
          </a:p>
          <a:p>
            <a:endParaRPr/>
          </a:p>
          <a:p>
            <a:r>
              <a:t>Leitura prática: o modelo classificou corretamente 144 passageiros e errou 35, usando limiar de 0,5.</a:t>
            </a:r>
          </a:p>
          <a:p>
            <a:endParaRPr/>
          </a:p>
          <a:p>
            <a:r>
              <a:t>Por que usar: fornece uma visão geral dos acertos. Limite: não mostra qual tipo de erro predominou e pode parecer alta quando uma classe é muito frequente.</a:t>
            </a:r>
          </a:p>
          <a:p>
            <a:endParaRPr/>
          </a:p>
          <a:p>
            <a:r>
              <a:t>80,45% é um resultado desta divisão de teste; não uma garantia de acerto para qualquer passageiro futuro.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Pergunta: entre os passageiros previstos como sobreviventes, quantos realmente sobreviveram?</a:t>
            </a:r>
          </a:p>
          <a:p>
            <a:endParaRPr/>
          </a:p>
          <a:p>
            <a:r>
              <a:t>O que é: proporção de positivos previstos que eram verdadeiros.</a:t>
            </a:r>
          </a:p>
          <a:p>
            <a:r>
              <a:t>Fórmula: Precisão = TP / (TP + FP).</a:t>
            </a:r>
          </a:p>
          <a:p>
            <a:endParaRPr/>
          </a:p>
          <a:p>
            <a:r>
              <a:t>Neste teste: 46 / (46 + 12) = 46 / 58 = 79,31%.</a:t>
            </a:r>
          </a:p>
          <a:p>
            <a:endParaRPr/>
          </a:p>
          <a:p>
            <a:r>
              <a:t>Leitura prática: dos 58 passageiros chamados de sobreviventes pelo modelo, 46 sobreviveram e 12 não sobreviveram.</a:t>
            </a:r>
          </a:p>
          <a:p>
            <a:endParaRPr/>
          </a:p>
          <a:p>
            <a:r>
              <a:t>Por que usar: avalia a confiabilidade das previsões positivas. Limite: o modelo pode ter alta precisão prevendo positivo para poucos casos e deixando muitos positivos reais de fora.</a:t>
            </a:r>
          </a:p>
          <a:p>
            <a:endParaRPr/>
          </a:p>
          <a:p>
            <a:r>
              <a:t>O denominador 58 vem das previsões do modelo. Não representa todos os sobreviventes reais, que eram 69.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Pergunta: entre todos os passageiros que sobreviveram, quantos o modelo identificou?</a:t>
            </a:r>
          </a:p>
          <a:p>
            <a:endParaRPr/>
          </a:p>
          <a:p>
            <a:r>
              <a:t>O que é: proporção de positivos reais encontrados; também chamada sensibilidade.</a:t>
            </a:r>
          </a:p>
          <a:p>
            <a:r>
              <a:t>Fórmula: Recall = TP / (TP + FN).</a:t>
            </a:r>
          </a:p>
          <a:p>
            <a:endParaRPr/>
          </a:p>
          <a:p>
            <a:r>
              <a:t>Neste teste: 46 / (46 + 23) = 46 / 69 = 66,67%.</a:t>
            </a:r>
          </a:p>
          <a:p>
            <a:endParaRPr/>
          </a:p>
          <a:p>
            <a:r>
              <a:t>Leitura prática: o modelo encontrou 46 dos 69 sobreviventes e deixou 23 de fora. Perdeu um terço dos positivos reais.</a:t>
            </a:r>
          </a:p>
          <a:p>
            <a:endParaRPr/>
          </a:p>
          <a:p>
            <a:r>
              <a:t>Por que usar: mostra a cobertura dos positivos. Limite: prever todos como positivos produz recall de 100%, mas pode gerar muitos falsos positivos.</a:t>
            </a:r>
          </a:p>
          <a:p>
            <a:endParaRPr/>
          </a:p>
          <a:p>
            <a:r>
              <a:t>O denominador 69 vem da realidade observada. Compare com a precisão: ela usa os 58 positivos previstos.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Métrica | Grupo de partida | Conta | Resposta</a:t>
            </a:r>
          </a:p>
          <a:p>
            <a:r>
              <a:t>Precisão | 58 positivos previstos | 46 / 58 | 79,31% eram sobreviventes.</a:t>
            </a:r>
          </a:p>
          <a:p>
            <a:r>
              <a:t>Recall | 69 sobreviventes reais | 46 / 69 | 66,67% foram encontrados.</a:t>
            </a:r>
          </a:p>
          <a:p>
            <a:endParaRPr/>
          </a:p>
          <a:p>
            <a:r>
              <a:t>Os 46 acertos positivos aparecem nas duas contas. O que muda é a pergunta: “acertei os que anunciei?” ou “encontrei os que existiam?”.</a:t>
            </a:r>
          </a:p>
          <a:p>
            <a:endParaRPr/>
          </a:p>
          <a:p>
            <a:r>
              <a:t>O modelo pode acertar a maioria dos positivos que prevê e, ao mesmo tempo, deixar muitos sobreviventes sem identificar.</a:t>
            </a:r>
          </a:p>
          <a:p>
            <a:endParaRPr/>
          </a:p>
          <a:p>
            <a:r>
              <a:t>Na prática, a prioridade depende do custo do erro. No Titanic histórico, estamos estudando previsão; não definimos uma política real de resgate a partir dessas métricas.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Pergunta: como resumir a confiabilidade e a cobertura dos positivos em um único número?</a:t>
            </a:r>
          </a:p>
          <a:p>
            <a:endParaRPr/>
          </a:p>
          <a:p>
            <a:r>
              <a:t>O que é: média harmônica da precisão e do recall. Essa média é mais afetada pelo menor dos dois valores que a média aritmética.</a:t>
            </a:r>
          </a:p>
          <a:p>
            <a:endParaRPr/>
          </a:p>
          <a:p>
            <a:r>
              <a:t>Fórmula: F1 = 2 × Precisão × Recall / (Precisão + Recall).</a:t>
            </a:r>
          </a:p>
          <a:p>
            <a:r>
              <a:t>Forma equivalente: F1 = 2TP / (2TP + FP + FN).</a:t>
            </a:r>
          </a:p>
          <a:p>
            <a:endParaRPr/>
          </a:p>
          <a:p>
            <a:r>
              <a:t>Neste teste: 92 / (92 + 12 + 23) = 92 / 127 = 0,7244.</a:t>
            </a:r>
          </a:p>
          <a:p>
            <a:endParaRPr/>
          </a:p>
          <a:p>
            <a:r>
              <a:t>Leitura prática: o resultado combina precisão de 79,31% com recall de 66,67%. Não significa 72,44% de passageiros corretamente classificados.</a:t>
            </a:r>
          </a:p>
          <a:p>
            <a:endParaRPr/>
          </a:p>
          <a:p>
            <a:r>
              <a:t>Por que usar: comparar modelos quando as duas dimensões importam. F1 ignora TN e não incorpora o custo real dos erros; não substitui a matriz de confusão.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print("Acurácia:", accuracy_score(y_test, pred))</a:t>
            </a:r>
          </a:p>
          <a:p>
            <a:r>
              <a:t>print("Precisão:", precision_score(y_test, pred, zero_division=0))</a:t>
            </a:r>
          </a:p>
          <a:p>
            <a:r>
              <a:t>print("Recall:", recall_score(y_test, pred, zero_division=0))</a:t>
            </a:r>
          </a:p>
          <a:p>
            <a:r>
              <a:t>print("F1:", f1_score(y_test, pred, zero_division=0))</a:t>
            </a:r>
          </a:p>
          <a:p>
            <a:endParaRPr/>
          </a:p>
          <a:p>
            <a:r>
              <a:t>Cada linha compara y_test, a resposta real, com pred, a decisão 0/1. Por padrão, essas métricas binárias tratam 1 como a classe positiva.</a:t>
            </a:r>
          </a:p>
          <a:p>
            <a:endParaRPr/>
          </a:p>
          <a:p>
            <a:r>
              <a:t>zero_division=0 é uma convenção de saída: retorna zero quando o denominador é zero. Ainda precisamos explicar quando uma métrica é indefinida, por exemplo, se não houver positivos previstos.</a:t>
            </a:r>
          </a:p>
          <a:p>
            <a:endParaRPr/>
          </a:p>
          <a:p>
            <a:r>
              <a:t>Resultados: acurácia 0,8045; precisão 0,7931; recall 0,6667; F1 0,7244. Multiplique por 100 quando quiser apresentar uma proporção em porcentagem.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Baseline é uma referência simples: o modelo precisa justificar sua complexidade superando essa regra.</a:t>
            </a:r>
          </a:p>
          <a:p>
            <a:endParaRPr/>
          </a:p>
          <a:p>
            <a:r>
              <a:t>No treino, 439 de 712 passageiros não sobreviveram. A regra “sempre prever 0” escolhe a classe mais frequente e ignora as características individuais.</a:t>
            </a:r>
          </a:p>
          <a:p>
            <a:endParaRPr/>
          </a:p>
          <a:p>
            <a:r>
              <a:t>No teste | Resposta da regra | Consequência</a:t>
            </a:r>
          </a:p>
          <a:p>
            <a:r>
              <a:t>110 não sobreviventes | Prevê 0 para todos. | 110 acertos negativos.</a:t>
            </a:r>
          </a:p>
          <a:p>
            <a:r>
              <a:t>69 sobreviventes | Prevê 0 para todos. | 69 sobreviventes perdidos.</a:t>
            </a:r>
          </a:p>
          <a:p>
            <a:endParaRPr/>
          </a:p>
          <a:p>
            <a:r>
              <a:t>A regra já alcança 110/179 = 61,45% de acurácia, mas recall de sobreviventes igual a zero. Uma acurácia aparentemente razoável pode esconder uma previsão inútil para a classe positiva.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referencia = DummyClassifier(</a:t>
            </a:r>
          </a:p>
          <a:p>
            <a:r>
              <a:t>    strategy="most_frequent")  # Sempre usa a classe majoritária.</a:t>
            </a:r>
          </a:p>
          <a:p>
            <a:r>
              <a:t>referencia.fit(X_train, y_train)  # Aprende qual classe é maioria.</a:t>
            </a:r>
          </a:p>
          <a:p>
            <a:r>
              <a:t>pred_base = referencia.predict(X_test)  # Aqui, todos recebem 0.</a:t>
            </a:r>
          </a:p>
          <a:p>
            <a:r>
              <a:t>print(accuracy_score(y_test, pred_base))  # Cerca de 0,6145.</a:t>
            </a:r>
          </a:p>
          <a:p>
            <a:r>
              <a:t>print(confusion_matrix(y_test, pred_base, labels=[0, 1]))</a:t>
            </a:r>
          </a:p>
          <a:p>
            <a:endParaRPr/>
          </a:p>
          <a:p>
            <a:r>
              <a:t>DummyClassifier não aprende relações entre idade, tarifa e sobrevivência. Ele aplica a estratégia indicada. fit identifica a classe majoritária usando somente y_train.</a:t>
            </a:r>
          </a:p>
          <a:p>
            <a:endParaRPr/>
          </a:p>
          <a:p>
            <a:r>
              <a:t>Matriz da referência: TN = 110; FP = 0; FN = 69; TP = 0. Como não prevê positivos, sua precisão é indefinida: a conta seria 0/0.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Métrica | Sempre 0 | Regressão logística</a:t>
            </a:r>
          </a:p>
          <a:p>
            <a:r>
              <a:t>Acurácia | 110/179 = 61,45% | 144/179 = 80,45%</a:t>
            </a:r>
          </a:p>
          <a:p>
            <a:r>
              <a:t>Precisão positiva | Indefinida: 0/0 | 46/58 = 79,31%</a:t>
            </a:r>
          </a:p>
          <a:p>
            <a:r>
              <a:t>Recall positivo | 0/69 = 0% | 46/69 = 66,67%</a:t>
            </a:r>
          </a:p>
          <a:p>
            <a:r>
              <a:t>F1 | 0 | 0,7244</a:t>
            </a:r>
          </a:p>
          <a:p>
            <a:endParaRPr/>
          </a:p>
          <a:p>
            <a:r>
              <a:t>O modelo acertou 34 passageiros a mais e passou a encontrar 46 sobreviventes. Em contrapartida, criou 12 falsos positivos.</a:t>
            </a:r>
          </a:p>
          <a:p>
            <a:endParaRPr/>
          </a:p>
          <a:p>
            <a:r>
              <a:t>Ganho de acurácia: (144 − 110)/179 × 100 ≈ 18,99 pontos percentuais. A pergunta não é só “melhorou?”, mas também “qual erro ainda permanece?”.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Limiar τ é o valor a partir do qual a probabilidade vira classe 1.</a:t>
            </a:r>
          </a:p>
          <a:p>
            <a:endParaRPr/>
          </a:p>
          <a:p>
            <a:r>
              <a:t>Probabilidade ilustrativa | τ = 0,3 | τ = 0,5 | τ = 0,7</a:t>
            </a:r>
          </a:p>
          <a:p>
            <a:r>
              <a:t>0,40 | 1 | 0 | 0</a:t>
            </a:r>
          </a:p>
          <a:p>
            <a:r>
              <a:t>0,65 | 1 | 1 | 0</a:t>
            </a:r>
          </a:p>
          <a:p>
            <a:r>
              <a:t>0,90 | 1 | 1 | 1</a:t>
            </a:r>
          </a:p>
          <a:p>
            <a:endParaRPr/>
          </a:p>
          <a:p>
            <a:r>
              <a:t>Reduzir o limiar torna mais fácil prever sobrevivência. Com probabilidades fixas, TP e FP podem aumentar; FN pode diminuir. O recall não diminui, mas a precisão não tem mudança monotônica garantida.</a:t>
            </a:r>
          </a:p>
          <a:p>
            <a:endParaRPr/>
          </a:p>
          <a:p>
            <a:r>
              <a:t>Mudar o limiar não treina novos coeficientes. A escolha deve usar validação e custo dos erros; não procure o melhor limiar nos 179 passageiros do teste.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prob_valid = cross_val_predict(  # Previsões fora do ajuste.</a:t>
            </a:r>
          </a:p>
          <a:p>
            <a:r>
              <a:t>    modelo, X_train, y_train, cv=cv,</a:t>
            </a:r>
          </a:p>
          <a:p>
            <a:r>
              <a:t>    method="predict_proba")[:, idx_1]  # Probabilidade da classe 1.</a:t>
            </a:r>
          </a:p>
          <a:p>
            <a:r>
              <a:t>for tau in [0.3, 0.5, 0.7]:  # Três decisões a comparar.</a:t>
            </a:r>
          </a:p>
          <a:p>
            <a:r>
              <a:t>    pv = (prob_valid &gt;= tau).astype(int)  # Aplica o limiar.</a:t>
            </a:r>
          </a:p>
          <a:p>
            <a:r>
              <a:t>    print(tau, confusion_matrix(y_train, pv, labels=[0, 1]))</a:t>
            </a:r>
          </a:p>
          <a:p>
            <a:r>
              <a:t>    print(precision_score(y_train, pv), recall_score(y_train, pv))</a:t>
            </a:r>
          </a:p>
          <a:p>
            <a:endParaRPr/>
          </a:p>
          <a:p>
            <a:r>
              <a:t>Cada passageiro do treino é previsto por uma cópia do modelo que não o usou no próprio ajuste. Isso permite comparar limiares dentro do treino.</a:t>
            </a:r>
          </a:p>
          <a:p>
            <a:endParaRPr/>
          </a:p>
          <a:p>
            <a:r>
              <a:t>Essa análise é didática e não altera retroativamente o resultado do teste apresentado com τ = 0,5. cross_val_predict retorna previsões; cross_val_score retorna métricas por rodada.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τ | TP | FP | FN | Precisão | Recall</a:t>
            </a:r>
          </a:p>
          <a:p>
            <a:r>
              <a:t>0,3 | 219 | 114 | 54 | 65,77% | 80,22%</a:t>
            </a:r>
          </a:p>
          <a:p>
            <a:r>
              <a:t>0,5 | 191 | 59 | 82 | 76,40% | 69,96%</a:t>
            </a:r>
          </a:p>
          <a:p>
            <a:r>
              <a:t>0,7 | 145 | 19 | 128 | 88,41% | 53,11%</a:t>
            </a:r>
          </a:p>
          <a:p>
            <a:endParaRPr/>
          </a:p>
          <a:p>
            <a:r>
              <a:t>Com τ = 0,3, encontramos mais sobreviventes, mas produzimos mais falsos positivos. Com τ = 0,7, os positivos previstos são mais confiáveis, mas muitos sobreviventes ficam de fora.</a:t>
            </a:r>
          </a:p>
          <a:p>
            <a:endParaRPr/>
          </a:p>
          <a:p>
            <a:r>
              <a:t>Não existe um limiar universalmente melhor: a escolha depende de quais erros a aplicação tolera.</a:t>
            </a:r>
          </a:p>
          <a:p>
            <a:endParaRPr/>
          </a:p>
          <a:p>
            <a:r>
              <a:t>São previsões de validação cruzada nos 712 casos de treino. Não compare essas contagens diretamente com as do teste, que contém 179 passageiros.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Previsão ilustrativa para y = 1 | Classe com τ = 0,5 | Acertou?</a:t>
            </a:r>
          </a:p>
          <a:p>
            <a:r>
              <a:t>p = 0,51 | 1 | Sim</a:t>
            </a:r>
          </a:p>
          <a:p>
            <a:r>
              <a:t>p = 0,99 | 1 | Sim</a:t>
            </a:r>
          </a:p>
          <a:p>
            <a:endParaRPr/>
          </a:p>
          <a:p>
            <a:r>
              <a:t>A acurácia, a precisão, o recall e o F1 veem a mesma decisão nos dois casos. Não distinguem o quanto de probabilidade foi atribuído à sobrevivência.</a:t>
            </a:r>
          </a:p>
          <a:p>
            <a:endParaRPr/>
          </a:p>
          <a:p>
            <a:r>
              <a:t>ROC-AUC pergunta se os positivos ficam acima dos negativos. Log loss pergunta quanta probabilidade foi atribuída ao resultado real.</a:t>
            </a:r>
          </a:p>
          <a:p>
            <a:endParaRPr/>
          </a:p>
          <a:p>
            <a:r>
              <a:t>Essas métricas acrescentam informação. Elas não substituem a contagem dos erros produzidos pelo limiar escolhido.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curva ROC reúne os resultados obtidos ao variar o limiar. Cada ponto representa uma combinação entre encontrar sobreviventes e classificar não sobreviventes como positivos.</a:t>
            </a:r>
          </a:p>
          <a:p>
            <a:endParaRPr/>
          </a:p>
          <a:p>
            <a:r>
              <a:t>Eixo | Fórmula | No teste com τ = 0,5</a:t>
            </a:r>
          </a:p>
          <a:p>
            <a:r>
              <a:t>Vertical: taxa de positivos encontrados | TP / (TP + FN) = recall | 46 / 69 = 66,67%</a:t>
            </a:r>
          </a:p>
          <a:p>
            <a:r>
              <a:t>Horizontal: taxa de falsos positivos | FP / (FP + TN) | 12 / 110 = 10,91%</a:t>
            </a:r>
          </a:p>
          <a:p>
            <a:endParaRPr/>
          </a:p>
          <a:p>
            <a:r>
              <a:t>Queremos encontrar muitos positivos sem gerar muitos falsos positivos: pontos mais próximos do canto superior esquerdo são desejáveis.</a:t>
            </a:r>
          </a:p>
          <a:p>
            <a:endParaRPr/>
          </a:p>
          <a:p>
            <a:r>
              <a:t>A taxa de falsos positivos usa todos os negativos reais no denominador. Ela não é 1 − precisão, que usa todos os positivos previstos.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Curva ROC calculada</a:t>
            </a:r>
          </a:p>
          <a:p>
            <a:endParaRPr/>
          </a:p>
          <a:p>
            <a:r>
              <a:t>O ponto destacado usa τ = 0,5: encontra 66,67% dos sobreviventes e marca 10,91% dos não sobreviventes como positivos.</a:t>
            </a:r>
          </a:p>
          <a:p>
            <a:endParaRPr/>
          </a:p>
          <a:p>
            <a:r>
              <a:t>A linha tracejada representa ordenação equivalente ao acaso. A área sob a curva do modelo é 0,8427; não é a acurácia de um único limiar.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AUC significa área sob a curva. Ela resume a capacidade de ordenar positivos acima de negativos.</a:t>
            </a:r>
          </a:p>
          <a:p>
            <a:endParaRPr/>
          </a:p>
          <a:p>
            <a:r>
              <a:t>Outra leitura: forme um par com um sobrevivente e um não sobrevivente. Verifique se o sobrevivente recebeu maior probabilidade. AUC corresponde à proporção de pares ordenados corretamente, com meio acerto nos empates.</a:t>
            </a:r>
          </a:p>
          <a:p>
            <a:endParaRPr/>
          </a:p>
          <a:p>
            <a:r>
              <a:t>Valor | Como interpretar</a:t>
            </a:r>
          </a:p>
          <a:p>
            <a:r>
              <a:t>1,0 | Todos os positivos ficam acima de todos os negativos.</a:t>
            </a:r>
          </a:p>
          <a:p>
            <a:r>
              <a:t>0,5 | Ordenação equivalente ao acaso.</a:t>
            </a:r>
          </a:p>
          <a:p>
            <a:r>
              <a:t>Abaixo de 0,5 | Tendência de ordenação invertida.</a:t>
            </a:r>
          </a:p>
          <a:p>
            <a:endParaRPr/>
          </a:p>
          <a:p>
            <a:r>
              <a:t>Por que usar: comparar a capacidade de distinguir classes ao longo dos limiares. Limite: não escolhe o limiar, não mede custo do erro e não garante calibração.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Exemplo ilustrativo: dois sobreviventes recebem 0,80 e 0,40; dois não sobreviventes recebem 0,60 e 0,20.</a:t>
            </a:r>
          </a:p>
          <a:p>
            <a:endParaRPr/>
          </a:p>
          <a:p>
            <a:r>
              <a:t>Sobrevivente × não sobrevivente | Ordenação</a:t>
            </a:r>
          </a:p>
          <a:p>
            <a:r>
              <a:t>0,80 &gt; 0,60 | Correta</a:t>
            </a:r>
          </a:p>
          <a:p>
            <a:r>
              <a:t>0,80 &gt; 0,20 | Correta</a:t>
            </a:r>
          </a:p>
          <a:p>
            <a:r>
              <a:t>0,40 &lt; 0,60 | Incorreta</a:t>
            </a:r>
          </a:p>
          <a:p>
            <a:r>
              <a:t>0,40 &gt; 0,20 | Correta</a:t>
            </a:r>
          </a:p>
          <a:p>
            <a:endParaRPr/>
          </a:p>
          <a:p>
            <a:r>
              <a:t>Três pares corretos em quatro: AUC = 3/4 = 0,75.</a:t>
            </a:r>
          </a:p>
          <a:p>
            <a:endParaRPr/>
          </a:p>
          <a:p>
            <a:r>
              <a:t>Os números são ilustrativos. A conta compara pares entre classes, não a porcentagem de passageiros classificados corretamente.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auc_teste = roc_auc_score(y_test, prob)  # Usa probabilidades.</a:t>
            </a:r>
          </a:p>
          <a:p>
            <a:r>
              <a:t>print(auc_teste)  # Aproximadamente 0,8427.</a:t>
            </a:r>
          </a:p>
          <a:p>
            <a:endParaRPr/>
          </a:p>
          <a:p>
            <a:r>
              <a:t>Pergunta: sobreviventes tendem a receber probabilidades maiores que não sobreviventes?</a:t>
            </a:r>
          </a:p>
          <a:p>
            <a:endParaRPr/>
          </a:p>
          <a:p>
            <a:r>
              <a:t>No teste, existem 69 × 110 = 7.590 pares entre classes. A AUC corresponde a cerca de 84,27% de ordenação correta desses pares, contabilizando empates como meio acerto.</a:t>
            </a:r>
          </a:p>
          <a:p>
            <a:endParaRPr/>
          </a:p>
          <a:p>
            <a:r>
              <a:t>Leitura prática: o modelo distingue as classes melhor que uma pontuação constante, cuja AUC seria 0,5. Mesmo assim, com τ = 0,5 ele ainda perde 23 sobreviventes.</a:t>
            </a:r>
          </a:p>
          <a:p>
            <a:endParaRPr/>
          </a:p>
          <a:p>
            <a:r>
              <a:t>Use prob, não pred: transformar tudo em 0/1 descarta a ordenação detalhada das probabilidades. AUC não significa 84,27% de acurácia nem 84,27% de probabilidade para cada passageiro.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Pergunta: quanta probabilidade o modelo atribuiu ao que realmente aconteceu?</a:t>
            </a:r>
          </a:p>
          <a:p>
            <a:endParaRPr/>
          </a:p>
          <a:p>
            <a:r>
              <a:t>O que é: média da perda logarítmica das probabilidades previstas. Quanto menor a probabilidade atribuída ao resultado real, maior a penalização.</a:t>
            </a:r>
          </a:p>
          <a:p>
            <a:endParaRPr/>
          </a:p>
          <a:p>
            <a:r>
              <a:t>Resultado real | Probabilidade do resultado real | Perda individual</a:t>
            </a:r>
          </a:p>
          <a:p>
            <a:r>
              <a:t>y = 1: sobreviveu | p | −ln(p)</a:t>
            </a:r>
          </a:p>
          <a:p>
            <a:r>
              <a:t>y = 0: não sobreviveu | 1 − p | −ln(1 − p)</a:t>
            </a:r>
          </a:p>
          <a:p>
            <a:endParaRPr/>
          </a:p>
          <a:p>
            <a:r>
              <a:t>p sempre significa probabilidade de sobrevivência. ln é o logaritmo natural. Para avaliar todos os passageiros, somamos suas perdas e dividimos pela quantidade de casos.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Caso ilustrativo | p de sobreviver | Perda</a:t>
            </a:r>
          </a:p>
          <a:p>
            <a:r>
              <a:t>Sobreviveu e recebeu p alto | 0,90 | −ln(0,90) = 0,105</a:t>
            </a:r>
          </a:p>
          <a:p>
            <a:r>
              <a:t>Sobreviveu e recebeu p moderado | 0,60 | −ln(0,60) = 0,511</a:t>
            </a:r>
          </a:p>
          <a:p>
            <a:r>
              <a:t>Sobreviveu e recebeu p baixo | 0,10 | −ln(0,10) = 2,303</a:t>
            </a:r>
          </a:p>
          <a:p>
            <a:r>
              <a:t>Não sobreviveu e recebeu p alto | 0,90 | −ln(0,10) = 2,303</a:t>
            </a:r>
          </a:p>
          <a:p>
            <a:endParaRPr/>
          </a:p>
          <a:p>
            <a:r>
              <a:t>Nos quatro casos ilustrativos: perda média ≈ (0,105 + 0,511 + 2,303 + 2,303)/4 = 1,305.</a:t>
            </a:r>
          </a:p>
          <a:p>
            <a:endParaRPr/>
          </a:p>
          <a:p>
            <a:r>
              <a:t>Por que usar: diferencia probabilidades mesmo quando a classe prevista é igual. Errar com muita confiança custa mais. Log loss não é porcentagem de erro; seu valor não tem limite superior finito.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perda_teste = log_loss(y_test, prob)  # Média no teste.</a:t>
            </a:r>
          </a:p>
          <a:p>
            <a:r>
              <a:t>base_prob = DummyClassifier(strategy="prior")  # Frequências.</a:t>
            </a:r>
          </a:p>
          <a:p>
            <a:r>
              <a:t>base_prob.fit(X_train, y_train)  # Aprende proporções do treino.</a:t>
            </a:r>
          </a:p>
          <a:p>
            <a:r>
              <a:t>prob_base = base_prob.predict_proba(X_test)[:, idx_1]</a:t>
            </a:r>
          </a:p>
          <a:p>
            <a:r>
              <a:t>print(perda_teste, log_loss(y_test, prob_base))</a:t>
            </a:r>
          </a:p>
          <a:p>
            <a:endParaRPr/>
          </a:p>
          <a:p>
            <a:r>
              <a:t>A referência prior atribui a todos a mesma probabilidade de sobrevivência: 273/712 ≈ 0,3834. Ela não diferencia passageiros, mas fornece uma comparação probabilística.</a:t>
            </a:r>
          </a:p>
          <a:p>
            <a:endParaRPr/>
          </a:p>
          <a:p>
            <a:r>
              <a:t>Referência: 0,6667. Modelo: 0,4622. O modelo teve menor perda média nos mesmos 179 casos.</a:t>
            </a:r>
          </a:p>
          <a:p>
            <a:endParaRPr/>
          </a:p>
          <a:p>
            <a:r>
              <a:t>Isso apoia a conclusão de melhora segundo a log loss. Não significa 46,22% de erro. Essa é a perda dos dados no teste; a penalização L2 do treinamento não é somada aqui.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Probabilidades calibradas correspondem às frequências observadas em grupos de casos semelhantes em probabilidade.</a:t>
            </a:r>
          </a:p>
          <a:p>
            <a:endParaRPr/>
          </a:p>
          <a:p>
            <a:r>
              <a:t>Exemplo ilustrativo: reúna 100 passageiros com probabilidade prevista próxima de 70%. Se cerca de 70 sobreviveram, há boa correspondência nesse grupo. Se só 40 sobreviveram, as previsões foram excessivamente altas ali.</a:t>
            </a:r>
          </a:p>
          <a:p>
            <a:endParaRPr/>
          </a:p>
          <a:p>
            <a:r>
              <a:t>A ROC-AUC pode continuar alta mesmo com probabilidades exageradas: preservar a ordem dos passageiros preserva a AUC, mas não necessariamente a qualidade das probabilidades.</a:t>
            </a:r>
          </a:p>
          <a:p>
            <a:endParaRPr/>
          </a:p>
          <a:p>
            <a:r>
              <a:t>Por que avaliar: quando o valor da probabilidade orienta uma decisão ou estimativa de risco. Nesta aula não concluímos que o modelo está calibrado; isso exigiria comparar frequências e probabilidades, considerando o tamanho dos grupos.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Métrica | Pergunta | Resposta no teste</a:t>
            </a:r>
          </a:p>
          <a:p>
            <a:r>
              <a:t>Acurácia | Quantas classes acertamos? | 144/179 = 80,45%.</a:t>
            </a:r>
          </a:p>
          <a:p>
            <a:r>
              <a:t>Precisão | Dos positivos previstos, quantos eram reais? | 46/58 = 79,31%.</a:t>
            </a:r>
          </a:p>
          <a:p>
            <a:r>
              <a:t>Recall | Dos sobreviventes reais, quantos encontramos? | 46/69 = 66,67%.</a:t>
            </a:r>
          </a:p>
          <a:p>
            <a:r>
              <a:t>F1 | Como resumir precisão e recall? | 0,7244.</a:t>
            </a:r>
          </a:p>
          <a:p>
            <a:r>
              <a:t>ROC-AUC | Os positivos ficam acima dos negativos? | 0,8427.</a:t>
            </a:r>
          </a:p>
          <a:p>
            <a:r>
              <a:t>Log loss | Quanta probabilidade demos ao resultado real? | 0,4622; referência = 0,6667.</a:t>
            </a:r>
          </a:p>
          <a:p>
            <a:endParaRPr/>
          </a:p>
          <a:p>
            <a:r>
              <a:t>A interpretação deve ligar número, pergunta e consequência. Uma única métrica não descreve todos os aspectos de uma previsão.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novo = pd.DataFrame([{  # Uma linha com as sete entradas.</a:t>
            </a:r>
          </a:p>
          <a:p>
            <a:r>
              <a:t>    "age": 28, "fare": 30, "sibsp": 0, "parch": 0,</a:t>
            </a:r>
          </a:p>
          <a:p>
            <a:r>
              <a:t>    "sex": "female", "embarked": "S", "pclass": 2</a:t>
            </a:r>
          </a:p>
          <a:p>
            <a:r>
              <a:t>}])</a:t>
            </a:r>
          </a:p>
          <a:p>
            <a:r>
              <a:t>p_novo = modelo.predict_proba(novo)[0, idx_1]  # Primeira linha.</a:t>
            </a:r>
          </a:p>
          <a:p>
            <a:r>
              <a:t>print(p_novo)  # Aproximadamente 0,8235.</a:t>
            </a:r>
          </a:p>
          <a:p>
            <a:r>
              <a:t>print(int(p_novo &gt;= 0.5))  # Classe prevista: 1.</a:t>
            </a:r>
          </a:p>
          <a:p>
            <a:endParaRPr/>
          </a:p>
          <a:p>
            <a:r>
              <a:t>Leitura prática: para essa passageira hipotética, o modelo estima 82,35% de probabilidade de sobrevivência. Com limiar 0,5, prevê sobrevivência.</a:t>
            </a:r>
          </a:p>
          <a:p>
            <a:endParaRPr/>
          </a:p>
          <a:p>
            <a:r>
              <a:t>A mesma mediana, escala, codificação e os mesmos coeficientes são reutilizados. A previsão não comprova que uma pessoa com essas características sobreviveria.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nomes = modelo.named_steps["prep"].get_feature_names_out()</a:t>
            </a:r>
          </a:p>
          <a:p>
            <a:r>
              <a:t>pesos = modelo.named_steps["logit"].coef_[0]  # Um por entrada.</a:t>
            </a:r>
          </a:p>
          <a:p>
            <a:r>
              <a:t>coeficientes = pd.Series(pesos, index=nomes)  # Liga nome e peso.</a:t>
            </a:r>
          </a:p>
          <a:p>
            <a:r>
              <a:t>print(coeficientes)  # Mostra os 12 coeficientes.</a:t>
            </a:r>
          </a:p>
          <a:p>
            <a:r>
              <a:t>print(modelo.named_steps["logit"].intercept_)  # Intercepto.</a:t>
            </a:r>
          </a:p>
          <a:p>
            <a:endParaRPr/>
          </a:p>
          <a:p>
            <a:r>
              <a:t>named_steps acessa uma etapa pelo nome. coef_[0] contém os coeficientes da classe 1; intercept_ contém o termo constante do escore.</a:t>
            </a:r>
          </a:p>
          <a:p>
            <a:endParaRPr/>
          </a:p>
          <a:p>
            <a:r>
              <a:t>Os coeficientes multiplicam as entradas já transformadas. Eles não são gradientes, probabilidades nem parcelas da acurácia. Seu significado depende da escala e da codificação.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Coeficiente nesta execução | Leitura mantendo as demais entradas fixas</a:t>
            </a:r>
          </a:p>
          <a:p>
            <a:r>
              <a:t>age padronizada: −0,4893 | Maior idade reduz o escore de sobrevivência.</a:t>
            </a:r>
          </a:p>
          <a:p>
            <a:r>
              <a:t>fare padronizada: +0,1339 | Maior tarifa aumenta o escore.</a:t>
            </a:r>
          </a:p>
          <a:p>
            <a:r>
              <a:t>sex_female: +1,3644</a:t>
            </a:r>
          </a:p>
          <a:p>
            <a:r>
              <a:t>sex_male: −1,2424 | Trocar male por female altera o escore pela diferença: +2,6067.</a:t>
            </a:r>
          </a:p>
          <a:p>
            <a:endParaRPr/>
          </a:p>
          <a:p>
            <a:r>
              <a:t>Uma unidade em age padronizada corresponde a um desvio-padrão, não a um ano. Como mantivemos todas as categorias, comparamos seus coeficientes entre si.</a:t>
            </a:r>
          </a:p>
          <a:p>
            <a:endParaRPr/>
          </a:p>
          <a:p>
            <a:r>
              <a:t>Essas são associações aprendidas neste modelo. Não provam causalidade nem medem importância de forma isolada. Um coeficiente positivo não acrescenta um número fixo de pontos percentuais à probabilidade.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nova passageira passa pelo preparo e produz 12 entradas numéricas.</a:t>
            </a:r>
          </a:p>
          <a:p>
            <a:endParaRPr/>
          </a:p>
          <a:p>
            <a:r>
              <a:t>O modelo calcula: z = intercepto + soma(coeficiente × entrada transformada).</a:t>
            </a:r>
          </a:p>
          <a:p>
            <a:r>
              <a:t>Para essa passageira, z ≈ 1,5403.</a:t>
            </a:r>
          </a:p>
          <a:p>
            <a:r>
              <a:t>A sigmoide converte: p = 1 / (1 + exp(−1,5403)) ≈ 0,8235.</a:t>
            </a:r>
          </a:p>
          <a:p>
            <a:endParaRPr/>
          </a:p>
          <a:p>
            <a:r>
              <a:t>Depois vem a decisão: 0,8235 ≥ 0,5 → classe 1.</a:t>
            </a:r>
          </a:p>
          <a:p>
            <a:endParaRPr/>
          </a:p>
          <a:p>
            <a:r>
              <a:t>Se o limiar fosse 0,9, a mesma probabilidade produziria classe 0. Os coeficientes e a probabilidade permaneceriam iguais; a regra de decisão teria mudado.</a:t>
            </a:r>
          </a:p>
          <a:p>
            <a:endParaRPr/>
          </a:p>
          <a:p>
            <a:r>
              <a:t>Treinar encontra coeficientes. Prever calcula escore e probabilidade. Classificar aplica o limiar. Avaliar compara as previsões com resultados reais conhecidos.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“No teste de 179 passageiros, o modelo acertou 144 casos (80,45%), superando a referência de classe majoritária (61,45%).”</a:t>
            </a:r>
          </a:p>
          <a:p>
            <a:endParaRPr/>
          </a:p>
          <a:p>
            <a:r>
              <a:t>“Identificou 46 dos 69 sobreviventes (recall de 66,67%). Entre os 58 previstos como sobreviventes, 46 eram positivos reais (precisão de 79,31%). Ainda houve 23 falsos negativos e 12 falsos positivos.”</a:t>
            </a:r>
          </a:p>
          <a:p>
            <a:endParaRPr/>
          </a:p>
          <a:p>
            <a:r>
              <a:t>“A ROC-AUC de 0,8427 indica boa capacidade de ordenação neste conjunto. A log loss de 0,4622 foi menor que a referência probabilística de 0,6667.”</a:t>
            </a:r>
          </a:p>
          <a:p>
            <a:endParaRPr/>
          </a:p>
          <a:p>
            <a:r>
              <a:t>Essa conclusão conecta cada número à pergunta que responde. Para aprovar um sistema real, ainda faltaria definir o uso, o custo dos erros e a representatividade dos dados.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podemos garantir 80,45% de acurácia em qualquer população: o resultado pertence a esta divisão e a esta versão do Titanic.</a:t>
            </a:r>
          </a:p>
          <a:p>
            <a:endParaRPr/>
          </a:p>
          <a:p>
            <a:r>
              <a:t>Não podemos afirmar que os coeficientes demonstram causas da sobrevivência. Variáveis podem representar associações e fatores não medidos.</a:t>
            </a:r>
          </a:p>
          <a:p>
            <a:endParaRPr/>
          </a:p>
          <a:p>
            <a:r>
              <a:t>Não podemos escolher novas configurações repetidamente olhando o teste e continuar chamando-o de avaliação independente.</a:t>
            </a:r>
          </a:p>
          <a:p>
            <a:endParaRPr/>
          </a:p>
          <a:p>
            <a:r>
              <a:t>Em outros problemas, passageiros da mesma família, observações do mesmo indivíduo ou registros ao longo do tempo podem exigir separações por grupo ou por data.</a:t>
            </a:r>
          </a:p>
          <a:p>
            <a:endParaRPr/>
          </a:p>
          <a:p>
            <a:r>
              <a:t>A prática mostra como construir e avaliar um fluxo de classificação. Uma avaliação útil depende de representar o cenário em que o modelo será usado.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Por que a referência “sempre 0” acerta 61,45%, mas não encontra nenhum sobrevivente?</a:t>
            </a:r>
          </a:p>
          <a:p>
            <a:r>
              <a:t>2. Explique por que 46 aparece tanto na precisão quanto no recall, enquanto os denominadores são diferentes.</a:t>
            </a:r>
          </a:p>
          <a:p>
            <a:r>
              <a:t>3. Um passageiro recebeu p = 0,9658, mas não sobreviveu. Qual é o tipo de erro com τ = 0,5? Sua log loss é pequena ou grande?</a:t>
            </a:r>
          </a:p>
          <a:p>
            <a:r>
              <a:t>4. ROC-AUC = 0,8427 significa 84,27% de passageiros classificados corretamente? Justifique.</a:t>
            </a:r>
          </a:p>
          <a:p>
            <a:r>
              <a:t>5. Por que preencher age antes de separar treino e teste altera a avaliação?</a:t>
            </a:r>
          </a:p>
          <a:p>
            <a:endParaRPr/>
          </a:p>
          <a:p>
            <a:r>
              <a:t>Responda citando o grupo contado, a fórmula ou a etapa que está sendo utilizada. Evite respostas como “porque a métrica ficou boa”.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6. Recalcule precisão, recall e F1 diretamente de TP = 46, TN = 98, FP = 12 e FN = 23. Confira com as funções.</a:t>
            </a:r>
          </a:p>
          <a:p>
            <a:r>
              <a:t>7. Compare C = 0,1; 1; 10 por validação cruzada no treino. Registre a média e o desvio da AUC.</a:t>
            </a:r>
          </a:p>
          <a:p>
            <a:r>
              <a:t>8. Nos resultados de validação, qual limiar encontra mais sobreviventes? Qual produz menos falsos positivos?</a:t>
            </a:r>
          </a:p>
          <a:p>
            <a:r>
              <a:t>9. Calcule a perda de y = 1 com p = 0,9 e com p = 0,1. Explique a diferença.</a:t>
            </a:r>
          </a:p>
          <a:p>
            <a:r>
              <a:t>10. Explique por que a mesma passageira pode receber classes diferentes com limiares diferentes sem ser necessário treinar novamente.</a:t>
            </a:r>
          </a:p>
          <a:p>
            <a:endParaRPr/>
          </a:p>
          <a:p>
            <a:r>
              <a:t>Para o exercício 7, escolha antes de avaliar um novo teste independente. Não reutilize os resultados do teste desta aula para otimizar o modelo.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Item | Resposta esperada</a:t>
            </a:r>
          </a:p>
          <a:p>
            <a:r>
              <a:t>1–2 | A referência acerta os 110 negativos. Precisão usa 58 positivos previstos; recall usa 69 positivos reais.</a:t>
            </a:r>
          </a:p>
          <a:p>
            <a:r>
              <a:t>3–4 | FP; perda alta, pois o resultado real recebeu pouca probabilidade. AUC avalia pares, não acurácia.</a:t>
            </a:r>
          </a:p>
          <a:p>
            <a:r>
              <a:t>5–6 | A mediana incluiria informação do teste. Precisão = 0,7931; recall = 0,6667; F1 = 0,7244.</a:t>
            </a:r>
          </a:p>
          <a:p>
            <a:r>
              <a:t>7–8 | C deve ser comparado dentro do treino. Na tabela: τ = 0,3 encontra mais positivos; τ = 0,7 gera menos FP.</a:t>
            </a:r>
          </a:p>
          <a:p>
            <a:r>
              <a:t>9–10 | Perdas ≈ 0,105 e 2,303. Mudar o limiar altera a decisão, mantendo a mesma probabilidade.</a:t>
            </a:r>
          </a:p>
          <a:p>
            <a:endParaRPr/>
          </a:p>
          <a:p>
            <a:r>
              <a:t>Ao concluir: diga o que foi medido, em quais dados, contra qual referência e quais erros ainda precisam ser controlados.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Dados: Titanic do repositório seaborn-data, de Michael Waskom.</a:t>
            </a:r>
          </a:p>
          <a:p>
            <a:r>
              <a:t>Documentação: scikit-learn — Pipeline, ColumnTransformer, LogisticRegression, validação cruzada e métricas de classificação.</a:t>
            </a:r>
          </a:p>
          <a:p>
            <a:endParaRPr/>
          </a:p>
          <a:p>
            <a:r>
              <a:t>Continuidade: retoma a aula de métricas (pergunta, fórmula, interpretação e limite) e a aula de regressão (dos dados e erros individuais à avaliação do modelo).</a:t>
            </a:r>
          </a:p>
          <a:p>
            <a:endParaRPr/>
          </a:p>
          <a:p>
            <a:r>
              <a:t>Os exemplos de imputação, pares de AUC e perdas individuais foram identificados como ilustrativos. As contagens, métricas, coeficientes e previsões do Titanic foram calculados com o código desta sequência.</a:t>
            </a:r>
          </a:p>
          <a:p>
            <a:endParaRPr/>
          </a:p>
          <a:p>
            <a:r>
              <a:t>Dados: github.com/mwaskom/seaborn-data</a:t>
            </a:r>
          </a:p>
          <a:p>
            <a:r>
              <a:t>Documentação: scikit-learn.org/stable/</a:t>
            </a:r>
          </a:p>
          <a:p>
            <a:r>
              <a:t>Links específicos e observações técnicas estão nas notas dos slides.</a:t>
            </a:r>
          </a:p>
          <a:p>
            <a:endParaRPr/>
          </a:p>
          <a:p>
            <a:r>
              <a:t>[Sources]</a:t>
            </a:r>
          </a:p>
          <a:p>
            <a:r>
              <a:t>Identidade visual: Aula 6 - Regressão Logistica1.pptx, fornecida pelo professor.</a:t>
            </a:r>
          </a:p>
          <a:p>
            <a:r>
              <a:t>Referência pedagógica: aula_metricas_fundamentos_antes_algoritmos (1)(2).pptx e Aula_6_Regressao_Linear_multipla_polinomial(1).pptx.</a:t>
            </a:r>
          </a:p>
          <a:p>
            <a:r>
              <a:t>Dados: https://github.com/mwaskom/seaborn-data/blob/master/titanic.csv</a:t>
            </a:r>
          </a:p>
          <a:p>
            <a:r>
              <a:t>Definições das métricas: https://scikit-learn.org/stable/modules/model_evaluation.html</a:t>
            </a:r>
          </a:p>
          <a:p>
            <a:r>
              <a:t>Modelo: https://scikit-learn.org/stable/modules/generated/sklearn.linear_model.LogisticRegression.html</a:t>
            </a:r>
          </a:p>
          <a:p>
            <a:r>
              <a:t>Preparo: https://scikit-learn.org/stable/common_pitfalls.html</a:t>
            </a:r>
          </a:p>
          <a:p>
            <a:r>
              <a:t>Calibração: https://scikit-learn.org/stable/modules/calibration.html</a:t>
            </a:r>
          </a:p>
          <a:p>
            <a:r>
              <a:t>Cálculos desta apresentação: execução própria com sklearn1.8.0, pandas2.2.3, numpy2.3.5; split80/20 estratificado, random_state42.</a:t>
            </a:r>
          </a:p>
          <a:p>
            <a:r>
              <a:t>[/Sources]</a:t>
            </a:r>
          </a:p>
          <a:p>
            <a:endParaRPr/>
          </a:p>
          <a:p>
            <a:r>
              <a:t>As tabelas de limiar usam previsões de validação cruzada nos 712 passageiros de treino; não são resultados do teste. O limiar0,5 do teste foi fixado previamente. Os exemplos ilustrativos estão identificados como tal. Maior recall ao reduzir o limiar não implica queda monotônica garantida 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88EE9-35D9-44E0-934B-3B4AF87F1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E8BF95-7DB2-437B-8677-A2C48CE67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6F4C54-7F24-4815-B375-FCFB4621EC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C11C66C-0622-4057-9A8F-41ABA6A00B0C}" type="datetime1">
              <a:t>07/09/2026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0A53F2-4991-4CFB-A5B0-BDD47575E1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5F577B-0B2F-425F-9538-09BAFD3786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30A3B-2335-431B-A4F7-7B8BD9E5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0D06D-97B9-4B75-851D-17389329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915DB4-4809-4B8E-897E-549BEC5837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DFC009-E659-4C5E-A085-389C3F5E6976}" type="datetime1">
              <a:t>07/09/2026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54262-8C63-4521-8A2C-678716B3B9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63663-9A1C-4989-96D6-7DFB5AE5A1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D9DC2-B265-48A8-AA25-5BBB2513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C02AB0-B703-496D-9C90-FBAE9F2E4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745AC8-9C89-4673-846E-76A81A7837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421F52E-E385-45D6-9C9C-478A43B9B1F5}" type="datetime1">
              <a:t>07/09/2026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C252D0-390D-48BE-AAB6-66C2AB8430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C295C5-22E7-4A9B-98BC-E26CB46518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4A3CD-5C38-4029-AF67-261D547F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ABD9C0-5A79-482B-948E-8FF6C0F44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9C8404-21BE-406F-9053-B978A48D066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73A459-E728-451B-8A95-0C64F84AF3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7D1D87-8F45-48CC-ADFA-762C0DD5109C}" type="datetime1">
              <a:t>07/09/2026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6C32BC-B901-465B-B28B-09E582CF71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EEBFCE-B30C-43BA-82E6-0DF258E099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3D7D3-7F09-49A5-8A57-9689EFD5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4FCEF6-A69A-4EA2-AF2C-A4BE7F75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4B67CD-358D-42FC-9893-9332848518F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B8A791-FACA-4289-8FFE-D89E34054A0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A29A48-6090-4C40-853B-C62E4679BC1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F660D0-9B73-4FB0-B826-55E83E2B66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D8DDE3D-F89F-4DA6-AC8C-6B667814E987}" type="datetime1">
              <a:t>07/09/2026</a:t>
            </a:fld>
            <a:endParaRPr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AB1CA2-5169-4399-99F4-F3D50FE76A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1A7A87C-7D0D-421B-9300-22774AE8FA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C8D08-1B39-4585-BFAC-725D77D0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EC3431-BDC3-4753-A507-C3C4FB1526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00A6EF6-53E0-4F04-B7D7-10D4755DAFEA}" type="datetime1">
              <a:t>07/09/2026</a:t>
            </a:fld>
            <a:endParaRPr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2AFBF5-FC87-41AD-9BE5-F901329A4B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7E06CC-B1E4-4382-90DC-7742D17010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5DD363-144D-41CE-94CF-E2459E5149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500A54A-877B-448B-8F34-9B83D1A0E4C0}" type="datetime1">
              <a:t>07/09/2026</a:t>
            </a:fld>
            <a:endParaRPr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E2A2A1-C7C1-457E-97D0-F2C4405341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C7CEA-1299-483A-8AAB-2989DF0D5D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0F7D5-3A15-4932-9223-0F08DB7F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BE542F-1125-4657-B31C-73427FC4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886511-D02B-43BB-A182-600621BF391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ED9DDE-A5F5-4B4F-8C1B-7A9EEE0C11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A751FE5-6824-40F4-AA5C-1E93DC678B4C}" type="datetime1">
              <a:t>07/09/2026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ACA570-D4CB-4141-9BEF-8279C90439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4BD7F5-14B3-40E7-93B0-E5A5E2C054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C7D25-B680-42D6-9232-415FDA60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176EF1-DD74-4B3D-A094-5FACD19CA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A0AEB4-BD24-4F27-883F-F3B7FEA46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A3D6E0-56D0-4591-B9CE-CB7F256218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DB790C-5A5D-48BE-9835-6F495E8F8169}" type="datetime1">
              <a:t>07/09/2026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85481D-E102-496F-86BB-95D7F6F42E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AB937E-306E-4B5E-B150-F04718071C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46546-F711-4E8A-A332-C877EDFB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4CBB98-24D0-458E-A9AA-096A4F69D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9AF7F5-694A-4C82-A9A4-CE67369034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F4B63F-CCA2-4A0C-A322-23A5B91B22F1}" type="datetime1">
              <a:t>07/09/2026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159477-D0AB-4157-B421-6E17731063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52FA18-8268-4A18-8873-D1F855DF0B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886681-ABED-4846-B98E-CE18D4B5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1A0CC1-3933-4097-98AC-8566C4D17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993FB3-D199-408E-AF9A-66F2798CF6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EC1F73-F02C-49A2-8376-2FC6168462DE}" type="datetime1">
              <a:t>07/09/2026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03D492-3731-4F74-8424-A042A518E4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8807F5-8F66-49C8-AF20-57EF8873EC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BD8FC8-E31D-4F23-A3B0-3DC82BD55FB7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6AE854-0973-4056-B7D8-AF348DF3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5C39FB-1079-4E34-881D-DDF20003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E36169-01FC-483E-B62A-5C134F3DF70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D1542-75A7-4A64-8D19-5B158B383712}" type="datetime1">
              <a:t>07/09/2026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9B608C-064A-405D-9AAE-C7A2B4183FE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D129A6-A980-4CBF-A865-5A62B2F5784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D8FC8-E31D-4F23-A3B0-3DC82BD55FB7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Titanic: da tabela à conclusão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AD75FED6-38D0-DE9C-92C0-6E7FA635581C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733741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Como transformar características dos passageiros em probabilidades e avaliar o que o modelo aprendeu?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600516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Nesta prática, cada linha representa um passageiro. As entradas descrevem suas características; a resposta conhecida informa se sobreviveu.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419666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Vamos preparar os dados, treinar a regressão logística e acompanhar cada resultado até chegar a uma conclusão sobre os acertos e os erros.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124CC550-D726-46F0-B953-01BCD554010A}"/>
              </a:ext>
            </a:extLst>
          </p:cNvPr>
          <p:cNvSpPr>
            <a:spLocks noGrp="1"/>
          </p:cNvSpPr>
          <p:nvPr/>
        </p:nvSpPr>
        <p:spPr>
          <a:xfrm>
            <a:off x="914400" y="4238816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Aula 6 • Regressão logística • Dr. Rodrigo Ramos Silva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Estudo didático com dados históricos; classe positiva = sobreviveu.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 caminho que vamos percorrer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E2598689-54C9-18A7-3A19-ED76AA08988F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4409694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Cada etapa produz algo que a próxima utiliza. Execute os blocos de código na ordem da apresentação, no mesmo notebook.</a:t>
            </a:r>
          </a:p>
        </p:txBody>
      </p:sp>
      <p:graphicFrame>
        <p:nvGraphicFramePr>
          <p:cNvPr id="26" name="Tabela 25"/>
          <p:cNvGraphicFramePr/>
          <p:nvPr/>
        </p:nvGraphicFramePr>
        <p:xfrm>
          <a:off x="914400" y="1685544"/>
          <a:ext cx="10096500" cy="2571750"/>
        </p:xfrm>
        <a:graphic>
          <a:graphicData uri="http://schemas.openxmlformats.org/drawingml/2006/table">
            <a:tbl>
              <a:tblPr/>
              <a:tblGrid>
                <a:gridCol w="30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Etapa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Pergunta que precisamos responder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1. Definir X e 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Que informação entra e o que queremos prever?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2. Separar e preparar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Como tratar ausências e categorias sem usar o teste?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3. Validar e treinar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O modelo aprende um padrão que se repete?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4. Prever e avaliar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Quem acertou, quem errou e de que maneira?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5. Interpretar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O ganho supera uma regra simples? Quais limites restam?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 que significa sobreviver no modelo?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202359C0-8A7A-196E-DD58-8E6569619F09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74483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Alvo y = survived: 0 = não sobreviveu; 1 = sobreviveu.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984308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Positivo é apenas o nome da classe 1. Não significa que o resultado é bom em todo problema: em fraude, por exemplo, positivo pode significar fraude.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803458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 fonte é o CSV público do repositório seaborn-data. Outras versões do Titanic podem ter colunas e quantidades diferentes.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2117408"/>
          <a:ext cx="10096500" cy="1714500"/>
        </p:xfrm>
        <a:graphic>
          <a:graphicData uri="http://schemas.openxmlformats.org/drawingml/2006/table">
            <a:tbl>
              <a:tblPr/>
              <a:tblGrid>
                <a:gridCol w="30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Quantidade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 que representa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891 passageiros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Total desta versão do conjunto de dados.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342 positivos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Passageiros que sobreviveram.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549 negativos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Passageiros que não sobreviveram.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 que cada característica representa?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EFD6AB9A-5F9E-5F59-51AB-3C8734130965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5078349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pclass tem ordem, mas será codificada por indicadores: o modelo não precisa supor o mesmo efeito ao passar de 1 para 2 e de 2 para 3.</a:t>
            </a:r>
          </a:p>
        </p:txBody>
      </p:sp>
      <p:graphicFrame>
        <p:nvGraphicFramePr>
          <p:cNvPr id="26" name="Tabela 25"/>
          <p:cNvGraphicFramePr/>
          <p:nvPr/>
        </p:nvGraphicFramePr>
        <p:xfrm>
          <a:off x="914400" y="1496949"/>
          <a:ext cx="10096500" cy="3429000"/>
        </p:xfrm>
        <a:graphic>
          <a:graphicData uri="http://schemas.openxmlformats.org/drawingml/2006/table">
            <a:tbl>
              <a:tblPr/>
              <a:tblGrid>
                <a:gridCol w="1716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Coluna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Significado no Titanic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Tratamento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Idade do passageiro, em anos.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Numérico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fare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Tarifa paga pela passagem.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Numérico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sibsp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Número de irmãos e cônjuges a bordo.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Numérico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parch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Número de pais e filhos a bordo.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Numérico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Sexo registrado no conjunto.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Categoria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embarked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Porto: C, Q ou S.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Categoria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pclass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Classe da passagem: 1, 2 ou 3.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Categoria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Entradas, alvo e vazamento de dados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EE5B3003-2C54-13C6-9832-7637201064DE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15225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X contém as pistas; y contém a resposta que o modelo deve aprender a prever.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282000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Selecionamos explicitamente sete características. survived fica apenas em y. A coluna alive também informa a sobrevivência e não pode entrar em X.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5091875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Vazamento de dados é permitir que informação reservada à avaliação influencie o aprendizado. O pipeline evita parte desses erros; a escolha das colunas continua sendo nossa responsabilidade.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3101150"/>
          <a:ext cx="10096500" cy="1838325"/>
        </p:xfrm>
        <a:graphic>
          <a:graphicData uri="http://schemas.openxmlformats.org/drawingml/2006/table">
            <a:tbl>
              <a:tblPr/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Situação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Por que altera a avaliação?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Usar alive como entrada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Entrega a resposta ao modelo; o acerto deixa de representar previsão.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Calcular a mediana antes da divisão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Usa informação do teste para preparar o treino.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Preparar o ambiente de execução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8C630A04-5A25-9E0C-9436-126091DB86B3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6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15808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Use um notebook Jupyter ou Google Colab e mantenha as células na sequência.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382584"/>
            <a:ext cx="10096500" cy="16573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# Se faltar alguma biblioteca, execute em uma célula: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# %pip install pandas numpy scikit-learn matplotlib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import pandas as pd  # Lê e organiza tabelas.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import numpy as np  # Trabalha com vetores e números.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pathlib import Path  # Representa o caminho do CSV.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192334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import carrega uma biblioteca. O apelido pd permite escrever pd.read_csv; np permite escrever np.log. Path ajuda a verificar se a cópia local já existe.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1458E2EE-CFDB-4468-AF16-4DA3D60BE8BE}"/>
              </a:ext>
            </a:extLst>
          </p:cNvPr>
          <p:cNvSpPr>
            <a:spLocks noGrp="1"/>
          </p:cNvSpPr>
          <p:nvPr/>
        </p:nvSpPr>
        <p:spPr>
          <a:xfrm>
            <a:off x="914400" y="5011484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Resultados conferidos com pandas 2.2.3, NumPy 2.3.5 e scikit-learn 1.8.0. Versões e dados diferentes podem produzir pequenas diferenças numéricas.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Importar divisão e transformações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D3D7D1C8-AE23-AA48-DF65-C742588DBE47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7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09522"/>
            <a:ext cx="10096500" cy="33718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sklearn.model_selection import (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train_test_split,  # Separa treino e teste.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StratifiedKFold,  # Cria partições para validação.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cross_val_score,  # Avalia cada partição.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cross_val_predict)  # Prevê fora do próprio ajuste.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sklearn.pipeline import Pipeline  # Encadeia etapas.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sklearn.compose import ColumnTransformer  # Divide colunas.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sklearn.impute import SimpleImputer  # Preenche ausências.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sklearn.preprocessing import (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StandardScaler,  # Padroniza valores numéricos.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OneHotEncoder)  # Converte categorias em indicadores.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5033772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Essas ferramentas têm funções diferentes: separar os dados, aprender transformações e aplicar a sequência corretamente. Importar uma ferramenta ainda não treina nada.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Importar modelo e avaliação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BA58DA2A-B818-18A9-29C1-B697728D5BCE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8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72387"/>
            <a:ext cx="10096500" cy="30861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sklearn.linear_model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import LogisticRegression  # Modelo.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sklearn.dummy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import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DummyClassifier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#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Regra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de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referência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from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sklearn.metrics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import (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confusion_matrix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,  # Conta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os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quatro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tipos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de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resultado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accuracy_score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,  #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Proporção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total de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acertos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precision_score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,  #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Acertos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entre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os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positivos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previstos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recall_score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,  # Positivos reais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encontrados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f1_score,  #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Combina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precisão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e recall.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roc_auc_score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,  # Avalia a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ordenação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dos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escores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log_loss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)  # Avalia as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probabilidades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 b="0" dirty="0" err="1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atribuídas</a:t>
            </a:r>
            <a:r>
              <a:rPr sz="1650" b="0" dirty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810887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Primeiro produzimos previsões. Depois, as métricas comparam essas previsões com a resposta real. Cada métrica responde a uma pergunta diferente.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Ler e guardar os dados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388657AE-30A1-5A7A-6A7F-315D84436430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9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72387"/>
            <a:ext cx="10096500" cy="30861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url = (  # Endereço da versão utilizada nesta aula.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"https://raw.githubusercontent.com/"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"mwaskom/seaborn-data/master/titanic.csv")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arquivo = Path("titanic_seaborn.csv")  # Cópia local.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if arquivo.exists():  # Se já existe, reutiliza.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df = pd.read_csv(arquivo)  # Lê o CSV local.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else:  # A primeira leitura requer internet.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df = pd.read_csv(url)  # Baixa e lê a tabela.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df.to_csv(arquivo, index=False)  # Salva sem o índice.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print(df.shape)  # Mostra linhas e colunas: (891, 15).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810887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df é um DataFrame: uma tabela com linhas e colunas. O nome local específico evita confundir esse CSV com outra versão do Titanic.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Separar características e resposta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DB7BEEEC-A170-5376-2B6E-CB54687B0CB1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10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76578"/>
            <a:ext cx="10096500" cy="19431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numericas = ["age", "fare", "sibsp", "parch"]  # Números.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categoricas = ["sex", "embarked", "pclass"]  # Categorias.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X = df[numericas + categoricas]  # Seleciona as sete entradas.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y = df["survived"]  # Seleciona a resposta real.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print(X.shape)  # (891, 7): passageiros e características.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print(y.value_counts())  # 0: 549; 1: 342.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672078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X é uma tabela: cada passageiro possui sete valores de entrada. y é uma série: um único resultado real para cada passageiro. A ordem das linhas precisa continuar correspondente.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796028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modelo recebe X para prever. Durante o treinamento, também recebe y para aprender a relação entre as entradas e a resposta.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Reservar passageiros para o teste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30394428-F1DC-E5F6-DB0C-7DE31F3D8A23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46657"/>
            <a:ext cx="10096500" cy="19431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X_train, X_test, y_train, y_test = train_test_split(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X, y,  # Divide entradas e respostas em conjunto.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test_size=0.2,  # Reserva cerca de 20% para teste.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random_state=42,  # Torna esta divisão reproduzível.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stratify=y)  # Preserva aproximadamente as proporções.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print(len(X_train), len(X_test))  # 712 e 179.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5256657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random_state não melhora o modelo: fixa o sorteio. O teste deve continuar reservado enquanto escolhemos transformações e parâmetros.</a:t>
            </a:r>
          </a:p>
        </p:txBody>
      </p:sp>
      <p:graphicFrame>
        <p:nvGraphicFramePr>
          <p:cNvPr id="27" name="Tabela 26"/>
          <p:cNvGraphicFramePr/>
          <p:nvPr/>
        </p:nvGraphicFramePr>
        <p:xfrm>
          <a:off x="914400" y="3542157"/>
          <a:ext cx="10096500" cy="1562100"/>
        </p:xfrm>
        <a:graphic>
          <a:graphicData uri="http://schemas.openxmlformats.org/drawingml/2006/table">
            <a:tbl>
              <a:tblPr/>
              <a:tblGrid>
                <a:gridCol w="2221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2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Conjunto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Não sobreviveram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Sobreviveram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Função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Treino: 712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273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Aprender e validar.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Teste: 179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110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69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Avaliar ao final.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Explorar o treino antes de preparar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DB16885-0D3F-A391-B669-3211DB3B26E8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12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19416"/>
            <a:ext cx="10096500" cy="10858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print(X_train.head())  # Exibe algumas linhas do treino.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print(X_train.dtypes)  # Mostra os tipos das colunas.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print(X_train.isna().sum())  # Conta ausências por coluna.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5353241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Ausência não significa zero. Idade desconhecida é diferente de idade zero. As estatísticas usadas para preencher valores serão aprendidas somente no treino.</a:t>
            </a:r>
          </a:p>
        </p:txBody>
      </p:sp>
      <p:graphicFrame>
        <p:nvGraphicFramePr>
          <p:cNvPr id="27" name="Tabela 26"/>
          <p:cNvGraphicFramePr/>
          <p:nvPr/>
        </p:nvGraphicFramePr>
        <p:xfrm>
          <a:off x="914400" y="2657666"/>
          <a:ext cx="10096500" cy="2543175"/>
        </p:xfrm>
        <a:graphic>
          <a:graphicData uri="http://schemas.openxmlformats.org/drawingml/2006/table">
            <a:tbl>
              <a:tblPr/>
              <a:tblGrid>
                <a:gridCol w="282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1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Achado no treino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 que significa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 que faremos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age: 137 ausências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Não sabemos a idade desses passageiros.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Preencher com mediana.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embarked: 2 ausências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O porto não está registrado.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Preencher com moda.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Demais entradas: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Não há ausências nesta divisão.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Manter o tratamento previsto.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2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Imputação: preencher o que falta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2DD23107-4986-8758-3A93-3D74F35908CC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13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5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367028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Imputar é substituir um valor ausente por uma regra definida.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1909953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Nas variáveis numéricas, usamos a mediana: o valor central depois de ordenar os dados. Ela é menos sensível a valores extremos que a média.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719828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Na variável categórica, usamos a moda: a categoria mais frequente no treino. O mesmo valor aprendido será aplicado às ausências do teste.</a:t>
            </a:r>
          </a:p>
        </p:txBody>
      </p:sp>
      <p:graphicFrame>
        <p:nvGraphicFramePr>
          <p:cNvPr id="29" name="Tabela 28"/>
          <p:cNvGraphicFramePr/>
          <p:nvPr/>
        </p:nvGraphicFramePr>
        <p:xfrm>
          <a:off x="914400" y="2729103"/>
          <a:ext cx="10096500" cy="1838325"/>
        </p:xfrm>
        <a:graphic>
          <a:graphicData uri="http://schemas.openxmlformats.org/drawingml/2006/table">
            <a:tbl>
              <a:tblPr/>
              <a:tblGrid>
                <a:gridCol w="2726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4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Exemplo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Antes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Depois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Idades ilustrativas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20, 30, ausente, 40, 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Mediana conhecida = 35; preenche com 35.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Idade no treino do Titanic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137 valores ausentes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Mediana aprendida = 28,5 anos.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extra-explanation-4">
            <a:extLst>
              <a:ext uri="{FF2B5EF4-FFF2-40B4-BE49-F238E27FC236}">
                <a16:creationId xmlns:a16="http://schemas.microsoft.com/office/drawing/2014/main" id="{597A0661-6106-4AE1-8DF2-8F26543768EB}"/>
              </a:ext>
            </a:extLst>
          </p:cNvPr>
          <p:cNvSpPr>
            <a:spLocks noGrp="1"/>
          </p:cNvSpPr>
          <p:nvPr/>
        </p:nvSpPr>
        <p:spPr>
          <a:xfrm>
            <a:off x="914400" y="5538978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preenchimento permite executar o modelo, mas não recupera a idade ou o porto verdadeiro daquele passageiro.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Padronização: tornar escalas comparáveis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327921A4-25C4-3DB4-06B1-32693CEE2241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14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36180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StandardScaler centraliza cada coluna numérica e a expressa em desvios-padrão.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302955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Fórmula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x_padronizado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= (x −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média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do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treino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) /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desvio-padrão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do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treino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Exemplo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ilustrativo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média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idade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= 30,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desvio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= 10 e </a:t>
            </a:r>
            <a:r>
              <a:rPr sz="1950" b="0" dirty="0" err="1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idade</a:t>
            </a:r>
            <a:r>
              <a:rPr sz="1950" b="0" dirty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 = 40 → (40 − 30)/10 = 1.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5293805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Por que usar: facilita a otimização e torna a penalização dos coeficientes mais comparável entre escalas. Não transforma toda distribuição em normal.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3426904"/>
          <a:ext cx="10096500" cy="1714500"/>
        </p:xfrm>
        <a:graphic>
          <a:graphicData uri="http://schemas.openxmlformats.org/drawingml/2006/table">
            <a:tbl>
              <a:tblPr/>
              <a:tblGrid>
                <a:gridCol w="282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Valor padronizado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Como interpretar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Igual à média aprendida.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+1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Um desvio-padrão acima da média.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−1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Um desvio-padrão abaixo da média.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Montar o preparo numérico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EA83FA91-883A-0168-8075-96CEB9DCA3C2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15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377506"/>
            <a:ext cx="10096500" cy="13716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bloco_num = Pipeline(steps=[  # Sequência para números.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("impute", SimpleImputer(strategy="median")),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("scale", StandardScaler())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])  # Primeiro preenche, depois padroniza.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901506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impute e scale são nomes escolhidos para identificar as etapas. SimpleImputer aprende a mediana de cada coluna; StandardScaler aprende a média e o desvio após o preenchimento.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025456"/>
            <a:ext cx="10096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Por que essa ordem? Precisamos de entradas completas para a regressão logística, e a escala deve ser calculada sobre o resultado do preenchimento.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79B0EC26-D6C1-4006-9BA6-238D68C6D085}"/>
              </a:ext>
            </a:extLst>
          </p:cNvPr>
          <p:cNvSpPr>
            <a:spLocks noGrp="1"/>
          </p:cNvSpPr>
          <p:nvPr/>
        </p:nvSpPr>
        <p:spPr>
          <a:xfrm>
            <a:off x="914400" y="5225606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Neste momento, apenas descrevemos o procedimento. Os valores são aprendidos quando o pipeline recebe fit. StandardScaler preserva NaNs; é o imputer que os resolve.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One-hot: de categorias a indicadores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DC9C7607-4BA3-B4DC-A00F-2E67A9FCFF7E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16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42466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One-hot cria uma coluna indicadora para cada categoria conhecida.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176141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indicador 1 significa “pertence a esta categoria”; 0 significa “não pertence”. A regressão pode aprender um coeficiente próprio para cada indicador.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995291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Por que usar: evita tratar códigos como distâncias numéricas. Aqui mantemos todas as categorias e usamos regularização L2; para interpretar categorias, compararemos seus coeficientes.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2309241"/>
          <a:ext cx="10096500" cy="1714500"/>
        </p:xfrm>
        <a:graphic>
          <a:graphicData uri="http://schemas.openxmlformats.org/drawingml/2006/table">
            <a:tbl>
              <a:tblPr/>
              <a:tblGrid>
                <a:gridCol w="3432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pclass original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pclass_1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pclass_2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pclass_3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Montar o preparo categórico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90F7333B-44AC-F7E9-D49D-FE92F45E0477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17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89151"/>
            <a:ext cx="10096500" cy="13716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bloco_cat = Pipeline(steps=[  # Sequência para categorias.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("impute", SimpleImputer(strategy="most_frequent")),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("encode", OneHotEncoder(handle_unknown="ignore"))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])  # Primeiro preenche, depois cria indicadores.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113151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most_frequent preenche com a categoria mais frequente do treino. encode aprende quais categorias existem e cria suas colunas indicadoras.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932301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handle_unknown="ignore": se surgir uma categoria inédita, seu bloco fica com zeros em vez de interromper a transformação.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B207736E-72BB-4D32-891A-999EFC2364FE}"/>
              </a:ext>
            </a:extLst>
          </p:cNvPr>
          <p:cNvSpPr>
            <a:spLocks noGrp="1"/>
          </p:cNvSpPr>
          <p:nvPr/>
        </p:nvSpPr>
        <p:spPr>
          <a:xfrm>
            <a:off x="914400" y="4751451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Evitar um erro de execução não garante uma previsão boa para categorias inéditas. Os dados de entrada ainda precisam representar o contexto aprendido.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Aplicar cada preparo às suas colunas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B1C6C81E-38B9-7560-621D-5A151A79DF9B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18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78674"/>
            <a:ext cx="10096500" cy="13716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preparo = ColumnTransformer(transformers=[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("num", bloco_num, numericas),  # Só recebe números.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("cat", bloco_cat, categoricas)  # Só recebe categorias.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], remainder="drop")  # Descarta outras colunas.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102674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ColumnTransformer distribui as colunas: num executa o bloco numérico e cat executa o categórico. Depois, concatena os resultados lado a lado.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921824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Entrada: sete características originais. Saída nesta divisão: 12 colunas numéricas para o modelo.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52600264-1283-444A-A0B8-BABB91FB9941}"/>
              </a:ext>
            </a:extLst>
          </p:cNvPr>
          <p:cNvSpPr>
            <a:spLocks noGrp="1"/>
          </p:cNvSpPr>
          <p:nvPr/>
        </p:nvSpPr>
        <p:spPr>
          <a:xfrm>
            <a:off x="914400" y="4788599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São quatro colunas numéricas + dois indicadores de sex + três de embarked + três de pclass. O alvo survived não participa dessa transformação.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Conectar preparo e regressão logística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CCF91274-D221-1BB4-3BF9-836E3AD31EBE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19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80769"/>
            <a:ext cx="10096500" cy="22288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modelo = Pipeline(steps=[  # Fluxo completo de aprendizado.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("prep", preparo),  # Converte X em uma matriz numérica.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("logit", LogisticRegression(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    C=1.0,  # Controla inversamente a regularização.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    solver="lbfgs",  # Método que ajusta os coeficientes.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    max_iter=1000))  # Limite de iterações do otimizador.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])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96201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Pipeline executa as etapas na ordem. No fit, aprende o preparo e os coeficientes. Na previsão, reutiliza o preparo aprendido e aplica o modelo.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781169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objeto modelo guarda a sequência inteira. Isso permite prever uma nova tabela com as mesmas sete colunas originais.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 que C, solver e max_iter fazem?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844E025A-983C-6D44-79C6-4612AACD43FC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20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4207193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Regularização L2 acrescenta uma penalização aos coeficientes para controlar sua magnitude. O ajuste equilibra a perda dos dados e essa penalização.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5026343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C não é taxa de aprendizagem nem limiar. Neste ajuste, o otimizador executou 14 iterações. Se houver aviso de convergência, investigue a escala e o limite de iterações.</a:t>
            </a:r>
          </a:p>
        </p:txBody>
      </p:sp>
      <p:graphicFrame>
        <p:nvGraphicFramePr>
          <p:cNvPr id="27" name="Tabela 26"/>
          <p:cNvGraphicFramePr/>
          <p:nvPr/>
        </p:nvGraphicFramePr>
        <p:xfrm>
          <a:off x="914400" y="1511618"/>
          <a:ext cx="10096500" cy="2543175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Parâmetro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 que é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Por que usar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 = 1,0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Inverso da força de regularização.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Menor C penaliza mais coeficientes grandes.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solver = lbfgs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Método numérico de otimização.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Busca coeficientes que reduzam o objetivo.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max_iter = 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Limite de iterações.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Dá tempo para convergir; não exige 1.000 passos.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2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Validação: ensaiar sem consultar o teste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F6DF2BE2-2DFA-1C03-677D-BDC2260D6D92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5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43050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Validação cruzada divide os 712 passageiros de treino em cinco partes.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409825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Em cada rodada, o modelo aprende com quatro partes e é avaliado na quinta. Repetimos até todas as partes terem sido usadas para avaliação.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228975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Por que usar: uma única divisão pode favorecer ou prejudicar o resultado. As cinco rodadas mostram como o desempenho varia dentro do treino.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65FE1BF8-2622-49EC-82D5-66DD359E869C}"/>
              </a:ext>
            </a:extLst>
          </p:cNvPr>
          <p:cNvSpPr>
            <a:spLocks noGrp="1"/>
          </p:cNvSpPr>
          <p:nvPr/>
        </p:nvSpPr>
        <p:spPr>
          <a:xfrm>
            <a:off x="914400" y="4048125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Em cada rodada, medianas, escalas, categorias e coeficientes são aprendidos novamente usando apenas as quatro partes de ajuste.</a:t>
            </a:r>
          </a:p>
        </p:txBody>
      </p:sp>
      <p:sp>
        <p:nvSpPr>
          <p:cNvPr id="20" name="extra-explanation-4">
            <a:extLst>
              <a:ext uri="{FF2B5EF4-FFF2-40B4-BE49-F238E27FC236}">
                <a16:creationId xmlns:a16="http://schemas.microsoft.com/office/drawing/2014/main" id="{C7FDF597-8D1C-4530-BA5D-82B57B4F0F62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Os 179 passageiros do teste não entram nessas rodadas. ROC-AUC será a métrica de validação para comparar a capacidade de distinguir as classes.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Executar a validação cruzada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0BB18BA8-60F4-C50D-CD9B-1BB87D3E8506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22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80769"/>
            <a:ext cx="10096500" cy="22288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cv = StratifiedKFold(  # Divide mantendo proporções de classes.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n_splits=5, shuffle=True, random_state=42)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auc_cv = cross_val_score(  # Um resultado para cada rodada.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modelo, X_train, y_train,  # Usa somente o treino.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cv=cv, scoring="roc_auc")  # Mede ROC-AUC.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print(auc_cv)  # Mostra os cinco resultados.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print(auc_cv.mean(), auc_cv.std())  # Média e dispersão.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96201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n_splits define quantas partes são usadas. shuffle embaralha antes de dividir; random_state fixa esse embaralhamento. scoring informa o critério de avaliação.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781169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cross_val_score ajusta cópias do pipeline. Depois da validação, ainda precisamos ajustar o modelo final com os 712 passageiros de treino.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Interpretar os resultados da validação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A4E99CEF-AF55-BA3C-ADF8-4E52E186DD8F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23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4229481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Média = 0,8532; desvio-padrão entre rodadas = 0,0218.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772406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 ordenação das classes foi relativamente semelhante nas cinco rodadas. O desvio indica dispersão, não uma margem de erro garantida. Esses resultados ainda não são a avaliação final do teste.</a:t>
            </a:r>
          </a:p>
        </p:txBody>
      </p:sp>
      <p:graphicFrame>
        <p:nvGraphicFramePr>
          <p:cNvPr id="27" name="Tabela 26"/>
          <p:cNvGraphicFramePr/>
          <p:nvPr/>
        </p:nvGraphicFramePr>
        <p:xfrm>
          <a:off x="914400" y="1505331"/>
          <a:ext cx="10096500" cy="2571750"/>
        </p:xfrm>
        <a:graphic>
          <a:graphicData uri="http://schemas.openxmlformats.org/drawingml/2006/table">
            <a:tbl>
              <a:tblPr/>
              <a:tblGrid>
                <a:gridCol w="323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Rodada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0,8563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0,8235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0,8772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0,8332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0,8758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Treinar e produzir probabilidades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A59AF09-D197-0193-A7DE-FAAF0B691058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24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643634"/>
            <a:ext cx="10096500" cy="19431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modelo.fit(X_train, y_train)  # Aprende usando os 712 casos.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idx_1 = list(modelo.classes_).index(1)  # Localiza a classe 1.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prob = modelo.predict_proba(X_test)[:, idx_1]  # P(y=1).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pred = (prob &gt;= 0.5).astype(int)  # Converte em classe.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print(prob[:5])  # Primeiras cinco probabilidades.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print(pred[:5])  # Primeiras cinco decisões 0/1.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739134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predict_proba retorna uma coluna por classe. [:, idx_1] seleciona todas as linhas e somente a coluna de sobrevivência. astype(int) converte False/True em 0/1.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558284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modelo prevê usando X_test. y_test será consultado depois, para conferir essas previsões. O limiar de 0,5 foi fixado antes dessa avaliação.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Probabilidade, classe e resposta real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F3AE1AE4-D79E-94D6-E825-3FC6C21A77D2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25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3776282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probabilidade vem da sigmoide aplicada ao escore. A classe vem de uma regra de decisão. Nenhuma das duas altera o que realmente aconteceu.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595432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Uma previsão de 67% não significa que o passageiro “sobreviveu 67%”. É uma estimativa probabilística para um resultado que, nos dados históricos, foi 0 ou 1.</a:t>
            </a:r>
          </a:p>
        </p:txBody>
      </p:sp>
      <p:graphicFrame>
        <p:nvGraphicFramePr>
          <p:cNvPr id="27" name="Tabela 26"/>
          <p:cNvGraphicFramePr/>
          <p:nvPr/>
        </p:nvGraphicFramePr>
        <p:xfrm>
          <a:off x="914400" y="1633157"/>
          <a:ext cx="10096500" cy="1990725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 / variável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 que é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Exemplo ilustrativo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y / y_test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O que realmente aconteceu.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1: sobreviveu.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 / prob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Probabilidade estimada de sobreviver.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0,67: estimativa de 67%.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ŷ / pred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Decisão após aplicar o limiar.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1, pois 0,67 ≥ 0,5.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Ver acertos e erros em passageiros reais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5AB55966-FA28-BC73-EA9E-53DF014DF033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26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3834384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passageiro de índice 297 recebeu alta probabilidade de sobreviver, mas não sobreviveu. O de índice 553 recebeu baixa probabilidade, mas sobreviveu.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653534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Exemplos extraídos do teste desta execução. Índice é a posição original da linha, iniciada em zero; não é PassengerId. Mesmo uma probabilidade alta pode acompanhar uma previsão errada.</a:t>
            </a:r>
          </a:p>
        </p:txBody>
      </p:sp>
      <p:graphicFrame>
        <p:nvGraphicFramePr>
          <p:cNvPr id="27" name="Tabela 26"/>
          <p:cNvGraphicFramePr/>
          <p:nvPr/>
        </p:nvGraphicFramePr>
        <p:xfrm>
          <a:off x="914400" y="1538859"/>
          <a:ext cx="10096500" cy="2143125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Índice no CSV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Real y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Probabilidade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Classe prevista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0,0680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297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0,9658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FP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0,1572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241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0,6708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TP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Matriz de confusão: contar acertos e erros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02F15020-66A7-620A-7B7A-C05C4312DEAE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27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78674"/>
            <a:ext cx="10096500" cy="8001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matriz = confusion_matrix(y_test, pred, labels=[0, 1])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print(matriz)  # Linhas: reais; colunas: previstas.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96944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diagonal reúne os acertos: 98 + 46 = 144. Fora da diagonal ficam os erros: 12 + 23 = 35. Total: 179 passageiros.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788599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labels=[0, 1] fixa a ordem das classes. Leia os nomes dos eixos: outras apresentações podem colocar o positivo na primeira linha.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2531174"/>
          <a:ext cx="10096500" cy="1285875"/>
        </p:xfrm>
        <a:graphic>
          <a:graphicData uri="http://schemas.openxmlformats.org/drawingml/2006/table">
            <a:tbl>
              <a:tblPr/>
              <a:tblGrid>
                <a:gridCol w="3432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1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Real ↓ / Previsto →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Não sobreviveu (0)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Sobreviveu (1)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Não sobreviveu 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TN = 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FP =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Sobreviveu (1)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FN = 23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TP = 46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 que TP, TN, FP e FN significam?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68AD4375-9F50-F53A-6F9F-DD8473067C05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28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4721733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Positivo = sobrevivência. As métricas seguintes usam essas mesmas quatro quantidades; muda o grupo que colocamos no denominador.</a:t>
            </a:r>
          </a:p>
        </p:txBody>
      </p:sp>
      <p:graphicFrame>
        <p:nvGraphicFramePr>
          <p:cNvPr id="26" name="Tabela 25"/>
          <p:cNvGraphicFramePr/>
          <p:nvPr/>
        </p:nvGraphicFramePr>
        <p:xfrm>
          <a:off x="914400" y="1597533"/>
          <a:ext cx="10096500" cy="2971800"/>
        </p:xfrm>
        <a:graphic>
          <a:graphicData uri="http://schemas.openxmlformats.org/drawingml/2006/table">
            <a:tbl>
              <a:tblPr/>
              <a:tblGrid>
                <a:gridCol w="1817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7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Sigla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Definição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Leitura dos passageiros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TP = 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Positivo verdadeiro.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Sobreviveu e foi previsto como sobrevivente.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TN = 98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Negativo verdadeiro.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Não sobreviveu e foi previsto como não sobrevivente.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FP =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Falso positivo.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Não sobreviveu, mas foi previsto como sobrevivente.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FN = 23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Falso negativo.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Sobreviveu, mas foi previsto como não sobrevivente.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Acurácia: quantos passageiros acertamos?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1680313-6E64-04FF-399A-57B7CADE95A9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29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6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34084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Pergunta: de todas as previsões, quantas coincidiram com o resultado real?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30085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que é: proporção total de acertos. Usa as duas classes.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Fórmula: Acurácia = (TP + TN) / (TP + TN + FP + FN).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120009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Neste teste: (46 + 98) / 179 = 144 / 179 = 80,45%.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509FE50D-4BE0-4735-9DED-5A64DB114A03}"/>
              </a:ext>
            </a:extLst>
          </p:cNvPr>
          <p:cNvSpPr>
            <a:spLocks noGrp="1"/>
          </p:cNvSpPr>
          <p:nvPr/>
        </p:nvSpPr>
        <p:spPr>
          <a:xfrm>
            <a:off x="914400" y="3662934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Leitura prática: o modelo classificou corretamente 144 passageiros e errou 35, usando limiar de 0,5.</a:t>
            </a:r>
          </a:p>
        </p:txBody>
      </p:sp>
      <p:sp>
        <p:nvSpPr>
          <p:cNvPr id="20" name="extra-explanation-4">
            <a:extLst>
              <a:ext uri="{FF2B5EF4-FFF2-40B4-BE49-F238E27FC236}">
                <a16:creationId xmlns:a16="http://schemas.microsoft.com/office/drawing/2014/main" id="{997CECA2-720F-43F7-A44B-65BC7D0AB26C}"/>
              </a:ext>
            </a:extLst>
          </p:cNvPr>
          <p:cNvSpPr>
            <a:spLocks noGrp="1"/>
          </p:cNvSpPr>
          <p:nvPr/>
        </p:nvSpPr>
        <p:spPr>
          <a:xfrm>
            <a:off x="914400" y="4482084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Por que usar: fornece uma visão geral dos acertos. Limite: não mostra qual tipo de erro predominou e pode parecer alta quando uma classe é muito frequente.</a:t>
            </a:r>
          </a:p>
        </p:txBody>
      </p:sp>
      <p:sp>
        <p:nvSpPr>
          <p:cNvPr id="21" name="extra-explanation-5">
            <a:extLst>
              <a:ext uri="{FF2B5EF4-FFF2-40B4-BE49-F238E27FC236}">
                <a16:creationId xmlns:a16="http://schemas.microsoft.com/office/drawing/2014/main" id="{BC615571-35C2-418E-815D-EAA78C395714}"/>
              </a:ext>
            </a:extLst>
          </p:cNvPr>
          <p:cNvSpPr>
            <a:spLocks noGrp="1"/>
          </p:cNvSpPr>
          <p:nvPr/>
        </p:nvSpPr>
        <p:spPr>
          <a:xfrm>
            <a:off x="914400" y="5301234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80,45% é um resultado desta divisão de teste; não uma garantia de acerto para qualquer passageiro futuro.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Precisão: acertamos os positivos previstos?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5FEBBBCE-9E16-527A-0EE3-E5839422D847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30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6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367028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Pergunta: entre os passageiros previstos como sobreviventes, quantos realmente sobreviveram?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233803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que é: proporção de positivos previstos que eram verdadeiros.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Fórmula: Precisão = TP / (TP + FP).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052953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Neste teste: 46 / (46 + 12) = 46 / 58 = 79,31%.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58A2DB38-4C25-4DF9-9824-6490E935DC30}"/>
              </a:ext>
            </a:extLst>
          </p:cNvPr>
          <p:cNvSpPr>
            <a:spLocks noGrp="1"/>
          </p:cNvSpPr>
          <p:nvPr/>
        </p:nvSpPr>
        <p:spPr>
          <a:xfrm>
            <a:off x="914400" y="3595878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Leitura prática: dos 58 passageiros chamados de sobreviventes pelo modelo, 46 sobreviveram e 12 não sobreviveram.</a:t>
            </a:r>
          </a:p>
        </p:txBody>
      </p:sp>
      <p:sp>
        <p:nvSpPr>
          <p:cNvPr id="20" name="extra-explanation-4">
            <a:extLst>
              <a:ext uri="{FF2B5EF4-FFF2-40B4-BE49-F238E27FC236}">
                <a16:creationId xmlns:a16="http://schemas.microsoft.com/office/drawing/2014/main" id="{801BB43D-93AE-4492-8B7F-9D27550B5C40}"/>
              </a:ext>
            </a:extLst>
          </p:cNvPr>
          <p:cNvSpPr>
            <a:spLocks noGrp="1"/>
          </p:cNvSpPr>
          <p:nvPr/>
        </p:nvSpPr>
        <p:spPr>
          <a:xfrm>
            <a:off x="914400" y="4415028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Por que usar: avalia a confiabilidade das previsões positivas. Limite: o modelo pode ter alta precisão prevendo positivo para poucos casos e deixando muitos positivos reais de fora.</a:t>
            </a:r>
          </a:p>
        </p:txBody>
      </p:sp>
      <p:sp>
        <p:nvSpPr>
          <p:cNvPr id="21" name="extra-explanation-5">
            <a:extLst>
              <a:ext uri="{FF2B5EF4-FFF2-40B4-BE49-F238E27FC236}">
                <a16:creationId xmlns:a16="http://schemas.microsoft.com/office/drawing/2014/main" id="{F3A4AB5B-DFCA-456C-895E-B8E5EB210AA3}"/>
              </a:ext>
            </a:extLst>
          </p:cNvPr>
          <p:cNvSpPr>
            <a:spLocks noGrp="1"/>
          </p:cNvSpPr>
          <p:nvPr/>
        </p:nvSpPr>
        <p:spPr>
          <a:xfrm>
            <a:off x="914400" y="5538978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denominador 58 vem das previsões do modelo. Não representa todos os sobreviventes reais, que eram 69.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Recall: encontramos os sobreviventes?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D172A7C5-A0CC-7B36-F236-345181E6AD72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6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367028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Pergunta: entre todos os passageiros que sobreviveram, quantos o modelo identificou?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233803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que é: proporção de positivos reais encontrados; também chamada sensibilidade.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Fórmula: Recall = TP / (TP + FN).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357753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Neste teste: 46 / (46 + 23) = 46 / 69 = 66,67%.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984FBA18-0F93-4834-8EB4-84AC36DEF1D5}"/>
              </a:ext>
            </a:extLst>
          </p:cNvPr>
          <p:cNvSpPr>
            <a:spLocks noGrp="1"/>
          </p:cNvSpPr>
          <p:nvPr/>
        </p:nvSpPr>
        <p:spPr>
          <a:xfrm>
            <a:off x="914400" y="3900678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Leitura prática: o modelo encontrou 46 dos 69 sobreviventes e deixou 23 de fora. Perdeu um terço dos positivos reais.</a:t>
            </a:r>
          </a:p>
        </p:txBody>
      </p:sp>
      <p:sp>
        <p:nvSpPr>
          <p:cNvPr id="20" name="extra-explanation-4">
            <a:extLst>
              <a:ext uri="{FF2B5EF4-FFF2-40B4-BE49-F238E27FC236}">
                <a16:creationId xmlns:a16="http://schemas.microsoft.com/office/drawing/2014/main" id="{4E6ECDD9-01A4-4359-A70D-E3EDA6515345}"/>
              </a:ext>
            </a:extLst>
          </p:cNvPr>
          <p:cNvSpPr>
            <a:spLocks noGrp="1"/>
          </p:cNvSpPr>
          <p:nvPr/>
        </p:nvSpPr>
        <p:spPr>
          <a:xfrm>
            <a:off x="914400" y="4719828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Por que usar: mostra a cobertura dos positivos. Limite: prever todos como positivos produz recall de 100%, mas pode gerar muitos falsos positivos.</a:t>
            </a:r>
          </a:p>
        </p:txBody>
      </p:sp>
      <p:sp>
        <p:nvSpPr>
          <p:cNvPr id="21" name="extra-explanation-5">
            <a:extLst>
              <a:ext uri="{FF2B5EF4-FFF2-40B4-BE49-F238E27FC236}">
                <a16:creationId xmlns:a16="http://schemas.microsoft.com/office/drawing/2014/main" id="{13316FB2-73A6-4806-84BB-2A66C77392F5}"/>
              </a:ext>
            </a:extLst>
          </p:cNvPr>
          <p:cNvSpPr>
            <a:spLocks noGrp="1"/>
          </p:cNvSpPr>
          <p:nvPr/>
        </p:nvSpPr>
        <p:spPr>
          <a:xfrm>
            <a:off x="914400" y="5538978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 denominador 69 vem da realidade observada. Compare com a precisão: ela usa os 58 positivos previstos.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Precisão e recall olham grupos diferentes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66C3428B-053E-6B4E-39FF-75B44F3F33F6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32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297503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Os 46 acertos positivos aparecem nas duas contas. O que muda é a pergunta: “acertei os que anunciei?” ou “encontrei os que existiam?”.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794189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O modelo pode acertar a maioria dos positivos que prevê e, ao mesmo tempo, deixar muitos sobreviventes sem identificar.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660964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Na prática, a prioridade depende do custo do erro. No Titanic histórico, estamos estudando previsão; não definimos uma política real de resgate a partir dessas métricas.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1536764"/>
          <a:ext cx="10096500" cy="1285875"/>
        </p:xfrm>
        <a:graphic>
          <a:graphicData uri="http://schemas.openxmlformats.org/drawingml/2006/table">
            <a:tbl>
              <a:tblPr/>
              <a:tblGrid>
                <a:gridCol w="1817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5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Métrica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Grupo de partida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Resposta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Precisão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58 positivos previstos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46 / 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79,31% eram sobreviventes.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69 sobreviventes reais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46 / 69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66,67% foram encontrados.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F1: combinar precisão e recall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59F9B2FD-F323-2D0A-D581-D6E61055F9A8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33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6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34084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Pergunta: como resumir a confiabilidade e a cobertura dos positivos em um único número?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30085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que é: média harmônica da precisão e do recall. Essa média é mais afetada pelo menor dos dois valores que a média aritmética.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12000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Fórmula: F1 = 2 × Precisão × Recall / (Precisão + Recall).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Forma equivalente: F1 = 2TP / (2TP + FP + FN).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D6B47390-B668-4089-91F0-9AF1429BA108}"/>
              </a:ext>
            </a:extLst>
          </p:cNvPr>
          <p:cNvSpPr>
            <a:spLocks noGrp="1"/>
          </p:cNvSpPr>
          <p:nvPr/>
        </p:nvSpPr>
        <p:spPr>
          <a:xfrm>
            <a:off x="914400" y="3939159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Neste teste: 92 / (92 + 12 + 23) = 92 / 127 = 0,7244.</a:t>
            </a:r>
          </a:p>
        </p:txBody>
      </p:sp>
      <p:sp>
        <p:nvSpPr>
          <p:cNvPr id="20" name="extra-explanation-4">
            <a:extLst>
              <a:ext uri="{FF2B5EF4-FFF2-40B4-BE49-F238E27FC236}">
                <a16:creationId xmlns:a16="http://schemas.microsoft.com/office/drawing/2014/main" id="{72311EC2-9244-455E-A366-4EE281E68593}"/>
              </a:ext>
            </a:extLst>
          </p:cNvPr>
          <p:cNvSpPr>
            <a:spLocks noGrp="1"/>
          </p:cNvSpPr>
          <p:nvPr/>
        </p:nvSpPr>
        <p:spPr>
          <a:xfrm>
            <a:off x="914400" y="4482084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Leitura prática: o resultado combina precisão de 79,31% com recall de 66,67%. Não significa 72,44% de passageiros corretamente classificados.</a:t>
            </a:r>
          </a:p>
        </p:txBody>
      </p:sp>
      <p:sp>
        <p:nvSpPr>
          <p:cNvPr id="21" name="extra-explanation-5">
            <a:extLst>
              <a:ext uri="{FF2B5EF4-FFF2-40B4-BE49-F238E27FC236}">
                <a16:creationId xmlns:a16="http://schemas.microsoft.com/office/drawing/2014/main" id="{4A122518-FEE1-4064-A8F6-2CB19B8A3FDA}"/>
              </a:ext>
            </a:extLst>
          </p:cNvPr>
          <p:cNvSpPr>
            <a:spLocks noGrp="1"/>
          </p:cNvSpPr>
          <p:nvPr/>
        </p:nvSpPr>
        <p:spPr>
          <a:xfrm>
            <a:off x="914400" y="5301234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Por que usar: comparar modelos quando as duas dimensões importam. F1 ignora TN e não incorpora o custo real dos erros; não substitui a matriz de confusão.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Calcular as métricas em Python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D6C2EC43-E3B9-C9B0-67FF-5447EB7F3925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34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22095"/>
            <a:ext cx="10096500" cy="13716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print("Acurácia:", accuracy_score(y_test, pred))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print("Precisão:", precision_score(y_test, pred, zero_division=0))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print("Recall:", recall_score(y_test, pred, zero_division=0))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print("F1:", f1_score(y_test, pred, zero_division=0))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046095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Cada linha compara y_test, a resposta real, com pred, a decisão 0/1. Por padrão, essas métricas binárias tratam 1 como a classe positiva.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865245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zero_division=0 é uma convenção de saída: retorna zero quando o denominador é zero. Ainda precisamos explicar quando uma métrica é indefinida, por exemplo, se não houver positivos previstos.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64D37162-1861-4B19-A0FC-416B936E4390}"/>
              </a:ext>
            </a:extLst>
          </p:cNvPr>
          <p:cNvSpPr>
            <a:spLocks noGrp="1"/>
          </p:cNvSpPr>
          <p:nvPr/>
        </p:nvSpPr>
        <p:spPr>
          <a:xfrm>
            <a:off x="914400" y="4989195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Resultados: acurácia 0,8045; precisão 0,7931; recall 0,6667; F1 0,7244. Multiplique por 100 quando quiser apresentar uma proporção em porcentagem.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Baseline: comparar com uma regra simples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A4FA566-8B12-6DD2-DDB5-FA6393938FB6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35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36764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Baseline é uma referência simples: o modelo precisa justificar sua complexidade superando essa regra.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40353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No treino, 439 de 712 passageiros não sobreviveram. A regra “sempre prever 0” escolhe a classe mais frequente e ignora as características individuais.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660964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 regra já alcança 110/179 = 61,45% de acurácia, mas recall de sobreviventes igual a zero. Uma acurácia aparentemente razoável pode esconder uma previsão inútil para a classe positiva.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3222689"/>
          <a:ext cx="10096500" cy="1285875"/>
        </p:xfrm>
        <a:graphic>
          <a:graphicData uri="http://schemas.openxmlformats.org/drawingml/2006/table">
            <a:tbl>
              <a:tblPr/>
              <a:tblGrid>
                <a:gridCol w="30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6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 teste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Resposta da regra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Consequência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110 não sobreviventes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Prevê 0 para todos.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110 acertos negativos.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69 sobreviventes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Prevê 0 para todos.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69 sobreviventes perdidos.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Implementar a referência de classe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E39A338D-B192-3127-EB9A-53A2665A0BB7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36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76578"/>
            <a:ext cx="10096500" cy="19431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referencia = DummyClassifier(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strategy="most_frequent")  # Sempre usa a classe majoritária.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referencia.fit(X_train, y_train)  # Aprende qual classe é maioria.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pred_base = referencia.predict(X_test)  # Aqui, todos recebem 0.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print(accuracy_score(y_test, pred_base))  # Cerca de 0,6145.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print(confusion_matrix(y_test, pred_base, labels=[0, 1]))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672078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DummyClassifier não aprende relações entre idade, tarifa e sobrevivência. Ele aplica a estratégia indicada. fit identifica a classe majoritária usando somente y_train.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796028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Matriz da referência: TN = 110; FP = 0; FN = 69; TP = 0. Como não prevê positivos, sua precisão é indefinida: a conta seria 0/0.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 ganho em relação à referência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8D334276-4C85-190E-BA41-5CA1CBB04E4E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37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3884676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O modelo acertou 34 passageiros a mais e passou a encontrar 46 sobreviventes. Em contrapartida, criou 12 falsos positivos.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751451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Ganho de acurácia: (144 − 110)/179 × 100 ≈ 18,99 pontos percentuais. A pergunta não é só “melhorou?”, mas também “qual erro ainda permanece?”.</a:t>
            </a:r>
          </a:p>
        </p:txBody>
      </p:sp>
      <p:graphicFrame>
        <p:nvGraphicFramePr>
          <p:cNvPr id="27" name="Tabela 26"/>
          <p:cNvGraphicFramePr/>
          <p:nvPr/>
        </p:nvGraphicFramePr>
        <p:xfrm>
          <a:off x="914400" y="1589151"/>
          <a:ext cx="10096500" cy="2143125"/>
        </p:xfrm>
        <a:graphic>
          <a:graphicData uri="http://schemas.openxmlformats.org/drawingml/2006/table">
            <a:tbl>
              <a:tblPr/>
              <a:tblGrid>
                <a:gridCol w="3432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Métrica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Sempre 0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Regressão logística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Acurácia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110/179 = 61,45%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144/179 = 80,45%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Precisão positiva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Indefinida: 0/0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46/58 = 79,31%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Recall positivo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0/69 = 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46/69 = 66,67%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0,7244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Limiar: transformar estimativa em decisão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855A7F00-3259-A23D-D734-A322A9F9DD63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38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07427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Limiar τ é o valor a partir do qual a probabilidade vira classe 1.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917252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Reduzir o limiar torna mais fácil prever sobrevivência. Com probabilidades fixas, TP e FP podem aumentar; FN pode diminuir. O recall não diminui, mas a precisão não tem mudança monotônica garantida.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5041202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Mudar o limiar não treina novos coeficientes. A escolha deve usar validação e custo dos erros; não procure o melhor limiar nos 179 passageiros do teste.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2050352"/>
          <a:ext cx="10096500" cy="1714500"/>
        </p:xfrm>
        <a:graphic>
          <a:graphicData uri="http://schemas.openxmlformats.org/drawingml/2006/table">
            <a:tbl>
              <a:tblPr/>
              <a:tblGrid>
                <a:gridCol w="373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Probabilidade ilustrativa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τ = 0,3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τ = 0,5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τ = 0,7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0,65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Comparar limiares somente na validação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6166C477-A387-35CF-F492-F54B4FA4FEC9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39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20000"/>
            <a:ext cx="10096500" cy="22288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prob_valid = cross_val_predict(  # Previsões fora do ajuste.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modelo, X_train, y_train, cv=cv,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method="predict_proba")[:, idx_1]  # Probabilidade da classe 1.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for tau in [0.3, 0.5, 0.7]:  # Três decisões a comparar.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pv = (prob_valid &gt;= tau).astype(int)  # Aplica o limiar.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print(tau, confusion_matrix(y_train, pv, labels=[0, 1]))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print(precision_score(y_train, pv), recall_score(y_train, pv))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901250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Cada passageiro do treino é previsto por uma cópia do modelo que não o usou no próprio ajuste. Isso permite comparar limiares dentro do treino.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720400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Essa análise é didática e não altera retroativamente o resultado do teste apresentado com τ = 0,5. cross_val_predict retorna previsões; cross_val_score retorna métricas por rodada.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 efeito do limiar nos 712 casos de treino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C0C89EF0-BE71-8D92-BDDF-FF7D05F0AC04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40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3303079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Com τ = 0,3, encontramos mais sobreviventes, mas produzimos mais falsos positivos. Com τ = 0,7, os positivos previstos são mais confiáveis, mas muitos sobreviventes ficam de fora.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427030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Não existe um limiar universalmente melhor: a escolha depende de quais erros a aplicação tolera.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5293805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São previsões de validação cruzada nos 712 casos de treino. Não compare essas contagens diretamente com as do teste, que contém 179 passageiros.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1436180"/>
          <a:ext cx="10096500" cy="1714500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5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τ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TP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FP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FN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Precisão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219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65,77%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80,22%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0,5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191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59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82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76,40%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69,96%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88,41%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53,11%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Por que avaliar também as probabilidades?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9CAEC632-A9E6-82AB-6034-3014BC3905A0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2962466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acurácia, a precisão, o recall e o F1 veem a mesma decisão nos dois casos. Não distinguem o quanto de probabilidade foi atribuído à sobrevivência.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781616"/>
            <a:ext cx="10096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ROC-AUC pergunta se os positivos ficam acima dos negativos. Log loss pergunta quanta probabilidade foi atribuída ao resultado real.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981766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Essas métricas acrescentam informação. Elas não substituem a contagem dos erros produzidos pelo limiar escolhido.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1524191"/>
          <a:ext cx="10096500" cy="1285875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Previsão ilustrativa para y = 1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Classe com τ = 0,5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Acertou?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 = 0,51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 = 0,99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Sim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Curva ROC: detecção e falsos alarmes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675CE1F1-F8E2-E359-8FD1-A9FA98B3A676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42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335596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curva ROC reúne os resultados obtidos ao variar o limiar. Cada ponto representa uma combinação entre encontrar sobreviventes e classificar não sobreviventes como positivos.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450271"/>
            <a:ext cx="10096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Queremos encontrar muitos positivos sem gerar muitos falsos positivos: pontos mais próximos do canto superior esquerdo são desejáveis.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5650421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 taxa de falsos positivos usa todos os negativos reais no denominador. Ela não é 1 − precisão, que usa todos os positivos previstos.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2459546"/>
          <a:ext cx="10096500" cy="1838325"/>
        </p:xfrm>
        <a:graphic>
          <a:graphicData uri="http://schemas.openxmlformats.org/drawingml/2006/table">
            <a:tbl>
              <a:tblPr/>
              <a:tblGrid>
                <a:gridCol w="3937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7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Eixo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Fórmula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 teste com τ = 0,5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Vertical: taxa de positivos encontrados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TP / (TP + FN) = 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46 / 69 = 66,67%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Horizontal: taxa de falsos positivos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FP / (FP + TN)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12 / 110 = 10,91%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Ler a curva ROC do Titanic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270EE3B2-1325-F8E9-D276-8EA80C32ED19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43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4734687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ponto destacado usa τ = 0,5: encontra 66,67% dos sobreviventes e marca 10,91% dos não sobreviventes como positivos.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5553837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 linha tracejada representa ordenação equivalente ao acaso. A área sob a curva do modelo é 0,8427; não é a acurácia de um único limiar.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363436" y="1362837"/>
            <a:ext cx="9198429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ROC-AUC: o que significa a área?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1110800D-D5E6-B48B-B335-F070B0EAA3B9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44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36180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AUC significa área sob a curva. Ela resume a capacidade de ordenar positivos acima de negativos.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302955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Outra leitura: forme um par com um sobrevivente e um não sobrevivente. Verifique se o sobrevivente recebeu maior probabilidade. AUC corresponde à proporção de pares ordenados corretamente, com meio acerto nos empates.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5293805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Por que usar: comparar a capacidade de distinguir classes ao longo dos limiares. Limite: não escolhe o limiar, não mede custo do erro e não garante calibração.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3426904"/>
          <a:ext cx="10096500" cy="1714500"/>
        </p:xfrm>
        <a:graphic>
          <a:graphicData uri="http://schemas.openxmlformats.org/drawingml/2006/table">
            <a:tbl>
              <a:tblPr/>
              <a:tblGrid>
                <a:gridCol w="2221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5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Valor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Como interpretar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Todos os positivos ficam acima de todos os negativos.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0,5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Ordenação equivalente ao acaso.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Abaixo de 0,5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Tendência de ordenação invertida.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Entender AUC com quatro comparações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AE060EEA-E29B-CF3D-E7B7-BE01DFE3A2D2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45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80185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Exemplo ilustrativo: dois sobreviventes recebem 0,80 e 0,40; dois não sobreviventes recebem 0,60 e 0,20.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594860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Três pares corretos em quatro: AUC = 3/4 = 0,75.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5137785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Os números são ilustrativos. A conta compara pares entre classes, não a porcentagem de passageiros classificados corretamente.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2299335"/>
          <a:ext cx="10096500" cy="2143125"/>
        </p:xfrm>
        <a:graphic>
          <a:graphicData uri="http://schemas.openxmlformats.org/drawingml/2006/table">
            <a:tbl>
              <a:tblPr/>
              <a:tblGrid>
                <a:gridCol w="706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Sobrevivente × não sobrevivente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Ordenação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0,80 &gt; 0,60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Correta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0,80 &gt; 0,20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Correta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0,40 &lt; 0,60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Incorreta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0,40 &gt; 0,20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Correta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2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Interpretar ROC-AUC = 0,8427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72DB7CE-501A-BBF4-0CAD-B084CE0A592C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46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5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333500"/>
            <a:ext cx="10096500" cy="80010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auc_teste = roc_auc_score(y_test, prob)  # Usa probabilidades.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print(auc_teste)  # Aproximadamente 0,8427.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Pergunta: sobreviventes tendem a receber probabilidades maiores que não sobreviventes?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152775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No teste, existem 69 × 110 = 7.590 pares entre classes. A AUC corresponde a cerca de 84,27% de ordenação correta desses pares, contabilizando empates como meio acerto.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8DB99C64-FF17-4E9C-A004-6FD57B9F3062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Leitura prática: o modelo distingue as classes melhor que uma pontuação constante, cuja AUC seria 0,5. Mesmo assim, com τ = 0,5 ele ainda perde 23 sobreviventes.</a:t>
            </a:r>
          </a:p>
        </p:txBody>
      </p:sp>
      <p:sp>
        <p:nvSpPr>
          <p:cNvPr id="20" name="extra-explanation-4">
            <a:extLst>
              <a:ext uri="{FF2B5EF4-FFF2-40B4-BE49-F238E27FC236}">
                <a16:creationId xmlns:a16="http://schemas.microsoft.com/office/drawing/2014/main" id="{84645733-2AD7-42D7-8B67-613ED355D1B5}"/>
              </a:ext>
            </a:extLst>
          </p:cNvPr>
          <p:cNvSpPr>
            <a:spLocks noGrp="1"/>
          </p:cNvSpPr>
          <p:nvPr/>
        </p:nvSpPr>
        <p:spPr>
          <a:xfrm>
            <a:off x="914400" y="5400675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Use prob, não pred: transformar tudo em 0/1 descarta a ordenação detalhada das probabilidades. AUC não significa 84,27% de acurácia nem 84,27% de probabilidade para cada passageiro.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Log loss: probabilidade do resultado real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F766E625-45F0-7FC0-7206-B9D4780D3461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47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97533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Pergunta: quanta probabilidade o modelo atribuiu ao que realmente aconteceu?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464308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que é: média da perda logarítmica das probabilidades previstas. Quanto menor a probabilidade atribuída ao resultado real, maior a penalização.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721733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 sempre significa probabilidade de sobrevivência. ln é o logaritmo natural. Para avaliar todos os passageiros, somamos suas perdas e dividimos pela quantidade de casos.</a:t>
            </a:r>
          </a:p>
        </p:txBody>
      </p:sp>
      <p:graphicFrame>
        <p:nvGraphicFramePr>
          <p:cNvPr id="28" name="Tabela 27"/>
          <p:cNvGraphicFramePr/>
          <p:nvPr/>
        </p:nvGraphicFramePr>
        <p:xfrm>
          <a:off x="914400" y="3283458"/>
          <a:ext cx="10096500" cy="1285875"/>
        </p:xfrm>
        <a:graphic>
          <a:graphicData uri="http://schemas.openxmlformats.org/drawingml/2006/table">
            <a:tbl>
              <a:tblPr/>
              <a:tblGrid>
                <a:gridCol w="3432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6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7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Resultado real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Probabilidade do resultado real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Perda individual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y = 1: sobreviveu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−ln(p)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y = 0: não sobreviveu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1 − p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−ln(1 − p)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Da perda individual à perda média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79CF87E8-8F71-04A5-6F3A-BEE8F630D5E2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48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3834384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Nos quatro casos ilustrativos: perda média ≈ (0,105 + 0,511 + 2,303 + 2,303)/4 = 1,305.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653534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Por que usar: diferencia probabilidades mesmo quando a classe prevista é igual. Errar com muita confiança custa mais. Log loss não é porcentagem de erro; seu valor não tem limite superior finito.</a:t>
            </a:r>
          </a:p>
        </p:txBody>
      </p:sp>
      <p:graphicFrame>
        <p:nvGraphicFramePr>
          <p:cNvPr id="27" name="Tabela 26"/>
          <p:cNvGraphicFramePr/>
          <p:nvPr/>
        </p:nvGraphicFramePr>
        <p:xfrm>
          <a:off x="914400" y="1538859"/>
          <a:ext cx="10096500" cy="2143125"/>
        </p:xfrm>
        <a:graphic>
          <a:graphicData uri="http://schemas.openxmlformats.org/drawingml/2006/table">
            <a:tbl>
              <a:tblPr/>
              <a:tblGrid>
                <a:gridCol w="474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1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Caso ilustrativo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 de sobreviver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Perda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Sobreviveu e recebeu p 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−ln(0,90) = 0,105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Sobreviveu e recebeu p moderado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0,60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−ln(0,60) = 0,511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Sobreviveu e recebeu p baixo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−ln(0,10) = 2,303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Não sobreviveu e recebeu p alto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0,90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−ln(0,10) = 2,303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Log loss = 0,4622: comparar com o quê?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AD74175A-4E66-87FD-D56A-AAD4D4BBF877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49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387983"/>
            <a:ext cx="10096500" cy="16573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perda_teste = log_loss(y_test, prob)  # Média no teste.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base_prob = DummyClassifier(strategy="prior")  # Frequências.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base_prob.fit(X_train, y_train)  # Aprende proporções do treino.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prob_base = base_prob.predict_proba(X_test)[:, idx_1]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print(perda_teste, log_loss(y_test, prob_base))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197733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referência prior atribui a todos a mesma probabilidade de sobrevivência: 273/712 ≈ 0,3834. Ela não diferencia passageiros, mas fornece uma comparação probabilística.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321683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Referência: 0,6667. Modelo: 0,4622. O modelo teve menor perda média nos mesmos 179 casos.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C2FC8271-09D6-4512-841B-E077D4FAFDB0}"/>
              </a:ext>
            </a:extLst>
          </p:cNvPr>
          <p:cNvSpPr>
            <a:spLocks noGrp="1"/>
          </p:cNvSpPr>
          <p:nvPr/>
        </p:nvSpPr>
        <p:spPr>
          <a:xfrm>
            <a:off x="914400" y="5188458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Isso apoia a conclusão de melhora segundo a log loss. Não significa 46,22% de erro. Essa é a perda dos dados no teste; a penalização L2 do treinamento não é somada aqui.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Calibração: 70% corresponde a quê?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3491E0C6-B3E9-2F0E-6F4F-4638278C4AE4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50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38859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Probabilidades calibradas correspondem às frequências observadas em grupos de casos semelhantes em probabilidade.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405634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Exemplo ilustrativo: reúna 100 passageiros com probabilidade prevista próxima de 70%. Se cerca de 70 sobreviveram, há boa correspondência nesse grupo. Se só 40 sobreviveram, as previsões foram excessivamente altas ali.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529584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ROC-AUC pode continuar alta mesmo com probabilidades exageradas: preservar a ordem dos passageiros preserva a AUC, mas não necessariamente a qualidade das probabilidades.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38247FAF-ABDF-4F4E-A88A-2B8AB95D06A8}"/>
              </a:ext>
            </a:extLst>
          </p:cNvPr>
          <p:cNvSpPr>
            <a:spLocks noGrp="1"/>
          </p:cNvSpPr>
          <p:nvPr/>
        </p:nvSpPr>
        <p:spPr>
          <a:xfrm>
            <a:off x="914400" y="4653534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Por que avaliar: quando o valor da probabilidade orienta uma decisão ou estimativa de risco. Nesta aula não concluímos que o modelo está calibrado; isso exigiria comparar frequências e probabilidades, considerando o tamanho dos grupos.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Cada métrica responde a uma pergunta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6043A58D-60CA-DFB2-80EC-B65AE4CB9481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5390388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 interpretação deve ligar número, pergunta e consequência. Uma única métrica não descreve todos os aspectos de uma previsão.</a:t>
            </a:r>
          </a:p>
        </p:txBody>
      </p:sp>
      <p:graphicFrame>
        <p:nvGraphicFramePr>
          <p:cNvPr id="26" name="Tabela 25"/>
          <p:cNvGraphicFramePr/>
          <p:nvPr/>
        </p:nvGraphicFramePr>
        <p:xfrm>
          <a:off x="914400" y="1408938"/>
          <a:ext cx="10096500" cy="3829050"/>
        </p:xfrm>
        <a:graphic>
          <a:graphicData uri="http://schemas.openxmlformats.org/drawingml/2006/table">
            <a:tbl>
              <a:tblPr/>
              <a:tblGrid>
                <a:gridCol w="1918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7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Métrica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Pergunta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Resposta no teste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Acurácia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Quantas classes acertamos?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144/179 = 80,45%.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Precisão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Dos positivos previstos, quantos eram reais?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46/58 = 79,31%.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Dos sobreviventes reais, quantos encontramos?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46/69 = 66,67%.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Como resumir precisão e recall?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0,7244.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Os positivos ficam acima dos negativos?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0,8427.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Log loss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Quanta probabilidade demos ao resultado real?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0,4622; referência = 0,6667.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Prever uma nova passageira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E633A456-5465-3671-5B0B-A8DFBB753E5A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52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80769"/>
            <a:ext cx="10096500" cy="22288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novo = pd.DataFrame([{  # Uma linha com as sete entradas.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"age": 28, "fare": 30, "sibsp": 0, "parch": 0,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    "sex": "female", "embarked": "S", "pclass": 2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}])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p_novo = modelo.predict_proba(novo)[0, idx_1]  # Primeira linha.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print(p_novo)  # Aproximadamente 0,8235.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print(int(p_novo &gt;= 0.5))  # Classe prevista: 1.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96201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Leitura prática: para essa passageira hipotética, o modelo estima 82,35% de probabilidade de sobrevivência. Com limiar 0,5, prevê sobrevivência.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781169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 mesma mediana, escala, codificação e os mesmos coeficientes são reutilizados. A previsão não comprova que uma pessoa com essas características sobreviveria.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Inspecionar o que o modelo aprendeu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477B42F-3A06-F812-16D6-7080D8A12563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53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645730"/>
            <a:ext cx="10096500" cy="1657350"/>
          </a:xfrm>
          <a:prstGeom prst="rect">
            <a:avLst/>
          </a:prstGeom>
          <a:solidFill>
            <a:srgbClr val="F4F6F7"/>
          </a:solidFill>
          <a:ln w="0">
            <a:noFill/>
          </a:ln>
        </p:spPr>
        <p:txBody>
          <a:bodyPr wrap="none" lIns="133350" tIns="95250" rIns="133350" bIns="95250" anchor="t">
            <a:noAutofit/>
          </a:bodyPr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nomes = modelo.named_steps["prep"].get_feature_names_out()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pesos = modelo.named_steps["logit"].coef_[0]  # Um por entrada.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coeficientes = pd.Series(pesos, index=nomes)  # Liga nome e peso.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print(coeficientes)  # Mostra os 12 coeficientes.</a:t>
            </a: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02B32"/>
                </a:solidFill>
                <a:latin typeface="DejaVu Sans Mono"/>
                <a:ea typeface="DejaVu Sans Mono"/>
                <a:cs typeface="DejaVu Sans Mono"/>
              </a:rPr>
              <a:t>print(modelo.named_steps["logit"].intercept_)  # Intercepto.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345547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named_steps acessa uma etapa pelo nome. coef_[0] contém os coeficientes da classe 1; intercept_ contém o termo constante do escore.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4274630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Os coeficientes multiplicam as entradas já transformadas. Eles não são gradientes, probabilidades nem parcelas da acurácia. Seu significado depende da escala e da codificação.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Interpretar sinal e magnitude dos pesos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2FFCF489-DFD6-64BD-BCB3-4D97AF36B1FB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54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3648456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Uma unidade em age padronizada corresponde a um desvio-padrão, não a um ano. Como mantivemos todas as categorias, comparamos seus coeficientes entre si.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772406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Essas são associações aprendidas neste modelo. Não provam causalidade nem medem importância de forma isolada. Um coeficiente positivo não acrescenta um número fixo de pontos percentuais à probabilidade.</a:t>
            </a:r>
          </a:p>
        </p:txBody>
      </p:sp>
      <p:graphicFrame>
        <p:nvGraphicFramePr>
          <p:cNvPr id="27" name="Tabela 26"/>
          <p:cNvGraphicFramePr/>
          <p:nvPr/>
        </p:nvGraphicFramePr>
        <p:xfrm>
          <a:off x="914400" y="1505331"/>
          <a:ext cx="10096500" cy="1990725"/>
        </p:xfrm>
        <a:graphic>
          <a:graphicData uri="http://schemas.openxmlformats.org/drawingml/2006/table">
            <a:tbl>
              <a:tblPr/>
              <a:tblGrid>
                <a:gridCol w="424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Coeficiente nesta execução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Leitura mantendo as demais entradas fixas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age padronizada: −0,4893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Maior idade reduz o escore de sobrevivência.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fare padronizada: +0,1339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Maior tarifa aumenta o escore.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sex_female: +1,3644</a:t>
                      </a:r>
                    </a:p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sex_male: −1,2424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Trocar male por female altera o escore pela diferença: +2,6067.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2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Do escore à previsão: fechar a sequência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4C0BC6D5-207B-F838-F994-CD836D38A6B0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55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5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547241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A nova passageira passa pelo preparo e produz 12 entradas numéricas.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414016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 modelo calcula: z = intercepto + soma(coeficiente × entrada transformada).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Para essa passageira, z ≈ 1,5403.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A sigmoide converte: p = 1 / (1 + exp(−1,5403)) ≈ 0,8235.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537966"/>
            <a:ext cx="10096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Depois vem a decisão: 0,8235 ≥ 0,5 → classe 1.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FB1F20A4-768A-419C-A1EE-4377E6198EC7}"/>
              </a:ext>
            </a:extLst>
          </p:cNvPr>
          <p:cNvSpPr>
            <a:spLocks noGrp="1"/>
          </p:cNvSpPr>
          <p:nvPr/>
        </p:nvSpPr>
        <p:spPr>
          <a:xfrm>
            <a:off x="914400" y="4080891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Se o limiar fosse 0,9, a mesma probabilidade produziria classe 0. Os coeficientes e a probabilidade permaneceriam iguais; a regra de decisão teria mudado.</a:t>
            </a:r>
          </a:p>
        </p:txBody>
      </p:sp>
      <p:sp>
        <p:nvSpPr>
          <p:cNvPr id="20" name="extra-explanation-4">
            <a:extLst>
              <a:ext uri="{FF2B5EF4-FFF2-40B4-BE49-F238E27FC236}">
                <a16:creationId xmlns:a16="http://schemas.microsoft.com/office/drawing/2014/main" id="{BC9230FB-667E-44B5-9A43-1F818004EE16}"/>
              </a:ext>
            </a:extLst>
          </p:cNvPr>
          <p:cNvSpPr>
            <a:spLocks noGrp="1"/>
          </p:cNvSpPr>
          <p:nvPr/>
        </p:nvSpPr>
        <p:spPr>
          <a:xfrm>
            <a:off x="914400" y="4900041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Treinar encontra coeficientes. Prever calcula escore e probabilidade. Classificar aplica o limiar. Avaliar compara as previsões com resultados reais conhecidos.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Como escrever uma conclusão técnica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53265AEE-4D99-0673-12C8-99EFF695690A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56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605915"/>
            <a:ext cx="1009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03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58"/>
                </a:solidFill>
                <a:latin typeface="Calibri"/>
                <a:ea typeface="Calibri"/>
                <a:cs typeface="Calibri"/>
              </a:rPr>
              <a:t>“No teste de 179 passageiros, o modelo acertou 144 casos (80,45%), superando a referência de classe majoritária (61,45%).”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472690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“Identificou 46 dos 69 sobreviventes (recall de 66,67%). Entre os 58 previstos como sobreviventes, 46 eram positivos reais (precisão de 79,31%). Ainda houve 23 falsos negativos e 12 falsos positivos.”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596640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“A ROC-AUC de 0,8427 indica boa capacidade de ordenação neste conjunto. A log loss de 0,4622 foi menor que a referência probabilística de 0,6667.”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09827105-F41F-4A13-A163-E6CA0721FA8A}"/>
              </a:ext>
            </a:extLst>
          </p:cNvPr>
          <p:cNvSpPr>
            <a:spLocks noGrp="1"/>
          </p:cNvSpPr>
          <p:nvPr/>
        </p:nvSpPr>
        <p:spPr>
          <a:xfrm>
            <a:off x="914400" y="4415790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Essa conclusão conecta cada número à pergunta que responde. Para aprovar um sistema real, ainda faltaria definir o uso, o custo dos erros e a representatividade dos dados.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2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Os limites da nossa avaliação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8F0DF58B-F0CC-EE04-B3E8-87EC24B7009F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57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5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9694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Não podemos garantir 80,45% de acurácia em qualquer população: o resultado pertence a esta divisão e a esta versão do Titanic.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31609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Não podemos afirmar que os coeficientes demonstram causas da sobrevivência. Variáveis podem representar associações e fatores não medidos.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135249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Não podemos escolher novas configurações repetidamente olhando o teste e continuar chamando-o de avaliação independente.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595CB3DF-C855-4703-90A8-373987B9292A}"/>
              </a:ext>
            </a:extLst>
          </p:cNvPr>
          <p:cNvSpPr>
            <a:spLocks noGrp="1"/>
          </p:cNvSpPr>
          <p:nvPr/>
        </p:nvSpPr>
        <p:spPr>
          <a:xfrm>
            <a:off x="914400" y="3954399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Em outros problemas, passageiros da mesma família, observações do mesmo indivíduo ou registros ao longo do tempo podem exigir separações por grupo ou por data.</a:t>
            </a:r>
          </a:p>
        </p:txBody>
      </p:sp>
      <p:sp>
        <p:nvSpPr>
          <p:cNvPr id="20" name="extra-explanation-4">
            <a:extLst>
              <a:ext uri="{FF2B5EF4-FFF2-40B4-BE49-F238E27FC236}">
                <a16:creationId xmlns:a16="http://schemas.microsoft.com/office/drawing/2014/main" id="{D65E0524-433E-498F-8463-E455BAE75741}"/>
              </a:ext>
            </a:extLst>
          </p:cNvPr>
          <p:cNvSpPr>
            <a:spLocks noGrp="1"/>
          </p:cNvSpPr>
          <p:nvPr/>
        </p:nvSpPr>
        <p:spPr>
          <a:xfrm>
            <a:off x="914400" y="5078349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 prática mostra como construir e avaliar um fluxo de classificação. Uma avaliação útil depende de representar o cenário em que o modelo será usado.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Exercícios: interpretar antes de programar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AC5D86DB-0D22-4F3A-B798-73C3EACC87D6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58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635252"/>
            <a:ext cx="10096500" cy="2800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1. Por que a referência “sempre 0” acerta 61,45%, mas não encontra nenhum sobrevivente?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2. Explique por que 46 aparece tanto na precisão quanto no recall, enquanto os denominadores são diferentes.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3. Um passageiro recebeu p = 0,9658, mas não sobreviveu. Qual é o tipo de erro com τ = 0,5? Sua log loss é pequena ou grande?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4. ROC-AUC = 0,8427 significa 84,27% de passageiros classificados corretamente? Justifique.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5. Por que preencher age antes de separar treino e teste altera a avaliação?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588002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Responda citando o grupo contado, a fórmula ou a etapa que está sendo utilizada. Evite respostas como “porque a métrica ficou boa”.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Exercícios: investigar o fluxo em Python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39F1FA4F-5E1D-6DD7-8899-DB45C4C32C6E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59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3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635252"/>
            <a:ext cx="10096500" cy="2800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6. Recalcule precisão, recall e F1 diretamente de TP = 46, TN = 98, FP = 12 e FN = 23. Confira com as funções.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7. Compare C = 0,1; 1; 10 por validação cruzada no treino. Registre a média e o desvio da AUC.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8. Nos resultados de validação, qual limiar encontra mais sobreviventes? Qual produz menos falsos positivos?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9. Calcule a perda de y = 1 com p = 0,9 e com p = 0,1. Explique a diferença.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10. Explique por que a mesma passageira pode receber classes diferentes com limiares diferentes sem ser necessário treinar novamente.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4588002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Para o exercício 7, escolha antes de avaliar um novo teste independente. Não reutilize os resultados do teste desta aula para otimizar o modelo.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Conferência: conceitos e contas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28F55584-BE3A-83D9-FA7F-21221C333295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60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5486971"/>
            <a:ext cx="1009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Ao concluir: diga o que foi medido, em quais dados, contra qual referência e quais erros ainda precisam ser controlados.</a:t>
            </a:r>
          </a:p>
        </p:txBody>
      </p:sp>
      <p:graphicFrame>
        <p:nvGraphicFramePr>
          <p:cNvPr id="26" name="Tabela 25"/>
          <p:cNvGraphicFramePr/>
          <p:nvPr/>
        </p:nvGraphicFramePr>
        <p:xfrm>
          <a:off x="914400" y="1381697"/>
          <a:ext cx="10096500" cy="3952875"/>
        </p:xfrm>
        <a:graphic>
          <a:graphicData uri="http://schemas.openxmlformats.org/drawingml/2006/table">
            <a:tbl>
              <a:tblPr/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Resposta esperada</a:t>
                      </a:r>
                    </a:p>
                  </a:txBody>
                  <a:tcPr anchor="ctr">
                    <a:solidFill>
                      <a:srgbClr val="0039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1–2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 referência acerta os 110 negativos. Precisão usa 58 positivos previstos; recall usa 69 positivos reais.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3–4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FP; perda alta, pois o resultado real recebeu pouca probabilidade. AUC avalia pares, não acurácia.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5–6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A mediana incluiria informação do teste. Precisão = 0,7931; recall = 0,6667; F1 = 0,7244.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7–8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C deve ser comparado dentro do treino. Na tabela: τ = 0,3 encontra mais positivos; τ = 0,7 gera menos FP.</a:t>
                      </a:r>
                    </a:p>
                  </a:txBody>
                  <a:tcPr anchor="ctr">
                    <a:solidFill>
                      <a:srgbClr val="F2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9–10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800" b="0">
                          <a:solidFill>
                            <a:srgbClr val="202B32"/>
                          </a:solidFill>
                          <a:latin typeface="Calibri"/>
                          <a:ea typeface="Calibri"/>
                          <a:cs typeface="Calibri"/>
                        </a:rPr>
                        <a:t>Perdas ≈ 0,105 e 2,303. Mudar o limiar altera a decisão, mantendo a mesma probabilidade.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1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>
            <a:spLocks noGrp="1"/>
          </p:cNvSpPr>
          <p:nvPr/>
        </p:nvSpPr>
        <p:spPr>
          <a:xfrm>
            <a:off x="1638300" y="285750"/>
            <a:ext cx="9525000" cy="628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003958"/>
                </a:solidFill>
                <a:latin typeface="Calibri Light"/>
                <a:ea typeface="Calibri Light"/>
                <a:cs typeface="Calibri Light"/>
              </a:rPr>
              <a:t>Fontes e continuidade da prática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1EA7F32-1DB9-45FE-BC15-3B8FFB8980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53800" y="6172200"/>
            <a:ext cx="742950" cy="628650"/>
          </a:xfrm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fld id="{F1E013D6-0C4B-FE2D-855A-F1342FCB0974}" type="slidenum">
              <a: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61</a:t>
            </a:fld>
            <a:endParaRPr sz="6000">
              <a:solidFill>
                <a:schemeClr val="bg1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2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s53-block1-code">
            <a:extLst>
              <a:ext uri="{FF2B5EF4-FFF2-40B4-BE49-F238E27FC236}">
                <a16:creationId xmlns:a16="http://schemas.microsoft.com/office/drawing/2014/main" id="{3A3BEBFC-5AA8-4B97-B320-DBE762CDB6AB}"/>
              </a:ext>
            </a:extLst>
          </p:cNvPr>
          <p:cNvSpPr>
            <a:spLocks noGrp="1"/>
          </p:cNvSpPr>
          <p:nvPr/>
        </p:nvSpPr>
        <p:spPr>
          <a:xfrm>
            <a:off x="914400" y="1482281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Dados: Titanic do repositório seaborn-data, de Michael Waskom.</a:t>
            </a:r>
          </a:p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Documentação: scikit-learn — Pipeline, ColumnTransformer, LogisticRegression, validação cruzada e métricas de classificação.</a:t>
            </a:r>
          </a:p>
        </p:txBody>
      </p:sp>
      <p:sp>
        <p:nvSpPr>
          <p:cNvPr id="14" name="s53-block3-lead">
            <a:extLst>
              <a:ext uri="{FF2B5EF4-FFF2-40B4-BE49-F238E27FC236}">
                <a16:creationId xmlns:a16="http://schemas.microsoft.com/office/drawing/2014/main" id="{C418D6CB-4EF6-4ECB-AD00-FD6122EDE6DB}"/>
              </a:ext>
            </a:extLst>
          </p:cNvPr>
          <p:cNvSpPr>
            <a:spLocks noGrp="1"/>
          </p:cNvSpPr>
          <p:nvPr/>
        </p:nvSpPr>
        <p:spPr>
          <a:xfrm>
            <a:off x="914400" y="2606231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Continuidade: retoma a aula de métricas (pergunta, fórmula, interpretação e limite) e a aula de regressão (dos dados e erros individuais à avaliação do modelo).</a:t>
            </a:r>
          </a:p>
        </p:txBody>
      </p:sp>
      <p:sp>
        <p:nvSpPr>
          <p:cNvPr id="15" name="s53-block4-caption">
            <a:extLst>
              <a:ext uri="{FF2B5EF4-FFF2-40B4-BE49-F238E27FC236}">
                <a16:creationId xmlns:a16="http://schemas.microsoft.com/office/drawing/2014/main" id="{9D96B736-3F9C-46BC-8ED2-6E9F1A03FE09}"/>
              </a:ext>
            </a:extLst>
          </p:cNvPr>
          <p:cNvSpPr>
            <a:spLocks noGrp="1"/>
          </p:cNvSpPr>
          <p:nvPr/>
        </p:nvSpPr>
        <p:spPr>
          <a:xfrm>
            <a:off x="914400" y="3730181"/>
            <a:ext cx="1009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0">
                <a:solidFill>
                  <a:srgbClr val="202B3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32"/>
                </a:solidFill>
                <a:latin typeface="Calibri"/>
                <a:ea typeface="Calibri"/>
                <a:cs typeface="Calibri"/>
              </a:rPr>
              <a:t>Os exemplos de imputação, pares de AUC e perdas individuais foram identificados como ilustrativos. As contagens, métricas, coeficientes e previsões do Titanic foram calculados com o código desta sequência.</a:t>
            </a:r>
          </a:p>
        </p:txBody>
      </p:sp>
      <p:sp>
        <p:nvSpPr>
          <p:cNvPr id="19" name="extra-explanation-3">
            <a:extLst>
              <a:ext uri="{FF2B5EF4-FFF2-40B4-BE49-F238E27FC236}">
                <a16:creationId xmlns:a16="http://schemas.microsoft.com/office/drawing/2014/main" id="{8CE5B677-36B2-4BA0-B79B-162BF50C0068}"/>
              </a:ext>
            </a:extLst>
          </p:cNvPr>
          <p:cNvSpPr>
            <a:spLocks noGrp="1"/>
          </p:cNvSpPr>
          <p:nvPr/>
        </p:nvSpPr>
        <p:spPr>
          <a:xfrm>
            <a:off x="914400" y="4854131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Dados: github.com/mwaskom/seaborn-data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Documentação: scikit-learn.org/stable/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4D616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D616D"/>
                </a:solidFill>
                <a:latin typeface="Calibri"/>
                <a:ea typeface="Calibri"/>
                <a:cs typeface="Calibri"/>
              </a:rPr>
              <a:t>Links específicos e observações técnicas estão nas notas dos slides.</a:t>
            </a:r>
          </a:p>
        </p:txBody>
      </p:sp>
    </p:spTree>
    <p:extLst>
      <p:ext uri="{BB962C8B-B14F-4D97-AF65-F5344CB8AC3E}">
        <p14:creationId xmlns:p14="http://schemas.microsoft.com/office/powerpoint/2010/main" val="38781770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28598</Words>
  <Application>Microsoft Office PowerPoint</Application>
  <DocSecurity>0</DocSecurity>
  <PresentationFormat>Widescreen</PresentationFormat>
  <Paragraphs>2186</Paragraphs>
  <Slides>61</Slides>
  <Notes>61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61</vt:i4>
      </vt:variant>
    </vt:vector>
  </HeadingPairs>
  <TitlesOfParts>
    <vt:vector size="67" baseType="lpstr">
      <vt:lpstr>Arial</vt:lpstr>
      <vt:lpstr>Calibri</vt:lpstr>
      <vt:lpstr>Calibri Light</vt:lpstr>
      <vt:lpstr>DejaVu Sans Mono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Rodrigo Ramos</cp:lastModifiedBy>
  <cp:revision>1</cp:revision>
  <dcterms:created xsi:type="dcterms:W3CDTF">2026-09-07T20:06:33Z</dcterms:created>
  <dcterms:modified xsi:type="dcterms:W3CDTF">2026-09-08T10:48:35Z</dcterms:modified>
</cp:coreProperties>
</file>