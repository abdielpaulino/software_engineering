
<file path=[Content_Types].xml><?xml version="1.0" encoding="utf-8"?>
<Types xmlns="http://schemas.openxmlformats.org/package/2006/content-types"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rts/chart1.xml" ContentType="application/vnd.openxmlformats-officedocument.drawingml.chart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301" r:id="rId27"/>
    <p:sldId id="281" r:id="rId28"/>
    <p:sldId id="302" r:id="rId29"/>
    <p:sldId id="283" r:id="rId30"/>
    <p:sldId id="284" r:id="rId31"/>
    <p:sldId id="285" r:id="rId32"/>
    <p:sldId id="286" r:id="rId33"/>
    <p:sldId id="287" r:id="rId34"/>
    <p:sldId id="303" r:id="rId35"/>
    <p:sldId id="288" r:id="rId36"/>
    <p:sldId id="289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47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Real</c:v>
                </c:pt>
              </c:strCache>
            </c:strRef>
          </c:tx>
          <c:spPr>
            <a:ln w="25400" cap="flat">
              <a:solidFill>
                <a:srgbClr val="C050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0504D"/>
              </a:solidFill>
              <a:ln w="9525" cap="flat">
                <a:solidFill>
                  <a:srgbClr val="C0504D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</c:v>
                </c:pt>
                <c:pt idx="1">
                  <c:v>12</c:v>
                </c:pt>
                <c:pt idx="2">
                  <c:v>14</c:v>
                </c:pt>
                <c:pt idx="3">
                  <c:v>16</c:v>
                </c:pt>
                <c:pt idx="4">
                  <c:v>18</c:v>
                </c:pt>
                <c:pt idx="5">
                  <c:v>20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9E8-49F9-AD17-D918F943D10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Modelo ruim</c:v>
                </c:pt>
              </c:strCache>
            </c:strRef>
          </c:tx>
          <c:spPr>
            <a:ln w="25400" cap="flat">
              <a:solidFill>
                <a:srgbClr val="4F81B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4F81BD"/>
              </a:solidFill>
              <a:ln w="9525" cap="flat">
                <a:solidFill>
                  <a:srgbClr val="4F81BD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22</c:v>
                </c:pt>
                <c:pt idx="1">
                  <c:v>8</c:v>
                </c:pt>
                <c:pt idx="2">
                  <c:v>24</c:v>
                </c:pt>
                <c:pt idx="3">
                  <c:v>6</c:v>
                </c:pt>
                <c:pt idx="4">
                  <c:v>25</c:v>
                </c:pt>
                <c:pt idx="5">
                  <c:v>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9E8-49F9-AD17-D918F943D10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Baseline média</c:v>
                </c:pt>
              </c:strCache>
            </c:strRef>
          </c:tx>
          <c:spPr>
            <a:ln w="25400" cap="flat">
              <a:solidFill>
                <a:srgbClr val="9BBB59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9BBB59"/>
              </a:solidFill>
              <a:ln w="9525" cap="flat">
                <a:solidFill>
                  <a:srgbClr val="9BBB59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15</c:v>
                </c:pt>
                <c:pt idx="1">
                  <c:v>15</c:v>
                </c:pt>
                <c:pt idx="2">
                  <c:v>15</c:v>
                </c:pt>
                <c:pt idx="3">
                  <c:v>15</c:v>
                </c:pt>
                <c:pt idx="4">
                  <c:v>15</c:v>
                </c:pt>
                <c:pt idx="5">
                  <c:v>15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F9E8-49F9-AD17-D918F943D1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8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28012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aula deve ser apresentada como uma linguagem do erro. Antes de falar em algoritmo, o aluno precisa entender que a métrica é uma resposta numérica para uma pergunta sobre o erro.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que a aula é anterior aos algoritmos. Ela cria o vocabulário que será usado depois em regressão, classificação e clustering.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este fluxo várias vezes durante a aula: o que era verdadeiro, o que o modelo disse, como errou, qual métrica resume isso e qual decisão será tomada.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Peça aos alunos para sempre verbalizarem a pergunta antes de usar uma fórmula. Isso reduz memorização mecânica.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Resíduo: a unidade básica do erro partindo da pergunta: Quanto a previsão ficou acima ou abaixo do valor real?. Leia a fórmula apontando cada variável e peça ao aluno para traduzir o resultado para uma decisão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este exemplo simples antes de qualquer fórmula de MAE/RMSE.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que a métrica surge de uma necessidade: resumir erros, não decorar fórmulas.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MAE — Mean Absolute Error partindo da pergunta: Quanto eu erro normalmente, na unidade do problema?. Leia a fórmula apontando cada variável e peça ao aluno para traduzir o resultado para uma decisão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Peça para os alunos traduzirem o resultado antes de prosseguir.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que a interpretação operacional é inseparável da métrica.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este slide para motivar o RMSE.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RMSE — Root Mean Squared Error partindo da pergunta: Existem erros grandes que precisam pesar mais?. Leia a fórmula apontando cada variável e peça ao aluno para traduzir o resultado para uma decisão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Ajude a turma a conectar quadrado com peso do erro.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slide deve virar uma cola mental dos alunos.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que R² formaliza a comparação contra o baseline da média.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R² — coeficiente de determinação partindo da pergunta: O modelo melhora em relação ao baseline da média?. Leia a fórmula apontando cada variável e peça ao aluno para traduzir o resultado para uma decisão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R² como baseline da média e não como nota escolar.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Diga que R² negativo é um sinal forte de que há erro de dados, variáveis ou pipeline.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este exemplo para justificar o gráfico de resíduos.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Ensine que gráfico complementa métrica.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Não explique em termos estatísticos pesados. Use linguagem de diagnóstico visual.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é o fechamento do bloco de regressão.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linguagem humana antes das siglas.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slide precisa ser lento. Peça para cada aluno criar um exemplo de FP e FN.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Depois deste slide, as fórmulas ficam menos abstratas.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194534-8BE2-ACBA-2748-14EAF9F4F9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9FB300-EF1B-DEE0-B4C6-2F6063B6A7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EDD7A0-47A8-82AD-FA74-B4755E6D31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Depois deste slide, as fórmulas ficam menos abstratas.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F474F6-2642-7238-6F48-BAE9B0DFC5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24006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Accuracy — acurácia partindo da pergunta: De todas as previsões, quantas foram corretas?. Leia a fórmula apontando cada variável e peça ao aluno para traduzir o resultado para uma decisão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é um dos exemplos mais importantes da aula.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Recall / Sensibilidade partindo da pergunta: De todos os positivos reais, quantos foram encontrados?. Leia a fórmula apontando cada variável e peça ao aluno para traduzir o resultado para uma decisão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Faça os alunos dizerem em voz alta o que significa FN em cada cenário.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Precision — precisão dos alertas partindo da pergunta: Quando o modelo acusa positivo, com que frequência está certo?. Leia a fórmula apontando cada variável e peça ao aluno para traduzir o resultado para uma decisão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que Precision não é mais importante sempre; ela ganha peso quando FP é caro.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trade-off sem falar em algoritmos ainda.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83D355-8993-DDEA-E719-CD085CFBD8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017424-FEDE-4BC2-F184-3E1910DF61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A919D0-26DC-8C0F-9820-D194FE229D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trade-off sem falar em algoritmos ainda.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A0CE2D-17DE-79BB-3719-FB3ECD8E26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12990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F1-score partindo da pergunta: Precision e Recall estão equilibrados?. Leia a fórmula apontando cada variável e peça ao aluno para traduzir o resultado para uma decisão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Reforce que F1 é resumo, não decisão de negócio.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Feche o bloco de classificação com a ideia de métrica principal e de controle.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é apenas fundamento. As métricas específicas serão aprofundadas quando entrar o algoritmo de agrupamento.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Não aprofunde fórmulas ainda. Deixe os conceitos como preparação para K-Means.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Prepare o terreno para K-Means sem entrar em detalhes.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slide sintetiza a lógica da aula.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esta estrutura como rubrica de prova/trabalho.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Peça resposta em frase completa, não apenas indicação da letra.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Faça os alunos calcularem Recall = 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exercício é simples, mas fixa a regra central.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Feche reforçando que a aula criou uma lente para avaliar os algoritmos que virão depois.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7772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Métricas em Machine Learning Clássico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76656" y="1508760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F77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Fundamentação antes dos algoritmos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13232" y="2157984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Como transformar erro em decisão: o que é cada métrica, para que serve, como interpretar e quando ela engana.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1051560" y="4599432"/>
            <a:ext cx="219456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977640" y="4599432"/>
            <a:ext cx="214884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6812280" y="4599432"/>
            <a:ext cx="224028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58368" y="4087368"/>
            <a:ext cx="2331720" cy="960120"/>
          </a:xfrm>
          <a:prstGeom prst="roundRect">
            <a:avLst>
              <a:gd name="adj" fmla="val 7619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4224528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95528" y="4517136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que quero decidir?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538728" y="4087368"/>
            <a:ext cx="2331720" cy="960120"/>
          </a:xfrm>
          <a:prstGeom prst="roundRect">
            <a:avLst>
              <a:gd name="adj" fmla="val 7619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75888" y="4224528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675888" y="4517136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que pode dar errado?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19088" y="4087368"/>
            <a:ext cx="2331720" cy="960120"/>
          </a:xfrm>
          <a:prstGeom prst="roundRect">
            <a:avLst>
              <a:gd name="adj" fmla="val 7619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56248" y="4224528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Métrica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556248" y="4517136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como medir?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299448" y="4087368"/>
            <a:ext cx="2331720" cy="960120"/>
          </a:xfrm>
          <a:prstGeom prst="roundRect">
            <a:avLst>
              <a:gd name="adj" fmla="val 7619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436608" y="4224528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Decisão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436608" y="4517136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serve no mundo real?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8288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ABERTURA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Objetivo da aula: aprender a linguagem do erro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12064" y="114300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Sem algoritmo ainda: primeiro vamos entender como julgar uma previsão.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1311128" y="647395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02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640080" y="1444752"/>
            <a:ext cx="10927080" cy="530352"/>
          </a:xfrm>
          <a:prstGeom prst="roundRect">
            <a:avLst>
              <a:gd name="adj" fmla="val 13793"/>
            </a:avLst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554480"/>
            <a:ext cx="105247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Pergunta central: quando uma máquina responde, como sabemos se a resposta é boa?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85800" y="233172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D9ECFA"/>
          </a:solidFill>
          <a:ln w="12700">
            <a:solidFill>
              <a:srgbClr val="D9ECFA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0392" y="2441448"/>
            <a:ext cx="3099816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F77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PREVISÃO NUMÉRICA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50392" y="2715768"/>
            <a:ext cx="3099816" cy="9418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Quando a resposta é um número: preço, temperatura, altura, consumo, dose, vendas.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370832" y="233172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FEF3C7"/>
          </a:solidFill>
          <a:ln w="12700">
            <a:solidFill>
              <a:srgbClr val="FEF3C7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35424" y="2441448"/>
            <a:ext cx="3099816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PREVISÃO DE CLASSE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35424" y="2715768"/>
            <a:ext cx="3099816" cy="9418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Quando a resposta é uma decisão: sim/não, saudável/doente, fraude/normal.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046720" y="233172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DDF4F1"/>
          </a:solidFill>
          <a:ln w="12700">
            <a:solidFill>
              <a:srgbClr val="DDF4F1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11312" y="2441448"/>
            <a:ext cx="3099816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AGRUPAMENTO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211312" y="2715768"/>
            <a:ext cx="3099816" cy="9418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Quando buscamos grupos parecidos, mas não temos uma resposta correta conhecida.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31520" y="45720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ideia que deve ficar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4910328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Métrica não é “nota do algoritmo”. Métrica é a forma de enxergar o erro que importa para a decisão real. Ex.: 99% de acerto em triagem pode significar 100% dos doentes perdidos.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8288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ABERTURA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 roteiro que será repetido em qualquer modelo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12064" y="114300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 err="1">
                <a:solidFill>
                  <a:srgbClr val="64748B"/>
                </a:solidFill>
              </a:rPr>
              <a:t>Entender</a:t>
            </a:r>
            <a:r>
              <a:rPr lang="en-US" sz="1150" dirty="0">
                <a:solidFill>
                  <a:srgbClr val="64748B"/>
                </a:solidFill>
              </a:rPr>
              <a:t> esse fluxo, </a:t>
            </a:r>
            <a:r>
              <a:rPr lang="en-US" sz="1150" dirty="0" err="1">
                <a:solidFill>
                  <a:srgbClr val="64748B"/>
                </a:solidFill>
              </a:rPr>
              <a:t>fará</a:t>
            </a:r>
            <a:r>
              <a:rPr lang="en-US" sz="1150" dirty="0">
                <a:solidFill>
                  <a:srgbClr val="64748B"/>
                </a:solidFill>
              </a:rPr>
              <a:t> as </a:t>
            </a:r>
            <a:r>
              <a:rPr lang="en-US" sz="1150" dirty="0" err="1">
                <a:solidFill>
                  <a:srgbClr val="64748B"/>
                </a:solidFill>
              </a:rPr>
              <a:t>métricas</a:t>
            </a:r>
            <a:r>
              <a:rPr lang="en-US" sz="1150" dirty="0">
                <a:solidFill>
                  <a:srgbClr val="64748B"/>
                </a:solidFill>
              </a:rPr>
              <a:t> </a:t>
            </a:r>
            <a:r>
              <a:rPr lang="en-US" sz="1150" dirty="0" err="1">
                <a:solidFill>
                  <a:srgbClr val="64748B"/>
                </a:solidFill>
              </a:rPr>
              <a:t>começarem</a:t>
            </a:r>
            <a:r>
              <a:rPr lang="en-US" sz="1150" dirty="0">
                <a:solidFill>
                  <a:srgbClr val="64748B"/>
                </a:solidFill>
              </a:rPr>
              <a:t> a fazer sentido.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1311128" y="647395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03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103120" y="2304288"/>
            <a:ext cx="429768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270248" y="2304288"/>
            <a:ext cx="429768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437376" y="2304288"/>
            <a:ext cx="429768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604504" y="2304288"/>
            <a:ext cx="429768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02920" y="1828800"/>
            <a:ext cx="1700784" cy="960120"/>
          </a:xfrm>
          <a:prstGeom prst="roundRect">
            <a:avLst>
              <a:gd name="adj" fmla="val 7619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" y="2011680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Verdade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76072" y="233172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valor real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670048" y="1828800"/>
            <a:ext cx="1700784" cy="960120"/>
          </a:xfrm>
          <a:prstGeom prst="roundRect">
            <a:avLst>
              <a:gd name="adj" fmla="val 7619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0" y="2011680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Previsão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2743200" y="233172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resposta do modelo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37176" y="1828800"/>
            <a:ext cx="1700784" cy="960120"/>
          </a:xfrm>
          <a:prstGeom prst="roundRect">
            <a:avLst>
              <a:gd name="adj" fmla="val 7619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10328" y="2011680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Erro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910328" y="233172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distância / tipo de falha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004304" y="1828800"/>
            <a:ext cx="1700784" cy="960120"/>
          </a:xfrm>
          <a:prstGeom prst="roundRect">
            <a:avLst>
              <a:gd name="adj" fmla="val 7619"/>
            </a:avLst>
          </a:prstGeom>
          <a:solidFill>
            <a:srgbClr val="FEF3C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77456" y="2011680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Métrica</a:t>
            </a: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077456" y="233172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resumo numérico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171432" y="1828800"/>
            <a:ext cx="1700784" cy="960120"/>
          </a:xfrm>
          <a:prstGeom prst="roundRect">
            <a:avLst>
              <a:gd name="adj" fmla="val 7619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244584" y="2011680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Decisão</a:t>
            </a: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9244584" y="233172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serve ou não?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77240" y="3657599"/>
            <a:ext cx="4937760" cy="1285333"/>
          </a:xfrm>
          <a:prstGeom prst="roundRect">
            <a:avLst>
              <a:gd name="adj" fmla="val 6400"/>
            </a:avLst>
          </a:prstGeom>
          <a:solidFill>
            <a:srgbClr val="D9ECFA"/>
          </a:solidFill>
          <a:ln w="12700">
            <a:solidFill>
              <a:srgbClr val="D9ECFA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41832" y="3767328"/>
            <a:ext cx="4608576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F77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EXEMPLO NUMÉRICO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941832" y="4041648"/>
            <a:ext cx="4608576" cy="156552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Real: 100. Previsto: 92. Erro: 8 unidades. </a:t>
            </a:r>
          </a:p>
          <a:p>
            <a:pPr marL="0" indent="0" algn="l">
              <a:buNone/>
            </a:pP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métrica pergunta: “esse erro é aceitável?”</a:t>
            </a: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6172200" y="3657599"/>
            <a:ext cx="4892040" cy="1285333"/>
          </a:xfrm>
          <a:prstGeom prst="roundRect">
            <a:avLst>
              <a:gd name="adj" fmla="val 6400"/>
            </a:avLst>
          </a:prstGeom>
          <a:solidFill>
            <a:srgbClr val="FEF3C7"/>
          </a:solidFill>
          <a:ln w="12700">
            <a:solidFill>
              <a:srgbClr val="FEF3C7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36792" y="3767328"/>
            <a:ext cx="4562856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EXEMPLO DE CLASSE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336792" y="4041648"/>
            <a:ext cx="4562856" cy="156552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Real: doente. Sistema: saudável. </a:t>
            </a:r>
          </a:p>
          <a:p>
            <a:pPr marL="0" indent="0" algn="l">
              <a:buNone/>
            </a:pP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erro não é “só errou”: é falso negativo, e pode ser grave.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8288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ABERTURA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 que é uma métrica?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12064" y="114300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Uma métrica é uma pergunta sobre o erro transformada em número.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1311128" y="647395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04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731520" y="1463040"/>
            <a:ext cx="10698480" cy="512064"/>
          </a:xfrm>
          <a:prstGeom prst="roundRect">
            <a:avLst>
              <a:gd name="adj" fmla="val 14286"/>
            </a:avLst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1572768"/>
            <a:ext cx="102961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Não comece pela fórmula. Comece pela pergunta que a fórmula responde.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77240" y="2331720"/>
            <a:ext cx="3550920" cy="480060"/>
          </a:xfrm>
          <a:prstGeom prst="rect">
            <a:avLst/>
          </a:prstGeom>
          <a:solidFill>
            <a:srgbClr val="102A43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2377440"/>
            <a:ext cx="3422904" cy="3977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Pergunta simples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28160" y="2331720"/>
            <a:ext cx="3550920" cy="480060"/>
          </a:xfrm>
          <a:prstGeom prst="rect">
            <a:avLst/>
          </a:prstGeom>
          <a:solidFill>
            <a:srgbClr val="102A43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92168" y="2377440"/>
            <a:ext cx="3422904" cy="3977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Métrica que pode responder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879080" y="2331720"/>
            <a:ext cx="3550920" cy="480060"/>
          </a:xfrm>
          <a:prstGeom prst="rect">
            <a:avLst/>
          </a:prstGeom>
          <a:solidFill>
            <a:srgbClr val="102A43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43088" y="2377440"/>
            <a:ext cx="3422904" cy="3977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Tradução no mundo real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77240" y="2811780"/>
            <a:ext cx="3550920" cy="4800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" y="2857500"/>
            <a:ext cx="3422904" cy="3977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Quanto erro normalmente?</a:t>
            </a:r>
            <a:endParaRPr lang="en-US" sz="1400" b="1" dirty="0"/>
          </a:p>
        </p:txBody>
      </p:sp>
      <p:sp>
        <p:nvSpPr>
          <p:cNvPr id="17" name="Shape 15"/>
          <p:cNvSpPr/>
          <p:nvPr/>
        </p:nvSpPr>
        <p:spPr>
          <a:xfrm>
            <a:off x="4328160" y="2811780"/>
            <a:ext cx="3550920" cy="4800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92168" y="2857500"/>
            <a:ext cx="3422904" cy="3977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MAE</a:t>
            </a:r>
            <a:endParaRPr lang="en-US" b="1" dirty="0"/>
          </a:p>
        </p:txBody>
      </p:sp>
      <p:sp>
        <p:nvSpPr>
          <p:cNvPr id="19" name="Shape 17"/>
          <p:cNvSpPr/>
          <p:nvPr/>
        </p:nvSpPr>
        <p:spPr>
          <a:xfrm>
            <a:off x="7879080" y="2811780"/>
            <a:ext cx="3550920" cy="4800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43088" y="2857500"/>
            <a:ext cx="3422904" cy="3977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 típico por previsão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77240" y="3291840"/>
            <a:ext cx="3550920" cy="48006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1248" y="3337560"/>
            <a:ext cx="3422904" cy="3977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Existem erros muito grandes?</a:t>
            </a:r>
            <a:endParaRPr lang="en-US" sz="1400" b="1" dirty="0"/>
          </a:p>
        </p:txBody>
      </p:sp>
      <p:sp>
        <p:nvSpPr>
          <p:cNvPr id="23" name="Shape 21"/>
          <p:cNvSpPr/>
          <p:nvPr/>
        </p:nvSpPr>
        <p:spPr>
          <a:xfrm>
            <a:off x="4328160" y="3291840"/>
            <a:ext cx="3550920" cy="48006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92168" y="3337560"/>
            <a:ext cx="3422904" cy="3977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RMSE</a:t>
            </a:r>
            <a:endParaRPr lang="en-US" b="1" dirty="0"/>
          </a:p>
        </p:txBody>
      </p:sp>
      <p:sp>
        <p:nvSpPr>
          <p:cNvPr id="25" name="Shape 23"/>
          <p:cNvSpPr/>
          <p:nvPr/>
        </p:nvSpPr>
        <p:spPr>
          <a:xfrm>
            <a:off x="7879080" y="3291840"/>
            <a:ext cx="3550920" cy="48006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43088" y="3337560"/>
            <a:ext cx="3422904" cy="3977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risco de falhas extremas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777240" y="3771900"/>
            <a:ext cx="3550920" cy="4800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41248" y="3817620"/>
            <a:ext cx="3422904" cy="3977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modelo é melhor que uma resposta boba?</a:t>
            </a:r>
            <a:endParaRPr lang="en-US" sz="1400" b="1" dirty="0"/>
          </a:p>
        </p:txBody>
      </p:sp>
      <p:sp>
        <p:nvSpPr>
          <p:cNvPr id="29" name="Shape 27"/>
          <p:cNvSpPr/>
          <p:nvPr/>
        </p:nvSpPr>
        <p:spPr>
          <a:xfrm>
            <a:off x="4328160" y="3771900"/>
            <a:ext cx="3550920" cy="4800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92168" y="3817620"/>
            <a:ext cx="3422904" cy="3977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R² / baseline</a:t>
            </a:r>
            <a:endParaRPr lang="en-US" b="1" dirty="0"/>
          </a:p>
        </p:txBody>
      </p:sp>
      <p:sp>
        <p:nvSpPr>
          <p:cNvPr id="31" name="Shape 29"/>
          <p:cNvSpPr/>
          <p:nvPr/>
        </p:nvSpPr>
        <p:spPr>
          <a:xfrm>
            <a:off x="7879080" y="3771900"/>
            <a:ext cx="3550920" cy="4800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943088" y="3817620"/>
            <a:ext cx="3422904" cy="3977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ganho real sobre uma referência simples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777240" y="4251960"/>
            <a:ext cx="3550920" cy="48006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41248" y="4297680"/>
            <a:ext cx="3422904" cy="3977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Quantos positivos importantes encontrei?</a:t>
            </a:r>
            <a:endParaRPr lang="en-US" sz="1400" b="1" dirty="0"/>
          </a:p>
        </p:txBody>
      </p:sp>
      <p:sp>
        <p:nvSpPr>
          <p:cNvPr id="35" name="Shape 33"/>
          <p:cNvSpPr/>
          <p:nvPr/>
        </p:nvSpPr>
        <p:spPr>
          <a:xfrm>
            <a:off x="4328160" y="4251960"/>
            <a:ext cx="3550920" cy="48006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392168" y="4297680"/>
            <a:ext cx="3422904" cy="3977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Recall</a:t>
            </a:r>
            <a:endParaRPr lang="en-US" b="1" dirty="0"/>
          </a:p>
        </p:txBody>
      </p:sp>
      <p:sp>
        <p:nvSpPr>
          <p:cNvPr id="37" name="Shape 35"/>
          <p:cNvSpPr/>
          <p:nvPr/>
        </p:nvSpPr>
        <p:spPr>
          <a:xfrm>
            <a:off x="7879080" y="4251960"/>
            <a:ext cx="3550920" cy="48006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943088" y="4297680"/>
            <a:ext cx="3422904" cy="3977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redução de casos perdidos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777240" y="4732020"/>
            <a:ext cx="3550920" cy="4800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41248" y="4777740"/>
            <a:ext cx="3422904" cy="3977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Quantos alertas estavam certos?</a:t>
            </a:r>
            <a:endParaRPr lang="en-US" sz="1400" b="1" dirty="0"/>
          </a:p>
        </p:txBody>
      </p:sp>
      <p:sp>
        <p:nvSpPr>
          <p:cNvPr id="41" name="Shape 39"/>
          <p:cNvSpPr/>
          <p:nvPr/>
        </p:nvSpPr>
        <p:spPr>
          <a:xfrm>
            <a:off x="4328160" y="4732020"/>
            <a:ext cx="3550920" cy="4800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392168" y="4777740"/>
            <a:ext cx="3422904" cy="3977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Precision</a:t>
            </a:r>
            <a:endParaRPr lang="en-US" b="1" dirty="0"/>
          </a:p>
        </p:txBody>
      </p:sp>
      <p:sp>
        <p:nvSpPr>
          <p:cNvPr id="43" name="Shape 41"/>
          <p:cNvSpPr/>
          <p:nvPr/>
        </p:nvSpPr>
        <p:spPr>
          <a:xfrm>
            <a:off x="7879080" y="4732020"/>
            <a:ext cx="3550920" cy="4800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943088" y="4777740"/>
            <a:ext cx="3422904" cy="3977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 de falsos alarmes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1005840" y="5596128"/>
            <a:ext cx="10149840" cy="942362"/>
          </a:xfrm>
          <a:prstGeom prst="roundRect">
            <a:avLst>
              <a:gd name="adj" fmla="val 11429"/>
            </a:avLst>
          </a:prstGeom>
          <a:solidFill>
            <a:srgbClr val="FDE2E7"/>
          </a:solidFill>
          <a:ln w="12700">
            <a:solidFill>
              <a:srgbClr val="FDE2E7">
                <a:alpha val="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170432" y="5705856"/>
            <a:ext cx="9820656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D149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FRASE PARA A TURMA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170432" y="5980176"/>
            <a:ext cx="9820656" cy="46687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“Se eu não sei qual erro é perigoso, eu não sei qual métrica deve pesar </a:t>
            </a:r>
            <a:r>
              <a:rPr lang="en-US" sz="1600" b="1" dirty="0" err="1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mais</a:t>
            </a:r>
            <a:r>
              <a:rPr lang="en-US" sz="16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.”</a:t>
            </a:r>
          </a:p>
          <a:p>
            <a:pPr marL="0" indent="0" algn="l">
              <a:buNone/>
            </a:pPr>
            <a:r>
              <a:rPr lang="en-US" sz="12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Ex.: em incêndio o erro grave é não alarmar; em bloqueio de cartão é travar o cliente honesto.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77B4"/>
          </a:solidFill>
          <a:ln w="12700">
            <a:solidFill>
              <a:srgbClr val="1F77B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8288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77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REGRESSÃO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Resíduo: a unidade básica do erro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11311128" y="647395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05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66928" y="1417320"/>
            <a:ext cx="11018520" cy="475488"/>
          </a:xfrm>
          <a:prstGeom prst="roundRect">
            <a:avLst>
              <a:gd name="adj" fmla="val 15385"/>
            </a:avLst>
          </a:prstGeom>
          <a:solidFill>
            <a:srgbClr val="1F77B4"/>
          </a:solidFill>
          <a:ln w="12700">
            <a:solidFill>
              <a:srgbClr val="1F77B4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527048"/>
            <a:ext cx="10616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Quanto a previsão ficou acima ou abaixo do valor real?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13232" y="2057400"/>
            <a:ext cx="48463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4400" y="2240280"/>
            <a:ext cx="4434840" cy="82296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897880" y="1956816"/>
            <a:ext cx="2720340" cy="320040"/>
          </a:xfrm>
          <a:prstGeom prst="rect">
            <a:avLst/>
          </a:prstGeom>
          <a:solidFill>
            <a:srgbClr val="1F77B4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61888" y="2002536"/>
            <a:ext cx="2592324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Variável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8266176" y="1956816"/>
            <a:ext cx="3072384" cy="320040"/>
          </a:xfrm>
          <a:prstGeom prst="rect">
            <a:avLst/>
          </a:prstGeom>
          <a:solidFill>
            <a:srgbClr val="1F77B4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682228" y="2002536"/>
            <a:ext cx="2592324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Significado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897880" y="2276856"/>
            <a:ext cx="272034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961888" y="2322576"/>
            <a:ext cx="2592324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eᵢ</a:t>
            </a:r>
            <a:endParaRPr lang="en-US" sz="1600" b="1" dirty="0"/>
          </a:p>
        </p:txBody>
      </p:sp>
      <p:sp>
        <p:nvSpPr>
          <p:cNvPr id="17" name="Shape 14"/>
          <p:cNvSpPr/>
          <p:nvPr/>
        </p:nvSpPr>
        <p:spPr>
          <a:xfrm>
            <a:off x="8266176" y="2276856"/>
            <a:ext cx="3072384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436634" y="2322576"/>
            <a:ext cx="2837918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 da observação i (ex.: +2 kg)</a:t>
            </a:r>
            <a:endParaRPr lang="en-US" sz="1200" b="1" dirty="0"/>
          </a:p>
        </p:txBody>
      </p:sp>
      <p:sp>
        <p:nvSpPr>
          <p:cNvPr id="19" name="Shape 16"/>
          <p:cNvSpPr/>
          <p:nvPr/>
        </p:nvSpPr>
        <p:spPr>
          <a:xfrm>
            <a:off x="5897880" y="2596896"/>
            <a:ext cx="27203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961888" y="2642616"/>
            <a:ext cx="2592324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yᵢ</a:t>
            </a:r>
            <a:endParaRPr lang="en-US" sz="1600" b="1" dirty="0"/>
          </a:p>
        </p:txBody>
      </p:sp>
      <p:sp>
        <p:nvSpPr>
          <p:cNvPr id="21" name="Shape 18"/>
          <p:cNvSpPr/>
          <p:nvPr/>
        </p:nvSpPr>
        <p:spPr>
          <a:xfrm>
            <a:off x="8266176" y="2596896"/>
            <a:ext cx="3072384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436634" y="2642616"/>
            <a:ext cx="2837918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valor real medido (ex.: 20 kg)</a:t>
            </a:r>
            <a:endParaRPr lang="en-US" sz="1200" b="1" dirty="0"/>
          </a:p>
        </p:txBody>
      </p:sp>
      <p:sp>
        <p:nvSpPr>
          <p:cNvPr id="23" name="Shape 20"/>
          <p:cNvSpPr/>
          <p:nvPr/>
        </p:nvSpPr>
        <p:spPr>
          <a:xfrm>
            <a:off x="5897880" y="2916936"/>
            <a:ext cx="272034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961888" y="2962656"/>
            <a:ext cx="2592324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ŷᵢ</a:t>
            </a:r>
            <a:endParaRPr lang="en-US" sz="1600" b="1" dirty="0"/>
          </a:p>
        </p:txBody>
      </p:sp>
      <p:sp>
        <p:nvSpPr>
          <p:cNvPr id="25" name="Shape 22"/>
          <p:cNvSpPr/>
          <p:nvPr/>
        </p:nvSpPr>
        <p:spPr>
          <a:xfrm>
            <a:off x="8266176" y="2916936"/>
            <a:ext cx="3072384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436634" y="2962656"/>
            <a:ext cx="2837918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valor previsto pelo modelo (ex.: 18 kg)</a:t>
            </a:r>
            <a:endParaRPr lang="en-US" sz="1200" b="1" dirty="0"/>
          </a:p>
        </p:txBody>
      </p:sp>
      <p:sp>
        <p:nvSpPr>
          <p:cNvPr id="27" name="Shape 24"/>
          <p:cNvSpPr/>
          <p:nvPr/>
        </p:nvSpPr>
        <p:spPr>
          <a:xfrm>
            <a:off x="5897880" y="3236976"/>
            <a:ext cx="27203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961888" y="3282696"/>
            <a:ext cx="2592324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</a:t>
            </a:r>
            <a:endParaRPr lang="en-US" sz="1600" b="1" dirty="0"/>
          </a:p>
        </p:txBody>
      </p:sp>
      <p:sp>
        <p:nvSpPr>
          <p:cNvPr id="29" name="Shape 26"/>
          <p:cNvSpPr/>
          <p:nvPr/>
        </p:nvSpPr>
        <p:spPr>
          <a:xfrm>
            <a:off x="8266176" y="3236976"/>
            <a:ext cx="3072384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436634" y="3282696"/>
            <a:ext cx="2837918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índice da observação (ex.: Caixa A)</a:t>
            </a:r>
            <a:endParaRPr lang="en-US" sz="1200" b="1" dirty="0"/>
          </a:p>
        </p:txBody>
      </p:sp>
      <p:sp>
        <p:nvSpPr>
          <p:cNvPr id="31" name="Shape 28"/>
          <p:cNvSpPr/>
          <p:nvPr/>
        </p:nvSpPr>
        <p:spPr>
          <a:xfrm>
            <a:off x="713232" y="3730752"/>
            <a:ext cx="3383280" cy="1435608"/>
          </a:xfrm>
          <a:prstGeom prst="roundRect">
            <a:avLst>
              <a:gd name="adj" fmla="val 6400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77824" y="3840480"/>
            <a:ext cx="3054096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77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 QUE SERVE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877824" y="4114800"/>
            <a:ext cx="3054096" cy="6675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Autofit/>
          </a:bodyPr>
          <a:lstStyle/>
          <a:p>
            <a:pPr marL="0" indent="0" algn="l">
              <a:buNone/>
            </a:pP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Mostra o erro individual antes de resumir tudo em uma média.</a:t>
            </a:r>
            <a:endParaRPr lang="en-US" dirty="0"/>
          </a:p>
        </p:txBody>
      </p:sp>
      <p:sp>
        <p:nvSpPr>
          <p:cNvPr id="34" name="Shape 31"/>
          <p:cNvSpPr/>
          <p:nvPr/>
        </p:nvSpPr>
        <p:spPr>
          <a:xfrm>
            <a:off x="4407408" y="3730752"/>
            <a:ext cx="3383280" cy="1435608"/>
          </a:xfrm>
          <a:prstGeom prst="roundRect">
            <a:avLst>
              <a:gd name="adj" fmla="val 6400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572000" y="3840480"/>
            <a:ext cx="3054096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77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COMO INTERPRETAR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4572000" y="4114800"/>
            <a:ext cx="3054096" cy="6675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Autofit/>
          </a:bodyPr>
          <a:lstStyle/>
          <a:p>
            <a:pPr marL="0" indent="0" algn="l">
              <a:buNone/>
            </a:pP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eᵢ positivo: o real foi maior que a previsão. eᵢ negativo: a previsão passou do real.</a:t>
            </a:r>
            <a:endParaRPr lang="en-US" dirty="0"/>
          </a:p>
        </p:txBody>
      </p:sp>
      <p:sp>
        <p:nvSpPr>
          <p:cNvPr id="37" name="Shape 34"/>
          <p:cNvSpPr/>
          <p:nvPr/>
        </p:nvSpPr>
        <p:spPr>
          <a:xfrm>
            <a:off x="8101584" y="3730752"/>
            <a:ext cx="3236976" cy="1435608"/>
          </a:xfrm>
          <a:prstGeom prst="roundRect">
            <a:avLst>
              <a:gd name="adj" fmla="val 6400"/>
            </a:avLst>
          </a:prstGeom>
          <a:solidFill>
            <a:srgbClr val="FDE2E7"/>
          </a:solidFill>
          <a:ln w="12700">
            <a:solidFill>
              <a:srgbClr val="FDE2E7">
                <a:alpha val="0"/>
              </a:srgbClr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8266176" y="3840480"/>
            <a:ext cx="2907792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D149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CUIDADO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8266176" y="4114800"/>
            <a:ext cx="2907792" cy="6675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Autofit/>
          </a:bodyPr>
          <a:lstStyle/>
          <a:p>
            <a:pPr marL="0" indent="0" algn="l">
              <a:buNone/>
            </a:pP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os resíduos têm sempre o mesmo sinal, o modelo possui viés sistemático.</a:t>
            </a:r>
            <a:endParaRPr lang="en-US" dirty="0"/>
          </a:p>
        </p:txBody>
      </p:sp>
      <p:sp>
        <p:nvSpPr>
          <p:cNvPr id="40" name="Shape 37"/>
          <p:cNvSpPr/>
          <p:nvPr/>
        </p:nvSpPr>
        <p:spPr>
          <a:xfrm>
            <a:off x="713232" y="5257800"/>
            <a:ext cx="10625328" cy="859536"/>
          </a:xfrm>
          <a:prstGeom prst="roundRect">
            <a:avLst>
              <a:gd name="adj" fmla="val 11429"/>
            </a:avLst>
          </a:prstGeom>
          <a:solidFill>
            <a:srgbClr val="D9ECFA"/>
          </a:solidFill>
          <a:ln w="12700">
            <a:solidFill>
              <a:srgbClr val="D9ECFA">
                <a:alpha val="0"/>
              </a:srgbClr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877824" y="5367528"/>
            <a:ext cx="10296144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77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EXEMPLO EM UMA FRASE</a:t>
            </a:r>
            <a:endParaRPr lang="en-US" sz="1100" dirty="0"/>
          </a:p>
        </p:txBody>
      </p:sp>
      <p:sp>
        <p:nvSpPr>
          <p:cNvPr id="42" name="Text 39"/>
          <p:cNvSpPr/>
          <p:nvPr/>
        </p:nvSpPr>
        <p:spPr>
          <a:xfrm>
            <a:off x="877824" y="5641848"/>
            <a:ext cx="10296144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Autofit/>
          </a:bodyPr>
          <a:lstStyle/>
          <a:p>
            <a:pPr marL="0" indent="0" algn="l">
              <a:buNone/>
            </a:pP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 = 20 kg; previsto = 18 kg; resíduo = +2 kg: o modelo subestimou o peso.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77B4"/>
          </a:solidFill>
          <a:ln w="12700">
            <a:solidFill>
              <a:srgbClr val="1F77B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8288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77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REGRESSÃO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Exemplo: antes da métrica, olhe o erro caso a caso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12064" y="114300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O aluno precisa enxergar o erro antes de resumir em média.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1311128" y="647395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06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777240" y="1600200"/>
            <a:ext cx="2130552" cy="514350"/>
          </a:xfrm>
          <a:prstGeom prst="rect">
            <a:avLst/>
          </a:prstGeom>
          <a:solidFill>
            <a:srgbClr val="1F77B4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645920"/>
            <a:ext cx="2002536" cy="43205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Caso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907792" y="1600200"/>
            <a:ext cx="2130552" cy="514350"/>
          </a:xfrm>
          <a:prstGeom prst="rect">
            <a:avLst/>
          </a:prstGeom>
          <a:solidFill>
            <a:srgbClr val="1F77B4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71800" y="1645920"/>
            <a:ext cx="2002536" cy="43205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 y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038344" y="1600200"/>
            <a:ext cx="2130552" cy="514350"/>
          </a:xfrm>
          <a:prstGeom prst="rect">
            <a:avLst/>
          </a:prstGeom>
          <a:solidFill>
            <a:srgbClr val="1F77B4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02352" y="1645920"/>
            <a:ext cx="2002536" cy="43205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Previsto ŷ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7168896" y="1600200"/>
            <a:ext cx="2130552" cy="514350"/>
          </a:xfrm>
          <a:prstGeom prst="rect">
            <a:avLst/>
          </a:prstGeom>
          <a:solidFill>
            <a:srgbClr val="1F77B4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32904" y="1645920"/>
            <a:ext cx="2002536" cy="43205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Resíduo e = y − ŷ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9299448" y="1600200"/>
            <a:ext cx="2130552" cy="514350"/>
          </a:xfrm>
          <a:prstGeom prst="rect">
            <a:avLst/>
          </a:prstGeom>
          <a:solidFill>
            <a:srgbClr val="1F77B4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63456" y="1645920"/>
            <a:ext cx="2002536" cy="43205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Leitura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777240" y="2114550"/>
            <a:ext cx="2130552" cy="51435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" y="2160270"/>
            <a:ext cx="2002536" cy="43205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Caixa A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2907792" y="2114550"/>
            <a:ext cx="2130552" cy="51435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71800" y="2160270"/>
            <a:ext cx="2002536" cy="43205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 kg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5038344" y="2114550"/>
            <a:ext cx="2130552" cy="51435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02352" y="2160270"/>
            <a:ext cx="2002536" cy="43205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 kg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7168896" y="2114550"/>
            <a:ext cx="2130552" cy="51435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232904" y="2160270"/>
            <a:ext cx="2002536" cy="43205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+2 kg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9299448" y="2114550"/>
            <a:ext cx="2130552" cy="51435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363456" y="2160270"/>
            <a:ext cx="2002536" cy="43205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subestimou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777240" y="2628900"/>
            <a:ext cx="2130552" cy="51435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41248" y="2674620"/>
            <a:ext cx="2002536" cy="43205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Caixa B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2907792" y="2628900"/>
            <a:ext cx="2130552" cy="51435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971800" y="2674620"/>
            <a:ext cx="2002536" cy="43205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 kg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5038344" y="2628900"/>
            <a:ext cx="2130552" cy="51435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02352" y="2674620"/>
            <a:ext cx="2002536" cy="43205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 kg</a:t>
            </a:r>
            <a:endParaRPr lang="en-US" sz="2000" dirty="0"/>
          </a:p>
        </p:txBody>
      </p:sp>
      <p:sp>
        <p:nvSpPr>
          <p:cNvPr id="33" name="Shape 31"/>
          <p:cNvSpPr/>
          <p:nvPr/>
        </p:nvSpPr>
        <p:spPr>
          <a:xfrm>
            <a:off x="7168896" y="2628900"/>
            <a:ext cx="2130552" cy="51435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232904" y="2674620"/>
            <a:ext cx="2002536" cy="43205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−3 kg</a:t>
            </a:r>
            <a:endParaRPr lang="en-US" sz="2000" dirty="0"/>
          </a:p>
        </p:txBody>
      </p:sp>
      <p:sp>
        <p:nvSpPr>
          <p:cNvPr id="35" name="Shape 33"/>
          <p:cNvSpPr/>
          <p:nvPr/>
        </p:nvSpPr>
        <p:spPr>
          <a:xfrm>
            <a:off x="9299448" y="2628900"/>
            <a:ext cx="2130552" cy="51435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363456" y="2674620"/>
            <a:ext cx="2002536" cy="43205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superestimou</a:t>
            </a:r>
            <a:endParaRPr lang="en-US" sz="2000" dirty="0"/>
          </a:p>
        </p:txBody>
      </p:sp>
      <p:sp>
        <p:nvSpPr>
          <p:cNvPr id="37" name="Shape 35"/>
          <p:cNvSpPr/>
          <p:nvPr/>
        </p:nvSpPr>
        <p:spPr>
          <a:xfrm>
            <a:off x="777240" y="3143250"/>
            <a:ext cx="2130552" cy="51435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41248" y="3188970"/>
            <a:ext cx="2002536" cy="43205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Caixa C</a:t>
            </a:r>
            <a:endParaRPr lang="en-US" sz="2000" dirty="0"/>
          </a:p>
        </p:txBody>
      </p:sp>
      <p:sp>
        <p:nvSpPr>
          <p:cNvPr id="39" name="Shape 37"/>
          <p:cNvSpPr/>
          <p:nvPr/>
        </p:nvSpPr>
        <p:spPr>
          <a:xfrm>
            <a:off x="2907792" y="3143250"/>
            <a:ext cx="2130552" cy="51435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971800" y="3188970"/>
            <a:ext cx="2002536" cy="43205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 kg</a:t>
            </a:r>
            <a:endParaRPr lang="en-US" sz="2000" dirty="0"/>
          </a:p>
        </p:txBody>
      </p:sp>
      <p:sp>
        <p:nvSpPr>
          <p:cNvPr id="41" name="Shape 39"/>
          <p:cNvSpPr/>
          <p:nvPr/>
        </p:nvSpPr>
        <p:spPr>
          <a:xfrm>
            <a:off x="5038344" y="3143250"/>
            <a:ext cx="2130552" cy="51435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102352" y="3188970"/>
            <a:ext cx="2002536" cy="43205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 kg</a:t>
            </a:r>
            <a:endParaRPr lang="en-US" sz="2000" dirty="0"/>
          </a:p>
        </p:txBody>
      </p:sp>
      <p:sp>
        <p:nvSpPr>
          <p:cNvPr id="43" name="Shape 41"/>
          <p:cNvSpPr/>
          <p:nvPr/>
        </p:nvSpPr>
        <p:spPr>
          <a:xfrm>
            <a:off x="7168896" y="3143250"/>
            <a:ext cx="2130552" cy="51435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232904" y="3188970"/>
            <a:ext cx="2002536" cy="43205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 kg</a:t>
            </a:r>
            <a:endParaRPr lang="en-US" sz="2000" dirty="0"/>
          </a:p>
        </p:txBody>
      </p:sp>
      <p:sp>
        <p:nvSpPr>
          <p:cNvPr id="45" name="Shape 43"/>
          <p:cNvSpPr/>
          <p:nvPr/>
        </p:nvSpPr>
        <p:spPr>
          <a:xfrm>
            <a:off x="9299448" y="3143250"/>
            <a:ext cx="2130552" cy="51435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363456" y="3188970"/>
            <a:ext cx="2002536" cy="43205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acertou</a:t>
            </a:r>
            <a:endParaRPr lang="en-US" sz="2000" dirty="0"/>
          </a:p>
        </p:txBody>
      </p:sp>
      <p:sp>
        <p:nvSpPr>
          <p:cNvPr id="47" name="Shape 45"/>
          <p:cNvSpPr/>
          <p:nvPr/>
        </p:nvSpPr>
        <p:spPr>
          <a:xfrm>
            <a:off x="868680" y="4160520"/>
            <a:ext cx="3200400" cy="1554480"/>
          </a:xfrm>
          <a:prstGeom prst="roundRect">
            <a:avLst>
              <a:gd name="adj" fmla="val 6667"/>
            </a:avLst>
          </a:prstGeom>
          <a:solidFill>
            <a:srgbClr val="D9ECFA"/>
          </a:solidFill>
          <a:ln w="12700">
            <a:solidFill>
              <a:srgbClr val="D9ECFA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033272" y="4270248"/>
            <a:ext cx="2871216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77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QUE O SINAL DIZ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1033272" y="4544568"/>
            <a:ext cx="2871216" cy="6217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sinal mostra a direção do erro: para cima ou para baixo.</a:t>
            </a:r>
            <a:endParaRPr lang="en-US" sz="2000" dirty="0"/>
          </a:p>
        </p:txBody>
      </p:sp>
      <p:sp>
        <p:nvSpPr>
          <p:cNvPr id="50" name="Shape 48"/>
          <p:cNvSpPr/>
          <p:nvPr/>
        </p:nvSpPr>
        <p:spPr>
          <a:xfrm>
            <a:off x="4480560" y="4160520"/>
            <a:ext cx="3200400" cy="1554480"/>
          </a:xfrm>
          <a:prstGeom prst="roundRect">
            <a:avLst>
              <a:gd name="adj" fmla="val 6667"/>
            </a:avLst>
          </a:prstGeom>
          <a:solidFill>
            <a:srgbClr val="D9ECFA"/>
          </a:solidFill>
          <a:ln w="12700">
            <a:solidFill>
              <a:srgbClr val="D9ECFA">
                <a:alpha val="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645152" y="4270248"/>
            <a:ext cx="2871216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77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QUE O TAMANHO DIZ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4645152" y="4544568"/>
            <a:ext cx="2871216" cy="6217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módulo do erro mostra a distância até a verdade.</a:t>
            </a:r>
            <a:endParaRPr lang="en-US" sz="2000" dirty="0"/>
          </a:p>
        </p:txBody>
      </p:sp>
      <p:sp>
        <p:nvSpPr>
          <p:cNvPr id="53" name="Shape 51"/>
          <p:cNvSpPr/>
          <p:nvPr/>
        </p:nvSpPr>
        <p:spPr>
          <a:xfrm>
            <a:off x="8092440" y="4160520"/>
            <a:ext cx="3200400" cy="1554480"/>
          </a:xfrm>
          <a:prstGeom prst="roundRect">
            <a:avLst>
              <a:gd name="adj" fmla="val 6667"/>
            </a:avLst>
          </a:prstGeom>
          <a:solidFill>
            <a:srgbClr val="D9ECFA"/>
          </a:solidFill>
          <a:ln w="12700">
            <a:solidFill>
              <a:srgbClr val="D9ECFA">
                <a:alpha val="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257032" y="4270248"/>
            <a:ext cx="2871216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77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QUE A MÉDIA FARÁ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8257032" y="4544568"/>
            <a:ext cx="2871216" cy="6217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métrica resumirá muitos erros em uma mensagem operacional.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77B4"/>
          </a:solidFill>
          <a:ln w="12700">
            <a:solidFill>
              <a:srgbClr val="1F77B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8288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77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REGRESSÃO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Um erro isolado é fácil. Muitos erros precisam de resumo.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12064" y="114300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É aqui que as métricas entram.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1311128" y="647395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07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713232" y="1695450"/>
            <a:ext cx="1234440" cy="556260"/>
          </a:xfrm>
          <a:prstGeom prst="rect">
            <a:avLst/>
          </a:prstGeom>
          <a:solidFill>
            <a:srgbClr val="1F77B4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777240" y="1741170"/>
            <a:ext cx="1106424" cy="4739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947672" y="1695450"/>
            <a:ext cx="1234440" cy="556260"/>
          </a:xfrm>
          <a:prstGeom prst="rect">
            <a:avLst/>
          </a:prstGeom>
          <a:solidFill>
            <a:srgbClr val="1F77B4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2011680" y="1741170"/>
            <a:ext cx="1106424" cy="4739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Temperatura real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182112" y="1695450"/>
            <a:ext cx="1234440" cy="556260"/>
          </a:xfrm>
          <a:prstGeom prst="rect">
            <a:avLst/>
          </a:prstGeom>
          <a:solidFill>
            <a:srgbClr val="1F77B4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3246120" y="1741170"/>
            <a:ext cx="1106424" cy="4739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Prevista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416552" y="1695450"/>
            <a:ext cx="1234440" cy="556260"/>
          </a:xfrm>
          <a:prstGeom prst="rect">
            <a:avLst/>
          </a:prstGeom>
          <a:solidFill>
            <a:srgbClr val="1F77B4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4480560" y="1741170"/>
            <a:ext cx="1106424" cy="4739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 absoluto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3232" y="2251710"/>
            <a:ext cx="1234440" cy="5562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777240" y="2297430"/>
            <a:ext cx="1106424" cy="4739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947672" y="2251710"/>
            <a:ext cx="1234440" cy="5562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2011680" y="2297430"/>
            <a:ext cx="1106424" cy="4739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20°C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182112" y="2251710"/>
            <a:ext cx="1234440" cy="5562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3246120" y="2297430"/>
            <a:ext cx="1106424" cy="4739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22°C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416552" y="2251710"/>
            <a:ext cx="1234440" cy="5562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 b="1"/>
          </a:p>
        </p:txBody>
      </p:sp>
      <p:sp>
        <p:nvSpPr>
          <p:cNvPr id="22" name="Text 20"/>
          <p:cNvSpPr/>
          <p:nvPr/>
        </p:nvSpPr>
        <p:spPr>
          <a:xfrm>
            <a:off x="4480560" y="2297430"/>
            <a:ext cx="1106424" cy="4739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2°C</a:t>
            </a:r>
            <a:endParaRPr lang="en-US" sz="1300" b="1" dirty="0"/>
          </a:p>
        </p:txBody>
      </p:sp>
      <p:sp>
        <p:nvSpPr>
          <p:cNvPr id="23" name="Shape 21"/>
          <p:cNvSpPr/>
          <p:nvPr/>
        </p:nvSpPr>
        <p:spPr>
          <a:xfrm>
            <a:off x="713232" y="2807970"/>
            <a:ext cx="1234440" cy="55626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777240" y="2853690"/>
            <a:ext cx="1106424" cy="4739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1947672" y="2807970"/>
            <a:ext cx="1234440" cy="55626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2011680" y="2853690"/>
            <a:ext cx="1106424" cy="4739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25°C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182112" y="2807970"/>
            <a:ext cx="1234440" cy="55626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3246120" y="2853690"/>
            <a:ext cx="1106424" cy="4739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24°C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416552" y="2807970"/>
            <a:ext cx="1234440" cy="55626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 b="1"/>
          </a:p>
        </p:txBody>
      </p:sp>
      <p:sp>
        <p:nvSpPr>
          <p:cNvPr id="30" name="Text 28"/>
          <p:cNvSpPr/>
          <p:nvPr/>
        </p:nvSpPr>
        <p:spPr>
          <a:xfrm>
            <a:off x="4480560" y="2853690"/>
            <a:ext cx="1106424" cy="4739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1°C</a:t>
            </a:r>
            <a:endParaRPr lang="en-US" sz="1300" b="1" dirty="0"/>
          </a:p>
        </p:txBody>
      </p:sp>
      <p:sp>
        <p:nvSpPr>
          <p:cNvPr id="31" name="Shape 29"/>
          <p:cNvSpPr/>
          <p:nvPr/>
        </p:nvSpPr>
        <p:spPr>
          <a:xfrm>
            <a:off x="713232" y="3364230"/>
            <a:ext cx="1234440" cy="5562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/>
          </a:p>
        </p:txBody>
      </p:sp>
      <p:sp>
        <p:nvSpPr>
          <p:cNvPr id="32" name="Text 30"/>
          <p:cNvSpPr/>
          <p:nvPr/>
        </p:nvSpPr>
        <p:spPr>
          <a:xfrm>
            <a:off x="777240" y="3409950"/>
            <a:ext cx="1106424" cy="4739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1947672" y="3364230"/>
            <a:ext cx="1234440" cy="5562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/>
          </a:p>
        </p:txBody>
      </p:sp>
      <p:sp>
        <p:nvSpPr>
          <p:cNvPr id="34" name="Text 32"/>
          <p:cNvSpPr/>
          <p:nvPr/>
        </p:nvSpPr>
        <p:spPr>
          <a:xfrm>
            <a:off x="2011680" y="3409950"/>
            <a:ext cx="1106424" cy="4739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30°C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3182112" y="3364230"/>
            <a:ext cx="1234440" cy="5562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/>
          </a:p>
        </p:txBody>
      </p:sp>
      <p:sp>
        <p:nvSpPr>
          <p:cNvPr id="36" name="Text 34"/>
          <p:cNvSpPr/>
          <p:nvPr/>
        </p:nvSpPr>
        <p:spPr>
          <a:xfrm>
            <a:off x="3246120" y="3409950"/>
            <a:ext cx="1106424" cy="4739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28°C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416552" y="3364230"/>
            <a:ext cx="1234440" cy="5562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 b="1"/>
          </a:p>
        </p:txBody>
      </p:sp>
      <p:sp>
        <p:nvSpPr>
          <p:cNvPr id="38" name="Text 36"/>
          <p:cNvSpPr/>
          <p:nvPr/>
        </p:nvSpPr>
        <p:spPr>
          <a:xfrm>
            <a:off x="4480560" y="3409950"/>
            <a:ext cx="1106424" cy="4739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2°C</a:t>
            </a:r>
            <a:endParaRPr lang="en-US" sz="1300" b="1" dirty="0"/>
          </a:p>
        </p:txBody>
      </p:sp>
      <p:sp>
        <p:nvSpPr>
          <p:cNvPr id="39" name="Shape 37"/>
          <p:cNvSpPr/>
          <p:nvPr/>
        </p:nvSpPr>
        <p:spPr>
          <a:xfrm>
            <a:off x="713232" y="3920490"/>
            <a:ext cx="1234440" cy="55626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/>
          </a:p>
        </p:txBody>
      </p:sp>
      <p:sp>
        <p:nvSpPr>
          <p:cNvPr id="40" name="Text 38"/>
          <p:cNvSpPr/>
          <p:nvPr/>
        </p:nvSpPr>
        <p:spPr>
          <a:xfrm>
            <a:off x="777240" y="3966210"/>
            <a:ext cx="1106424" cy="4739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1947672" y="3920490"/>
            <a:ext cx="1234440" cy="55626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/>
          </a:p>
        </p:txBody>
      </p:sp>
      <p:sp>
        <p:nvSpPr>
          <p:cNvPr id="42" name="Text 40"/>
          <p:cNvSpPr/>
          <p:nvPr/>
        </p:nvSpPr>
        <p:spPr>
          <a:xfrm>
            <a:off x="2011680" y="3966210"/>
            <a:ext cx="1106424" cy="4739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35°C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3182112" y="3920490"/>
            <a:ext cx="1234440" cy="55626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/>
          </a:p>
        </p:txBody>
      </p:sp>
      <p:sp>
        <p:nvSpPr>
          <p:cNvPr id="44" name="Text 42"/>
          <p:cNvSpPr/>
          <p:nvPr/>
        </p:nvSpPr>
        <p:spPr>
          <a:xfrm>
            <a:off x="3246120" y="3966210"/>
            <a:ext cx="1106424" cy="4739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39°C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4416552" y="3920490"/>
            <a:ext cx="1234440" cy="55626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 b="1"/>
          </a:p>
        </p:txBody>
      </p:sp>
      <p:sp>
        <p:nvSpPr>
          <p:cNvPr id="46" name="Text 44"/>
          <p:cNvSpPr/>
          <p:nvPr/>
        </p:nvSpPr>
        <p:spPr>
          <a:xfrm>
            <a:off x="4480560" y="3966210"/>
            <a:ext cx="1106424" cy="4739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4°C</a:t>
            </a:r>
            <a:endParaRPr lang="en-US" sz="1300" b="1" dirty="0"/>
          </a:p>
        </p:txBody>
      </p:sp>
      <p:sp>
        <p:nvSpPr>
          <p:cNvPr id="47" name="Shape 45"/>
          <p:cNvSpPr/>
          <p:nvPr/>
        </p:nvSpPr>
        <p:spPr>
          <a:xfrm>
            <a:off x="713232" y="4476750"/>
            <a:ext cx="1234440" cy="5562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/>
          </a:p>
        </p:txBody>
      </p:sp>
      <p:sp>
        <p:nvSpPr>
          <p:cNvPr id="48" name="Text 46"/>
          <p:cNvSpPr/>
          <p:nvPr/>
        </p:nvSpPr>
        <p:spPr>
          <a:xfrm>
            <a:off x="777240" y="4522470"/>
            <a:ext cx="1106424" cy="4739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1947672" y="4476750"/>
            <a:ext cx="1234440" cy="5562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/>
          </a:p>
        </p:txBody>
      </p:sp>
      <p:sp>
        <p:nvSpPr>
          <p:cNvPr id="50" name="Text 48"/>
          <p:cNvSpPr/>
          <p:nvPr/>
        </p:nvSpPr>
        <p:spPr>
          <a:xfrm>
            <a:off x="2011680" y="4522470"/>
            <a:ext cx="1106424" cy="4739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40°C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3182112" y="4476750"/>
            <a:ext cx="1234440" cy="5562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/>
          </a:p>
        </p:txBody>
      </p:sp>
      <p:sp>
        <p:nvSpPr>
          <p:cNvPr id="52" name="Text 50"/>
          <p:cNvSpPr/>
          <p:nvPr/>
        </p:nvSpPr>
        <p:spPr>
          <a:xfrm>
            <a:off x="3246120" y="4522470"/>
            <a:ext cx="1106424" cy="4739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37°C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4416552" y="4476750"/>
            <a:ext cx="1234440" cy="5562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 b="1"/>
          </a:p>
        </p:txBody>
      </p:sp>
      <p:sp>
        <p:nvSpPr>
          <p:cNvPr id="54" name="Text 52"/>
          <p:cNvSpPr/>
          <p:nvPr/>
        </p:nvSpPr>
        <p:spPr>
          <a:xfrm>
            <a:off x="4480560" y="4522470"/>
            <a:ext cx="1106424" cy="4739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3°C</a:t>
            </a:r>
            <a:endParaRPr lang="en-US" sz="1300" b="1" dirty="0"/>
          </a:p>
        </p:txBody>
      </p:sp>
      <p:sp>
        <p:nvSpPr>
          <p:cNvPr id="55" name="Text 53"/>
          <p:cNvSpPr/>
          <p:nvPr/>
        </p:nvSpPr>
        <p:spPr>
          <a:xfrm>
            <a:off x="6400800" y="1572768"/>
            <a:ext cx="4297680" cy="365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Pergunta natural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6400800" y="2011680"/>
            <a:ext cx="4389120" cy="868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Como transformar cinco erros em uma conclusão?</a:t>
            </a:r>
            <a:endParaRPr lang="en-US" sz="2700" dirty="0"/>
          </a:p>
        </p:txBody>
      </p:sp>
      <p:sp>
        <p:nvSpPr>
          <p:cNvPr id="57" name="Shape 55"/>
          <p:cNvSpPr/>
          <p:nvPr/>
        </p:nvSpPr>
        <p:spPr>
          <a:xfrm>
            <a:off x="6400800" y="3657600"/>
            <a:ext cx="4526280" cy="2493034"/>
          </a:xfrm>
          <a:prstGeom prst="roundRect">
            <a:avLst>
              <a:gd name="adj" fmla="val 5926"/>
            </a:avLst>
          </a:prstGeom>
          <a:solidFill>
            <a:srgbClr val="D9ECFA"/>
          </a:solidFill>
          <a:ln w="12700">
            <a:solidFill>
              <a:srgbClr val="D9ECFA">
                <a:alpha val="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565392" y="3767328"/>
            <a:ext cx="4197096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77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RESPOSTA</a:t>
            </a:r>
            <a:endParaRPr lang="en-US" sz="1400" dirty="0"/>
          </a:p>
        </p:txBody>
      </p:sp>
      <p:sp>
        <p:nvSpPr>
          <p:cNvPr id="59" name="Text 57"/>
          <p:cNvSpPr/>
          <p:nvPr/>
        </p:nvSpPr>
        <p:spPr>
          <a:xfrm>
            <a:off x="6565392" y="4041648"/>
            <a:ext cx="4197096" cy="8637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Precisamos de uma métrica: um número que resuma um aspecto específico do erro. </a:t>
            </a:r>
          </a:p>
          <a:p>
            <a:pPr marL="0" indent="0" algn="l">
              <a:buNone/>
            </a:pPr>
            <a:endParaRPr lang="en-US" sz="2000" dirty="0">
              <a:solidFill>
                <a:srgbClr val="172033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0" indent="0" algn="l">
              <a:buNone/>
            </a:pPr>
            <a:r>
              <a:rPr lang="en-US" sz="20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Ex.: os cinco erros do quadro viram um número só: 2,4°C.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 7"/>
          <p:cNvSpPr/>
          <p:nvPr/>
        </p:nvSpPr>
        <p:spPr>
          <a:xfrm>
            <a:off x="713232" y="2048256"/>
            <a:ext cx="48463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77B4"/>
          </a:solidFill>
          <a:ln w="12700">
            <a:solidFill>
              <a:srgbClr val="1F77B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8288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77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REGRESSÃO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MAE — Mean Absolute Error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11311128" y="647395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08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66928" y="1417320"/>
            <a:ext cx="11018520" cy="475488"/>
          </a:xfrm>
          <a:prstGeom prst="roundRect">
            <a:avLst>
              <a:gd name="adj" fmla="val 15385"/>
            </a:avLst>
          </a:prstGeom>
          <a:solidFill>
            <a:srgbClr val="1F77B4"/>
          </a:solidFill>
          <a:ln w="12700">
            <a:solidFill>
              <a:srgbClr val="1F77B4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527048"/>
            <a:ext cx="10616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Quanto eu erro normalmente, na unidade do problema?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897880" y="1956816"/>
            <a:ext cx="2720340" cy="266700"/>
          </a:xfrm>
          <a:prstGeom prst="rect">
            <a:avLst/>
          </a:prstGeom>
          <a:solidFill>
            <a:srgbClr val="1F77B4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61888" y="2002536"/>
            <a:ext cx="2592324" cy="1844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Variável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8101584" y="1956816"/>
            <a:ext cx="3236976" cy="266700"/>
          </a:xfrm>
          <a:prstGeom prst="rect">
            <a:avLst/>
          </a:prstGeom>
          <a:solidFill>
            <a:srgbClr val="1F77B4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189904" y="2002536"/>
            <a:ext cx="3084648" cy="1844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Significado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897880" y="2223516"/>
            <a:ext cx="2720340" cy="2667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961888" y="2269236"/>
            <a:ext cx="2592324" cy="1844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</a:t>
            </a:r>
            <a:endParaRPr lang="en-US" sz="1200" b="1" dirty="0"/>
          </a:p>
        </p:txBody>
      </p:sp>
      <p:sp>
        <p:nvSpPr>
          <p:cNvPr id="17" name="Shape 14"/>
          <p:cNvSpPr/>
          <p:nvPr/>
        </p:nvSpPr>
        <p:spPr>
          <a:xfrm>
            <a:off x="8101584" y="2223516"/>
            <a:ext cx="3236976" cy="2667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189904" y="2269236"/>
            <a:ext cx="3084648" cy="1844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número de previsões (ex.: 5 dias)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5897880" y="2490216"/>
            <a:ext cx="2720340" cy="2667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961888" y="2535936"/>
            <a:ext cx="2592324" cy="1844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yᵢ</a:t>
            </a:r>
            <a:endParaRPr lang="en-US" sz="1200" b="1" dirty="0"/>
          </a:p>
        </p:txBody>
      </p:sp>
      <p:sp>
        <p:nvSpPr>
          <p:cNvPr id="21" name="Shape 18"/>
          <p:cNvSpPr/>
          <p:nvPr/>
        </p:nvSpPr>
        <p:spPr>
          <a:xfrm>
            <a:off x="8101584" y="2490216"/>
            <a:ext cx="3236976" cy="2667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189904" y="2535936"/>
            <a:ext cx="3084648" cy="1844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valor real (ex.: 20°C)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5897880" y="2756916"/>
            <a:ext cx="2720340" cy="2667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961888" y="2802636"/>
            <a:ext cx="2592324" cy="1844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ŷᵢ</a:t>
            </a:r>
            <a:endParaRPr lang="en-US" sz="1200" b="1" dirty="0"/>
          </a:p>
        </p:txBody>
      </p:sp>
      <p:sp>
        <p:nvSpPr>
          <p:cNvPr id="25" name="Shape 22"/>
          <p:cNvSpPr/>
          <p:nvPr/>
        </p:nvSpPr>
        <p:spPr>
          <a:xfrm>
            <a:off x="8101584" y="2756916"/>
            <a:ext cx="3236976" cy="2667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189904" y="2802636"/>
            <a:ext cx="3084648" cy="1844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valor previsto (ex.: 22°C)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5897880" y="3023616"/>
            <a:ext cx="2720340" cy="2667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961888" y="3069336"/>
            <a:ext cx="2592324" cy="1844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| |</a:t>
            </a:r>
            <a:endParaRPr lang="en-US" sz="1200" b="1" dirty="0"/>
          </a:p>
        </p:txBody>
      </p:sp>
      <p:sp>
        <p:nvSpPr>
          <p:cNvPr id="29" name="Shape 26"/>
          <p:cNvSpPr/>
          <p:nvPr/>
        </p:nvSpPr>
        <p:spPr>
          <a:xfrm>
            <a:off x="8101584" y="3023616"/>
            <a:ext cx="3236976" cy="2667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189904" y="3069336"/>
            <a:ext cx="3084648" cy="1844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tamanho do erro, sem sinal (ex.: 2°C)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5897880" y="3290316"/>
            <a:ext cx="2720340" cy="2667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961888" y="3336036"/>
            <a:ext cx="2592324" cy="1844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Σ</a:t>
            </a:r>
            <a:endParaRPr lang="en-US" sz="1200" b="1" dirty="0"/>
          </a:p>
        </p:txBody>
      </p:sp>
      <p:sp>
        <p:nvSpPr>
          <p:cNvPr id="33" name="Shape 30"/>
          <p:cNvSpPr/>
          <p:nvPr/>
        </p:nvSpPr>
        <p:spPr>
          <a:xfrm>
            <a:off x="8101584" y="3290316"/>
            <a:ext cx="3236976" cy="2667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8189904" y="3336036"/>
            <a:ext cx="3084648" cy="1844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soma todos os erros (ex.: total 12)</a:t>
            </a:r>
            <a:endParaRPr lang="en-US" sz="1400" dirty="0"/>
          </a:p>
        </p:txBody>
      </p:sp>
      <p:sp>
        <p:nvSpPr>
          <p:cNvPr id="35" name="Shape 32"/>
          <p:cNvSpPr/>
          <p:nvPr/>
        </p:nvSpPr>
        <p:spPr>
          <a:xfrm>
            <a:off x="713232" y="3730752"/>
            <a:ext cx="3383280" cy="1481328"/>
          </a:xfrm>
          <a:prstGeom prst="roundRect">
            <a:avLst>
              <a:gd name="adj" fmla="val 6400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877824" y="3840480"/>
            <a:ext cx="3054096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77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 QUE SERVE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877824" y="4114800"/>
            <a:ext cx="3054096" cy="6675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Autofit/>
          </a:bodyPr>
          <a:lstStyle/>
          <a:p>
            <a:pPr marL="0" indent="0" algn="l">
              <a:buNone/>
            </a:pP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Resume o erro típico em reais, graus, centímetros, unidades etc.</a:t>
            </a:r>
            <a:endParaRPr lang="en-US" dirty="0"/>
          </a:p>
        </p:txBody>
      </p:sp>
      <p:sp>
        <p:nvSpPr>
          <p:cNvPr id="38" name="Shape 35"/>
          <p:cNvSpPr/>
          <p:nvPr/>
        </p:nvSpPr>
        <p:spPr>
          <a:xfrm>
            <a:off x="4407408" y="3730752"/>
            <a:ext cx="3383280" cy="1481328"/>
          </a:xfrm>
          <a:prstGeom prst="roundRect">
            <a:avLst>
              <a:gd name="adj" fmla="val 6400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572000" y="3840480"/>
            <a:ext cx="3054096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77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COMO INTERPRETAR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4572000" y="4114800"/>
            <a:ext cx="3054096" cy="6675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MAE = 2,4°C: a previsão erra, em média, 2,4°C.</a:t>
            </a:r>
            <a:endParaRPr lang="en-US" dirty="0"/>
          </a:p>
        </p:txBody>
      </p:sp>
      <p:sp>
        <p:nvSpPr>
          <p:cNvPr id="41" name="Shape 38"/>
          <p:cNvSpPr/>
          <p:nvPr/>
        </p:nvSpPr>
        <p:spPr>
          <a:xfrm>
            <a:off x="8101584" y="3730752"/>
            <a:ext cx="3236976" cy="1481328"/>
          </a:xfrm>
          <a:prstGeom prst="roundRect">
            <a:avLst>
              <a:gd name="adj" fmla="val 6400"/>
            </a:avLst>
          </a:prstGeom>
          <a:solidFill>
            <a:srgbClr val="FDE2E7"/>
          </a:solidFill>
          <a:ln w="12700">
            <a:solidFill>
              <a:srgbClr val="FDE2E7">
                <a:alpha val="0"/>
              </a:srgbClr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8266176" y="3840480"/>
            <a:ext cx="2907792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D149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CUIDADO</a:t>
            </a:r>
            <a:endParaRPr lang="en-US" sz="1100" dirty="0"/>
          </a:p>
        </p:txBody>
      </p:sp>
      <p:sp>
        <p:nvSpPr>
          <p:cNvPr id="43" name="Text 40"/>
          <p:cNvSpPr/>
          <p:nvPr/>
        </p:nvSpPr>
        <p:spPr>
          <a:xfrm>
            <a:off x="8266176" y="4114800"/>
            <a:ext cx="3008376" cy="6675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Autofit/>
          </a:bodyPr>
          <a:lstStyle/>
          <a:p>
            <a:pPr marL="0" indent="0" algn="l">
              <a:buNone/>
            </a:pP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Não denuncia sozinho poucos erros enormes; por isso deve ser combinado com RMSE.</a:t>
            </a:r>
            <a:endParaRPr lang="en-US" dirty="0"/>
          </a:p>
        </p:txBody>
      </p:sp>
      <p:sp>
        <p:nvSpPr>
          <p:cNvPr id="44" name="Shape 41"/>
          <p:cNvSpPr/>
          <p:nvPr/>
        </p:nvSpPr>
        <p:spPr>
          <a:xfrm>
            <a:off x="713232" y="5257800"/>
            <a:ext cx="10625328" cy="885444"/>
          </a:xfrm>
          <a:prstGeom prst="roundRect">
            <a:avLst>
              <a:gd name="adj" fmla="val 11429"/>
            </a:avLst>
          </a:prstGeom>
          <a:solidFill>
            <a:srgbClr val="D9ECFA"/>
          </a:solidFill>
          <a:ln w="12700">
            <a:solidFill>
              <a:srgbClr val="D9ECFA">
                <a:alpha val="0"/>
              </a:srgbClr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877824" y="5367528"/>
            <a:ext cx="10296144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77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EXEMPLO EM UMA FRASE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877824" y="5641848"/>
            <a:ext cx="10296144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Autofit/>
          </a:bodyPr>
          <a:lstStyle/>
          <a:p>
            <a:pPr marL="0" indent="0" algn="l">
              <a:buNone/>
            </a:pP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MAE = R$ 18 mil: em média, o preço previsto fica R$ 18 mil distante do preço real.</a:t>
            </a:r>
            <a:endParaRPr lang="en-US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1651" y="2142171"/>
            <a:ext cx="4454545" cy="109480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77B4"/>
          </a:solidFill>
          <a:ln w="12700">
            <a:solidFill>
              <a:srgbClr val="1F77B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8288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77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REGRESSÃO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MAE calculado passo a passo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12064" y="114300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Agora a fórmula vira uma frase simples.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1311128" y="647395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09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777240" y="1508760"/>
            <a:ext cx="1645920" cy="457200"/>
          </a:xfrm>
          <a:prstGeom prst="rect">
            <a:avLst/>
          </a:prstGeom>
          <a:solidFill>
            <a:srgbClr val="1F77B4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554480"/>
            <a:ext cx="1517904" cy="374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423160" y="1508760"/>
            <a:ext cx="1645920" cy="457200"/>
          </a:xfrm>
          <a:prstGeom prst="rect">
            <a:avLst/>
          </a:prstGeom>
          <a:solidFill>
            <a:srgbClr val="1F77B4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87168" y="1554480"/>
            <a:ext cx="1517904" cy="374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 absoluto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77240" y="1965960"/>
            <a:ext cx="1645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" y="2011680"/>
            <a:ext cx="1517904" cy="374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423160" y="1965960"/>
            <a:ext cx="1645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87168" y="2011680"/>
            <a:ext cx="1517904" cy="374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2°C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77240" y="2423160"/>
            <a:ext cx="164592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" y="2468880"/>
            <a:ext cx="1517904" cy="374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423160" y="2423160"/>
            <a:ext cx="164592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487168" y="2468880"/>
            <a:ext cx="1517904" cy="374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1°C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77240" y="2880360"/>
            <a:ext cx="1645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1248" y="2926080"/>
            <a:ext cx="1517904" cy="374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2423160" y="2880360"/>
            <a:ext cx="1645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487168" y="2926080"/>
            <a:ext cx="1517904" cy="374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2°C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77240" y="3337560"/>
            <a:ext cx="164592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1248" y="3383280"/>
            <a:ext cx="1517904" cy="374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2423160" y="3337560"/>
            <a:ext cx="164592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487168" y="3383280"/>
            <a:ext cx="1517904" cy="374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4°C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777240" y="3794760"/>
            <a:ext cx="1645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41248" y="3840480"/>
            <a:ext cx="1517904" cy="374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2423160" y="3794760"/>
            <a:ext cx="1645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487168" y="3840480"/>
            <a:ext cx="1517904" cy="374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3°C</a:t>
            </a:r>
            <a:endParaRPr lang="en-US" sz="1400" dirty="0"/>
          </a:p>
        </p:txBody>
      </p:sp>
      <p:pic>
        <p:nvPicPr>
          <p:cNvPr id="31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63440" y="1737360"/>
            <a:ext cx="6217920" cy="914400"/>
          </a:xfrm>
          <a:prstGeom prst="rect">
            <a:avLst/>
          </a:prstGeom>
        </p:spPr>
      </p:pic>
      <p:sp>
        <p:nvSpPr>
          <p:cNvPr id="32" name="Shape 29"/>
          <p:cNvSpPr/>
          <p:nvPr/>
        </p:nvSpPr>
        <p:spPr>
          <a:xfrm>
            <a:off x="4892040" y="3154680"/>
            <a:ext cx="5760720" cy="1130248"/>
          </a:xfrm>
          <a:prstGeom prst="roundRect">
            <a:avLst>
              <a:gd name="adj" fmla="val 7619"/>
            </a:avLst>
          </a:prstGeom>
          <a:solidFill>
            <a:srgbClr val="D9ECFA"/>
          </a:solidFill>
          <a:ln w="12700">
            <a:solidFill>
              <a:srgbClr val="D9ECFA">
                <a:alpha val="0"/>
              </a:srgbClr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056632" y="3264408"/>
            <a:ext cx="5431536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77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INTERPRETAÇÃO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5056632" y="3538728"/>
            <a:ext cx="5431536" cy="4846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“Minha previsão de temperatura erra aproximadamente 2,4°C por dia.”</a:t>
            </a:r>
            <a:endParaRPr lang="en-US" sz="2000" dirty="0"/>
          </a:p>
        </p:txBody>
      </p:sp>
      <p:sp>
        <p:nvSpPr>
          <p:cNvPr id="35" name="Shape 32"/>
          <p:cNvSpPr/>
          <p:nvPr/>
        </p:nvSpPr>
        <p:spPr>
          <a:xfrm>
            <a:off x="4892040" y="4517135"/>
            <a:ext cx="5760720" cy="1237891"/>
          </a:xfrm>
          <a:prstGeom prst="roundRect">
            <a:avLst>
              <a:gd name="adj" fmla="val 6957"/>
            </a:avLst>
          </a:prstGeom>
          <a:solidFill>
            <a:srgbClr val="FDE2E7"/>
          </a:solidFill>
          <a:ln w="12700">
            <a:solidFill>
              <a:srgbClr val="FDE2E7">
                <a:alpha val="0"/>
              </a:srgbClr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056632" y="4626864"/>
            <a:ext cx="5431536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D149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DECISÃO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5056632" y="4901184"/>
            <a:ext cx="5431536" cy="5760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o aplicativo de clima aceita erro médio de até 3°C, está aceitável. Se exige até 1°C, não está.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77B4"/>
          </a:solidFill>
          <a:ln w="12700">
            <a:solidFill>
              <a:srgbClr val="1F77B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8288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77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REGRESSÃO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 mesmo MAE muda de significado com o problema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12064" y="114300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A unidade da variável alvo dá sentido ao número.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1311128" y="647395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10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658368" y="1508760"/>
            <a:ext cx="2720340" cy="630936"/>
          </a:xfrm>
          <a:prstGeom prst="rect">
            <a:avLst/>
          </a:prstGeom>
          <a:solidFill>
            <a:srgbClr val="1F77B4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22376" y="1554480"/>
            <a:ext cx="2592324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Problema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3378708" y="1508760"/>
            <a:ext cx="2720340" cy="630936"/>
          </a:xfrm>
          <a:prstGeom prst="rect">
            <a:avLst/>
          </a:prstGeom>
          <a:solidFill>
            <a:srgbClr val="1F77B4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42716" y="1554480"/>
            <a:ext cx="2592324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MAE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6099048" y="1508760"/>
            <a:ext cx="2720340" cy="630936"/>
          </a:xfrm>
          <a:prstGeom prst="rect">
            <a:avLst/>
          </a:prstGeom>
          <a:solidFill>
            <a:srgbClr val="1F77B4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63056" y="1554480"/>
            <a:ext cx="2592324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Tradução correta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8819388" y="1508760"/>
            <a:ext cx="2720340" cy="630936"/>
          </a:xfrm>
          <a:prstGeom prst="rect">
            <a:avLst/>
          </a:prstGeom>
          <a:solidFill>
            <a:srgbClr val="1F77B4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83396" y="1554480"/>
            <a:ext cx="2592324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Pergunta de decisão</a:t>
            </a: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658368" y="2139696"/>
            <a:ext cx="2720340" cy="63093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2376" y="2185416"/>
            <a:ext cx="2592324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Imóvel</a:t>
            </a: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3378708" y="2139696"/>
            <a:ext cx="2720340" cy="63093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42716" y="2185416"/>
            <a:ext cx="2592324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R$ 18 mil</a:t>
            </a: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6099048" y="2139696"/>
            <a:ext cx="2720340" cy="63093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63056" y="2185416"/>
            <a:ext cx="2592324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 médio no preço</a:t>
            </a: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8819388" y="2139696"/>
            <a:ext cx="2720340" cy="63093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883396" y="2185416"/>
            <a:ext cx="2592324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isso cabe na margem de negociação?</a:t>
            </a: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658368" y="2770632"/>
            <a:ext cx="2720340" cy="63093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22376" y="2816352"/>
            <a:ext cx="2592324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Planta</a:t>
            </a: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3378708" y="2770632"/>
            <a:ext cx="2720340" cy="63093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42716" y="2816352"/>
            <a:ext cx="2592324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1,7 cm</a:t>
            </a: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6099048" y="2770632"/>
            <a:ext cx="2720340" cy="63093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63056" y="2816352"/>
            <a:ext cx="2592324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 médio na altura</a:t>
            </a: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8819388" y="2770632"/>
            <a:ext cx="2720340" cy="63093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883396" y="2816352"/>
            <a:ext cx="2592324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serve para classificar tamanho?</a:t>
            </a: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658368" y="3401568"/>
            <a:ext cx="2720340" cy="63093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22376" y="3447288"/>
            <a:ext cx="2592324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Energia</a:t>
            </a: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3378708" y="3401568"/>
            <a:ext cx="2720340" cy="63093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42716" y="3447288"/>
            <a:ext cx="2592324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42 kWh</a:t>
            </a:r>
            <a:endParaRPr lang="en-US" dirty="0"/>
          </a:p>
        </p:txBody>
      </p:sp>
      <p:sp>
        <p:nvSpPr>
          <p:cNvPr id="35" name="Shape 33"/>
          <p:cNvSpPr/>
          <p:nvPr/>
        </p:nvSpPr>
        <p:spPr>
          <a:xfrm>
            <a:off x="6099048" y="3401568"/>
            <a:ext cx="2720340" cy="63093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63056" y="3447288"/>
            <a:ext cx="2592324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 médio de consumo</a:t>
            </a:r>
            <a:endParaRPr lang="en-US" dirty="0"/>
          </a:p>
        </p:txBody>
      </p:sp>
      <p:sp>
        <p:nvSpPr>
          <p:cNvPr id="37" name="Shape 35"/>
          <p:cNvSpPr/>
          <p:nvPr/>
        </p:nvSpPr>
        <p:spPr>
          <a:xfrm>
            <a:off x="8819388" y="3401568"/>
            <a:ext cx="2720340" cy="63093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883396" y="3447288"/>
            <a:ext cx="2592324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serve para planejar demanda?</a:t>
            </a:r>
            <a:endParaRPr lang="en-US" dirty="0"/>
          </a:p>
        </p:txBody>
      </p:sp>
      <p:sp>
        <p:nvSpPr>
          <p:cNvPr id="39" name="Shape 37"/>
          <p:cNvSpPr/>
          <p:nvPr/>
        </p:nvSpPr>
        <p:spPr>
          <a:xfrm>
            <a:off x="658368" y="4032504"/>
            <a:ext cx="2720340" cy="63093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22376" y="4078224"/>
            <a:ext cx="2592324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Dose</a:t>
            </a:r>
            <a:endParaRPr lang="en-US" dirty="0"/>
          </a:p>
        </p:txBody>
      </p:sp>
      <p:sp>
        <p:nvSpPr>
          <p:cNvPr id="41" name="Shape 39"/>
          <p:cNvSpPr/>
          <p:nvPr/>
        </p:nvSpPr>
        <p:spPr>
          <a:xfrm>
            <a:off x="3378708" y="4032504"/>
            <a:ext cx="2720340" cy="63093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442716" y="4078224"/>
            <a:ext cx="2592324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mg</a:t>
            </a:r>
            <a:endParaRPr lang="en-US" dirty="0"/>
          </a:p>
        </p:txBody>
      </p:sp>
      <p:sp>
        <p:nvSpPr>
          <p:cNvPr id="43" name="Shape 41"/>
          <p:cNvSpPr/>
          <p:nvPr/>
        </p:nvSpPr>
        <p:spPr>
          <a:xfrm>
            <a:off x="6099048" y="4032504"/>
            <a:ext cx="2720340" cy="63093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163056" y="4078224"/>
            <a:ext cx="2592324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 médio na dose</a:t>
            </a:r>
            <a:endParaRPr lang="en-US" dirty="0"/>
          </a:p>
        </p:txBody>
      </p:sp>
      <p:sp>
        <p:nvSpPr>
          <p:cNvPr id="45" name="Shape 43"/>
          <p:cNvSpPr/>
          <p:nvPr/>
        </p:nvSpPr>
        <p:spPr>
          <a:xfrm>
            <a:off x="8819388" y="4032504"/>
            <a:ext cx="2720340" cy="63093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883396" y="4078224"/>
            <a:ext cx="2592324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clinicamente tolerável?</a:t>
            </a:r>
            <a:endParaRPr lang="en-US" dirty="0"/>
          </a:p>
        </p:txBody>
      </p:sp>
      <p:sp>
        <p:nvSpPr>
          <p:cNvPr id="47" name="Shape 45"/>
          <p:cNvSpPr/>
          <p:nvPr/>
        </p:nvSpPr>
        <p:spPr>
          <a:xfrm>
            <a:off x="868680" y="5120640"/>
            <a:ext cx="10424160" cy="942362"/>
          </a:xfrm>
          <a:prstGeom prst="roundRect">
            <a:avLst>
              <a:gd name="adj" fmla="val 9412"/>
            </a:avLst>
          </a:prstGeom>
          <a:solidFill>
            <a:srgbClr val="D9ECFA"/>
          </a:solidFill>
          <a:ln w="12700">
            <a:solidFill>
              <a:srgbClr val="D9ECFA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033272" y="5230368"/>
            <a:ext cx="10094976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77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LIÇÃO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1033272" y="5504688"/>
            <a:ext cx="10094976" cy="46687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Métrica sem contexto é só número. A mesma fórmula pode ser aceitável em um problema e inaceitável em outro. Ex.: erro de 2 mg é tolerável em adubo e grave em dose de medicamento.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77B4"/>
          </a:solidFill>
          <a:ln w="12700">
            <a:solidFill>
              <a:srgbClr val="1F77B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8288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77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REGRESSÃO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Armadilha: mesmo MAE, risco diferente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12064" y="114300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Poucos erros enormes podem ficar escondidos.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1311128" y="647395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11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713232" y="1417320"/>
            <a:ext cx="2674620" cy="472440"/>
          </a:xfrm>
          <a:prstGeom prst="rect">
            <a:avLst/>
          </a:prstGeom>
          <a:solidFill>
            <a:srgbClr val="1F77B4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463040"/>
            <a:ext cx="2546604" cy="3901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Modelo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3387852" y="1417320"/>
            <a:ext cx="2674620" cy="472440"/>
          </a:xfrm>
          <a:prstGeom prst="rect">
            <a:avLst/>
          </a:prstGeom>
          <a:solidFill>
            <a:srgbClr val="1F77B4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51860" y="1463040"/>
            <a:ext cx="2546604" cy="3901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Erros absolutos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6062472" y="1417320"/>
            <a:ext cx="2674620" cy="472440"/>
          </a:xfrm>
          <a:prstGeom prst="rect">
            <a:avLst/>
          </a:prstGeom>
          <a:solidFill>
            <a:srgbClr val="1F77B4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26480" y="1463040"/>
            <a:ext cx="2546604" cy="3901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MAE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8737092" y="1417320"/>
            <a:ext cx="2674620" cy="472440"/>
          </a:xfrm>
          <a:prstGeom prst="rect">
            <a:avLst/>
          </a:prstGeom>
          <a:solidFill>
            <a:srgbClr val="1F77B4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01100" y="1463040"/>
            <a:ext cx="2546604" cy="3901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Leitura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713232" y="1889760"/>
            <a:ext cx="2674620" cy="472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1935480"/>
            <a:ext cx="2546604" cy="3901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2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3387852" y="1889760"/>
            <a:ext cx="2674620" cy="472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51860" y="1935480"/>
            <a:ext cx="2546604" cy="3901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2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10, 10, 10, 10, 10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6062472" y="1889760"/>
            <a:ext cx="2674620" cy="472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26480" y="1935480"/>
            <a:ext cx="2546604" cy="3901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2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8737092" y="1889760"/>
            <a:ext cx="2674620" cy="472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801100" y="1935480"/>
            <a:ext cx="2546604" cy="3901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2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 estável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713232" y="2362200"/>
            <a:ext cx="2674620" cy="4724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2407920"/>
            <a:ext cx="2546604" cy="3901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2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3387852" y="2362200"/>
            <a:ext cx="2674620" cy="4724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51860" y="2407920"/>
            <a:ext cx="2546604" cy="3901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2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0, 0, 0, 0, 50</a:t>
            </a:r>
            <a:endParaRPr lang="en-US" sz="2400" dirty="0"/>
          </a:p>
        </p:txBody>
      </p:sp>
      <p:sp>
        <p:nvSpPr>
          <p:cNvPr id="27" name="Shape 25"/>
          <p:cNvSpPr/>
          <p:nvPr/>
        </p:nvSpPr>
        <p:spPr>
          <a:xfrm>
            <a:off x="6062472" y="2362200"/>
            <a:ext cx="2674620" cy="4724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26480" y="2407920"/>
            <a:ext cx="2546604" cy="3901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2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2400" dirty="0"/>
          </a:p>
        </p:txBody>
      </p:sp>
      <p:sp>
        <p:nvSpPr>
          <p:cNvPr id="29" name="Shape 27"/>
          <p:cNvSpPr/>
          <p:nvPr/>
        </p:nvSpPr>
        <p:spPr>
          <a:xfrm>
            <a:off x="8737092" y="2362200"/>
            <a:ext cx="2674620" cy="4724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801100" y="2407920"/>
            <a:ext cx="2546604" cy="3901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2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um erro extremo</a:t>
            </a:r>
            <a:endParaRPr lang="en-US" sz="2400" dirty="0"/>
          </a:p>
        </p:txBody>
      </p:sp>
      <p:sp>
        <p:nvSpPr>
          <p:cNvPr id="31" name="Shape 29"/>
          <p:cNvSpPr/>
          <p:nvPr/>
        </p:nvSpPr>
        <p:spPr>
          <a:xfrm>
            <a:off x="1005840" y="4754880"/>
            <a:ext cx="201168" cy="320040"/>
          </a:xfrm>
          <a:prstGeom prst="rect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261872" y="5074920"/>
            <a:ext cx="201168" cy="0"/>
          </a:xfrm>
          <a:prstGeom prst="rect">
            <a:avLst/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124712" y="523036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1920240" y="4754880"/>
            <a:ext cx="201168" cy="320040"/>
          </a:xfrm>
          <a:prstGeom prst="rect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176272" y="5074920"/>
            <a:ext cx="201168" cy="0"/>
          </a:xfrm>
          <a:prstGeom prst="rect">
            <a:avLst/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039112" y="523036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834640" y="4754880"/>
            <a:ext cx="201168" cy="320040"/>
          </a:xfrm>
          <a:prstGeom prst="rect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090672" y="5074920"/>
            <a:ext cx="201168" cy="0"/>
          </a:xfrm>
          <a:prstGeom prst="rect">
            <a:avLst/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953512" y="523036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749040" y="4754880"/>
            <a:ext cx="201168" cy="320040"/>
          </a:xfrm>
          <a:prstGeom prst="rect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005072" y="5074920"/>
            <a:ext cx="201168" cy="0"/>
          </a:xfrm>
          <a:prstGeom prst="rect">
            <a:avLst/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867912" y="523036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663440" y="4754880"/>
            <a:ext cx="201168" cy="320040"/>
          </a:xfrm>
          <a:prstGeom prst="rect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919472" y="3474720"/>
            <a:ext cx="201168" cy="1600200"/>
          </a:xfrm>
          <a:prstGeom prst="rect">
            <a:avLst/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82312" y="523036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822960" y="5074920"/>
            <a:ext cx="48463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806440" y="34290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77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6080760" y="34290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erros estáveis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806440" y="384048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D149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6080760" y="384048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um caso perigoso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7726680" y="3337560"/>
            <a:ext cx="3383280" cy="1892808"/>
          </a:xfrm>
          <a:prstGeom prst="roundRect">
            <a:avLst>
              <a:gd name="adj" fmla="val 5926"/>
            </a:avLst>
          </a:prstGeom>
          <a:solidFill>
            <a:srgbClr val="FDE2E7"/>
          </a:solidFill>
          <a:ln w="12700">
            <a:solidFill>
              <a:srgbClr val="FDE2E7">
                <a:alpha val="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891272" y="3447288"/>
            <a:ext cx="3054096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D149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PERGUNTA QUE SURGE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7891272" y="3840480"/>
            <a:ext cx="3054096" cy="12344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Como fazer a métrica sentir mais quando existe um erro muito grande?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 7"/>
          <p:cNvSpPr/>
          <p:nvPr/>
        </p:nvSpPr>
        <p:spPr>
          <a:xfrm>
            <a:off x="566928" y="2039456"/>
            <a:ext cx="4846320" cy="1471839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77B4"/>
          </a:solidFill>
          <a:ln w="12700">
            <a:solidFill>
              <a:srgbClr val="1F77B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8288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77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REGRESSÃO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RMSE — Root Mean Squared Error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11311128" y="647395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12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66928" y="1417320"/>
            <a:ext cx="11018520" cy="475488"/>
          </a:xfrm>
          <a:prstGeom prst="roundRect">
            <a:avLst>
              <a:gd name="adj" fmla="val 15385"/>
            </a:avLst>
          </a:prstGeom>
          <a:solidFill>
            <a:srgbClr val="1F77B4"/>
          </a:solidFill>
          <a:ln w="12700">
            <a:solidFill>
              <a:srgbClr val="1F77B4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527048"/>
            <a:ext cx="10616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Existem erros grandes que precisam pesar mais?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897880" y="1956816"/>
            <a:ext cx="2720340" cy="320040"/>
          </a:xfrm>
          <a:prstGeom prst="rect">
            <a:avLst/>
          </a:prstGeom>
          <a:solidFill>
            <a:srgbClr val="1F77B4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61888" y="2002536"/>
            <a:ext cx="2592324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Variável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858664" y="1956816"/>
            <a:ext cx="3479896" cy="320040"/>
          </a:xfrm>
          <a:prstGeom prst="rect">
            <a:avLst/>
          </a:prstGeom>
          <a:solidFill>
            <a:srgbClr val="1F77B4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958416" y="2002536"/>
            <a:ext cx="3316136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Significado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897880" y="2276856"/>
            <a:ext cx="272034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961888" y="2322576"/>
            <a:ext cx="2592324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</a:t>
            </a:r>
            <a:endParaRPr lang="en-US" sz="1600" b="1" dirty="0"/>
          </a:p>
        </p:txBody>
      </p:sp>
      <p:sp>
        <p:nvSpPr>
          <p:cNvPr id="17" name="Shape 14"/>
          <p:cNvSpPr/>
          <p:nvPr/>
        </p:nvSpPr>
        <p:spPr>
          <a:xfrm>
            <a:off x="7858664" y="2276856"/>
            <a:ext cx="3479896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958416" y="2322576"/>
            <a:ext cx="3316136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número de previsões (ex.: 5)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5897880" y="2596896"/>
            <a:ext cx="27203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961888" y="2642616"/>
            <a:ext cx="2592324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yᵢ−ŷᵢ</a:t>
            </a:r>
            <a:endParaRPr lang="en-US" sz="1600" b="1" dirty="0"/>
          </a:p>
        </p:txBody>
      </p:sp>
      <p:sp>
        <p:nvSpPr>
          <p:cNvPr id="21" name="Shape 18"/>
          <p:cNvSpPr/>
          <p:nvPr/>
        </p:nvSpPr>
        <p:spPr>
          <a:xfrm>
            <a:off x="7858664" y="2596896"/>
            <a:ext cx="3479896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958416" y="2642616"/>
            <a:ext cx="3316136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 da observação i (ex.: 50)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5897880" y="2916936"/>
            <a:ext cx="272034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961888" y="2962656"/>
            <a:ext cx="2592324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 )²</a:t>
            </a:r>
            <a:endParaRPr lang="en-US" sz="1600" b="1" dirty="0"/>
          </a:p>
        </p:txBody>
      </p:sp>
      <p:sp>
        <p:nvSpPr>
          <p:cNvPr id="25" name="Shape 22"/>
          <p:cNvSpPr/>
          <p:nvPr/>
        </p:nvSpPr>
        <p:spPr>
          <a:xfrm>
            <a:off x="7858664" y="2916936"/>
            <a:ext cx="3479896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958416" y="2962656"/>
            <a:ext cx="3316136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 ao quadrado (ex.: 50² = 2500)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5897880" y="3236976"/>
            <a:ext cx="27203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961888" y="3282696"/>
            <a:ext cx="2592324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√</a:t>
            </a:r>
            <a:endParaRPr lang="en-US" sz="1600" b="1" dirty="0"/>
          </a:p>
        </p:txBody>
      </p:sp>
      <p:sp>
        <p:nvSpPr>
          <p:cNvPr id="29" name="Shape 26"/>
          <p:cNvSpPr/>
          <p:nvPr/>
        </p:nvSpPr>
        <p:spPr>
          <a:xfrm>
            <a:off x="7858664" y="3236976"/>
            <a:ext cx="3479896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958416" y="3282696"/>
            <a:ext cx="3316136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volta à unidade original (ex.: 22,36)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713232" y="3730751"/>
            <a:ext cx="3383280" cy="1471839"/>
          </a:xfrm>
          <a:prstGeom prst="roundRect">
            <a:avLst>
              <a:gd name="adj" fmla="val 6400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77824" y="3840480"/>
            <a:ext cx="3054096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77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 QUE SERVE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877824" y="4114800"/>
            <a:ext cx="3054096" cy="6675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Penaliza erros grandes; útil quando falhas extremas são perigosas.</a:t>
            </a:r>
            <a:endParaRPr lang="en-US" sz="2000" dirty="0"/>
          </a:p>
        </p:txBody>
      </p:sp>
      <p:sp>
        <p:nvSpPr>
          <p:cNvPr id="34" name="Shape 31"/>
          <p:cNvSpPr/>
          <p:nvPr/>
        </p:nvSpPr>
        <p:spPr>
          <a:xfrm>
            <a:off x="4407408" y="3730751"/>
            <a:ext cx="3383280" cy="1471839"/>
          </a:xfrm>
          <a:prstGeom prst="roundRect">
            <a:avLst>
              <a:gd name="adj" fmla="val 6400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572000" y="3840480"/>
            <a:ext cx="3054096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77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COMO INTERPRETAR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4572000" y="4114800"/>
            <a:ext cx="3054096" cy="6675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RMSE muito maior que MAE indica cauda de erros, outliers ou regiões ruins.</a:t>
            </a:r>
            <a:endParaRPr lang="en-US" sz="2000" dirty="0"/>
          </a:p>
        </p:txBody>
      </p:sp>
      <p:sp>
        <p:nvSpPr>
          <p:cNvPr id="37" name="Shape 34"/>
          <p:cNvSpPr/>
          <p:nvPr/>
        </p:nvSpPr>
        <p:spPr>
          <a:xfrm>
            <a:off x="8101584" y="3730751"/>
            <a:ext cx="3282696" cy="1471839"/>
          </a:xfrm>
          <a:prstGeom prst="roundRect">
            <a:avLst>
              <a:gd name="adj" fmla="val 6400"/>
            </a:avLst>
          </a:prstGeom>
          <a:solidFill>
            <a:srgbClr val="FDE2E7"/>
          </a:solidFill>
          <a:ln w="12700">
            <a:solidFill>
              <a:srgbClr val="FDE2E7">
                <a:alpha val="0"/>
              </a:srgbClr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8266176" y="3840480"/>
            <a:ext cx="2907792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D149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CUIDADO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8266176" y="4114800"/>
            <a:ext cx="3072384" cy="6675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Pode ser dominado por um único ponto anômalo; investigue os maiores erros.</a:t>
            </a:r>
            <a:endParaRPr lang="en-US" sz="2000" dirty="0"/>
          </a:p>
        </p:txBody>
      </p:sp>
      <p:sp>
        <p:nvSpPr>
          <p:cNvPr id="40" name="Shape 37"/>
          <p:cNvSpPr/>
          <p:nvPr/>
        </p:nvSpPr>
        <p:spPr>
          <a:xfrm>
            <a:off x="713232" y="5380811"/>
            <a:ext cx="10625328" cy="955633"/>
          </a:xfrm>
          <a:prstGeom prst="roundRect">
            <a:avLst>
              <a:gd name="adj" fmla="val 11429"/>
            </a:avLst>
          </a:prstGeom>
          <a:solidFill>
            <a:srgbClr val="D9ECFA"/>
          </a:solidFill>
          <a:ln w="12700">
            <a:solidFill>
              <a:srgbClr val="D9ECFA">
                <a:alpha val="0"/>
              </a:srgbClr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877824" y="5490540"/>
            <a:ext cx="10296144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77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EXEMPLO EM UMA FRASE</a:t>
            </a:r>
            <a:endParaRPr lang="en-US" sz="1200" dirty="0"/>
          </a:p>
        </p:txBody>
      </p:sp>
      <p:sp>
        <p:nvSpPr>
          <p:cNvPr id="42" name="Text 39"/>
          <p:cNvSpPr/>
          <p:nvPr/>
        </p:nvSpPr>
        <p:spPr>
          <a:xfrm>
            <a:off x="877824" y="5764860"/>
            <a:ext cx="10296144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 dose, RMSE alto pode indicar poucos pacientes com dose muito errada.</a:t>
            </a:r>
            <a:endParaRPr lang="en-US" sz="20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8096" y="2201617"/>
            <a:ext cx="4390500" cy="116025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77B4"/>
          </a:solidFill>
          <a:ln w="12700">
            <a:solidFill>
              <a:srgbClr val="1F77B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8288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77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REGRESSÃO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Por que o quadrado muda a análise?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12064" y="114300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Um erro grande passa a pesar muito mais.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1311128" y="647395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13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777240" y="1508760"/>
            <a:ext cx="1874520" cy="571500"/>
          </a:xfrm>
          <a:prstGeom prst="rect">
            <a:avLst/>
          </a:prstGeom>
          <a:solidFill>
            <a:srgbClr val="1F77B4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841248" y="1554480"/>
            <a:ext cx="1746504" cy="4892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2441275" y="1508760"/>
            <a:ext cx="2085005" cy="571500"/>
          </a:xfrm>
          <a:prstGeom prst="rect">
            <a:avLst/>
          </a:prstGeom>
          <a:solidFill>
            <a:srgbClr val="1F77B4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2441275" y="1554480"/>
            <a:ext cx="2085005" cy="4892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Quadrado do erro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777240" y="2080260"/>
            <a:ext cx="1874520" cy="5715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841248" y="2125980"/>
            <a:ext cx="1746504" cy="4892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2441275" y="2080260"/>
            <a:ext cx="2085005" cy="5715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2519658" y="2125980"/>
            <a:ext cx="1942614" cy="4892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777240" y="2651760"/>
            <a:ext cx="1874520" cy="5715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841248" y="2697480"/>
            <a:ext cx="1746504" cy="4892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2441275" y="2651760"/>
            <a:ext cx="2085005" cy="5715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2519658" y="2697480"/>
            <a:ext cx="1942614" cy="4892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</a:t>
            </a: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777240" y="3223260"/>
            <a:ext cx="1874520" cy="5715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841248" y="3268980"/>
            <a:ext cx="1746504" cy="4892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</a:t>
            </a: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2441275" y="3223260"/>
            <a:ext cx="2085005" cy="5715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2519658" y="3268980"/>
            <a:ext cx="1942614" cy="4892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2500</a:t>
            </a:r>
            <a:endParaRPr lang="en-US" dirty="0"/>
          </a:p>
        </p:txBody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00600" y="1600200"/>
            <a:ext cx="6309360" cy="960120"/>
          </a:xfrm>
          <a:prstGeom prst="rect">
            <a:avLst/>
          </a:prstGeom>
        </p:spPr>
      </p:pic>
      <p:sp>
        <p:nvSpPr>
          <p:cNvPr id="24" name="Shape 21"/>
          <p:cNvSpPr/>
          <p:nvPr/>
        </p:nvSpPr>
        <p:spPr>
          <a:xfrm>
            <a:off x="5074920" y="3063240"/>
            <a:ext cx="5486400" cy="1005840"/>
          </a:xfrm>
          <a:prstGeom prst="roundRect">
            <a:avLst>
              <a:gd name="adj" fmla="val 7273"/>
            </a:avLst>
          </a:prstGeom>
          <a:solidFill>
            <a:srgbClr val="FDE2E7"/>
          </a:solidFill>
          <a:ln w="12700">
            <a:solidFill>
              <a:srgbClr val="FDE2E7">
                <a:alpha val="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239512" y="3172968"/>
            <a:ext cx="5157216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D149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INTERPRETAÇÃO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5239512" y="3447288"/>
            <a:ext cx="5157216" cy="53035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Modelo B tinha MAE = 10, mas RMSE = 22,36. Isso revela que um erro extremo domina o risco.</a:t>
            </a:r>
            <a:endParaRPr lang="en-US" dirty="0"/>
          </a:p>
        </p:txBody>
      </p:sp>
      <p:sp>
        <p:nvSpPr>
          <p:cNvPr id="27" name="Shape 24"/>
          <p:cNvSpPr/>
          <p:nvPr/>
        </p:nvSpPr>
        <p:spPr>
          <a:xfrm>
            <a:off x="914400" y="4846320"/>
            <a:ext cx="10332720" cy="1252555"/>
          </a:xfrm>
          <a:prstGeom prst="roundRect">
            <a:avLst>
              <a:gd name="adj" fmla="val 9412"/>
            </a:avLst>
          </a:prstGeom>
          <a:solidFill>
            <a:srgbClr val="D9ECFA"/>
          </a:solidFill>
          <a:ln w="12700">
            <a:solidFill>
              <a:srgbClr val="D9ECFA">
                <a:alpha val="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078992" y="4956048"/>
            <a:ext cx="10003536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77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FRASE ESPERADA DO ALUNO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1078992" y="5230368"/>
            <a:ext cx="10003536" cy="10332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“O erro médio parece igual, mas o segundo modelo é mais perigoso porque concentra erro enorme em poucos casos.” Ex.: o Modelo B acerta quatro casos e erra 50 no quinto.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77B4"/>
          </a:solidFill>
          <a:ln w="12700">
            <a:solidFill>
              <a:srgbClr val="1F77B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8288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77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REGRESSÃO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usar MAE e RMSE juntos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12064" y="114300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Uma métrica conta o erro típico; a outra mostra risco extremo.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1311128" y="647395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14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658367" y="1417320"/>
            <a:ext cx="2818077" cy="566928"/>
          </a:xfrm>
          <a:prstGeom prst="rect">
            <a:avLst/>
          </a:prstGeom>
          <a:solidFill>
            <a:srgbClr val="1F77B4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722376" y="1463040"/>
            <a:ext cx="2652308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Cenário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3448548" y="1417320"/>
            <a:ext cx="1562364" cy="566928"/>
          </a:xfrm>
          <a:prstGeom prst="rect">
            <a:avLst/>
          </a:prstGeom>
          <a:solidFill>
            <a:srgbClr val="1F77B4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3476444" y="1463040"/>
            <a:ext cx="1470460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MAE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5010912" y="1417320"/>
            <a:ext cx="1700439" cy="566928"/>
          </a:xfrm>
          <a:prstGeom prst="rect">
            <a:avLst/>
          </a:prstGeom>
          <a:solidFill>
            <a:srgbClr val="1F77B4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5074920" y="1463040"/>
            <a:ext cx="1600413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RMSE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6675333" y="1417320"/>
            <a:ext cx="2688123" cy="566928"/>
          </a:xfrm>
          <a:prstGeom prst="rect">
            <a:avLst/>
          </a:prstGeom>
          <a:solidFill>
            <a:srgbClr val="1F77B4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6769450" y="1463040"/>
            <a:ext cx="2529998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Diagnóstico</a:t>
            </a: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8851605" y="1417320"/>
            <a:ext cx="2688123" cy="566928"/>
          </a:xfrm>
          <a:prstGeom prst="rect">
            <a:avLst/>
          </a:prstGeom>
          <a:solidFill>
            <a:srgbClr val="1F77B4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8945722" y="1463040"/>
            <a:ext cx="2529998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Próximo passo</a:t>
            </a: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658367" y="1984248"/>
            <a:ext cx="2818077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722376" y="2029968"/>
            <a:ext cx="2652308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MAE baixo, RMSE parecido</a:t>
            </a: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3448548" y="1984248"/>
            <a:ext cx="1562364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3476444" y="2029968"/>
            <a:ext cx="1470460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5010912" y="1984248"/>
            <a:ext cx="1700439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5074920" y="2029968"/>
            <a:ext cx="1600413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6675333" y="1984248"/>
            <a:ext cx="2688123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6769450" y="2029968"/>
            <a:ext cx="2046137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erros homogêneos</a:t>
            </a: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8851605" y="1984248"/>
            <a:ext cx="2688123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8945722" y="2029968"/>
            <a:ext cx="2529998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validar resíduos</a:t>
            </a: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658367" y="2551176"/>
            <a:ext cx="2818077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722376" y="2596896"/>
            <a:ext cx="2652308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MAE baixo, RMSE alto</a:t>
            </a: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3448548" y="2551176"/>
            <a:ext cx="1562364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/>
          </a:p>
        </p:txBody>
      </p:sp>
      <p:sp>
        <p:nvSpPr>
          <p:cNvPr id="30" name="Text 28"/>
          <p:cNvSpPr/>
          <p:nvPr/>
        </p:nvSpPr>
        <p:spPr>
          <a:xfrm>
            <a:off x="3476444" y="2596896"/>
            <a:ext cx="1470460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5010912" y="2551176"/>
            <a:ext cx="1700439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/>
          </a:p>
        </p:txBody>
      </p:sp>
      <p:sp>
        <p:nvSpPr>
          <p:cNvPr id="32" name="Text 30"/>
          <p:cNvSpPr/>
          <p:nvPr/>
        </p:nvSpPr>
        <p:spPr>
          <a:xfrm>
            <a:off x="5074920" y="2596896"/>
            <a:ext cx="1600413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</a:t>
            </a: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6675333" y="2551176"/>
            <a:ext cx="2688123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/>
          </a:p>
        </p:txBody>
      </p:sp>
      <p:sp>
        <p:nvSpPr>
          <p:cNvPr id="34" name="Text 32"/>
          <p:cNvSpPr/>
          <p:nvPr/>
        </p:nvSpPr>
        <p:spPr>
          <a:xfrm>
            <a:off x="6769450" y="2596896"/>
            <a:ext cx="2046137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erros extremos</a:t>
            </a:r>
            <a:endParaRPr lang="en-US" dirty="0"/>
          </a:p>
        </p:txBody>
      </p:sp>
      <p:sp>
        <p:nvSpPr>
          <p:cNvPr id="35" name="Shape 33"/>
          <p:cNvSpPr/>
          <p:nvPr/>
        </p:nvSpPr>
        <p:spPr>
          <a:xfrm>
            <a:off x="8851605" y="2551176"/>
            <a:ext cx="2688123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/>
          </a:p>
        </p:txBody>
      </p:sp>
      <p:sp>
        <p:nvSpPr>
          <p:cNvPr id="36" name="Text 34"/>
          <p:cNvSpPr/>
          <p:nvPr/>
        </p:nvSpPr>
        <p:spPr>
          <a:xfrm>
            <a:off x="8945722" y="2596896"/>
            <a:ext cx="2529998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investigar maiores erros</a:t>
            </a:r>
            <a:endParaRPr lang="en-US" dirty="0"/>
          </a:p>
        </p:txBody>
      </p:sp>
      <p:sp>
        <p:nvSpPr>
          <p:cNvPr id="37" name="Shape 35"/>
          <p:cNvSpPr/>
          <p:nvPr/>
        </p:nvSpPr>
        <p:spPr>
          <a:xfrm>
            <a:off x="658367" y="3118104"/>
            <a:ext cx="2818077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/>
          </a:p>
        </p:txBody>
      </p:sp>
      <p:sp>
        <p:nvSpPr>
          <p:cNvPr id="38" name="Text 36"/>
          <p:cNvSpPr/>
          <p:nvPr/>
        </p:nvSpPr>
        <p:spPr>
          <a:xfrm>
            <a:off x="722376" y="3163824"/>
            <a:ext cx="2652308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MAE alto, RMSE parecido</a:t>
            </a:r>
            <a:endParaRPr lang="en-US" dirty="0"/>
          </a:p>
        </p:txBody>
      </p:sp>
      <p:sp>
        <p:nvSpPr>
          <p:cNvPr id="39" name="Shape 37"/>
          <p:cNvSpPr/>
          <p:nvPr/>
        </p:nvSpPr>
        <p:spPr>
          <a:xfrm>
            <a:off x="3448548" y="3118104"/>
            <a:ext cx="1562364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/>
          </a:p>
        </p:txBody>
      </p:sp>
      <p:sp>
        <p:nvSpPr>
          <p:cNvPr id="40" name="Text 38"/>
          <p:cNvSpPr/>
          <p:nvPr/>
        </p:nvSpPr>
        <p:spPr>
          <a:xfrm>
            <a:off x="3476444" y="3163824"/>
            <a:ext cx="1470460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</a:t>
            </a:r>
            <a:endParaRPr lang="en-US" dirty="0"/>
          </a:p>
        </p:txBody>
      </p:sp>
      <p:sp>
        <p:nvSpPr>
          <p:cNvPr id="41" name="Shape 39"/>
          <p:cNvSpPr/>
          <p:nvPr/>
        </p:nvSpPr>
        <p:spPr>
          <a:xfrm>
            <a:off x="5010912" y="3118104"/>
            <a:ext cx="1700439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/>
          </a:p>
        </p:txBody>
      </p:sp>
      <p:sp>
        <p:nvSpPr>
          <p:cNvPr id="42" name="Text 40"/>
          <p:cNvSpPr/>
          <p:nvPr/>
        </p:nvSpPr>
        <p:spPr>
          <a:xfrm>
            <a:off x="5074920" y="3163824"/>
            <a:ext cx="1600413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38</a:t>
            </a:r>
            <a:endParaRPr lang="en-US" dirty="0"/>
          </a:p>
        </p:txBody>
      </p:sp>
      <p:sp>
        <p:nvSpPr>
          <p:cNvPr id="43" name="Shape 41"/>
          <p:cNvSpPr/>
          <p:nvPr/>
        </p:nvSpPr>
        <p:spPr>
          <a:xfrm>
            <a:off x="6675333" y="3118104"/>
            <a:ext cx="2688123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/>
          </a:p>
        </p:txBody>
      </p:sp>
      <p:sp>
        <p:nvSpPr>
          <p:cNvPr id="44" name="Text 42"/>
          <p:cNvSpPr/>
          <p:nvPr/>
        </p:nvSpPr>
        <p:spPr>
          <a:xfrm>
            <a:off x="6769450" y="3163824"/>
            <a:ext cx="2046137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 típico alto</a:t>
            </a:r>
            <a:endParaRPr lang="en-US" dirty="0"/>
          </a:p>
        </p:txBody>
      </p:sp>
      <p:sp>
        <p:nvSpPr>
          <p:cNvPr id="45" name="Shape 43"/>
          <p:cNvSpPr/>
          <p:nvPr/>
        </p:nvSpPr>
        <p:spPr>
          <a:xfrm>
            <a:off x="8851605" y="3118104"/>
            <a:ext cx="2688123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/>
          </a:p>
        </p:txBody>
      </p:sp>
      <p:sp>
        <p:nvSpPr>
          <p:cNvPr id="46" name="Text 44"/>
          <p:cNvSpPr/>
          <p:nvPr/>
        </p:nvSpPr>
        <p:spPr>
          <a:xfrm>
            <a:off x="8945722" y="3163824"/>
            <a:ext cx="2529998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melhorar modelo/dados</a:t>
            </a:r>
            <a:endParaRPr lang="en-US" dirty="0"/>
          </a:p>
        </p:txBody>
      </p:sp>
      <p:sp>
        <p:nvSpPr>
          <p:cNvPr id="47" name="Shape 45"/>
          <p:cNvSpPr/>
          <p:nvPr/>
        </p:nvSpPr>
        <p:spPr>
          <a:xfrm>
            <a:off x="658367" y="3685032"/>
            <a:ext cx="2818077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/>
          </a:p>
        </p:txBody>
      </p:sp>
      <p:sp>
        <p:nvSpPr>
          <p:cNvPr id="48" name="Text 46"/>
          <p:cNvSpPr/>
          <p:nvPr/>
        </p:nvSpPr>
        <p:spPr>
          <a:xfrm>
            <a:off x="722376" y="3730752"/>
            <a:ext cx="2652308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MAE alto, RMSE muito alto</a:t>
            </a:r>
            <a:endParaRPr lang="en-US" dirty="0"/>
          </a:p>
        </p:txBody>
      </p:sp>
      <p:sp>
        <p:nvSpPr>
          <p:cNvPr id="49" name="Shape 47"/>
          <p:cNvSpPr/>
          <p:nvPr/>
        </p:nvSpPr>
        <p:spPr>
          <a:xfrm>
            <a:off x="3448548" y="3685032"/>
            <a:ext cx="1562364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/>
          </a:p>
        </p:txBody>
      </p:sp>
      <p:sp>
        <p:nvSpPr>
          <p:cNvPr id="50" name="Text 48"/>
          <p:cNvSpPr/>
          <p:nvPr/>
        </p:nvSpPr>
        <p:spPr>
          <a:xfrm>
            <a:off x="3476444" y="3730752"/>
            <a:ext cx="1470460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</a:t>
            </a:r>
            <a:endParaRPr lang="en-US" dirty="0"/>
          </a:p>
        </p:txBody>
      </p:sp>
      <p:sp>
        <p:nvSpPr>
          <p:cNvPr id="51" name="Shape 49"/>
          <p:cNvSpPr/>
          <p:nvPr/>
        </p:nvSpPr>
        <p:spPr>
          <a:xfrm>
            <a:off x="5010912" y="3685032"/>
            <a:ext cx="1700439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/>
          </a:p>
        </p:txBody>
      </p:sp>
      <p:sp>
        <p:nvSpPr>
          <p:cNvPr id="52" name="Text 50"/>
          <p:cNvSpPr/>
          <p:nvPr/>
        </p:nvSpPr>
        <p:spPr>
          <a:xfrm>
            <a:off x="5074920" y="3730752"/>
            <a:ext cx="1600413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80</a:t>
            </a:r>
            <a:endParaRPr lang="en-US" dirty="0"/>
          </a:p>
        </p:txBody>
      </p:sp>
      <p:sp>
        <p:nvSpPr>
          <p:cNvPr id="53" name="Shape 51"/>
          <p:cNvSpPr/>
          <p:nvPr/>
        </p:nvSpPr>
        <p:spPr>
          <a:xfrm>
            <a:off x="6675333" y="3685032"/>
            <a:ext cx="2688123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/>
          </a:p>
        </p:txBody>
      </p:sp>
      <p:sp>
        <p:nvSpPr>
          <p:cNvPr id="54" name="Text 52"/>
          <p:cNvSpPr/>
          <p:nvPr/>
        </p:nvSpPr>
        <p:spPr>
          <a:xfrm>
            <a:off x="6769450" y="3730752"/>
            <a:ext cx="2046137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 geral + extremo</a:t>
            </a:r>
            <a:endParaRPr lang="en-US" dirty="0"/>
          </a:p>
        </p:txBody>
      </p:sp>
      <p:sp>
        <p:nvSpPr>
          <p:cNvPr id="55" name="Shape 53"/>
          <p:cNvSpPr/>
          <p:nvPr/>
        </p:nvSpPr>
        <p:spPr>
          <a:xfrm>
            <a:off x="8851605" y="3685032"/>
            <a:ext cx="2688123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/>
          </a:p>
        </p:txBody>
      </p:sp>
      <p:sp>
        <p:nvSpPr>
          <p:cNvPr id="56" name="Text 54"/>
          <p:cNvSpPr/>
          <p:nvPr/>
        </p:nvSpPr>
        <p:spPr>
          <a:xfrm>
            <a:off x="8945722" y="3730752"/>
            <a:ext cx="2529998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rever pipeline</a:t>
            </a:r>
            <a:endParaRPr lang="en-US" dirty="0"/>
          </a:p>
        </p:txBody>
      </p:sp>
      <p:sp>
        <p:nvSpPr>
          <p:cNvPr id="57" name="Shape 55"/>
          <p:cNvSpPr/>
          <p:nvPr/>
        </p:nvSpPr>
        <p:spPr>
          <a:xfrm>
            <a:off x="722376" y="4718649"/>
            <a:ext cx="10515600" cy="1431985"/>
          </a:xfrm>
          <a:prstGeom prst="roundRect">
            <a:avLst>
              <a:gd name="adj" fmla="val 8889"/>
            </a:avLst>
          </a:prstGeom>
          <a:solidFill>
            <a:srgbClr val="D9ECFA"/>
          </a:solidFill>
          <a:ln w="12700">
            <a:solidFill>
              <a:srgbClr val="D9ECFA">
                <a:alpha val="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86968" y="4869754"/>
            <a:ext cx="10186416" cy="339725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77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REGRA DE LEITURA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886968" y="5141344"/>
            <a:ext cx="10186416" cy="10772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MAE responde: “quanto erro normalmente?”. RMSE responde: “tenho erros grandes perigosos?”. Ex.: MAE 10 com RMSE 30 avisa que existe um erro extremo escondido.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77B4"/>
          </a:solidFill>
          <a:ln w="12700">
            <a:solidFill>
              <a:srgbClr val="1F77B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8288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77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REGRESSÃO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Baseline: antes de elogiar, compare com uma solução simples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11311128" y="647395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15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777240" y="1426464"/>
            <a:ext cx="10652760" cy="530352"/>
          </a:xfrm>
          <a:prstGeom prst="roundRect">
            <a:avLst>
              <a:gd name="adj" fmla="val 13793"/>
            </a:avLst>
          </a:prstGeom>
          <a:solidFill>
            <a:srgbClr val="1F77B4"/>
          </a:solidFill>
          <a:ln w="12700">
            <a:solidFill>
              <a:srgbClr val="1F77B4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536192"/>
            <a:ext cx="102504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Pergunta: meu modelo é melhor do que simplesmente usar a média?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04672" y="2331720"/>
            <a:ext cx="4754880" cy="1794510"/>
          </a:xfrm>
          <a:prstGeom prst="roundRect">
            <a:avLst>
              <a:gd name="adj" fmla="val 5161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9264" y="2441448"/>
            <a:ext cx="4425696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SOLUÇÃO BOBA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69264" y="2715768"/>
            <a:ext cx="4425696" cy="9418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 preço, prever sempre o preço médio. Para vendas, usar a média histórica. Para temperatura, usar a média do período.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126480" y="2331720"/>
            <a:ext cx="4572000" cy="1794510"/>
          </a:xfrm>
          <a:prstGeom prst="roundRect">
            <a:avLst>
              <a:gd name="adj" fmla="val 5161"/>
            </a:avLst>
          </a:prstGeom>
          <a:solidFill>
            <a:srgbClr val="D9ECFA"/>
          </a:solidFill>
          <a:ln w="12700">
            <a:solidFill>
              <a:srgbClr val="D9ECFA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91072" y="2441448"/>
            <a:ext cx="4242816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77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 QUE ISSO IMPORTA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291072" y="2715768"/>
            <a:ext cx="4242816" cy="9418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Um modelo sofisticado que não ganha do baseline não agrega valor. Ele só parece inteligente.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1005840" y="4434840"/>
            <a:ext cx="3291840" cy="354330"/>
          </a:xfrm>
          <a:prstGeom prst="rect">
            <a:avLst/>
          </a:prstGeom>
          <a:solidFill>
            <a:srgbClr val="1F77B4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69848" y="4480560"/>
            <a:ext cx="3163824" cy="27203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Modelo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4297680" y="4434840"/>
            <a:ext cx="3291840" cy="354330"/>
          </a:xfrm>
          <a:prstGeom prst="rect">
            <a:avLst/>
          </a:prstGeom>
          <a:solidFill>
            <a:srgbClr val="1F77B4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61688" y="4480560"/>
            <a:ext cx="3163824" cy="27203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 quadrático total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7589520" y="4434840"/>
            <a:ext cx="3291840" cy="354330"/>
          </a:xfrm>
          <a:prstGeom prst="rect">
            <a:avLst/>
          </a:prstGeom>
          <a:solidFill>
            <a:srgbClr val="1F77B4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53528" y="4480560"/>
            <a:ext cx="3163824" cy="27203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Leitura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1005840" y="4789170"/>
            <a:ext cx="3291840" cy="35433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69848" y="4834890"/>
            <a:ext cx="3163824" cy="27203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Baseline: média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4297680" y="4789170"/>
            <a:ext cx="3291840" cy="35433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61688" y="4834890"/>
            <a:ext cx="3163824" cy="27203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1000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7589520" y="4789170"/>
            <a:ext cx="3291840" cy="35433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53528" y="4834890"/>
            <a:ext cx="3163824" cy="27203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referência mínima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1005840" y="5143500"/>
            <a:ext cx="3291840" cy="35433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69848" y="5189220"/>
            <a:ext cx="3163824" cy="27203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Modelo A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4297680" y="5143500"/>
            <a:ext cx="3291840" cy="35433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61688" y="5189220"/>
            <a:ext cx="3163824" cy="27203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400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7589520" y="5143500"/>
            <a:ext cx="3291840" cy="35433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653528" y="5189220"/>
            <a:ext cx="3163824" cy="27203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melhorou</a:t>
            </a:r>
            <a:endParaRPr lang="en-US" sz="2000" dirty="0"/>
          </a:p>
        </p:txBody>
      </p:sp>
      <p:sp>
        <p:nvSpPr>
          <p:cNvPr id="33" name="Shape 31"/>
          <p:cNvSpPr/>
          <p:nvPr/>
        </p:nvSpPr>
        <p:spPr>
          <a:xfrm>
            <a:off x="1005840" y="5497830"/>
            <a:ext cx="3291840" cy="35433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69848" y="5543550"/>
            <a:ext cx="3163824" cy="27203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Modelo B</a:t>
            </a:r>
            <a:endParaRPr lang="en-US" sz="2000" dirty="0"/>
          </a:p>
        </p:txBody>
      </p:sp>
      <p:sp>
        <p:nvSpPr>
          <p:cNvPr id="35" name="Shape 33"/>
          <p:cNvSpPr/>
          <p:nvPr/>
        </p:nvSpPr>
        <p:spPr>
          <a:xfrm>
            <a:off x="4297680" y="5497830"/>
            <a:ext cx="3291840" cy="35433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361688" y="5543550"/>
            <a:ext cx="3163824" cy="27203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1300</a:t>
            </a:r>
            <a:endParaRPr lang="en-US" sz="2000" dirty="0"/>
          </a:p>
        </p:txBody>
      </p:sp>
      <p:sp>
        <p:nvSpPr>
          <p:cNvPr id="37" name="Shape 35"/>
          <p:cNvSpPr/>
          <p:nvPr/>
        </p:nvSpPr>
        <p:spPr>
          <a:xfrm>
            <a:off x="7589520" y="5497830"/>
            <a:ext cx="3291840" cy="35433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653528" y="5543550"/>
            <a:ext cx="3163824" cy="27203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pior que a média</a:t>
            </a:r>
            <a:endParaRPr lang="en-US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77B4"/>
          </a:solidFill>
          <a:ln w="12700">
            <a:solidFill>
              <a:srgbClr val="1F77B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8288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77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REGRESSÃO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R² — coeficiente de determinação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12064" y="114300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O modelo melhora em relação ao baseline da média?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1311128" y="647395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16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66928" y="1417320"/>
            <a:ext cx="11018520" cy="475488"/>
          </a:xfrm>
          <a:prstGeom prst="roundRect">
            <a:avLst>
              <a:gd name="adj" fmla="val 15385"/>
            </a:avLst>
          </a:prstGeom>
          <a:solidFill>
            <a:srgbClr val="1F77B4"/>
          </a:solidFill>
          <a:ln w="12700">
            <a:solidFill>
              <a:srgbClr val="1F77B4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527048"/>
            <a:ext cx="10616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modelo melhora em relação ao baseline da média?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13232" y="2057400"/>
            <a:ext cx="48463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4400" y="2112264"/>
            <a:ext cx="4456406" cy="1124712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897880" y="1956816"/>
            <a:ext cx="2245360" cy="320040"/>
          </a:xfrm>
          <a:prstGeom prst="rect">
            <a:avLst/>
          </a:prstGeom>
          <a:solidFill>
            <a:srgbClr val="1F77B4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61888" y="2002536"/>
            <a:ext cx="2139696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Variável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052615" y="1956816"/>
            <a:ext cx="3285945" cy="320040"/>
          </a:xfrm>
          <a:prstGeom prst="rect">
            <a:avLst/>
          </a:prstGeom>
          <a:solidFill>
            <a:srgbClr val="1F77B4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143240" y="2002536"/>
            <a:ext cx="3131312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Significado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897880" y="2276856"/>
            <a:ext cx="224536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961888" y="2322576"/>
            <a:ext cx="2139696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ŷᵢ</a:t>
            </a:r>
            <a:endParaRPr lang="en-US" sz="1200" b="1" dirty="0"/>
          </a:p>
        </p:txBody>
      </p:sp>
      <p:sp>
        <p:nvSpPr>
          <p:cNvPr id="17" name="Shape 14"/>
          <p:cNvSpPr/>
          <p:nvPr/>
        </p:nvSpPr>
        <p:spPr>
          <a:xfrm>
            <a:off x="8052615" y="2276856"/>
            <a:ext cx="3285945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143240" y="2322576"/>
            <a:ext cx="3131312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previsão do modelo (ex.: 22)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5897880" y="2596896"/>
            <a:ext cx="224536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961888" y="2642616"/>
            <a:ext cx="2139696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ȳ</a:t>
            </a:r>
            <a:endParaRPr lang="en-US" sz="1200" b="1" dirty="0"/>
          </a:p>
        </p:txBody>
      </p:sp>
      <p:sp>
        <p:nvSpPr>
          <p:cNvPr id="21" name="Shape 18"/>
          <p:cNvSpPr/>
          <p:nvPr/>
        </p:nvSpPr>
        <p:spPr>
          <a:xfrm>
            <a:off x="8052615" y="2596896"/>
            <a:ext cx="3285945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143240" y="2642616"/>
            <a:ext cx="3131312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média dos valores reais (ex.: 15)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5897880" y="2916936"/>
            <a:ext cx="224536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961888" y="2962656"/>
            <a:ext cx="2139696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numerador</a:t>
            </a:r>
            <a:endParaRPr lang="en-US" sz="1200" b="1" dirty="0"/>
          </a:p>
        </p:txBody>
      </p:sp>
      <p:sp>
        <p:nvSpPr>
          <p:cNvPr id="25" name="Shape 22"/>
          <p:cNvSpPr/>
          <p:nvPr/>
        </p:nvSpPr>
        <p:spPr>
          <a:xfrm>
            <a:off x="8052615" y="2916936"/>
            <a:ext cx="3285945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143240" y="2962656"/>
            <a:ext cx="3131312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 quadrático do modelo (ex.: 400)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5897880" y="3236976"/>
            <a:ext cx="224536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961888" y="3282696"/>
            <a:ext cx="2139696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denominador</a:t>
            </a:r>
            <a:endParaRPr lang="en-US" sz="1200" b="1" dirty="0"/>
          </a:p>
        </p:txBody>
      </p:sp>
      <p:sp>
        <p:nvSpPr>
          <p:cNvPr id="29" name="Shape 26"/>
          <p:cNvSpPr/>
          <p:nvPr/>
        </p:nvSpPr>
        <p:spPr>
          <a:xfrm>
            <a:off x="8052615" y="3236976"/>
            <a:ext cx="3285945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143240" y="3282696"/>
            <a:ext cx="3131312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 do baseline da média (ex.: 1000)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713232" y="3730752"/>
            <a:ext cx="3383280" cy="1636776"/>
          </a:xfrm>
          <a:prstGeom prst="roundRect">
            <a:avLst>
              <a:gd name="adj" fmla="val 6400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77824" y="3840480"/>
            <a:ext cx="3054096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77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 QUE SERVE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877824" y="4114800"/>
            <a:ext cx="3054096" cy="6675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Mede o ganho em relação a uma previsão trivial: usar a média.</a:t>
            </a:r>
            <a:endParaRPr lang="en-US" sz="2000" dirty="0"/>
          </a:p>
        </p:txBody>
      </p:sp>
      <p:sp>
        <p:nvSpPr>
          <p:cNvPr id="34" name="Shape 31"/>
          <p:cNvSpPr/>
          <p:nvPr/>
        </p:nvSpPr>
        <p:spPr>
          <a:xfrm>
            <a:off x="4407408" y="3730752"/>
            <a:ext cx="3383280" cy="1636776"/>
          </a:xfrm>
          <a:prstGeom prst="roundRect">
            <a:avLst>
              <a:gd name="adj" fmla="val 6400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572000" y="3840480"/>
            <a:ext cx="3054096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77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COMO INTERPRETAR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4572000" y="4114800"/>
            <a:ext cx="3054096" cy="6675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R² = 0,80: o modelo reduziu grande parte do erro quadrático em relação à média.</a:t>
            </a:r>
            <a:endParaRPr lang="en-US" sz="2000" dirty="0"/>
          </a:p>
        </p:txBody>
      </p:sp>
      <p:sp>
        <p:nvSpPr>
          <p:cNvPr id="37" name="Shape 34"/>
          <p:cNvSpPr/>
          <p:nvPr/>
        </p:nvSpPr>
        <p:spPr>
          <a:xfrm>
            <a:off x="8101584" y="3730752"/>
            <a:ext cx="3236976" cy="1636776"/>
          </a:xfrm>
          <a:prstGeom prst="roundRect">
            <a:avLst>
              <a:gd name="adj" fmla="val 6400"/>
            </a:avLst>
          </a:prstGeom>
          <a:solidFill>
            <a:srgbClr val="FDE2E7"/>
          </a:solidFill>
          <a:ln w="12700">
            <a:solidFill>
              <a:srgbClr val="FDE2E7">
                <a:alpha val="0"/>
              </a:srgbClr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8266176" y="3840480"/>
            <a:ext cx="2907792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D149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CUIDADO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8266176" y="4114800"/>
            <a:ext cx="2907792" cy="6675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R² alto não garante erro aceitável; R² negativo indica pior que a média.</a:t>
            </a:r>
            <a:endParaRPr lang="en-US" sz="2000" dirty="0"/>
          </a:p>
        </p:txBody>
      </p:sp>
      <p:sp>
        <p:nvSpPr>
          <p:cNvPr id="40" name="Shape 37"/>
          <p:cNvSpPr/>
          <p:nvPr/>
        </p:nvSpPr>
        <p:spPr>
          <a:xfrm>
            <a:off x="713232" y="5596128"/>
            <a:ext cx="10625328" cy="932688"/>
          </a:xfrm>
          <a:prstGeom prst="roundRect">
            <a:avLst>
              <a:gd name="adj" fmla="val 11429"/>
            </a:avLst>
          </a:prstGeom>
          <a:solidFill>
            <a:srgbClr val="D9ECFA"/>
          </a:solidFill>
          <a:ln w="12700">
            <a:solidFill>
              <a:srgbClr val="D9ECFA">
                <a:alpha val="0"/>
              </a:srgbClr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877824" y="5705856"/>
            <a:ext cx="10296144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77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EXEMPLO EM UMA FRASE</a:t>
            </a:r>
            <a:endParaRPr lang="en-US" sz="1600" dirty="0"/>
          </a:p>
        </p:txBody>
      </p:sp>
      <p:sp>
        <p:nvSpPr>
          <p:cNvPr id="42" name="Text 39"/>
          <p:cNvSpPr/>
          <p:nvPr/>
        </p:nvSpPr>
        <p:spPr>
          <a:xfrm>
            <a:off x="891626" y="6108710"/>
            <a:ext cx="10296144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R² &lt; 0 em vendas, a média histórica teria sido melhor que o modelo.</a:t>
            </a:r>
            <a:endParaRPr lang="en-US" sz="2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77B4"/>
          </a:solidFill>
          <a:ln w="12700">
            <a:solidFill>
              <a:srgbClr val="1F77B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8288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77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REGRESSÃO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interpretar R² sem decorar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12064" y="114300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R² é uma comparação contra a média, não </a:t>
            </a:r>
            <a:r>
              <a:rPr lang="en-US" sz="1150" dirty="0" err="1">
                <a:solidFill>
                  <a:srgbClr val="64748B"/>
                </a:solidFill>
              </a:rPr>
              <a:t>uma</a:t>
            </a:r>
            <a:r>
              <a:rPr lang="en-US" sz="1150" dirty="0">
                <a:solidFill>
                  <a:srgbClr val="64748B"/>
                </a:solidFill>
              </a:rPr>
              <a:t> </a:t>
            </a:r>
            <a:r>
              <a:rPr lang="en-US" sz="1150" dirty="0" err="1">
                <a:solidFill>
                  <a:srgbClr val="64748B"/>
                </a:solidFill>
              </a:rPr>
              <a:t>métrica</a:t>
            </a:r>
            <a:r>
              <a:rPr lang="en-US" sz="1150" dirty="0">
                <a:solidFill>
                  <a:srgbClr val="64748B"/>
                </a:solidFill>
              </a:rPr>
              <a:t> universal </a:t>
            </a:r>
            <a:r>
              <a:rPr lang="pt-PT" sz="1150" dirty="0">
                <a:solidFill>
                  <a:srgbClr val="64748B"/>
                </a:solidFill>
              </a:rPr>
              <a:t>inequívoca</a:t>
            </a:r>
            <a:r>
              <a:rPr lang="en-US" sz="1150" dirty="0">
                <a:solidFill>
                  <a:srgbClr val="64748B"/>
                </a:solidFill>
              </a:rPr>
              <a:t>. É a</a:t>
            </a:r>
            <a:r>
              <a:rPr lang="pt-PT" sz="1150" dirty="0">
                <a:solidFill>
                  <a:srgbClr val="64748B"/>
                </a:solidFill>
              </a:rPr>
              <a:t> porcentagem da variância dos dados que é explicada pelo modelo.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1311128" y="647395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17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667512" y="1691640"/>
            <a:ext cx="2886571" cy="548640"/>
          </a:xfrm>
          <a:prstGeom prst="rect">
            <a:avLst/>
          </a:prstGeom>
          <a:solidFill>
            <a:srgbClr val="1F77B4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731520" y="1737360"/>
            <a:ext cx="2782951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Valor de R²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514471" y="1691640"/>
            <a:ext cx="4285361" cy="548640"/>
          </a:xfrm>
          <a:prstGeom prst="rect">
            <a:avLst/>
          </a:prstGeom>
          <a:solidFill>
            <a:srgbClr val="1F77B4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3604296" y="1737360"/>
            <a:ext cx="4131528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Interpretação correta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7799832" y="1691640"/>
            <a:ext cx="3566160" cy="548640"/>
          </a:xfrm>
          <a:prstGeom prst="rect">
            <a:avLst/>
          </a:prstGeom>
          <a:solidFill>
            <a:srgbClr val="1F77B4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7863840" y="1737360"/>
            <a:ext cx="3438144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que fazer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67512" y="2240280"/>
            <a:ext cx="2886571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731520" y="2286000"/>
            <a:ext cx="2782951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1,0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3514471" y="2240280"/>
            <a:ext cx="4285361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3604296" y="2286000"/>
            <a:ext cx="4131528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ajuste perfeito nos dados avaliados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7799832" y="2240280"/>
            <a:ext cx="35661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7863840" y="2286000"/>
            <a:ext cx="3438144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desconfiar se for treino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667512" y="2788920"/>
            <a:ext cx="2886571" cy="5486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731520" y="2834640"/>
            <a:ext cx="2782951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0,80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3514471" y="2788920"/>
            <a:ext cx="4285361" cy="5486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3604296" y="2834640"/>
            <a:ext cx="4131528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grande ganho contra a média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7799832" y="2788920"/>
            <a:ext cx="3566160" cy="5486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7863840" y="2834640"/>
            <a:ext cx="3438144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 MAE/RMSE/resíduos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667512" y="3337560"/>
            <a:ext cx="2886571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731520" y="3383280"/>
            <a:ext cx="2782951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3514471" y="3337560"/>
            <a:ext cx="4285361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3604296" y="3383280"/>
            <a:ext cx="4131528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não ganhou da média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7799832" y="3337560"/>
            <a:ext cx="35661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/>
          </a:p>
        </p:txBody>
      </p:sp>
      <p:sp>
        <p:nvSpPr>
          <p:cNvPr id="30" name="Text 28"/>
          <p:cNvSpPr/>
          <p:nvPr/>
        </p:nvSpPr>
        <p:spPr>
          <a:xfrm>
            <a:off x="7863840" y="3383280"/>
            <a:ext cx="3438144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rever variáveis/modelo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667512" y="3886200"/>
            <a:ext cx="2886571" cy="5486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/>
          </a:p>
        </p:txBody>
      </p:sp>
      <p:sp>
        <p:nvSpPr>
          <p:cNvPr id="32" name="Text 30"/>
          <p:cNvSpPr/>
          <p:nvPr/>
        </p:nvSpPr>
        <p:spPr>
          <a:xfrm>
            <a:off x="731520" y="3931920"/>
            <a:ext cx="2782951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&lt; 0</a:t>
            </a:r>
            <a:endParaRPr lang="en-US" sz="2000" dirty="0"/>
          </a:p>
        </p:txBody>
      </p:sp>
      <p:sp>
        <p:nvSpPr>
          <p:cNvPr id="33" name="Shape 31"/>
          <p:cNvSpPr/>
          <p:nvPr/>
        </p:nvSpPr>
        <p:spPr>
          <a:xfrm>
            <a:off x="3514471" y="3886200"/>
            <a:ext cx="4285361" cy="5486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/>
          </a:p>
        </p:txBody>
      </p:sp>
      <p:sp>
        <p:nvSpPr>
          <p:cNvPr id="34" name="Text 32"/>
          <p:cNvSpPr/>
          <p:nvPr/>
        </p:nvSpPr>
        <p:spPr>
          <a:xfrm>
            <a:off x="3604296" y="3931920"/>
            <a:ext cx="4131528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pior que prever a média</a:t>
            </a:r>
            <a:endParaRPr lang="en-US" sz="2000" dirty="0"/>
          </a:p>
        </p:txBody>
      </p:sp>
      <p:sp>
        <p:nvSpPr>
          <p:cNvPr id="35" name="Shape 33"/>
          <p:cNvSpPr/>
          <p:nvPr/>
        </p:nvSpPr>
        <p:spPr>
          <a:xfrm>
            <a:off x="7799832" y="3886200"/>
            <a:ext cx="3566160" cy="5486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/>
          </a:p>
        </p:txBody>
      </p:sp>
      <p:sp>
        <p:nvSpPr>
          <p:cNvPr id="36" name="Text 34"/>
          <p:cNvSpPr/>
          <p:nvPr/>
        </p:nvSpPr>
        <p:spPr>
          <a:xfrm>
            <a:off x="7863840" y="3931920"/>
            <a:ext cx="3438144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rever pipeline antes de avançar</a:t>
            </a:r>
            <a:endParaRPr lang="en-US" sz="2000" dirty="0"/>
          </a:p>
        </p:txBody>
      </p:sp>
      <p:sp>
        <p:nvSpPr>
          <p:cNvPr id="37" name="Shape 35"/>
          <p:cNvSpPr/>
          <p:nvPr/>
        </p:nvSpPr>
        <p:spPr>
          <a:xfrm>
            <a:off x="667512" y="5209820"/>
            <a:ext cx="10643616" cy="1124712"/>
          </a:xfrm>
          <a:prstGeom prst="roundRect">
            <a:avLst>
              <a:gd name="adj" fmla="val 9412"/>
            </a:avLst>
          </a:prstGeom>
          <a:solidFill>
            <a:srgbClr val="FDE2E7"/>
          </a:solidFill>
          <a:ln w="12700">
            <a:solidFill>
              <a:srgbClr val="FDE2E7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41999" y="5319548"/>
            <a:ext cx="10301500" cy="29110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D149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CUIDADO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41999" y="5593867"/>
            <a:ext cx="10301500" cy="436653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R² não fala em reais, graus ou centímetros. Ele fala em ganho relativo contra um baseline.</a:t>
            </a:r>
            <a:endParaRPr lang="en-US" sz="2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77B4"/>
          </a:solidFill>
          <a:ln w="12700">
            <a:solidFill>
              <a:srgbClr val="1F77B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8288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77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REGRESSÃO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R² negativo: quando a média ganha do modelo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12064" y="114300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O modelo pode variar muito e ainda assim ser pior.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1311128" y="647395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18</a:t>
            </a:r>
            <a:endParaRPr lang="en-US" sz="8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777240" y="1417320"/>
          <a:ext cx="694944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8046720" y="1600200"/>
            <a:ext cx="3474720" cy="1787810"/>
          </a:xfrm>
          <a:prstGeom prst="roundRect">
            <a:avLst>
              <a:gd name="adj" fmla="val 5926"/>
            </a:avLst>
          </a:prstGeom>
          <a:solidFill>
            <a:srgbClr val="FDE2E7"/>
          </a:solidFill>
          <a:ln w="12700">
            <a:solidFill>
              <a:srgbClr val="FDE2E7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11312" y="1709928"/>
            <a:ext cx="3145536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D149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LEITURA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211312" y="1984248"/>
            <a:ext cx="3145536" cy="75895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modelo azul erra mais do que a linha da média. Nesse caso, R² fica negativo.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8046720" y="3557016"/>
            <a:ext cx="3474720" cy="1920240"/>
          </a:xfrm>
          <a:prstGeom prst="roundRect">
            <a:avLst>
              <a:gd name="adj" fmla="val 5517"/>
            </a:avLst>
          </a:prstGeom>
          <a:solidFill>
            <a:srgbClr val="D9ECFA"/>
          </a:solidFill>
          <a:ln w="12700">
            <a:solidFill>
              <a:srgbClr val="D9ECFA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11312" y="3666744"/>
            <a:ext cx="3145536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77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MUNDO REAL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211312" y="3941064"/>
            <a:ext cx="3145536" cy="8503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 previsão de estoque, isso significa que uma regra simples baseada na média histórica seria mais segura.</a:t>
            </a:r>
            <a:endParaRPr lang="en-US" sz="2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77B4"/>
          </a:solidFill>
          <a:ln w="12700">
            <a:solidFill>
              <a:srgbClr val="1F77B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8288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77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REGRESSÃO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R² alto também pode esconder viés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12064" y="114300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O modelo acompanha a tendência, mas erra sempre na mesma direção.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1311128" y="647395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19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685800" y="1728216"/>
            <a:ext cx="1341120" cy="396240"/>
          </a:xfrm>
          <a:prstGeom prst="rect">
            <a:avLst/>
          </a:prstGeom>
          <a:solidFill>
            <a:srgbClr val="1F77B4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 sz="2000"/>
          </a:p>
        </p:txBody>
      </p:sp>
      <p:sp>
        <p:nvSpPr>
          <p:cNvPr id="8" name="Text 6"/>
          <p:cNvSpPr/>
          <p:nvPr/>
        </p:nvSpPr>
        <p:spPr>
          <a:xfrm>
            <a:off x="749808" y="1773936"/>
            <a:ext cx="1213104" cy="313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026920" y="1728216"/>
            <a:ext cx="1341120" cy="396240"/>
          </a:xfrm>
          <a:prstGeom prst="rect">
            <a:avLst/>
          </a:prstGeom>
          <a:solidFill>
            <a:srgbClr val="1F77B4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 sz="2000"/>
          </a:p>
        </p:txBody>
      </p:sp>
      <p:sp>
        <p:nvSpPr>
          <p:cNvPr id="10" name="Text 8"/>
          <p:cNvSpPr/>
          <p:nvPr/>
        </p:nvSpPr>
        <p:spPr>
          <a:xfrm>
            <a:off x="2090928" y="1773936"/>
            <a:ext cx="1213104" cy="313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Previsto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368040" y="1728216"/>
            <a:ext cx="1341120" cy="396240"/>
          </a:xfrm>
          <a:prstGeom prst="rect">
            <a:avLst/>
          </a:prstGeom>
          <a:solidFill>
            <a:srgbClr val="1F77B4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 sz="2000"/>
          </a:p>
        </p:txBody>
      </p:sp>
      <p:sp>
        <p:nvSpPr>
          <p:cNvPr id="12" name="Text 10"/>
          <p:cNvSpPr/>
          <p:nvPr/>
        </p:nvSpPr>
        <p:spPr>
          <a:xfrm>
            <a:off x="3432048" y="1773936"/>
            <a:ext cx="1213104" cy="313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Resíduo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85800" y="2124456"/>
            <a:ext cx="1341120" cy="39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 sz="2000"/>
          </a:p>
        </p:txBody>
      </p:sp>
      <p:sp>
        <p:nvSpPr>
          <p:cNvPr id="14" name="Text 12"/>
          <p:cNvSpPr/>
          <p:nvPr/>
        </p:nvSpPr>
        <p:spPr>
          <a:xfrm>
            <a:off x="749808" y="2170176"/>
            <a:ext cx="1213104" cy="313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2026920" y="2124456"/>
            <a:ext cx="1341120" cy="39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 sz="2000"/>
          </a:p>
        </p:txBody>
      </p:sp>
      <p:sp>
        <p:nvSpPr>
          <p:cNvPr id="16" name="Text 14"/>
          <p:cNvSpPr/>
          <p:nvPr/>
        </p:nvSpPr>
        <p:spPr>
          <a:xfrm>
            <a:off x="2090928" y="2170176"/>
            <a:ext cx="1213104" cy="313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80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3368040" y="2124456"/>
            <a:ext cx="1341120" cy="39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 sz="2000"/>
          </a:p>
        </p:txBody>
      </p:sp>
      <p:sp>
        <p:nvSpPr>
          <p:cNvPr id="18" name="Text 16"/>
          <p:cNvSpPr/>
          <p:nvPr/>
        </p:nvSpPr>
        <p:spPr>
          <a:xfrm>
            <a:off x="3432048" y="2170176"/>
            <a:ext cx="1213104" cy="313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+20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685800" y="2520696"/>
            <a:ext cx="1341120" cy="3962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 sz="2000"/>
          </a:p>
        </p:txBody>
      </p:sp>
      <p:sp>
        <p:nvSpPr>
          <p:cNvPr id="20" name="Text 18"/>
          <p:cNvSpPr/>
          <p:nvPr/>
        </p:nvSpPr>
        <p:spPr>
          <a:xfrm>
            <a:off x="749808" y="2566416"/>
            <a:ext cx="1213104" cy="313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200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2026920" y="2520696"/>
            <a:ext cx="1341120" cy="3962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 sz="2000"/>
          </a:p>
        </p:txBody>
      </p:sp>
      <p:sp>
        <p:nvSpPr>
          <p:cNvPr id="22" name="Text 20"/>
          <p:cNvSpPr/>
          <p:nvPr/>
        </p:nvSpPr>
        <p:spPr>
          <a:xfrm>
            <a:off x="2090928" y="2566416"/>
            <a:ext cx="1213104" cy="313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180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3368040" y="2520696"/>
            <a:ext cx="1341120" cy="3962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 sz="2000"/>
          </a:p>
        </p:txBody>
      </p:sp>
      <p:sp>
        <p:nvSpPr>
          <p:cNvPr id="24" name="Text 22"/>
          <p:cNvSpPr/>
          <p:nvPr/>
        </p:nvSpPr>
        <p:spPr>
          <a:xfrm>
            <a:off x="3432048" y="2566416"/>
            <a:ext cx="1213104" cy="313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+20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685800" y="2916936"/>
            <a:ext cx="1341120" cy="39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 sz="2000"/>
          </a:p>
        </p:txBody>
      </p:sp>
      <p:sp>
        <p:nvSpPr>
          <p:cNvPr id="26" name="Text 24"/>
          <p:cNvSpPr/>
          <p:nvPr/>
        </p:nvSpPr>
        <p:spPr>
          <a:xfrm>
            <a:off x="749808" y="2962656"/>
            <a:ext cx="1213104" cy="313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300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2026920" y="2916936"/>
            <a:ext cx="1341120" cy="39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 sz="2000"/>
          </a:p>
        </p:txBody>
      </p:sp>
      <p:sp>
        <p:nvSpPr>
          <p:cNvPr id="28" name="Text 26"/>
          <p:cNvSpPr/>
          <p:nvPr/>
        </p:nvSpPr>
        <p:spPr>
          <a:xfrm>
            <a:off x="2090928" y="2962656"/>
            <a:ext cx="1213104" cy="313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280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3368040" y="2916936"/>
            <a:ext cx="1341120" cy="39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 sz="2000"/>
          </a:p>
        </p:txBody>
      </p:sp>
      <p:sp>
        <p:nvSpPr>
          <p:cNvPr id="30" name="Text 28"/>
          <p:cNvSpPr/>
          <p:nvPr/>
        </p:nvSpPr>
        <p:spPr>
          <a:xfrm>
            <a:off x="3432048" y="2962656"/>
            <a:ext cx="1213104" cy="313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+20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685800" y="3313176"/>
            <a:ext cx="1341120" cy="3962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 sz="2000"/>
          </a:p>
        </p:txBody>
      </p:sp>
      <p:sp>
        <p:nvSpPr>
          <p:cNvPr id="32" name="Text 30"/>
          <p:cNvSpPr/>
          <p:nvPr/>
        </p:nvSpPr>
        <p:spPr>
          <a:xfrm>
            <a:off x="749808" y="3358896"/>
            <a:ext cx="1213104" cy="313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400</a:t>
            </a:r>
            <a:endParaRPr lang="en-US" sz="2000" dirty="0"/>
          </a:p>
        </p:txBody>
      </p:sp>
      <p:sp>
        <p:nvSpPr>
          <p:cNvPr id="33" name="Shape 31"/>
          <p:cNvSpPr/>
          <p:nvPr/>
        </p:nvSpPr>
        <p:spPr>
          <a:xfrm>
            <a:off x="2026920" y="3313176"/>
            <a:ext cx="1341120" cy="3962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 sz="2000"/>
          </a:p>
        </p:txBody>
      </p:sp>
      <p:sp>
        <p:nvSpPr>
          <p:cNvPr id="34" name="Text 32"/>
          <p:cNvSpPr/>
          <p:nvPr/>
        </p:nvSpPr>
        <p:spPr>
          <a:xfrm>
            <a:off x="2090928" y="3358896"/>
            <a:ext cx="1213104" cy="313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380</a:t>
            </a:r>
            <a:endParaRPr lang="en-US" sz="2000" dirty="0"/>
          </a:p>
        </p:txBody>
      </p:sp>
      <p:sp>
        <p:nvSpPr>
          <p:cNvPr id="35" name="Shape 33"/>
          <p:cNvSpPr/>
          <p:nvPr/>
        </p:nvSpPr>
        <p:spPr>
          <a:xfrm>
            <a:off x="3368040" y="3313176"/>
            <a:ext cx="1341120" cy="3962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 sz="2000"/>
          </a:p>
        </p:txBody>
      </p:sp>
      <p:sp>
        <p:nvSpPr>
          <p:cNvPr id="36" name="Text 34"/>
          <p:cNvSpPr/>
          <p:nvPr/>
        </p:nvSpPr>
        <p:spPr>
          <a:xfrm>
            <a:off x="3432048" y="3358896"/>
            <a:ext cx="1213104" cy="313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+20</a:t>
            </a:r>
            <a:endParaRPr lang="en-US" sz="2000" dirty="0"/>
          </a:p>
        </p:txBody>
      </p:sp>
      <p:sp>
        <p:nvSpPr>
          <p:cNvPr id="37" name="Shape 35"/>
          <p:cNvSpPr/>
          <p:nvPr/>
        </p:nvSpPr>
        <p:spPr>
          <a:xfrm>
            <a:off x="685800" y="3709416"/>
            <a:ext cx="1341120" cy="39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 sz="2000"/>
          </a:p>
        </p:txBody>
      </p:sp>
      <p:sp>
        <p:nvSpPr>
          <p:cNvPr id="38" name="Text 36"/>
          <p:cNvSpPr/>
          <p:nvPr/>
        </p:nvSpPr>
        <p:spPr>
          <a:xfrm>
            <a:off x="749808" y="3755136"/>
            <a:ext cx="1213104" cy="313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500</a:t>
            </a:r>
            <a:endParaRPr lang="en-US" sz="2000" dirty="0"/>
          </a:p>
        </p:txBody>
      </p:sp>
      <p:sp>
        <p:nvSpPr>
          <p:cNvPr id="39" name="Shape 37"/>
          <p:cNvSpPr/>
          <p:nvPr/>
        </p:nvSpPr>
        <p:spPr>
          <a:xfrm>
            <a:off x="2026920" y="3709416"/>
            <a:ext cx="1341120" cy="39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 sz="2000"/>
          </a:p>
        </p:txBody>
      </p:sp>
      <p:sp>
        <p:nvSpPr>
          <p:cNvPr id="40" name="Text 38"/>
          <p:cNvSpPr/>
          <p:nvPr/>
        </p:nvSpPr>
        <p:spPr>
          <a:xfrm>
            <a:off x="2090928" y="3755136"/>
            <a:ext cx="1213104" cy="313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480</a:t>
            </a:r>
            <a:endParaRPr lang="en-US" sz="2000" dirty="0"/>
          </a:p>
        </p:txBody>
      </p:sp>
      <p:sp>
        <p:nvSpPr>
          <p:cNvPr id="41" name="Shape 39"/>
          <p:cNvSpPr/>
          <p:nvPr/>
        </p:nvSpPr>
        <p:spPr>
          <a:xfrm>
            <a:off x="3368040" y="3709416"/>
            <a:ext cx="1341120" cy="39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 sz="2000"/>
          </a:p>
        </p:txBody>
      </p:sp>
      <p:sp>
        <p:nvSpPr>
          <p:cNvPr id="42" name="Text 40"/>
          <p:cNvSpPr/>
          <p:nvPr/>
        </p:nvSpPr>
        <p:spPr>
          <a:xfrm>
            <a:off x="3432048" y="3755136"/>
            <a:ext cx="1213104" cy="313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+20</a:t>
            </a:r>
            <a:endParaRPr lang="en-US" sz="2000" dirty="0"/>
          </a:p>
        </p:txBody>
      </p:sp>
      <p:sp>
        <p:nvSpPr>
          <p:cNvPr id="43" name="Shape 41"/>
          <p:cNvSpPr/>
          <p:nvPr/>
        </p:nvSpPr>
        <p:spPr>
          <a:xfrm>
            <a:off x="5212080" y="1865376"/>
            <a:ext cx="2560320" cy="1700784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376672" y="1975104"/>
            <a:ext cx="2231136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LEITURA SUPERFICIAL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5376672" y="2249424"/>
            <a:ext cx="2231136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“R² é alto, então está ótimo.”</a:t>
            </a:r>
            <a:endParaRPr lang="en-US" sz="2000" dirty="0"/>
          </a:p>
        </p:txBody>
      </p:sp>
      <p:sp>
        <p:nvSpPr>
          <p:cNvPr id="46" name="Shape 44"/>
          <p:cNvSpPr/>
          <p:nvPr/>
        </p:nvSpPr>
        <p:spPr>
          <a:xfrm>
            <a:off x="8275320" y="1865376"/>
            <a:ext cx="2743200" cy="1700784"/>
          </a:xfrm>
          <a:prstGeom prst="roundRect">
            <a:avLst>
              <a:gd name="adj" fmla="val 8000"/>
            </a:avLst>
          </a:prstGeom>
          <a:solidFill>
            <a:srgbClr val="FDE2E7"/>
          </a:solidFill>
          <a:ln w="12700">
            <a:solidFill>
              <a:srgbClr val="FDE2E7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439912" y="1975104"/>
            <a:ext cx="2414016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D149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LEITURA CORRETA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8439912" y="2249424"/>
            <a:ext cx="2414016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“O modelo erra sempre 20 para baixo. Existe viés sistemático.”</a:t>
            </a:r>
            <a:endParaRPr lang="en-US" sz="2000" dirty="0"/>
          </a:p>
        </p:txBody>
      </p:sp>
      <p:sp>
        <p:nvSpPr>
          <p:cNvPr id="49" name="Text 47"/>
          <p:cNvSpPr/>
          <p:nvPr/>
        </p:nvSpPr>
        <p:spPr>
          <a:xfrm>
            <a:off x="822960" y="4937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D149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 que é ruim?</a:t>
            </a:r>
            <a:endParaRPr lang="en-US" sz="1500" dirty="0"/>
          </a:p>
        </p:txBody>
      </p:sp>
      <p:sp>
        <p:nvSpPr>
          <p:cNvPr id="50" name="Text 48"/>
          <p:cNvSpPr/>
          <p:nvPr/>
        </p:nvSpPr>
        <p:spPr>
          <a:xfrm>
            <a:off x="822960" y="5303520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 calibração, dosagem, preço ou controle de processo, um erro constante pode ser inaceitável mesmo com tendência correta.</a:t>
            </a:r>
            <a:endParaRPr lang="en-US" sz="1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77B4"/>
          </a:solidFill>
          <a:ln w="12700">
            <a:solidFill>
              <a:srgbClr val="1F77B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8288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77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REGRESSÃO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Gráfico Real × Previsto: enxergar a previsão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12064" y="114300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Pontos próximos da diagonal indicam previsões próximas do real.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1311128" y="647395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20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914400" y="1508760"/>
            <a:ext cx="50292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325880" y="1920240"/>
            <a:ext cx="4206240" cy="329184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21408" y="4343400"/>
            <a:ext cx="91440" cy="91440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52344" y="3783787"/>
            <a:ext cx="91440" cy="91440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93592" y="3520440"/>
            <a:ext cx="91440" cy="91440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08653" y="2631643"/>
            <a:ext cx="91440" cy="91440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29277" y="2697480"/>
            <a:ext cx="91440" cy="91440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26080" y="541324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Valor real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 rot="-5400000">
            <a:off x="1005840" y="329184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Previsto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629400" y="1600200"/>
            <a:ext cx="4343400" cy="1188720"/>
          </a:xfrm>
          <a:prstGeom prst="roundRect">
            <a:avLst>
              <a:gd name="adj" fmla="val 7273"/>
            </a:avLst>
          </a:prstGeom>
          <a:solidFill>
            <a:srgbClr val="D9ECFA"/>
          </a:solidFill>
          <a:ln w="12700">
            <a:solidFill>
              <a:srgbClr val="D9ECFA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93992" y="1709928"/>
            <a:ext cx="4014216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77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COMO LER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793992" y="1984248"/>
            <a:ext cx="4014216" cy="53035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Perto da diagonal: boa previsão. Longe da diagonal: erro grande.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6629400" y="2880360"/>
            <a:ext cx="4343400" cy="1458884"/>
          </a:xfrm>
          <a:prstGeom prst="roundRect">
            <a:avLst>
              <a:gd name="adj" fmla="val 5926"/>
            </a:avLst>
          </a:prstGeom>
          <a:solidFill>
            <a:srgbClr val="D9ECFA"/>
          </a:solidFill>
          <a:ln w="12700">
            <a:solidFill>
              <a:srgbClr val="D9ECFA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93992" y="2990088"/>
            <a:ext cx="4014216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77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QUE PROCURA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793992" y="3264408"/>
            <a:ext cx="4014216" cy="75895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Regiões onde o modelo sempre fica acima, sempre abaixo ou erra mais nos extremos.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6629400" y="4434840"/>
            <a:ext cx="4343400" cy="1188720"/>
          </a:xfrm>
          <a:prstGeom prst="roundRect">
            <a:avLst>
              <a:gd name="adj" fmla="val 7273"/>
            </a:avLst>
          </a:prstGeom>
          <a:solidFill>
            <a:srgbClr val="FDE2E7"/>
          </a:solidFill>
          <a:ln w="12700">
            <a:solidFill>
              <a:srgbClr val="FDE2E7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93992" y="4544568"/>
            <a:ext cx="4014216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D149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 QUE NÃO BASTA A MÉTRICA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793992" y="4818888"/>
            <a:ext cx="4014216" cy="53035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Um MAE único não mostra em quais faixas o modelo falha.</a:t>
            </a:r>
            <a:endParaRPr lang="en-US" sz="2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77B4"/>
          </a:solidFill>
          <a:ln w="12700">
            <a:solidFill>
              <a:srgbClr val="1F77B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8288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77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REGRESSÃO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Gráfico de resíduos: ver como o modelo erra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12064" y="114300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Métricas dizem quanto errou; resíduos mostram o padrão do erro.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1311128" y="647395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21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94360" y="1629918"/>
            <a:ext cx="51663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739646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77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Bom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508760" y="172135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nuvem aleatória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143000" y="2590038"/>
            <a:ext cx="411480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88720" y="2469134"/>
            <a:ext cx="64008" cy="64008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17320" y="2697734"/>
            <a:ext cx="64008" cy="64008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645920" y="2519934"/>
            <a:ext cx="64008" cy="64008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874520" y="2380234"/>
            <a:ext cx="64008" cy="64008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103120" y="2608834"/>
            <a:ext cx="64008" cy="64008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331720" y="2761234"/>
            <a:ext cx="64008" cy="64008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60320" y="2443734"/>
            <a:ext cx="64008" cy="64008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88920" y="2545334"/>
            <a:ext cx="64008" cy="64008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017520" y="2659634"/>
            <a:ext cx="64008" cy="64008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46120" y="2342134"/>
            <a:ext cx="64008" cy="64008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2596134"/>
            <a:ext cx="64008" cy="64008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703320" y="2405634"/>
            <a:ext cx="64008" cy="64008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931920" y="2735834"/>
            <a:ext cx="64008" cy="64008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60520" y="2494534"/>
            <a:ext cx="64008" cy="64008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389120" y="2583434"/>
            <a:ext cx="64008" cy="64008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17720" y="2431034"/>
            <a:ext cx="64008" cy="64008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46320" y="2634234"/>
            <a:ext cx="64008" cy="64008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074920" y="2710434"/>
            <a:ext cx="64008" cy="64008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309360" y="1629918"/>
            <a:ext cx="51663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46520" y="1739646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D149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Ruim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223760" y="172135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curvatura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858000" y="2590038"/>
            <a:ext cx="411480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903720" y="3071927"/>
            <a:ext cx="64008" cy="64008"/>
          </a:xfrm>
          <a:prstGeom prst="ellipse">
            <a:avLst/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132320" y="2902534"/>
            <a:ext cx="64008" cy="64008"/>
          </a:xfrm>
          <a:prstGeom prst="ellipse">
            <a:avLst/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360920" y="2755087"/>
            <a:ext cx="64008" cy="64008"/>
          </a:xfrm>
          <a:prstGeom prst="ellipse">
            <a:avLst/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589520" y="2629586"/>
            <a:ext cx="64008" cy="64008"/>
          </a:xfrm>
          <a:prstGeom prst="ellipse">
            <a:avLst/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818120" y="2526030"/>
            <a:ext cx="64008" cy="64008"/>
          </a:xfrm>
          <a:prstGeom prst="ellipse">
            <a:avLst/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046720" y="2444420"/>
            <a:ext cx="64008" cy="64008"/>
          </a:xfrm>
          <a:prstGeom prst="ellipse">
            <a:avLst/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275320" y="2287600"/>
            <a:ext cx="64008" cy="64008"/>
          </a:xfrm>
          <a:prstGeom prst="ellipse">
            <a:avLst/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503920" y="2249881"/>
            <a:ext cx="64008" cy="64008"/>
          </a:xfrm>
          <a:prstGeom prst="ellipse">
            <a:avLst/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732520" y="2234108"/>
            <a:ext cx="64008" cy="64008"/>
          </a:xfrm>
          <a:prstGeom prst="ellipse">
            <a:avLst/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961120" y="2240280"/>
            <a:ext cx="64008" cy="64008"/>
          </a:xfrm>
          <a:prstGeom prst="ellipse">
            <a:avLst/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189720" y="2268398"/>
            <a:ext cx="64008" cy="64008"/>
          </a:xfrm>
          <a:prstGeom prst="ellipse">
            <a:avLst/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418320" y="2318461"/>
            <a:ext cx="64008" cy="64008"/>
          </a:xfrm>
          <a:prstGeom prst="ellipse">
            <a:avLst/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646920" y="2293315"/>
            <a:ext cx="64008" cy="64008"/>
          </a:xfrm>
          <a:prstGeom prst="ellipse">
            <a:avLst/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875520" y="2387270"/>
            <a:ext cx="64008" cy="64008"/>
          </a:xfrm>
          <a:prstGeom prst="ellipse">
            <a:avLst/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0104120" y="2503170"/>
            <a:ext cx="64008" cy="64008"/>
          </a:xfrm>
          <a:prstGeom prst="ellipse">
            <a:avLst/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0332720" y="2641016"/>
            <a:ext cx="64008" cy="64008"/>
          </a:xfrm>
          <a:prstGeom prst="ellipse">
            <a:avLst/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0561320" y="2800807"/>
            <a:ext cx="64008" cy="64008"/>
          </a:xfrm>
          <a:prstGeom prst="ellipse">
            <a:avLst/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0789920" y="2885389"/>
            <a:ext cx="64008" cy="64008"/>
          </a:xfrm>
          <a:prstGeom prst="ellipse">
            <a:avLst/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94360" y="4200369"/>
            <a:ext cx="51663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31520" y="4310097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D149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Ruim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1508760" y="4291809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abertura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1143000" y="5160489"/>
            <a:ext cx="411480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188720" y="5103085"/>
            <a:ext cx="64008" cy="64008"/>
          </a:xfrm>
          <a:prstGeom prst="ellipse">
            <a:avLst/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417320" y="5166585"/>
            <a:ext cx="64008" cy="64008"/>
          </a:xfrm>
          <a:prstGeom prst="ellipse">
            <a:avLst/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645920" y="5077685"/>
            <a:ext cx="64008" cy="64008"/>
          </a:xfrm>
          <a:prstGeom prst="ellipse">
            <a:avLst/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874520" y="5153885"/>
            <a:ext cx="64008" cy="64008"/>
          </a:xfrm>
          <a:prstGeom prst="ellipse">
            <a:avLst/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2103120" y="5052285"/>
            <a:ext cx="64008" cy="64008"/>
          </a:xfrm>
          <a:prstGeom prst="ellipse">
            <a:avLst/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331720" y="5217385"/>
            <a:ext cx="64008" cy="64008"/>
          </a:xfrm>
          <a:prstGeom prst="ellipse">
            <a:avLst/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560320" y="5014185"/>
            <a:ext cx="64008" cy="64008"/>
          </a:xfrm>
          <a:prstGeom prst="ellipse">
            <a:avLst/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788920" y="5230085"/>
            <a:ext cx="64008" cy="64008"/>
          </a:xfrm>
          <a:prstGeom prst="ellipse">
            <a:avLst/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3017520" y="4976085"/>
            <a:ext cx="64008" cy="64008"/>
          </a:xfrm>
          <a:prstGeom prst="ellipse">
            <a:avLst/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3246120" y="5293585"/>
            <a:ext cx="64008" cy="64008"/>
          </a:xfrm>
          <a:prstGeom prst="ellipse">
            <a:avLst/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3474720" y="4912585"/>
            <a:ext cx="64008" cy="64008"/>
          </a:xfrm>
          <a:prstGeom prst="ellipse">
            <a:avLst/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3703320" y="5331685"/>
            <a:ext cx="64008" cy="64008"/>
          </a:xfrm>
          <a:prstGeom prst="ellipse">
            <a:avLst/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3931920" y="4849085"/>
            <a:ext cx="64008" cy="64008"/>
          </a:xfrm>
          <a:prstGeom prst="ellipse">
            <a:avLst/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4160520" y="5433285"/>
            <a:ext cx="64008" cy="64008"/>
          </a:xfrm>
          <a:prstGeom prst="ellipse">
            <a:avLst/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389120" y="4760185"/>
            <a:ext cx="64008" cy="64008"/>
          </a:xfrm>
          <a:prstGeom prst="ellipse">
            <a:avLst/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4617720" y="5471385"/>
            <a:ext cx="64008" cy="64008"/>
          </a:xfrm>
          <a:prstGeom prst="ellipse">
            <a:avLst/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4846320" y="4696685"/>
            <a:ext cx="64008" cy="64008"/>
          </a:xfrm>
          <a:prstGeom prst="ellipse">
            <a:avLst/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5074920" y="5547585"/>
            <a:ext cx="64008" cy="64008"/>
          </a:xfrm>
          <a:prstGeom prst="ellipse">
            <a:avLst/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6309360" y="4200369"/>
            <a:ext cx="51663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446520" y="4310097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D149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Ruim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7223760" y="4291809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ponto extremo</a:t>
            </a:r>
            <a:endParaRPr lang="en-US" sz="1200" dirty="0"/>
          </a:p>
        </p:txBody>
      </p:sp>
      <p:sp>
        <p:nvSpPr>
          <p:cNvPr id="76" name="Shape 74"/>
          <p:cNvSpPr/>
          <p:nvPr/>
        </p:nvSpPr>
        <p:spPr>
          <a:xfrm>
            <a:off x="6858000" y="5160489"/>
            <a:ext cx="411480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6903720" y="5077685"/>
            <a:ext cx="64008" cy="64008"/>
          </a:xfrm>
          <a:prstGeom prst="ellipse">
            <a:avLst/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7132320" y="5166585"/>
            <a:ext cx="64008" cy="64008"/>
          </a:xfrm>
          <a:prstGeom prst="ellipse">
            <a:avLst/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7360920" y="5103085"/>
            <a:ext cx="64008" cy="64008"/>
          </a:xfrm>
          <a:prstGeom prst="ellipse">
            <a:avLst/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7589520" y="5191985"/>
            <a:ext cx="64008" cy="64008"/>
          </a:xfrm>
          <a:prstGeom prst="ellipse">
            <a:avLst/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7818120" y="5090385"/>
            <a:ext cx="64008" cy="64008"/>
          </a:xfrm>
          <a:prstGeom prst="ellipse">
            <a:avLst/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8046720" y="5153885"/>
            <a:ext cx="64008" cy="64008"/>
          </a:xfrm>
          <a:prstGeom prst="ellipse">
            <a:avLst/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8275320" y="5064985"/>
            <a:ext cx="64008" cy="64008"/>
          </a:xfrm>
          <a:prstGeom prst="ellipse">
            <a:avLst/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8503920" y="5179285"/>
            <a:ext cx="64008" cy="64008"/>
          </a:xfrm>
          <a:prstGeom prst="ellipse">
            <a:avLst/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8732520" y="5115785"/>
            <a:ext cx="64008" cy="64008"/>
          </a:xfrm>
          <a:prstGeom prst="ellipse">
            <a:avLst/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8961120" y="5166585"/>
            <a:ext cx="64008" cy="64008"/>
          </a:xfrm>
          <a:prstGeom prst="ellipse">
            <a:avLst/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9189720" y="5077685"/>
            <a:ext cx="64008" cy="64008"/>
          </a:xfrm>
          <a:prstGeom prst="ellipse">
            <a:avLst/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9418320" y="5153885"/>
            <a:ext cx="64008" cy="64008"/>
          </a:xfrm>
          <a:prstGeom prst="ellipse">
            <a:avLst/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9646920" y="5191985"/>
            <a:ext cx="64008" cy="64008"/>
          </a:xfrm>
          <a:prstGeom prst="ellipse">
            <a:avLst/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9875520" y="5090385"/>
            <a:ext cx="64008" cy="64008"/>
          </a:xfrm>
          <a:prstGeom prst="ellipse">
            <a:avLst/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10104120" y="5141185"/>
            <a:ext cx="64008" cy="64008"/>
          </a:xfrm>
          <a:prstGeom prst="ellipse">
            <a:avLst/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10332720" y="5103085"/>
            <a:ext cx="64008" cy="64008"/>
          </a:xfrm>
          <a:prstGeom prst="ellipse">
            <a:avLst/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10561320" y="5179285"/>
            <a:ext cx="64008" cy="64008"/>
          </a:xfrm>
          <a:prstGeom prst="ellipse">
            <a:avLst/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10789920" y="5090385"/>
            <a:ext cx="64008" cy="64008"/>
          </a:xfrm>
          <a:prstGeom prst="ellipse">
            <a:avLst/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10789920" y="4454369"/>
            <a:ext cx="91440" cy="91440"/>
          </a:xfrm>
          <a:prstGeom prst="ellipse">
            <a:avLst/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</p:sp>
      <p:sp>
        <p:nvSpPr>
          <p:cNvPr id="97" name="CaixaDeTexto 96">
            <a:extLst>
              <a:ext uri="{FF2B5EF4-FFF2-40B4-BE49-F238E27FC236}">
                <a16:creationId xmlns:a16="http://schemas.microsoft.com/office/drawing/2014/main" id="{0A6BA782-2BE8-B275-6BF3-FD8DCA557458}"/>
              </a:ext>
            </a:extLst>
          </p:cNvPr>
          <p:cNvSpPr txBox="1"/>
          <p:nvPr/>
        </p:nvSpPr>
        <p:spPr>
          <a:xfrm>
            <a:off x="594360" y="3441953"/>
            <a:ext cx="51663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/>
              <a:t>Nuvem aleatória (Bom):</a:t>
            </a:r>
            <a:r>
              <a:rPr lang="pt-BR" sz="1200" dirty="0"/>
              <a:t> O erro é imprevisível e sem padrão, mostrando que o modelo capturou toda a informação útil dos dados.</a:t>
            </a:r>
          </a:p>
        </p:txBody>
      </p:sp>
      <p:sp>
        <p:nvSpPr>
          <p:cNvPr id="99" name="CaixaDeTexto 98">
            <a:extLst>
              <a:ext uri="{FF2B5EF4-FFF2-40B4-BE49-F238E27FC236}">
                <a16:creationId xmlns:a16="http://schemas.microsoft.com/office/drawing/2014/main" id="{8D864754-2A0A-AA53-CEDE-BEED16C2BFC6}"/>
              </a:ext>
            </a:extLst>
          </p:cNvPr>
          <p:cNvSpPr txBox="1"/>
          <p:nvPr/>
        </p:nvSpPr>
        <p:spPr>
          <a:xfrm>
            <a:off x="6309360" y="3486728"/>
            <a:ext cx="51663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/>
              <a:t>Curvatura (Ruim):</a:t>
            </a:r>
            <a:r>
              <a:rPr lang="pt-BR" sz="1200" dirty="0"/>
              <a:t> Os dados têm uma relação curva/não linear que uma linha reta não consegue capturar, exigindo um modelo mais complexo.</a:t>
            </a:r>
          </a:p>
        </p:txBody>
      </p:sp>
      <p:sp>
        <p:nvSpPr>
          <p:cNvPr id="101" name="CaixaDeTexto 100">
            <a:extLst>
              <a:ext uri="{FF2B5EF4-FFF2-40B4-BE49-F238E27FC236}">
                <a16:creationId xmlns:a16="http://schemas.microsoft.com/office/drawing/2014/main" id="{50C72CDE-6EF0-8C7C-9E8A-897A7D5CC635}"/>
              </a:ext>
            </a:extLst>
          </p:cNvPr>
          <p:cNvSpPr txBox="1"/>
          <p:nvPr/>
        </p:nvSpPr>
        <p:spPr>
          <a:xfrm>
            <a:off x="594360" y="6023075"/>
            <a:ext cx="51663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/>
              <a:t>Abertura (Ruim):</a:t>
            </a:r>
            <a:r>
              <a:rPr lang="pt-BR" sz="1200" dirty="0"/>
              <a:t> O erro do modelo aumenta à medida que os valores crescem (heterocedasticidade), mostrando instabilidade para valores mais altos.</a:t>
            </a:r>
          </a:p>
        </p:txBody>
      </p:sp>
      <p:sp>
        <p:nvSpPr>
          <p:cNvPr id="103" name="CaixaDeTexto 102">
            <a:extLst>
              <a:ext uri="{FF2B5EF4-FFF2-40B4-BE49-F238E27FC236}">
                <a16:creationId xmlns:a16="http://schemas.microsoft.com/office/drawing/2014/main" id="{A2A0C39F-4E3B-D7AB-AD0A-0D4C9D949E61}"/>
              </a:ext>
            </a:extLst>
          </p:cNvPr>
          <p:cNvSpPr txBox="1"/>
          <p:nvPr/>
        </p:nvSpPr>
        <p:spPr>
          <a:xfrm>
            <a:off x="6309360" y="6057496"/>
            <a:ext cx="51663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/>
              <a:t>Ponto extremo (Ruim):</a:t>
            </a:r>
            <a:r>
              <a:rPr lang="pt-BR" sz="1200" dirty="0"/>
              <a:t> Existe um dado discrepante (</a:t>
            </a:r>
            <a:r>
              <a:rPr lang="pt-BR" sz="1200" i="1" dirty="0"/>
              <a:t>outlier</a:t>
            </a:r>
            <a:r>
              <a:rPr lang="pt-BR" sz="1200" dirty="0"/>
              <a:t>) puxando o comportamento da regressão e distorcendo a precisão do modelo.</a:t>
            </a:r>
          </a:p>
        </p:txBody>
      </p:sp>
      <p:sp>
        <p:nvSpPr>
          <p:cNvPr id="105" name="CaixaDeTexto 104">
            <a:extLst>
              <a:ext uri="{FF2B5EF4-FFF2-40B4-BE49-F238E27FC236}">
                <a16:creationId xmlns:a16="http://schemas.microsoft.com/office/drawing/2014/main" id="{DAF9B790-230C-6D11-7758-D7F838239C03}"/>
              </a:ext>
            </a:extLst>
          </p:cNvPr>
          <p:cNvSpPr txBox="1"/>
          <p:nvPr/>
        </p:nvSpPr>
        <p:spPr>
          <a:xfrm>
            <a:off x="1931800" y="2422778"/>
            <a:ext cx="7273792" cy="267765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pt-BR" sz="2800" b="1" dirty="0"/>
              <a:t>Se você estiver avaliando o gráfico geral do modelo e notar um padrão ruim (como a curvatura), o próximo passo é justamente plotar o erro contra cada variável individual para descobrir qual delas está causando o problema.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77B4"/>
          </a:solidFill>
          <a:ln w="12700">
            <a:solidFill>
              <a:srgbClr val="1F77B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8288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77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REGRESSÃO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Resumo da regressão: quando a resposta é um número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12064" y="114300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Escolha a métrica pela pergunta.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1311128" y="647395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22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777240" y="1417320"/>
            <a:ext cx="10652760" cy="530352"/>
          </a:xfrm>
          <a:prstGeom prst="roundRect">
            <a:avLst>
              <a:gd name="adj" fmla="val 13793"/>
            </a:avLst>
          </a:prstGeom>
          <a:solidFill>
            <a:srgbClr val="1F77B4"/>
          </a:solidFill>
          <a:ln w="12700">
            <a:solidFill>
              <a:srgbClr val="1F77B4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527048"/>
            <a:ext cx="102504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Estou prevendo um valor numérico: preço, temperatura, altura, consumo, vendas...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68680" y="2286000"/>
            <a:ext cx="3459480" cy="585216"/>
          </a:xfrm>
          <a:prstGeom prst="rect">
            <a:avLst/>
          </a:prstGeom>
          <a:solidFill>
            <a:srgbClr val="1F77B4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 sz="2800"/>
          </a:p>
        </p:txBody>
      </p:sp>
      <p:sp>
        <p:nvSpPr>
          <p:cNvPr id="10" name="Text 8"/>
          <p:cNvSpPr/>
          <p:nvPr/>
        </p:nvSpPr>
        <p:spPr>
          <a:xfrm>
            <a:off x="932688" y="2331720"/>
            <a:ext cx="3331464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Pergunta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4328160" y="2286000"/>
            <a:ext cx="3459480" cy="585216"/>
          </a:xfrm>
          <a:prstGeom prst="rect">
            <a:avLst/>
          </a:prstGeom>
          <a:solidFill>
            <a:srgbClr val="1F77B4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 sz="2800"/>
          </a:p>
        </p:txBody>
      </p:sp>
      <p:sp>
        <p:nvSpPr>
          <p:cNvPr id="12" name="Text 10"/>
          <p:cNvSpPr/>
          <p:nvPr/>
        </p:nvSpPr>
        <p:spPr>
          <a:xfrm>
            <a:off x="4392168" y="2331720"/>
            <a:ext cx="3331464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Métrica / gráfico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7787640" y="2286000"/>
            <a:ext cx="3459480" cy="585216"/>
          </a:xfrm>
          <a:prstGeom prst="rect">
            <a:avLst/>
          </a:prstGeom>
          <a:solidFill>
            <a:srgbClr val="1F77B4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 sz="2800"/>
          </a:p>
        </p:txBody>
      </p:sp>
      <p:sp>
        <p:nvSpPr>
          <p:cNvPr id="14" name="Text 12"/>
          <p:cNvSpPr/>
          <p:nvPr/>
        </p:nvSpPr>
        <p:spPr>
          <a:xfrm>
            <a:off x="7851648" y="2331720"/>
            <a:ext cx="3331464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que concluo</a:t>
            </a: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868680" y="2871216"/>
            <a:ext cx="345948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 sz="2800"/>
          </a:p>
        </p:txBody>
      </p:sp>
      <p:sp>
        <p:nvSpPr>
          <p:cNvPr id="16" name="Text 14"/>
          <p:cNvSpPr/>
          <p:nvPr/>
        </p:nvSpPr>
        <p:spPr>
          <a:xfrm>
            <a:off x="932688" y="2916936"/>
            <a:ext cx="3331464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Quanto erro normalmente?</a:t>
            </a: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328160" y="2871216"/>
            <a:ext cx="345948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 sz="2800"/>
          </a:p>
        </p:txBody>
      </p:sp>
      <p:sp>
        <p:nvSpPr>
          <p:cNvPr id="18" name="Text 16"/>
          <p:cNvSpPr/>
          <p:nvPr/>
        </p:nvSpPr>
        <p:spPr>
          <a:xfrm>
            <a:off x="4392168" y="2916936"/>
            <a:ext cx="3331464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MAE</a:t>
            </a: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7787640" y="2871216"/>
            <a:ext cx="345948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 sz="2800"/>
          </a:p>
        </p:txBody>
      </p:sp>
      <p:sp>
        <p:nvSpPr>
          <p:cNvPr id="20" name="Text 18"/>
          <p:cNvSpPr/>
          <p:nvPr/>
        </p:nvSpPr>
        <p:spPr>
          <a:xfrm>
            <a:off x="7851648" y="2916936"/>
            <a:ext cx="3331464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 típico na unidade real</a:t>
            </a: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868680" y="3456432"/>
            <a:ext cx="3459480" cy="58521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 sz="2800"/>
          </a:p>
        </p:txBody>
      </p:sp>
      <p:sp>
        <p:nvSpPr>
          <p:cNvPr id="22" name="Text 20"/>
          <p:cNvSpPr/>
          <p:nvPr/>
        </p:nvSpPr>
        <p:spPr>
          <a:xfrm>
            <a:off x="932688" y="3502152"/>
            <a:ext cx="3331464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Existem erros grandes?</a:t>
            </a: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4328160" y="3456432"/>
            <a:ext cx="3459480" cy="58521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 sz="2800"/>
          </a:p>
        </p:txBody>
      </p:sp>
      <p:sp>
        <p:nvSpPr>
          <p:cNvPr id="24" name="Text 22"/>
          <p:cNvSpPr/>
          <p:nvPr/>
        </p:nvSpPr>
        <p:spPr>
          <a:xfrm>
            <a:off x="4392168" y="3502152"/>
            <a:ext cx="3331464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RMSE vs MAE</a:t>
            </a: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7787640" y="3456432"/>
            <a:ext cx="3459480" cy="58521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 sz="2800"/>
          </a:p>
        </p:txBody>
      </p:sp>
      <p:sp>
        <p:nvSpPr>
          <p:cNvPr id="26" name="Text 24"/>
          <p:cNvSpPr/>
          <p:nvPr/>
        </p:nvSpPr>
        <p:spPr>
          <a:xfrm>
            <a:off x="7851648" y="3502152"/>
            <a:ext cx="3331464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risco de falhas extremas</a:t>
            </a: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868680" y="4041648"/>
            <a:ext cx="345948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 sz="2800"/>
          </a:p>
        </p:txBody>
      </p:sp>
      <p:sp>
        <p:nvSpPr>
          <p:cNvPr id="28" name="Text 26"/>
          <p:cNvSpPr/>
          <p:nvPr/>
        </p:nvSpPr>
        <p:spPr>
          <a:xfrm>
            <a:off x="932688" y="4087368"/>
            <a:ext cx="3331464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Ganho da média?</a:t>
            </a: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4328160" y="4041648"/>
            <a:ext cx="345948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 sz="2800"/>
          </a:p>
        </p:txBody>
      </p:sp>
      <p:sp>
        <p:nvSpPr>
          <p:cNvPr id="30" name="Text 28"/>
          <p:cNvSpPr/>
          <p:nvPr/>
        </p:nvSpPr>
        <p:spPr>
          <a:xfrm>
            <a:off x="4392168" y="4087368"/>
            <a:ext cx="3331464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R²</a:t>
            </a: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7787640" y="4041648"/>
            <a:ext cx="345948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 sz="2800"/>
          </a:p>
        </p:txBody>
      </p:sp>
      <p:sp>
        <p:nvSpPr>
          <p:cNvPr id="32" name="Text 30"/>
          <p:cNvSpPr/>
          <p:nvPr/>
        </p:nvSpPr>
        <p:spPr>
          <a:xfrm>
            <a:off x="7851648" y="4087368"/>
            <a:ext cx="3331464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valor agregado sobre baseline</a:t>
            </a: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868680" y="4626864"/>
            <a:ext cx="3459480" cy="58521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 sz="2800"/>
          </a:p>
        </p:txBody>
      </p:sp>
      <p:sp>
        <p:nvSpPr>
          <p:cNvPr id="34" name="Text 32"/>
          <p:cNvSpPr/>
          <p:nvPr/>
        </p:nvSpPr>
        <p:spPr>
          <a:xfrm>
            <a:off x="932688" y="4672584"/>
            <a:ext cx="3331464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erro tem padrão?</a:t>
            </a:r>
            <a:endParaRPr lang="en-US" dirty="0"/>
          </a:p>
        </p:txBody>
      </p:sp>
      <p:sp>
        <p:nvSpPr>
          <p:cNvPr id="35" name="Shape 33"/>
          <p:cNvSpPr/>
          <p:nvPr/>
        </p:nvSpPr>
        <p:spPr>
          <a:xfrm>
            <a:off x="4328160" y="4626864"/>
            <a:ext cx="3459480" cy="58521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 sz="2800"/>
          </a:p>
        </p:txBody>
      </p:sp>
      <p:sp>
        <p:nvSpPr>
          <p:cNvPr id="36" name="Text 34"/>
          <p:cNvSpPr/>
          <p:nvPr/>
        </p:nvSpPr>
        <p:spPr>
          <a:xfrm>
            <a:off x="4392168" y="4672584"/>
            <a:ext cx="3331464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resíduos</a:t>
            </a:r>
            <a:endParaRPr lang="en-US" dirty="0"/>
          </a:p>
        </p:txBody>
      </p:sp>
      <p:sp>
        <p:nvSpPr>
          <p:cNvPr id="37" name="Shape 35"/>
          <p:cNvSpPr/>
          <p:nvPr/>
        </p:nvSpPr>
        <p:spPr>
          <a:xfrm>
            <a:off x="7787640" y="4626864"/>
            <a:ext cx="3459480" cy="58521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 sz="2800"/>
          </a:p>
        </p:txBody>
      </p:sp>
      <p:sp>
        <p:nvSpPr>
          <p:cNvPr id="38" name="Text 36"/>
          <p:cNvSpPr/>
          <p:nvPr/>
        </p:nvSpPr>
        <p:spPr>
          <a:xfrm>
            <a:off x="7851648" y="4672584"/>
            <a:ext cx="3331464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viés, curvatura, outliers</a:t>
            </a:r>
            <a:endParaRPr lang="en-US" dirty="0"/>
          </a:p>
        </p:txBody>
      </p:sp>
      <p:sp>
        <p:nvSpPr>
          <p:cNvPr id="39" name="Shape 37"/>
          <p:cNvSpPr/>
          <p:nvPr/>
        </p:nvSpPr>
        <p:spPr>
          <a:xfrm>
            <a:off x="868680" y="5429638"/>
            <a:ext cx="10360152" cy="1208906"/>
          </a:xfrm>
          <a:prstGeom prst="roundRect">
            <a:avLst>
              <a:gd name="adj" fmla="val 11111"/>
            </a:avLst>
          </a:prstGeom>
          <a:solidFill>
            <a:srgbClr val="D9ECFA"/>
          </a:solidFill>
          <a:ln w="12700">
            <a:solidFill>
              <a:srgbClr val="D9ECFA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33271" y="5539366"/>
            <a:ext cx="10024147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77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FRASE MODELO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1033271" y="5813686"/>
            <a:ext cx="10024147" cy="66026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“O modelo é adequado porque o MAE está dentro da tolerância, o RMSE não indica erro extremo e os resíduos não mostram padrão crítico.” Ex.: MAE de R$ 18 mil para uma tolerância de R$ 25 mil.</a:t>
            </a:r>
            <a:endParaRPr 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8288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CLASSIFICAÇÃO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Agora a resposta não é número: é classe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12064" y="114300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O erro passa a ter nomes diferentes.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1311128" y="647395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23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777240" y="1417320"/>
            <a:ext cx="10652760" cy="530352"/>
          </a:xfrm>
          <a:prstGeom prst="roundRect">
            <a:avLst>
              <a:gd name="adj" fmla="val 13793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527048"/>
            <a:ext cx="102504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Exemplo: o sistema diz “doente” ou “saudável”.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77240" y="2331720"/>
            <a:ext cx="5120640" cy="1325880"/>
          </a:xfrm>
          <a:prstGeom prst="roundRect">
            <a:avLst>
              <a:gd name="adj" fmla="val 5517"/>
            </a:avLst>
          </a:prstGeom>
          <a:solidFill>
            <a:srgbClr val="FDE2E7"/>
          </a:solidFill>
          <a:ln w="12700">
            <a:solidFill>
              <a:srgbClr val="FDE2E7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1832" y="2441448"/>
            <a:ext cx="4791456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D149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NÃO BASTA “ACERTOU OU ERROU”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41832" y="2715768"/>
            <a:ext cx="4791456" cy="8503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Errar uma pessoa doente como saudável é diferente de alarmar uma pessoa saudável.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309360" y="2331720"/>
            <a:ext cx="4937760" cy="1325880"/>
          </a:xfrm>
          <a:prstGeom prst="roundRect">
            <a:avLst>
              <a:gd name="adj" fmla="val 5517"/>
            </a:avLst>
          </a:prstGeom>
          <a:solidFill>
            <a:srgbClr val="FEF3C7"/>
          </a:solidFill>
          <a:ln w="12700">
            <a:solidFill>
              <a:srgbClr val="FEF3C7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73952" y="2441448"/>
            <a:ext cx="4608576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PERGUNTA CERTA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73952" y="2715768"/>
            <a:ext cx="4608576" cy="8503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 erro é mais grave: perder um positivo ou gerar falso alarme?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914400" y="4069080"/>
            <a:ext cx="3383280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78408" y="4114800"/>
            <a:ext cx="3255264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Tipo de problema</a:t>
            </a: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3174521" y="4069080"/>
            <a:ext cx="4506439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81027" y="4114800"/>
            <a:ext cx="4335925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Exemplo de positivo</a:t>
            </a: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5495026" y="4069080"/>
            <a:ext cx="6163573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41745" y="4114800"/>
            <a:ext cx="5930357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 perigoso provável</a:t>
            </a: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914400" y="4453128"/>
            <a:ext cx="33832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78408" y="4498848"/>
            <a:ext cx="3255264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Triagem médica</a:t>
            </a: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3174521" y="4453128"/>
            <a:ext cx="4506439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81027" y="4498848"/>
            <a:ext cx="4335925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doente</a:t>
            </a: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5495026" y="4453128"/>
            <a:ext cx="6163573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41745" y="4498848"/>
            <a:ext cx="5930357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FN: </a:t>
            </a:r>
            <a:r>
              <a:rPr lang="en-US" dirty="0" err="1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perder</a:t>
            </a: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dirty="0" err="1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doente</a:t>
            </a: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/ </a:t>
            </a:r>
            <a:r>
              <a:rPr lang="en-US" dirty="0" err="1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não</a:t>
            </a: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dirty="0" err="1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detectar</a:t>
            </a: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(</a:t>
            </a:r>
            <a:r>
              <a:rPr lang="en-US" dirty="0" err="1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ele</a:t>
            </a: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dirty="0" err="1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está</a:t>
            </a: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dirty="0" err="1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doente</a:t>
            </a: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)</a:t>
            </a: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914400" y="4837176"/>
            <a:ext cx="338328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78408" y="4882896"/>
            <a:ext cx="3255264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Incêndio</a:t>
            </a: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3174521" y="4837176"/>
            <a:ext cx="4506439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81027" y="4882896"/>
            <a:ext cx="4335925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incêndio</a:t>
            </a: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5495026" y="4837176"/>
            <a:ext cx="6163573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41745" y="4882896"/>
            <a:ext cx="5930357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FN: </a:t>
            </a:r>
            <a:r>
              <a:rPr lang="en-US" dirty="0" err="1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não</a:t>
            </a: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dirty="0" err="1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alarmar</a:t>
            </a: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(</a:t>
            </a:r>
            <a:r>
              <a:rPr lang="en-US" dirty="0" err="1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</a:t>
            </a: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dirty="0" err="1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pegando</a:t>
            </a: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dirty="0" err="1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fogo</a:t>
            </a: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)</a:t>
            </a: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914400" y="5221224"/>
            <a:ext cx="33832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78408" y="5266944"/>
            <a:ext cx="3255264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Bloqueio de cartão</a:t>
            </a:r>
            <a:endParaRPr lang="en-US" dirty="0"/>
          </a:p>
        </p:txBody>
      </p:sp>
      <p:sp>
        <p:nvSpPr>
          <p:cNvPr id="35" name="Shape 33"/>
          <p:cNvSpPr/>
          <p:nvPr/>
        </p:nvSpPr>
        <p:spPr>
          <a:xfrm>
            <a:off x="3174521" y="5221224"/>
            <a:ext cx="4506439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81027" y="5266944"/>
            <a:ext cx="4335925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fraude</a:t>
            </a:r>
            <a:endParaRPr lang="en-US" dirty="0"/>
          </a:p>
        </p:txBody>
      </p:sp>
      <p:sp>
        <p:nvSpPr>
          <p:cNvPr id="37" name="Shape 35"/>
          <p:cNvSpPr/>
          <p:nvPr/>
        </p:nvSpPr>
        <p:spPr>
          <a:xfrm>
            <a:off x="5495026" y="5221224"/>
            <a:ext cx="6163573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41745" y="5266944"/>
            <a:ext cx="5930357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FP: bloquear </a:t>
            </a:r>
            <a:r>
              <a:rPr lang="en-US" dirty="0" err="1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cliente</a:t>
            </a: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dirty="0" err="1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bom</a:t>
            </a: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( </a:t>
            </a:r>
            <a:r>
              <a:rPr lang="en-US" dirty="0" err="1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não</a:t>
            </a: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dirty="0" err="1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possui</a:t>
            </a: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dirty="0" err="1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fraude</a:t>
            </a: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)</a:t>
            </a:r>
            <a:endParaRPr lang="en-US" dirty="0"/>
          </a:p>
        </p:txBody>
      </p:sp>
      <p:sp>
        <p:nvSpPr>
          <p:cNvPr id="39" name="Shape 37"/>
          <p:cNvSpPr/>
          <p:nvPr/>
        </p:nvSpPr>
        <p:spPr>
          <a:xfrm>
            <a:off x="914400" y="5605272"/>
            <a:ext cx="338328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78408" y="5650992"/>
            <a:ext cx="3255264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Inspeção cara</a:t>
            </a:r>
            <a:endParaRPr lang="en-US" dirty="0"/>
          </a:p>
        </p:txBody>
      </p:sp>
      <p:sp>
        <p:nvSpPr>
          <p:cNvPr id="41" name="Shape 39"/>
          <p:cNvSpPr/>
          <p:nvPr/>
        </p:nvSpPr>
        <p:spPr>
          <a:xfrm>
            <a:off x="3174521" y="5605272"/>
            <a:ext cx="4506439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81027" y="5650992"/>
            <a:ext cx="4335925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peça suspeita</a:t>
            </a:r>
            <a:endParaRPr lang="en-US" dirty="0"/>
          </a:p>
        </p:txBody>
      </p:sp>
      <p:sp>
        <p:nvSpPr>
          <p:cNvPr id="43" name="Shape 41"/>
          <p:cNvSpPr/>
          <p:nvPr/>
        </p:nvSpPr>
        <p:spPr>
          <a:xfrm>
            <a:off x="5495026" y="5605272"/>
            <a:ext cx="6163573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641745" y="5650992"/>
            <a:ext cx="5930357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FP: investigar </a:t>
            </a:r>
            <a:r>
              <a:rPr lang="en-US" dirty="0" err="1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</a:t>
            </a: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dirty="0" err="1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necessidade</a:t>
            </a: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( </a:t>
            </a:r>
            <a:r>
              <a:rPr lang="en-US" dirty="0" err="1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peça</a:t>
            </a: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dirty="0" err="1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está</a:t>
            </a: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boa)</a:t>
            </a:r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8288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CLASSIFICAÇÃO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Matriz de confusão: quatro resultados possíveis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12064" y="114300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Ela é a base das métricas de classificação.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1311128" y="647395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24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005840" y="1645920"/>
            <a:ext cx="3383280" cy="670560"/>
          </a:xfrm>
          <a:prstGeom prst="rect">
            <a:avLst/>
          </a:prstGeom>
          <a:solidFill>
            <a:srgbClr val="F59E0B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 sz="3200"/>
          </a:p>
        </p:txBody>
      </p:sp>
      <p:sp>
        <p:nvSpPr>
          <p:cNvPr id="8" name="Text 6"/>
          <p:cNvSpPr/>
          <p:nvPr/>
        </p:nvSpPr>
        <p:spPr>
          <a:xfrm>
            <a:off x="1069848" y="1691640"/>
            <a:ext cx="3255264" cy="5882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 / Sistema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4389120" y="1645920"/>
            <a:ext cx="3383280" cy="670560"/>
          </a:xfrm>
          <a:prstGeom prst="rect">
            <a:avLst/>
          </a:prstGeom>
          <a:solidFill>
            <a:srgbClr val="F59E0B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 sz="3200"/>
          </a:p>
        </p:txBody>
      </p:sp>
      <p:sp>
        <p:nvSpPr>
          <p:cNvPr id="10" name="Text 8"/>
          <p:cNvSpPr/>
          <p:nvPr/>
        </p:nvSpPr>
        <p:spPr>
          <a:xfrm>
            <a:off x="4453128" y="1691640"/>
            <a:ext cx="3255264" cy="5882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Sistema: positivo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7772400" y="1645920"/>
            <a:ext cx="3383280" cy="670560"/>
          </a:xfrm>
          <a:prstGeom prst="rect">
            <a:avLst/>
          </a:prstGeom>
          <a:solidFill>
            <a:srgbClr val="F59E0B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 sz="3200"/>
          </a:p>
        </p:txBody>
      </p:sp>
      <p:sp>
        <p:nvSpPr>
          <p:cNvPr id="12" name="Text 10"/>
          <p:cNvSpPr/>
          <p:nvPr/>
        </p:nvSpPr>
        <p:spPr>
          <a:xfrm>
            <a:off x="7836408" y="1691640"/>
            <a:ext cx="3255264" cy="5882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Sistema: negativo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005840" y="2316480"/>
            <a:ext cx="3383280" cy="67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 sz="3200"/>
          </a:p>
        </p:txBody>
      </p:sp>
      <p:sp>
        <p:nvSpPr>
          <p:cNvPr id="14" name="Text 12"/>
          <p:cNvSpPr/>
          <p:nvPr/>
        </p:nvSpPr>
        <p:spPr>
          <a:xfrm>
            <a:off x="1069848" y="2362200"/>
            <a:ext cx="3255264" cy="5882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 positivo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4389120" y="2316480"/>
            <a:ext cx="3383280" cy="67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 sz="3200"/>
          </a:p>
        </p:txBody>
      </p:sp>
      <p:sp>
        <p:nvSpPr>
          <p:cNvPr id="16" name="Text 14"/>
          <p:cNvSpPr/>
          <p:nvPr/>
        </p:nvSpPr>
        <p:spPr>
          <a:xfrm>
            <a:off x="4453128" y="2362200"/>
            <a:ext cx="3255264" cy="5882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TP — positivo detectado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7772400" y="2316480"/>
            <a:ext cx="3383280" cy="67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 sz="3200"/>
          </a:p>
        </p:txBody>
      </p:sp>
      <p:sp>
        <p:nvSpPr>
          <p:cNvPr id="18" name="Text 16"/>
          <p:cNvSpPr/>
          <p:nvPr/>
        </p:nvSpPr>
        <p:spPr>
          <a:xfrm>
            <a:off x="7836408" y="2362200"/>
            <a:ext cx="3255264" cy="5882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FN — positivo perdido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1005840" y="2987040"/>
            <a:ext cx="3383280" cy="67056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 sz="3200"/>
          </a:p>
        </p:txBody>
      </p:sp>
      <p:sp>
        <p:nvSpPr>
          <p:cNvPr id="20" name="Text 18"/>
          <p:cNvSpPr/>
          <p:nvPr/>
        </p:nvSpPr>
        <p:spPr>
          <a:xfrm>
            <a:off x="1069848" y="3032760"/>
            <a:ext cx="3255264" cy="5882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 negativo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4389120" y="2987040"/>
            <a:ext cx="3383280" cy="67056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 sz="3200"/>
          </a:p>
        </p:txBody>
      </p:sp>
      <p:sp>
        <p:nvSpPr>
          <p:cNvPr id="22" name="Text 20"/>
          <p:cNvSpPr/>
          <p:nvPr/>
        </p:nvSpPr>
        <p:spPr>
          <a:xfrm>
            <a:off x="4453128" y="3032760"/>
            <a:ext cx="3255264" cy="5882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FP — alarme falso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7772400" y="2987040"/>
            <a:ext cx="3383280" cy="67056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 sz="3200"/>
          </a:p>
        </p:txBody>
      </p:sp>
      <p:sp>
        <p:nvSpPr>
          <p:cNvPr id="24" name="Text 22"/>
          <p:cNvSpPr/>
          <p:nvPr/>
        </p:nvSpPr>
        <p:spPr>
          <a:xfrm>
            <a:off x="7836408" y="3032760"/>
            <a:ext cx="3255264" cy="5882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TN — negativo correto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1051560" y="3950208"/>
            <a:ext cx="4663440" cy="1344168"/>
          </a:xfrm>
          <a:prstGeom prst="roundRect">
            <a:avLst>
              <a:gd name="adj" fmla="val 7619"/>
            </a:avLst>
          </a:prstGeom>
          <a:solidFill>
            <a:srgbClr val="FDE2E7"/>
          </a:solidFill>
          <a:ln w="12700">
            <a:solidFill>
              <a:srgbClr val="FDE2E7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216152" y="4059936"/>
            <a:ext cx="4334256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D149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FP — FALSO POSITIVO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216152" y="4334256"/>
            <a:ext cx="4334256" cy="4846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sistema acusou positivo, mas não era. Ex.: cliente correto bloqueado.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6492240" y="3950208"/>
            <a:ext cx="4663440" cy="1344168"/>
          </a:xfrm>
          <a:prstGeom prst="roundRect">
            <a:avLst>
              <a:gd name="adj" fmla="val 7619"/>
            </a:avLst>
          </a:prstGeom>
          <a:solidFill>
            <a:srgbClr val="FDE2E7"/>
          </a:solidFill>
          <a:ln w="12700">
            <a:solidFill>
              <a:srgbClr val="FDE2E7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56832" y="4059936"/>
            <a:ext cx="4334256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D149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FN — FALSO NEGATIVO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656832" y="4334256"/>
            <a:ext cx="4334256" cy="4846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Era positivo, mas o sistema não encontrou. Ex.: paciente doente liberado.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1069848" y="5477256"/>
            <a:ext cx="10104120" cy="942362"/>
          </a:xfrm>
          <a:prstGeom prst="roundRect">
            <a:avLst>
              <a:gd name="adj" fmla="val 12308"/>
            </a:avLst>
          </a:prstGeom>
          <a:solidFill>
            <a:srgbClr val="FEF3C7"/>
          </a:solidFill>
          <a:ln w="12700">
            <a:solidFill>
              <a:srgbClr val="FEF3C7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234440" y="5586984"/>
            <a:ext cx="9774936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REGRA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234440" y="5861304"/>
            <a:ext cx="9774936" cy="46687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Antes de calcular Precision ou Recall, defina qual desses erros custa mais. </a:t>
            </a:r>
          </a:p>
          <a:p>
            <a:pPr marL="0" indent="0" algn="l">
              <a:buNone/>
            </a:pP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Ex.: em triagem médica o FN custa mais; em bloqueio de cartão, o FP.</a:t>
            </a:r>
            <a:endParaRPr 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8288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CLASSIFICAÇÃO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TP, TN, FP e FN em português claro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12064" y="114300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Nome técnico só importa depois da história.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1311128" y="647395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25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94360" y="1591056"/>
            <a:ext cx="2720340" cy="621792"/>
          </a:xfrm>
          <a:prstGeom prst="rect">
            <a:avLst/>
          </a:prstGeom>
          <a:solidFill>
            <a:srgbClr val="F59E0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636776"/>
            <a:ext cx="2592324" cy="539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Sigla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3314700" y="1591056"/>
            <a:ext cx="2720340" cy="621792"/>
          </a:xfrm>
          <a:prstGeom prst="rect">
            <a:avLst/>
          </a:prstGeom>
          <a:solidFill>
            <a:srgbClr val="F59E0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78708" y="1636776"/>
            <a:ext cx="2592324" cy="539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 linguagem comum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6035040" y="1591056"/>
            <a:ext cx="2720340" cy="621792"/>
          </a:xfrm>
          <a:prstGeom prst="rect">
            <a:avLst/>
          </a:prstGeom>
          <a:solidFill>
            <a:srgbClr val="F59E0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99048" y="1636776"/>
            <a:ext cx="2592324" cy="539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Diagnóstico médico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8755380" y="1591056"/>
            <a:ext cx="2720340" cy="621792"/>
          </a:xfrm>
          <a:prstGeom prst="rect">
            <a:avLst/>
          </a:prstGeom>
          <a:solidFill>
            <a:srgbClr val="F59E0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19388" y="1636776"/>
            <a:ext cx="2592324" cy="539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Alarme de incêndio</a:t>
            </a: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594360" y="2212848"/>
            <a:ext cx="27203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2258568"/>
            <a:ext cx="2592324" cy="539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TP</a:t>
            </a: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3314700" y="2212848"/>
            <a:ext cx="27203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78708" y="2258568"/>
            <a:ext cx="2592324" cy="539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positivo encontrado</a:t>
            </a: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6035040" y="2212848"/>
            <a:ext cx="27203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99048" y="2258568"/>
            <a:ext cx="2592324" cy="539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doente detectado</a:t>
            </a: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8755380" y="2212848"/>
            <a:ext cx="27203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819388" y="2258568"/>
            <a:ext cx="2592324" cy="539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incêndio detectado</a:t>
            </a: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594360" y="2834640"/>
            <a:ext cx="2720340" cy="62179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" y="2880360"/>
            <a:ext cx="2592324" cy="539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TN</a:t>
            </a: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3314700" y="2834640"/>
            <a:ext cx="2720340" cy="62179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78708" y="2880360"/>
            <a:ext cx="2592324" cy="539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negativo rejeitado corretamente</a:t>
            </a: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6035040" y="2834640"/>
            <a:ext cx="2720340" cy="62179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99048" y="2880360"/>
            <a:ext cx="2592324" cy="539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saudável liberado</a:t>
            </a: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8755380" y="2834640"/>
            <a:ext cx="2720340" cy="62179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819388" y="2880360"/>
            <a:ext cx="2592324" cy="539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 incêndio e sem alarme</a:t>
            </a: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594360" y="3456432"/>
            <a:ext cx="27203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8368" y="3502152"/>
            <a:ext cx="2592324" cy="539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FP</a:t>
            </a: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3314700" y="3456432"/>
            <a:ext cx="27203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78708" y="3502152"/>
            <a:ext cx="2592324" cy="539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alarme falso</a:t>
            </a:r>
            <a:endParaRPr lang="en-US" dirty="0"/>
          </a:p>
        </p:txBody>
      </p:sp>
      <p:sp>
        <p:nvSpPr>
          <p:cNvPr id="35" name="Shape 33"/>
          <p:cNvSpPr/>
          <p:nvPr/>
        </p:nvSpPr>
        <p:spPr>
          <a:xfrm>
            <a:off x="6035040" y="3456432"/>
            <a:ext cx="27203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099048" y="3502152"/>
            <a:ext cx="2592324" cy="539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saudável chamado para exame</a:t>
            </a:r>
            <a:endParaRPr lang="en-US" dirty="0"/>
          </a:p>
        </p:txBody>
      </p:sp>
      <p:sp>
        <p:nvSpPr>
          <p:cNvPr id="37" name="Shape 35"/>
          <p:cNvSpPr/>
          <p:nvPr/>
        </p:nvSpPr>
        <p:spPr>
          <a:xfrm>
            <a:off x="8755380" y="3456432"/>
            <a:ext cx="27203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819388" y="3502152"/>
            <a:ext cx="2592324" cy="539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alarme sem incêndio</a:t>
            </a:r>
            <a:endParaRPr lang="en-US" dirty="0"/>
          </a:p>
        </p:txBody>
      </p:sp>
      <p:sp>
        <p:nvSpPr>
          <p:cNvPr id="39" name="Shape 37"/>
          <p:cNvSpPr/>
          <p:nvPr/>
        </p:nvSpPr>
        <p:spPr>
          <a:xfrm>
            <a:off x="594360" y="4078224"/>
            <a:ext cx="2720340" cy="62179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58368" y="4123944"/>
            <a:ext cx="2592324" cy="539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FN</a:t>
            </a:r>
            <a:endParaRPr lang="en-US" dirty="0"/>
          </a:p>
        </p:txBody>
      </p:sp>
      <p:sp>
        <p:nvSpPr>
          <p:cNvPr id="41" name="Shape 39"/>
          <p:cNvSpPr/>
          <p:nvPr/>
        </p:nvSpPr>
        <p:spPr>
          <a:xfrm>
            <a:off x="3314700" y="4078224"/>
            <a:ext cx="2720340" cy="62179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378708" y="4123944"/>
            <a:ext cx="2592324" cy="539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positivo perdido</a:t>
            </a:r>
            <a:endParaRPr lang="en-US" dirty="0"/>
          </a:p>
        </p:txBody>
      </p:sp>
      <p:sp>
        <p:nvSpPr>
          <p:cNvPr id="43" name="Shape 41"/>
          <p:cNvSpPr/>
          <p:nvPr/>
        </p:nvSpPr>
        <p:spPr>
          <a:xfrm>
            <a:off x="6035040" y="4078224"/>
            <a:ext cx="2720340" cy="62179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099048" y="4123944"/>
            <a:ext cx="2592324" cy="539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doente liberado</a:t>
            </a:r>
            <a:endParaRPr lang="en-US" dirty="0"/>
          </a:p>
        </p:txBody>
      </p:sp>
      <p:sp>
        <p:nvSpPr>
          <p:cNvPr id="45" name="Shape 43"/>
          <p:cNvSpPr/>
          <p:nvPr/>
        </p:nvSpPr>
        <p:spPr>
          <a:xfrm>
            <a:off x="8755380" y="4078224"/>
            <a:ext cx="2720340" cy="62179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819388" y="4123944"/>
            <a:ext cx="2592324" cy="539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incêndio sem alarme</a:t>
            </a:r>
            <a:endParaRPr lang="en-US" dirty="0"/>
          </a:p>
        </p:txBody>
      </p:sp>
      <p:sp>
        <p:nvSpPr>
          <p:cNvPr id="47" name="Shape 45"/>
          <p:cNvSpPr/>
          <p:nvPr/>
        </p:nvSpPr>
        <p:spPr>
          <a:xfrm>
            <a:off x="914400" y="5029200"/>
            <a:ext cx="10332720" cy="1261872"/>
          </a:xfrm>
          <a:prstGeom prst="roundRect">
            <a:avLst>
              <a:gd name="adj" fmla="val 9412"/>
            </a:avLst>
          </a:prstGeom>
          <a:solidFill>
            <a:srgbClr val="FEF3C7"/>
          </a:solidFill>
          <a:ln w="12700">
            <a:solidFill>
              <a:srgbClr val="FEF3C7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078992" y="5138928"/>
            <a:ext cx="10003536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PONTO DIDÁTICO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1078992" y="5413248"/>
            <a:ext cx="10003536" cy="65112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 métricas de classificação são apenas formas diferentes de contar essas quatro células. </a:t>
            </a:r>
          </a:p>
          <a:p>
            <a:pPr marL="0" indent="0" algn="l">
              <a:buNone/>
            </a:pPr>
            <a:r>
              <a:rPr lang="en-US" sz="20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Ex.: Recall usa TP e FN, Precision usa TP e FP, Accuracy usa as quatro.</a:t>
            </a:r>
            <a:endParaRPr lang="en-US" sz="2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11F574-78EF-8C12-186E-34C7F4F7A5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35A839C-61F2-9B39-44BE-B54EDAB9BDB3}"/>
              </a:ext>
            </a:extLst>
          </p:cNvPr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F3250FD-8763-1260-1C8E-12CF50E9499E}"/>
              </a:ext>
            </a:extLst>
          </p:cNvPr>
          <p:cNvSpPr/>
          <p:nvPr/>
        </p:nvSpPr>
        <p:spPr>
          <a:xfrm>
            <a:off x="502920" y="18288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CLASSIFICAÇÃO</a:t>
            </a:r>
            <a:endParaRPr lang="en-US" sz="9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E36653C-0827-2E7F-854C-1A8E5B294544}"/>
              </a:ext>
            </a:extLst>
          </p:cNvPr>
          <p:cNvSpPr/>
          <p:nvPr/>
        </p:nvSpPr>
        <p:spPr>
          <a:xfrm>
            <a:off x="502920" y="566928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2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Exercício </a:t>
            </a:r>
            <a:endParaRPr lang="en-US" sz="25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8D0E300-F3D0-FE44-48C2-456AF42FFE55}"/>
              </a:ext>
            </a:extLst>
          </p:cNvPr>
          <p:cNvSpPr/>
          <p:nvPr/>
        </p:nvSpPr>
        <p:spPr>
          <a:xfrm>
            <a:off x="11311128" y="647395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25</a:t>
            </a:r>
            <a:endParaRPr lang="en-US" sz="800" dirty="0"/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517E798D-998D-266B-F543-E17F5D05A243}"/>
              </a:ext>
            </a:extLst>
          </p:cNvPr>
          <p:cNvSpPr txBox="1"/>
          <p:nvPr/>
        </p:nvSpPr>
        <p:spPr>
          <a:xfrm>
            <a:off x="435634" y="1170432"/>
            <a:ext cx="60988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Para cada uma, determine se o caso é </a:t>
            </a:r>
            <a:r>
              <a:rPr lang="pt-BR" b="1" dirty="0"/>
              <a:t>TP</a:t>
            </a:r>
            <a:r>
              <a:rPr lang="pt-BR" dirty="0"/>
              <a:t>, </a:t>
            </a:r>
            <a:r>
              <a:rPr lang="pt-BR" b="1" dirty="0"/>
              <a:t>TN</a:t>
            </a:r>
            <a:r>
              <a:rPr lang="pt-BR" dirty="0"/>
              <a:t>, </a:t>
            </a:r>
            <a:r>
              <a:rPr lang="pt-BR" b="1" dirty="0"/>
              <a:t>FP</a:t>
            </a:r>
            <a:r>
              <a:rPr lang="pt-BR" dirty="0"/>
              <a:t> ou </a:t>
            </a:r>
            <a:r>
              <a:rPr lang="pt-BR" b="1" dirty="0"/>
              <a:t>FN</a:t>
            </a:r>
            <a:r>
              <a:rPr lang="pt-BR" dirty="0"/>
              <a:t>.</a:t>
            </a:r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1A6463CD-30F0-C16E-80F5-186672834B29}"/>
              </a:ext>
            </a:extLst>
          </p:cNvPr>
          <p:cNvSpPr txBox="1"/>
          <p:nvPr/>
        </p:nvSpPr>
        <p:spPr>
          <a:xfrm>
            <a:off x="502920" y="2029047"/>
            <a:ext cx="10808208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+mj-lt"/>
              <a:buAutoNum type="arabicPeriod"/>
            </a:pPr>
            <a:r>
              <a:rPr lang="pt-BR" dirty="0"/>
              <a:t>Chega um e-mail com vírus. O sistema detecta e joga na pasta Spam.</a:t>
            </a:r>
          </a:p>
          <a:p>
            <a:pPr marL="342900" lvl="0" indent="-342900">
              <a:buFont typeface="+mj-lt"/>
              <a:buAutoNum type="arabicPeriod"/>
            </a:pPr>
            <a:r>
              <a:rPr lang="pt-BR" dirty="0"/>
              <a:t>Seu comprovante de pagamento do banco chega e o sistema entrega na Caixa de Entrada.</a:t>
            </a:r>
          </a:p>
          <a:p>
            <a:pPr marL="342900" lvl="0" indent="-342900">
              <a:buFont typeface="+mj-lt"/>
              <a:buAutoNum type="arabicPeriod"/>
            </a:pPr>
            <a:r>
              <a:rPr lang="pt-BR" dirty="0"/>
              <a:t>A confirmação da sua viagem por e-mail vai parar por engano no Spam.</a:t>
            </a:r>
          </a:p>
          <a:p>
            <a:pPr marL="342900" lvl="0" indent="-342900">
              <a:buFont typeface="+mj-lt"/>
              <a:buAutoNum type="arabicPeriod"/>
            </a:pPr>
            <a:r>
              <a:rPr lang="pt-BR" dirty="0"/>
              <a:t>Um golpista tenta usar seu cartão em outro país. O sistema bloqueia a transação a tempo.</a:t>
            </a:r>
          </a:p>
          <a:p>
            <a:pPr marL="342900" lvl="0" indent="-342900">
              <a:buFont typeface="+mj-lt"/>
              <a:buAutoNum type="arabicPeriod"/>
            </a:pPr>
            <a:r>
              <a:rPr lang="pt-BR" dirty="0"/>
              <a:t>Você tenta comprar um café na padaria do seu bairro e o banco bloqueia seu cartão por achar suspeito.</a:t>
            </a:r>
          </a:p>
          <a:p>
            <a:pPr marL="342900" lvl="0" indent="-342900">
              <a:buFont typeface="+mj-lt"/>
              <a:buAutoNum type="arabicPeriod"/>
            </a:pPr>
            <a:r>
              <a:rPr lang="pt-BR" dirty="0"/>
              <a:t>Um criminoso faz compras online com seus dados e a transação é aprovada normalmente sem o banco notar.</a:t>
            </a:r>
          </a:p>
          <a:p>
            <a:pPr marL="342900" lvl="0" indent="-342900">
              <a:buFont typeface="+mj-lt"/>
              <a:buAutoNum type="arabicPeriod"/>
            </a:pPr>
            <a:r>
              <a:rPr lang="pt-BR" dirty="0"/>
              <a:t>O paciente tem um tumor real e o exame confirma a presença do Câncer.</a:t>
            </a:r>
          </a:p>
          <a:p>
            <a:pPr marL="342900" lvl="0" indent="-342900">
              <a:buFont typeface="+mj-lt"/>
              <a:buAutoNum type="arabicPeriod"/>
            </a:pPr>
            <a:r>
              <a:rPr lang="pt-BR" dirty="0"/>
              <a:t>O paciente é perfeitamente saudável e o teste dá "Negativo para Câncer".</a:t>
            </a:r>
          </a:p>
          <a:p>
            <a:pPr marL="342900" lvl="0" indent="-342900">
              <a:buFont typeface="+mj-lt"/>
              <a:buAutoNum type="arabicPeriod"/>
            </a:pPr>
            <a:r>
              <a:rPr lang="pt-BR" dirty="0"/>
              <a:t>O paciente tem um tumor inicial, mas o exame diz que ele está 100% saudável.</a:t>
            </a:r>
          </a:p>
          <a:p>
            <a:pPr marL="342900" lvl="0" indent="-342900">
              <a:buFont typeface="+mj-lt"/>
              <a:buAutoNum type="arabicPeriod"/>
            </a:pPr>
            <a:r>
              <a:rPr lang="pt-BR" dirty="0"/>
              <a:t>Um usuário posta um comentário inofensivo com uma piada boba, mas a IA exclui a conta dele dizendo que foi discurso de ódio.</a:t>
            </a:r>
          </a:p>
          <a:p>
            <a:pPr marL="342900" lvl="0" indent="-342900">
              <a:buFont typeface="+mj-lt"/>
              <a:buAutoNum type="arabicPeriod"/>
            </a:pPr>
            <a:endParaRPr lang="pt-BR" dirty="0"/>
          </a:p>
        </p:txBody>
      </p:sp>
      <p:sp>
        <p:nvSpPr>
          <p:cNvPr id="54" name="CaixaDeTexto 53">
            <a:extLst>
              <a:ext uri="{FF2B5EF4-FFF2-40B4-BE49-F238E27FC236}">
                <a16:creationId xmlns:a16="http://schemas.microsoft.com/office/drawing/2014/main" id="{3D0E3A1F-84A6-161D-FC70-592767272AEF}"/>
              </a:ext>
            </a:extLst>
          </p:cNvPr>
          <p:cNvSpPr txBox="1"/>
          <p:nvPr/>
        </p:nvSpPr>
        <p:spPr>
          <a:xfrm>
            <a:off x="502920" y="5735255"/>
            <a:ext cx="60988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pt-BR" b="1" dirty="0">
                <a:solidFill>
                  <a:srgbClr val="FF0000"/>
                </a:solidFill>
              </a:rPr>
              <a:t>Respostas: TP, TN, FP, TP, FP, FN, TP, TN, FN, FP</a:t>
            </a:r>
          </a:p>
          <a:p>
            <a:endParaRPr lang="pt-BR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0990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8288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CLASSIFICAÇÃO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Accuracy — acurácia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11311128" y="647395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66928" y="1417320"/>
            <a:ext cx="11018520" cy="475488"/>
          </a:xfrm>
          <a:prstGeom prst="roundRect">
            <a:avLst>
              <a:gd name="adj" fmla="val 15385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527048"/>
            <a:ext cx="10616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 todas as previsões, quantas foram corretas?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13232" y="2091733"/>
            <a:ext cx="48463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3410" y="2304288"/>
            <a:ext cx="4688259" cy="676656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897880" y="1956816"/>
            <a:ext cx="2720340" cy="320040"/>
          </a:xfrm>
          <a:prstGeom prst="rect">
            <a:avLst/>
          </a:prstGeom>
          <a:solidFill>
            <a:srgbClr val="F59E0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61888" y="2002536"/>
            <a:ext cx="2592324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Variável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7867291" y="1956816"/>
            <a:ext cx="3471269" cy="320040"/>
          </a:xfrm>
          <a:prstGeom prst="rect">
            <a:avLst/>
          </a:prstGeom>
          <a:solidFill>
            <a:srgbClr val="F59E0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966637" y="2002536"/>
            <a:ext cx="3307915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Significado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897880" y="2276856"/>
            <a:ext cx="272034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961888" y="2322576"/>
            <a:ext cx="2592324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TP</a:t>
            </a:r>
            <a:endParaRPr lang="en-US" sz="1400" b="1" dirty="0"/>
          </a:p>
        </p:txBody>
      </p:sp>
      <p:sp>
        <p:nvSpPr>
          <p:cNvPr id="17" name="Shape 14"/>
          <p:cNvSpPr/>
          <p:nvPr/>
        </p:nvSpPr>
        <p:spPr>
          <a:xfrm>
            <a:off x="7867291" y="2276856"/>
            <a:ext cx="3471269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966637" y="2322576"/>
            <a:ext cx="3307915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positivos corretos (ex.: 80)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5897880" y="2596896"/>
            <a:ext cx="27203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961888" y="2642616"/>
            <a:ext cx="2592324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TN</a:t>
            </a:r>
            <a:endParaRPr lang="en-US" sz="1400" b="1" dirty="0"/>
          </a:p>
        </p:txBody>
      </p:sp>
      <p:sp>
        <p:nvSpPr>
          <p:cNvPr id="21" name="Shape 18"/>
          <p:cNvSpPr/>
          <p:nvPr/>
        </p:nvSpPr>
        <p:spPr>
          <a:xfrm>
            <a:off x="7867291" y="2596896"/>
            <a:ext cx="3471269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966637" y="2642616"/>
            <a:ext cx="3307915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negativos corretos (ex.: 10)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5897880" y="2916936"/>
            <a:ext cx="272034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961888" y="2962656"/>
            <a:ext cx="2592324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FP</a:t>
            </a:r>
            <a:endParaRPr lang="en-US" sz="1400" b="1" dirty="0"/>
          </a:p>
        </p:txBody>
      </p:sp>
      <p:sp>
        <p:nvSpPr>
          <p:cNvPr id="25" name="Shape 22"/>
          <p:cNvSpPr/>
          <p:nvPr/>
        </p:nvSpPr>
        <p:spPr>
          <a:xfrm>
            <a:off x="7867291" y="2916936"/>
            <a:ext cx="3471269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966637" y="2962656"/>
            <a:ext cx="3307915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falsos positivos (ex.: 5)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5897880" y="3236976"/>
            <a:ext cx="27203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961888" y="3282696"/>
            <a:ext cx="2592324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FN</a:t>
            </a:r>
            <a:endParaRPr lang="en-US" sz="1400" b="1" dirty="0"/>
          </a:p>
        </p:txBody>
      </p:sp>
      <p:sp>
        <p:nvSpPr>
          <p:cNvPr id="29" name="Shape 26"/>
          <p:cNvSpPr/>
          <p:nvPr/>
        </p:nvSpPr>
        <p:spPr>
          <a:xfrm>
            <a:off x="7867291" y="3236976"/>
            <a:ext cx="3471269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966637" y="3282696"/>
            <a:ext cx="3307915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falsos negativos (ex.: 5)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713232" y="3730752"/>
            <a:ext cx="3383280" cy="1316736"/>
          </a:xfrm>
          <a:prstGeom prst="roundRect">
            <a:avLst>
              <a:gd name="adj" fmla="val 6400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77824" y="3840480"/>
            <a:ext cx="3054096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 QUE SERVE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877824" y="4114800"/>
            <a:ext cx="3054096" cy="6675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Dá a proporção total de acertos.</a:t>
            </a:r>
            <a:endParaRPr lang="en-US" dirty="0"/>
          </a:p>
        </p:txBody>
      </p:sp>
      <p:sp>
        <p:nvSpPr>
          <p:cNvPr id="34" name="Shape 31"/>
          <p:cNvSpPr/>
          <p:nvPr/>
        </p:nvSpPr>
        <p:spPr>
          <a:xfrm>
            <a:off x="4407408" y="3730752"/>
            <a:ext cx="3383280" cy="1316736"/>
          </a:xfrm>
          <a:prstGeom prst="roundRect">
            <a:avLst>
              <a:gd name="adj" fmla="val 6400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572000" y="3840480"/>
            <a:ext cx="3054096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COMO INTERPRETAR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4572000" y="4114800"/>
            <a:ext cx="3054096" cy="6675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Autofit/>
          </a:bodyPr>
          <a:lstStyle/>
          <a:p>
            <a:pPr marL="0" indent="0" algn="l">
              <a:buNone/>
            </a:pP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Accuracy = 0,90: 90% das decisões bateram com o rótulo real.</a:t>
            </a:r>
            <a:endParaRPr lang="en-US" dirty="0"/>
          </a:p>
        </p:txBody>
      </p:sp>
      <p:sp>
        <p:nvSpPr>
          <p:cNvPr id="37" name="Shape 34"/>
          <p:cNvSpPr/>
          <p:nvPr/>
        </p:nvSpPr>
        <p:spPr>
          <a:xfrm>
            <a:off x="8101584" y="3730752"/>
            <a:ext cx="3236976" cy="1316736"/>
          </a:xfrm>
          <a:prstGeom prst="roundRect">
            <a:avLst>
              <a:gd name="adj" fmla="val 6400"/>
            </a:avLst>
          </a:prstGeom>
          <a:solidFill>
            <a:srgbClr val="FDE2E7"/>
          </a:solidFill>
          <a:ln w="12700">
            <a:solidFill>
              <a:srgbClr val="FDE2E7">
                <a:alpha val="0"/>
              </a:srgbClr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8266176" y="3840480"/>
            <a:ext cx="2907792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D149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CUIDADO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8266176" y="4114800"/>
            <a:ext cx="2907792" cy="6675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Autofit/>
          </a:bodyPr>
          <a:lstStyle/>
          <a:p>
            <a:pPr marL="0" indent="0" algn="l">
              <a:buNone/>
            </a:pP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Pode ser enganosa quando uma classe é muito mais comum que a outra.</a:t>
            </a:r>
            <a:endParaRPr lang="en-US" dirty="0"/>
          </a:p>
        </p:txBody>
      </p:sp>
      <p:sp>
        <p:nvSpPr>
          <p:cNvPr id="40" name="Shape 37"/>
          <p:cNvSpPr/>
          <p:nvPr/>
        </p:nvSpPr>
        <p:spPr>
          <a:xfrm>
            <a:off x="713232" y="5257800"/>
            <a:ext cx="10625328" cy="1143000"/>
          </a:xfrm>
          <a:prstGeom prst="roundRect">
            <a:avLst>
              <a:gd name="adj" fmla="val 11429"/>
            </a:avLst>
          </a:prstGeom>
          <a:solidFill>
            <a:srgbClr val="FEF3C7"/>
          </a:solidFill>
          <a:ln w="12700">
            <a:solidFill>
              <a:srgbClr val="FEF3C7">
                <a:alpha val="0"/>
              </a:srgbClr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877824" y="5367528"/>
            <a:ext cx="10296144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EXEMPLO EM UMA FRASE</a:t>
            </a:r>
            <a:endParaRPr lang="en-US" sz="1100" dirty="0"/>
          </a:p>
        </p:txBody>
      </p:sp>
      <p:sp>
        <p:nvSpPr>
          <p:cNvPr id="42" name="Text 39"/>
          <p:cNvSpPr/>
          <p:nvPr/>
        </p:nvSpPr>
        <p:spPr>
          <a:xfrm>
            <a:off x="877824" y="5641848"/>
            <a:ext cx="10296144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99% dos casos são saudáveis, dizer “saudável” sempre já dá 99% de acurácia.</a:t>
            </a:r>
            <a:endParaRPr lang="en-US" sz="2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8288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CLASSIFICAÇÃO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Armadilha da Accuracy: classe rara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12064" y="114300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O modelo ingênuo diz “saudável” para todas as 10.000 pessoas avaliadas.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1311128" y="647395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27</a:t>
            </a:r>
            <a:endParaRPr lang="en-US" sz="800" dirty="0"/>
          </a:p>
        </p:txBody>
      </p:sp>
      <p:pic>
        <p:nvPicPr>
          <p:cNvPr id="2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34684" y="2054811"/>
            <a:ext cx="5157645" cy="731520"/>
          </a:xfrm>
          <a:prstGeom prst="rect">
            <a:avLst/>
          </a:prstGeom>
        </p:spPr>
      </p:pic>
      <p:sp>
        <p:nvSpPr>
          <p:cNvPr id="28" name="Shape 25"/>
          <p:cNvSpPr/>
          <p:nvPr/>
        </p:nvSpPr>
        <p:spPr>
          <a:xfrm>
            <a:off x="6417564" y="3243530"/>
            <a:ext cx="2286000" cy="1287753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582156" y="3353259"/>
            <a:ext cx="1956816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PARECE BOM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6582156" y="3627579"/>
            <a:ext cx="1956816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Autofit/>
          </a:bodyPr>
          <a:lstStyle/>
          <a:p>
            <a:pPr marL="0" indent="0" algn="l">
              <a:buNone/>
            </a:pP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99% de acerto total.</a:t>
            </a:r>
            <a:endParaRPr lang="en-US" dirty="0"/>
          </a:p>
        </p:txBody>
      </p:sp>
      <p:sp>
        <p:nvSpPr>
          <p:cNvPr id="31" name="Shape 28"/>
          <p:cNvSpPr/>
          <p:nvPr/>
        </p:nvSpPr>
        <p:spPr>
          <a:xfrm>
            <a:off x="8932164" y="3243531"/>
            <a:ext cx="2743200" cy="1240474"/>
          </a:xfrm>
          <a:prstGeom prst="roundRect">
            <a:avLst>
              <a:gd name="adj" fmla="val 10000"/>
            </a:avLst>
          </a:prstGeom>
          <a:solidFill>
            <a:srgbClr val="FDE2E7"/>
          </a:solidFill>
          <a:ln w="12700">
            <a:solidFill>
              <a:srgbClr val="FDE2E7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096756" y="3353259"/>
            <a:ext cx="2414016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D149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É RUIM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9096756" y="3627578"/>
            <a:ext cx="2414016" cy="728761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Recall dos doentes = 0%. O modelo perdeu todos os positivos.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785694" y="4841140"/>
            <a:ext cx="10332720" cy="1240475"/>
          </a:xfrm>
          <a:prstGeom prst="roundRect">
            <a:avLst>
              <a:gd name="adj" fmla="val 9412"/>
            </a:avLst>
          </a:prstGeom>
          <a:solidFill>
            <a:srgbClr val="FDE2E7"/>
          </a:solidFill>
          <a:ln w="12700">
            <a:solidFill>
              <a:srgbClr val="FDE2E7">
                <a:alpha val="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950286" y="4950869"/>
            <a:ext cx="10003536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D149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LIÇÃO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950286" y="5225188"/>
            <a:ext cx="10003536" cy="744629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 problema desbalanceado, olhe matriz de confusão antes de acreditar na Accuracy. </a:t>
            </a:r>
          </a:p>
          <a:p>
            <a:pPr marL="0" indent="0" algn="l">
              <a:buNone/>
            </a:pPr>
            <a:r>
              <a:rPr lang="en-US" sz="20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Ex.: 99% de Accuracy com Recall de 0% nos 100 doentes reais.</a:t>
            </a:r>
            <a:endParaRPr lang="en-US" sz="2000" dirty="0"/>
          </a:p>
        </p:txBody>
      </p:sp>
      <p:sp>
        <p:nvSpPr>
          <p:cNvPr id="200" name="Cell200"/>
          <p:cNvSpPr/>
          <p:nvPr/>
        </p:nvSpPr>
        <p:spPr>
          <a:xfrm>
            <a:off x="274106" y="1803957"/>
            <a:ext cx="2144280" cy="475488"/>
          </a:xfrm>
          <a:prstGeom prst="rect">
            <a:avLst/>
          </a:prstGeom>
          <a:solidFill>
            <a:srgbClr val="F59E0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1" name="Txt201"/>
          <p:cNvSpPr/>
          <p:nvPr/>
        </p:nvSpPr>
        <p:spPr>
          <a:xfrm>
            <a:off x="424464" y="1867965"/>
            <a:ext cx="1977503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Grupo real</a:t>
            </a:r>
            <a:endParaRPr lang="en-US" sz="1400" dirty="0"/>
          </a:p>
        </p:txBody>
      </p:sp>
      <p:sp>
        <p:nvSpPr>
          <p:cNvPr id="202" name="Cell202"/>
          <p:cNvSpPr/>
          <p:nvPr/>
        </p:nvSpPr>
        <p:spPr>
          <a:xfrm>
            <a:off x="2598490" y="1803957"/>
            <a:ext cx="833887" cy="475488"/>
          </a:xfrm>
          <a:prstGeom prst="rect">
            <a:avLst/>
          </a:prstGeom>
          <a:solidFill>
            <a:srgbClr val="F59E0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3" name="Txt203"/>
          <p:cNvSpPr/>
          <p:nvPr/>
        </p:nvSpPr>
        <p:spPr>
          <a:xfrm>
            <a:off x="2748849" y="1867965"/>
            <a:ext cx="66711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Casos</a:t>
            </a:r>
            <a:endParaRPr lang="en-US" sz="1400" dirty="0"/>
          </a:p>
        </p:txBody>
      </p:sp>
      <p:sp>
        <p:nvSpPr>
          <p:cNvPr id="204" name="Cell204"/>
          <p:cNvSpPr/>
          <p:nvPr/>
        </p:nvSpPr>
        <p:spPr>
          <a:xfrm>
            <a:off x="2375070" y="1803957"/>
            <a:ext cx="2501660" cy="475488"/>
          </a:xfrm>
          <a:prstGeom prst="rect">
            <a:avLst/>
          </a:prstGeom>
          <a:solidFill>
            <a:srgbClr val="F59E0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5" name="Txt205"/>
          <p:cNvSpPr/>
          <p:nvPr/>
        </p:nvSpPr>
        <p:spPr>
          <a:xfrm>
            <a:off x="2525428" y="1867965"/>
            <a:ext cx="2334883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Previsão do modelo</a:t>
            </a:r>
            <a:endParaRPr lang="en-US" sz="1400" dirty="0"/>
          </a:p>
        </p:txBody>
      </p:sp>
      <p:sp>
        <p:nvSpPr>
          <p:cNvPr id="206" name="Cell206"/>
          <p:cNvSpPr/>
          <p:nvPr/>
        </p:nvSpPr>
        <p:spPr>
          <a:xfrm>
            <a:off x="4942936" y="1803957"/>
            <a:ext cx="1250830" cy="475488"/>
          </a:xfrm>
          <a:prstGeom prst="rect">
            <a:avLst/>
          </a:prstGeom>
          <a:solidFill>
            <a:srgbClr val="F59E0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7" name="Txt207"/>
          <p:cNvSpPr/>
          <p:nvPr/>
        </p:nvSpPr>
        <p:spPr>
          <a:xfrm>
            <a:off x="5093294" y="1867965"/>
            <a:ext cx="1084053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Célula</a:t>
            </a:r>
            <a:endParaRPr lang="en-US" sz="1400" dirty="0"/>
          </a:p>
        </p:txBody>
      </p:sp>
      <p:sp>
        <p:nvSpPr>
          <p:cNvPr id="208" name="Cell208"/>
          <p:cNvSpPr/>
          <p:nvPr/>
        </p:nvSpPr>
        <p:spPr>
          <a:xfrm>
            <a:off x="274106" y="2279445"/>
            <a:ext cx="21442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9" name="Txt209"/>
          <p:cNvSpPr/>
          <p:nvPr/>
        </p:nvSpPr>
        <p:spPr>
          <a:xfrm>
            <a:off x="424464" y="2343453"/>
            <a:ext cx="1977503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 err="1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Doentes</a:t>
            </a: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400" dirty="0" err="1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não</a:t>
            </a: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400" dirty="0" err="1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detectados</a:t>
            </a:r>
            <a:endParaRPr lang="en-US" sz="1400" dirty="0"/>
          </a:p>
        </p:txBody>
      </p:sp>
      <p:sp>
        <p:nvSpPr>
          <p:cNvPr id="210" name="Cell210"/>
          <p:cNvSpPr/>
          <p:nvPr/>
        </p:nvSpPr>
        <p:spPr>
          <a:xfrm>
            <a:off x="2598490" y="2279445"/>
            <a:ext cx="833887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1" name="Txt211"/>
          <p:cNvSpPr/>
          <p:nvPr/>
        </p:nvSpPr>
        <p:spPr>
          <a:xfrm>
            <a:off x="2748849" y="2343453"/>
            <a:ext cx="66711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</a:t>
            </a:r>
            <a:endParaRPr lang="en-US" sz="1400" dirty="0"/>
          </a:p>
        </p:txBody>
      </p:sp>
      <p:sp>
        <p:nvSpPr>
          <p:cNvPr id="212" name="Cell212"/>
          <p:cNvSpPr/>
          <p:nvPr/>
        </p:nvSpPr>
        <p:spPr>
          <a:xfrm>
            <a:off x="2375070" y="2279445"/>
            <a:ext cx="25016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3" name="Txt213"/>
          <p:cNvSpPr/>
          <p:nvPr/>
        </p:nvSpPr>
        <p:spPr>
          <a:xfrm>
            <a:off x="2525428" y="2343453"/>
            <a:ext cx="2334883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“saudável” — errou</a:t>
            </a:r>
            <a:endParaRPr lang="en-US" sz="1400" dirty="0"/>
          </a:p>
        </p:txBody>
      </p:sp>
      <p:sp>
        <p:nvSpPr>
          <p:cNvPr id="214" name="Cell214"/>
          <p:cNvSpPr/>
          <p:nvPr/>
        </p:nvSpPr>
        <p:spPr>
          <a:xfrm>
            <a:off x="4942936" y="2279445"/>
            <a:ext cx="125083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5" name="Txt215"/>
          <p:cNvSpPr/>
          <p:nvPr/>
        </p:nvSpPr>
        <p:spPr>
          <a:xfrm>
            <a:off x="5093294" y="2343453"/>
            <a:ext cx="1084053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FN = 100</a:t>
            </a:r>
            <a:endParaRPr lang="en-US" sz="1400" dirty="0"/>
          </a:p>
        </p:txBody>
      </p:sp>
      <p:sp>
        <p:nvSpPr>
          <p:cNvPr id="216" name="Cell216"/>
          <p:cNvSpPr/>
          <p:nvPr/>
        </p:nvSpPr>
        <p:spPr>
          <a:xfrm>
            <a:off x="274106" y="2754933"/>
            <a:ext cx="2144280" cy="47548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7" name="Txt217"/>
          <p:cNvSpPr/>
          <p:nvPr/>
        </p:nvSpPr>
        <p:spPr>
          <a:xfrm>
            <a:off x="424464" y="2818941"/>
            <a:ext cx="1977503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Doentes detectados</a:t>
            </a:r>
            <a:endParaRPr lang="en-US" sz="1400" dirty="0"/>
          </a:p>
        </p:txBody>
      </p:sp>
      <p:sp>
        <p:nvSpPr>
          <p:cNvPr id="218" name="Cell218"/>
          <p:cNvSpPr/>
          <p:nvPr/>
        </p:nvSpPr>
        <p:spPr>
          <a:xfrm>
            <a:off x="2598490" y="2754933"/>
            <a:ext cx="833887" cy="47548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9" name="Txt219"/>
          <p:cNvSpPr/>
          <p:nvPr/>
        </p:nvSpPr>
        <p:spPr>
          <a:xfrm>
            <a:off x="2748849" y="2818941"/>
            <a:ext cx="66711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1400" dirty="0"/>
          </a:p>
        </p:txBody>
      </p:sp>
      <p:sp>
        <p:nvSpPr>
          <p:cNvPr id="220" name="Cell220"/>
          <p:cNvSpPr/>
          <p:nvPr/>
        </p:nvSpPr>
        <p:spPr>
          <a:xfrm>
            <a:off x="2375070" y="2754933"/>
            <a:ext cx="2501660" cy="47548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1" name="Txt221"/>
          <p:cNvSpPr/>
          <p:nvPr/>
        </p:nvSpPr>
        <p:spPr>
          <a:xfrm>
            <a:off x="2525428" y="2818941"/>
            <a:ext cx="2334883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“doente” — acertou</a:t>
            </a:r>
            <a:endParaRPr lang="en-US" sz="1400" dirty="0"/>
          </a:p>
        </p:txBody>
      </p:sp>
      <p:sp>
        <p:nvSpPr>
          <p:cNvPr id="222" name="Cell222"/>
          <p:cNvSpPr/>
          <p:nvPr/>
        </p:nvSpPr>
        <p:spPr>
          <a:xfrm>
            <a:off x="4942936" y="2754933"/>
            <a:ext cx="1250830" cy="47548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3" name="Txt223"/>
          <p:cNvSpPr/>
          <p:nvPr/>
        </p:nvSpPr>
        <p:spPr>
          <a:xfrm>
            <a:off x="5093294" y="2818941"/>
            <a:ext cx="1084053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TP = 0</a:t>
            </a:r>
            <a:endParaRPr lang="en-US" sz="1400" dirty="0"/>
          </a:p>
        </p:txBody>
      </p:sp>
      <p:sp>
        <p:nvSpPr>
          <p:cNvPr id="224" name="Cell224"/>
          <p:cNvSpPr/>
          <p:nvPr/>
        </p:nvSpPr>
        <p:spPr>
          <a:xfrm>
            <a:off x="274106" y="3230421"/>
            <a:ext cx="21442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5" name="Txt225"/>
          <p:cNvSpPr/>
          <p:nvPr/>
        </p:nvSpPr>
        <p:spPr>
          <a:xfrm>
            <a:off x="424464" y="3294429"/>
            <a:ext cx="1977503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Saudáveis liberados</a:t>
            </a:r>
            <a:endParaRPr lang="en-US" sz="1400" dirty="0"/>
          </a:p>
        </p:txBody>
      </p:sp>
      <p:sp>
        <p:nvSpPr>
          <p:cNvPr id="226" name="Cell226"/>
          <p:cNvSpPr/>
          <p:nvPr/>
        </p:nvSpPr>
        <p:spPr>
          <a:xfrm>
            <a:off x="2598490" y="3230421"/>
            <a:ext cx="833887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7" name="Txt227"/>
          <p:cNvSpPr/>
          <p:nvPr/>
        </p:nvSpPr>
        <p:spPr>
          <a:xfrm>
            <a:off x="2748849" y="3294429"/>
            <a:ext cx="66711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9.900</a:t>
            </a:r>
            <a:endParaRPr lang="en-US" sz="1400" dirty="0"/>
          </a:p>
        </p:txBody>
      </p:sp>
      <p:sp>
        <p:nvSpPr>
          <p:cNvPr id="228" name="Cell228"/>
          <p:cNvSpPr/>
          <p:nvPr/>
        </p:nvSpPr>
        <p:spPr>
          <a:xfrm>
            <a:off x="2375070" y="3230421"/>
            <a:ext cx="25016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9" name="Txt229"/>
          <p:cNvSpPr/>
          <p:nvPr/>
        </p:nvSpPr>
        <p:spPr>
          <a:xfrm>
            <a:off x="2525428" y="3294429"/>
            <a:ext cx="2334883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“saudável” — acertou</a:t>
            </a:r>
            <a:endParaRPr lang="en-US" sz="1400" dirty="0"/>
          </a:p>
        </p:txBody>
      </p:sp>
      <p:sp>
        <p:nvSpPr>
          <p:cNvPr id="230" name="Cell230"/>
          <p:cNvSpPr/>
          <p:nvPr/>
        </p:nvSpPr>
        <p:spPr>
          <a:xfrm>
            <a:off x="4942936" y="3230421"/>
            <a:ext cx="125083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1" name="Txt231"/>
          <p:cNvSpPr/>
          <p:nvPr/>
        </p:nvSpPr>
        <p:spPr>
          <a:xfrm>
            <a:off x="5093294" y="3294429"/>
            <a:ext cx="1084053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TN = 9.900</a:t>
            </a:r>
            <a:endParaRPr lang="en-US" sz="1400" dirty="0"/>
          </a:p>
        </p:txBody>
      </p:sp>
      <p:sp>
        <p:nvSpPr>
          <p:cNvPr id="232" name="Cell232"/>
          <p:cNvSpPr/>
          <p:nvPr/>
        </p:nvSpPr>
        <p:spPr>
          <a:xfrm>
            <a:off x="274106" y="3705909"/>
            <a:ext cx="2144280" cy="47548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3" name="Txt233"/>
          <p:cNvSpPr/>
          <p:nvPr/>
        </p:nvSpPr>
        <p:spPr>
          <a:xfrm>
            <a:off x="424464" y="3769917"/>
            <a:ext cx="1977503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Saudáveis acusados</a:t>
            </a:r>
            <a:endParaRPr lang="en-US" sz="1400" dirty="0"/>
          </a:p>
        </p:txBody>
      </p:sp>
      <p:sp>
        <p:nvSpPr>
          <p:cNvPr id="234" name="Cell234"/>
          <p:cNvSpPr/>
          <p:nvPr/>
        </p:nvSpPr>
        <p:spPr>
          <a:xfrm>
            <a:off x="2598490" y="3705909"/>
            <a:ext cx="833887" cy="47548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5" name="Txt235"/>
          <p:cNvSpPr/>
          <p:nvPr/>
        </p:nvSpPr>
        <p:spPr>
          <a:xfrm>
            <a:off x="2748849" y="3769917"/>
            <a:ext cx="66711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1400" dirty="0"/>
          </a:p>
        </p:txBody>
      </p:sp>
      <p:sp>
        <p:nvSpPr>
          <p:cNvPr id="236" name="Cell236"/>
          <p:cNvSpPr/>
          <p:nvPr/>
        </p:nvSpPr>
        <p:spPr>
          <a:xfrm>
            <a:off x="2375070" y="3705909"/>
            <a:ext cx="2501660" cy="47548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7" name="Txt237"/>
          <p:cNvSpPr/>
          <p:nvPr/>
        </p:nvSpPr>
        <p:spPr>
          <a:xfrm>
            <a:off x="2525428" y="3769917"/>
            <a:ext cx="2334883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“doente” — errou</a:t>
            </a:r>
            <a:endParaRPr lang="en-US" sz="1400" dirty="0"/>
          </a:p>
        </p:txBody>
      </p:sp>
      <p:sp>
        <p:nvSpPr>
          <p:cNvPr id="238" name="Cell238"/>
          <p:cNvSpPr/>
          <p:nvPr/>
        </p:nvSpPr>
        <p:spPr>
          <a:xfrm>
            <a:off x="4942936" y="3705909"/>
            <a:ext cx="1250830" cy="47548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9" name="Txt239"/>
          <p:cNvSpPr/>
          <p:nvPr/>
        </p:nvSpPr>
        <p:spPr>
          <a:xfrm>
            <a:off x="5093294" y="3769917"/>
            <a:ext cx="1084053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FP = 0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8288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CLASSIFICAÇÃO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Recall / Sensibilidade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11311128" y="647395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28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66928" y="1417320"/>
            <a:ext cx="11018520" cy="475488"/>
          </a:xfrm>
          <a:prstGeom prst="roundRect">
            <a:avLst>
              <a:gd name="adj" fmla="val 15385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527048"/>
            <a:ext cx="10616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 todos os positivos reais, quantos foram encontrados?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13232" y="2057400"/>
            <a:ext cx="48463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5391" y="2159538"/>
            <a:ext cx="4579721" cy="1078992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897880" y="1956816"/>
            <a:ext cx="2720340" cy="400050"/>
          </a:xfrm>
          <a:prstGeom prst="rect">
            <a:avLst/>
          </a:prstGeom>
          <a:solidFill>
            <a:srgbClr val="F59E0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61888" y="2002536"/>
            <a:ext cx="2592324" cy="31775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Variável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7910423" y="1956816"/>
            <a:ext cx="3428137" cy="400050"/>
          </a:xfrm>
          <a:prstGeom prst="rect">
            <a:avLst/>
          </a:prstGeom>
          <a:solidFill>
            <a:srgbClr val="F59E0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007739" y="2002536"/>
            <a:ext cx="3266813" cy="31775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Significado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897880" y="2356866"/>
            <a:ext cx="2720340" cy="40005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961888" y="2402586"/>
            <a:ext cx="2592324" cy="31775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TP</a:t>
            </a:r>
            <a:endParaRPr lang="en-US" sz="1400" b="1" dirty="0"/>
          </a:p>
        </p:txBody>
      </p:sp>
      <p:sp>
        <p:nvSpPr>
          <p:cNvPr id="17" name="Shape 14"/>
          <p:cNvSpPr/>
          <p:nvPr/>
        </p:nvSpPr>
        <p:spPr>
          <a:xfrm>
            <a:off x="7910423" y="2356866"/>
            <a:ext cx="3428137" cy="40005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007739" y="2402586"/>
            <a:ext cx="3266813" cy="31775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positivos encontrados (ex.: 95)</a:t>
            </a:r>
            <a:endParaRPr lang="en-US" dirty="0"/>
          </a:p>
        </p:txBody>
      </p:sp>
      <p:sp>
        <p:nvSpPr>
          <p:cNvPr id="19" name="Shape 16"/>
          <p:cNvSpPr/>
          <p:nvPr/>
        </p:nvSpPr>
        <p:spPr>
          <a:xfrm>
            <a:off x="5897880" y="2756916"/>
            <a:ext cx="2720340" cy="40005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961888" y="2802636"/>
            <a:ext cx="2592324" cy="31775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FN</a:t>
            </a:r>
            <a:endParaRPr lang="en-US" sz="1400" b="1" dirty="0"/>
          </a:p>
        </p:txBody>
      </p:sp>
      <p:sp>
        <p:nvSpPr>
          <p:cNvPr id="21" name="Shape 18"/>
          <p:cNvSpPr/>
          <p:nvPr/>
        </p:nvSpPr>
        <p:spPr>
          <a:xfrm>
            <a:off x="7910423" y="2756916"/>
            <a:ext cx="3428137" cy="40005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007739" y="2802636"/>
            <a:ext cx="3266813" cy="31775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positivos perdidos (ex.: 5)</a:t>
            </a:r>
            <a:endParaRPr lang="en-US" dirty="0"/>
          </a:p>
        </p:txBody>
      </p:sp>
      <p:sp>
        <p:nvSpPr>
          <p:cNvPr id="23" name="Shape 20"/>
          <p:cNvSpPr/>
          <p:nvPr/>
        </p:nvSpPr>
        <p:spPr>
          <a:xfrm>
            <a:off x="5897880" y="3156966"/>
            <a:ext cx="2720340" cy="40005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961888" y="3202686"/>
            <a:ext cx="2592324" cy="31775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TP+FN</a:t>
            </a:r>
            <a:endParaRPr lang="en-US" sz="1400" b="1" dirty="0"/>
          </a:p>
        </p:txBody>
      </p:sp>
      <p:sp>
        <p:nvSpPr>
          <p:cNvPr id="25" name="Shape 22"/>
          <p:cNvSpPr/>
          <p:nvPr/>
        </p:nvSpPr>
        <p:spPr>
          <a:xfrm>
            <a:off x="7910423" y="3156966"/>
            <a:ext cx="3428137" cy="40005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007739" y="3202686"/>
            <a:ext cx="3266813" cy="31775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todos os positivos reais (ex.: 100)</a:t>
            </a:r>
            <a:endParaRPr lang="en-US" dirty="0"/>
          </a:p>
        </p:txBody>
      </p:sp>
      <p:sp>
        <p:nvSpPr>
          <p:cNvPr id="27" name="Shape 24"/>
          <p:cNvSpPr/>
          <p:nvPr/>
        </p:nvSpPr>
        <p:spPr>
          <a:xfrm>
            <a:off x="713232" y="3730752"/>
            <a:ext cx="3383280" cy="1545336"/>
          </a:xfrm>
          <a:prstGeom prst="roundRect">
            <a:avLst>
              <a:gd name="adj" fmla="val 6400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77824" y="3840480"/>
            <a:ext cx="3054096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 QUE SERVE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877824" y="4114800"/>
            <a:ext cx="3054096" cy="6675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Mede a capacidade de não deixar positivos passarem.</a:t>
            </a:r>
            <a:endParaRPr lang="en-US" sz="2000" dirty="0"/>
          </a:p>
        </p:txBody>
      </p:sp>
      <p:sp>
        <p:nvSpPr>
          <p:cNvPr id="30" name="Shape 27"/>
          <p:cNvSpPr/>
          <p:nvPr/>
        </p:nvSpPr>
        <p:spPr>
          <a:xfrm>
            <a:off x="4407408" y="3730752"/>
            <a:ext cx="3383280" cy="1545336"/>
          </a:xfrm>
          <a:prstGeom prst="roundRect">
            <a:avLst>
              <a:gd name="adj" fmla="val 6400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572000" y="3840480"/>
            <a:ext cx="3054096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COMO INTERPRETAR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4572000" y="4114800"/>
            <a:ext cx="3054096" cy="6675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Recall = 0,95: foram encontrados 95% dos positivos reais.</a:t>
            </a:r>
            <a:endParaRPr lang="en-US" sz="2000" dirty="0"/>
          </a:p>
        </p:txBody>
      </p:sp>
      <p:sp>
        <p:nvSpPr>
          <p:cNvPr id="33" name="Shape 30"/>
          <p:cNvSpPr/>
          <p:nvPr/>
        </p:nvSpPr>
        <p:spPr>
          <a:xfrm>
            <a:off x="8007739" y="3730752"/>
            <a:ext cx="3714869" cy="1545336"/>
          </a:xfrm>
          <a:prstGeom prst="roundRect">
            <a:avLst>
              <a:gd name="adj" fmla="val 6400"/>
            </a:avLst>
          </a:prstGeom>
          <a:solidFill>
            <a:srgbClr val="FDE2E7"/>
          </a:solidFill>
          <a:ln w="12700">
            <a:solidFill>
              <a:srgbClr val="FDE2E7">
                <a:alpha val="0"/>
              </a:srgbClr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8110401" y="3840480"/>
            <a:ext cx="3196264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D149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CUIDADO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8101584" y="4114800"/>
            <a:ext cx="3483864" cy="6675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Pode subir acusando quase todo mundo; por isso Precision deve controlar o falso alarme.</a:t>
            </a:r>
            <a:endParaRPr lang="en-US" sz="2000" dirty="0"/>
          </a:p>
        </p:txBody>
      </p:sp>
      <p:sp>
        <p:nvSpPr>
          <p:cNvPr id="36" name="Shape 33"/>
          <p:cNvSpPr/>
          <p:nvPr/>
        </p:nvSpPr>
        <p:spPr>
          <a:xfrm>
            <a:off x="713232" y="5532120"/>
            <a:ext cx="10625328" cy="1076706"/>
          </a:xfrm>
          <a:prstGeom prst="roundRect">
            <a:avLst>
              <a:gd name="adj" fmla="val 11429"/>
            </a:avLst>
          </a:prstGeom>
          <a:solidFill>
            <a:srgbClr val="FEF3C7"/>
          </a:solidFill>
          <a:ln w="12700">
            <a:solidFill>
              <a:srgbClr val="FEF3C7">
                <a:alpha val="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877824" y="5641848"/>
            <a:ext cx="10296144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EXEMPLO EM UMA FRASE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877824" y="5916168"/>
            <a:ext cx="10296144" cy="5577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 triagem médica, Recall baixo significa muitos doentes liberados sem encaminhamento.</a:t>
            </a:r>
            <a:endParaRPr lang="en-US" sz="2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8288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CLASSIFICAÇÃO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Quando Recall recebe maior peso?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12064" y="114300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Quando perder um positivo é o erro grave.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1311128" y="647395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29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94360" y="1638846"/>
            <a:ext cx="2720340" cy="585216"/>
          </a:xfrm>
          <a:prstGeom prst="rect">
            <a:avLst/>
          </a:prstGeom>
          <a:solidFill>
            <a:srgbClr val="F59E0B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658368" y="1684566"/>
            <a:ext cx="2592324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Mundo real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3314700" y="1638846"/>
            <a:ext cx="2720340" cy="585216"/>
          </a:xfrm>
          <a:prstGeom prst="rect">
            <a:avLst/>
          </a:prstGeom>
          <a:solidFill>
            <a:srgbClr val="F59E0B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3378708" y="1684566"/>
            <a:ext cx="2592324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Positivo significa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6035040" y="1638846"/>
            <a:ext cx="2720340" cy="585216"/>
          </a:xfrm>
          <a:prstGeom prst="rect">
            <a:avLst/>
          </a:prstGeom>
          <a:solidFill>
            <a:srgbClr val="F59E0B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6099048" y="1684566"/>
            <a:ext cx="2592324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FN significa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8755380" y="1638846"/>
            <a:ext cx="2720340" cy="585216"/>
          </a:xfrm>
          <a:prstGeom prst="rect">
            <a:avLst/>
          </a:prstGeom>
          <a:solidFill>
            <a:srgbClr val="F59E0B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8819388" y="1684566"/>
            <a:ext cx="2592324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 que Recall pesa?</a:t>
            </a: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594360" y="2224062"/>
            <a:ext cx="272034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658368" y="2269782"/>
            <a:ext cx="2592324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Câncer</a:t>
            </a: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3314700" y="2224062"/>
            <a:ext cx="272034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3378708" y="2269782"/>
            <a:ext cx="2592324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paciente doente</a:t>
            </a: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6035040" y="2224062"/>
            <a:ext cx="272034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6099048" y="2269782"/>
            <a:ext cx="2592324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doente liberado</a:t>
            </a: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8755380" y="2224062"/>
            <a:ext cx="272034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8819388" y="2269782"/>
            <a:ext cx="2592324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risco clínico</a:t>
            </a: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594360" y="2809278"/>
            <a:ext cx="2720340" cy="58521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658368" y="2854998"/>
            <a:ext cx="2592324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Incêndio</a:t>
            </a: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3314700" y="2809278"/>
            <a:ext cx="2720340" cy="58521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3378708" y="2854998"/>
            <a:ext cx="2592324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fogo real</a:t>
            </a: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6035040" y="2809278"/>
            <a:ext cx="2720340" cy="58521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6099048" y="2854998"/>
            <a:ext cx="2592324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 alarme</a:t>
            </a: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8755380" y="2809278"/>
            <a:ext cx="2720340" cy="58521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/>
          </a:p>
        </p:txBody>
      </p:sp>
      <p:sp>
        <p:nvSpPr>
          <p:cNvPr id="30" name="Text 28"/>
          <p:cNvSpPr/>
          <p:nvPr/>
        </p:nvSpPr>
        <p:spPr>
          <a:xfrm>
            <a:off x="8819388" y="2854998"/>
            <a:ext cx="2592324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risco à vida</a:t>
            </a: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594360" y="3394494"/>
            <a:ext cx="272034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/>
          </a:p>
        </p:txBody>
      </p:sp>
      <p:sp>
        <p:nvSpPr>
          <p:cNvPr id="32" name="Text 30"/>
          <p:cNvSpPr/>
          <p:nvPr/>
        </p:nvSpPr>
        <p:spPr>
          <a:xfrm>
            <a:off x="658368" y="3440214"/>
            <a:ext cx="2592324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Defeito crítico</a:t>
            </a: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3314700" y="3394494"/>
            <a:ext cx="272034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/>
          </a:p>
        </p:txBody>
      </p:sp>
      <p:sp>
        <p:nvSpPr>
          <p:cNvPr id="34" name="Text 32"/>
          <p:cNvSpPr/>
          <p:nvPr/>
        </p:nvSpPr>
        <p:spPr>
          <a:xfrm>
            <a:off x="3378708" y="3440214"/>
            <a:ext cx="2592324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peça defeituosa</a:t>
            </a:r>
            <a:endParaRPr lang="en-US" dirty="0"/>
          </a:p>
        </p:txBody>
      </p:sp>
      <p:sp>
        <p:nvSpPr>
          <p:cNvPr id="35" name="Shape 33"/>
          <p:cNvSpPr/>
          <p:nvPr/>
        </p:nvSpPr>
        <p:spPr>
          <a:xfrm>
            <a:off x="6035040" y="3394494"/>
            <a:ext cx="272034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/>
          </a:p>
        </p:txBody>
      </p:sp>
      <p:sp>
        <p:nvSpPr>
          <p:cNvPr id="36" name="Text 34"/>
          <p:cNvSpPr/>
          <p:nvPr/>
        </p:nvSpPr>
        <p:spPr>
          <a:xfrm>
            <a:off x="6099048" y="3440214"/>
            <a:ext cx="2592324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peça aprovada</a:t>
            </a:r>
            <a:endParaRPr lang="en-US" dirty="0"/>
          </a:p>
        </p:txBody>
      </p:sp>
      <p:sp>
        <p:nvSpPr>
          <p:cNvPr id="37" name="Shape 35"/>
          <p:cNvSpPr/>
          <p:nvPr/>
        </p:nvSpPr>
        <p:spPr>
          <a:xfrm>
            <a:off x="8755380" y="3394494"/>
            <a:ext cx="272034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/>
          </a:p>
        </p:txBody>
      </p:sp>
      <p:sp>
        <p:nvSpPr>
          <p:cNvPr id="38" name="Text 36"/>
          <p:cNvSpPr/>
          <p:nvPr/>
        </p:nvSpPr>
        <p:spPr>
          <a:xfrm>
            <a:off x="8819388" y="3440214"/>
            <a:ext cx="2592324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falha de segurança</a:t>
            </a:r>
            <a:endParaRPr lang="en-US" dirty="0"/>
          </a:p>
        </p:txBody>
      </p:sp>
      <p:sp>
        <p:nvSpPr>
          <p:cNvPr id="39" name="Shape 37"/>
          <p:cNvSpPr/>
          <p:nvPr/>
        </p:nvSpPr>
        <p:spPr>
          <a:xfrm>
            <a:off x="594360" y="3979710"/>
            <a:ext cx="2720340" cy="58521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/>
          </a:p>
        </p:txBody>
      </p:sp>
      <p:sp>
        <p:nvSpPr>
          <p:cNvPr id="40" name="Text 38"/>
          <p:cNvSpPr/>
          <p:nvPr/>
        </p:nvSpPr>
        <p:spPr>
          <a:xfrm>
            <a:off x="658368" y="4025430"/>
            <a:ext cx="2592324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Fraude cara</a:t>
            </a:r>
            <a:endParaRPr lang="en-US" dirty="0"/>
          </a:p>
        </p:txBody>
      </p:sp>
      <p:sp>
        <p:nvSpPr>
          <p:cNvPr id="41" name="Shape 39"/>
          <p:cNvSpPr/>
          <p:nvPr/>
        </p:nvSpPr>
        <p:spPr>
          <a:xfrm>
            <a:off x="3314700" y="3979710"/>
            <a:ext cx="2720340" cy="58521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/>
          </a:p>
        </p:txBody>
      </p:sp>
      <p:sp>
        <p:nvSpPr>
          <p:cNvPr id="42" name="Text 40"/>
          <p:cNvSpPr/>
          <p:nvPr/>
        </p:nvSpPr>
        <p:spPr>
          <a:xfrm>
            <a:off x="3378708" y="4025430"/>
            <a:ext cx="2592324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transação fraudulenta</a:t>
            </a:r>
            <a:endParaRPr lang="en-US" dirty="0"/>
          </a:p>
        </p:txBody>
      </p:sp>
      <p:sp>
        <p:nvSpPr>
          <p:cNvPr id="43" name="Shape 41"/>
          <p:cNvSpPr/>
          <p:nvPr/>
        </p:nvSpPr>
        <p:spPr>
          <a:xfrm>
            <a:off x="6035040" y="3979710"/>
            <a:ext cx="2720340" cy="58521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/>
          </a:p>
        </p:txBody>
      </p:sp>
      <p:sp>
        <p:nvSpPr>
          <p:cNvPr id="44" name="Text 42"/>
          <p:cNvSpPr/>
          <p:nvPr/>
        </p:nvSpPr>
        <p:spPr>
          <a:xfrm>
            <a:off x="6099048" y="4025430"/>
            <a:ext cx="2592324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fraude passa</a:t>
            </a:r>
            <a:endParaRPr lang="en-US" dirty="0"/>
          </a:p>
        </p:txBody>
      </p:sp>
      <p:sp>
        <p:nvSpPr>
          <p:cNvPr id="45" name="Shape 43"/>
          <p:cNvSpPr/>
          <p:nvPr/>
        </p:nvSpPr>
        <p:spPr>
          <a:xfrm>
            <a:off x="8755380" y="3979710"/>
            <a:ext cx="2720340" cy="58521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/>
          </a:p>
        </p:txBody>
      </p:sp>
      <p:sp>
        <p:nvSpPr>
          <p:cNvPr id="46" name="Text 44"/>
          <p:cNvSpPr/>
          <p:nvPr/>
        </p:nvSpPr>
        <p:spPr>
          <a:xfrm>
            <a:off x="8819388" y="4025430"/>
            <a:ext cx="2592324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perda financeira</a:t>
            </a:r>
            <a:endParaRPr lang="en-US" dirty="0"/>
          </a:p>
        </p:txBody>
      </p:sp>
      <p:sp>
        <p:nvSpPr>
          <p:cNvPr id="47" name="Shape 45"/>
          <p:cNvSpPr/>
          <p:nvPr/>
        </p:nvSpPr>
        <p:spPr>
          <a:xfrm>
            <a:off x="960120" y="4983480"/>
            <a:ext cx="10241280" cy="1307592"/>
          </a:xfrm>
          <a:prstGeom prst="roundRect">
            <a:avLst>
              <a:gd name="adj" fmla="val 9412"/>
            </a:avLst>
          </a:prstGeom>
          <a:solidFill>
            <a:srgbClr val="FEF3C7"/>
          </a:solidFill>
          <a:ln w="12700">
            <a:solidFill>
              <a:srgbClr val="FEF3C7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124712" y="5093208"/>
            <a:ext cx="9912096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PENSE ASSIM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1124712" y="5367528"/>
            <a:ext cx="9912096" cy="7917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Recall responde: “eu encontrei aquilo que não podia deixar passar?” </a:t>
            </a:r>
          </a:p>
          <a:p>
            <a:pPr marL="0" indent="0" algn="l">
              <a:buNone/>
            </a:pPr>
            <a:r>
              <a:rPr lang="en-US" sz="20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Ex.: 95 doentes detectados entre 100 reais dá Recall = 0,95.</a:t>
            </a:r>
            <a:endParaRPr lang="en-US" sz="2000" dirty="0"/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21AA5B6A-56E0-A280-4B28-E3F8759DBD7A}"/>
              </a:ext>
            </a:extLst>
          </p:cNvPr>
          <p:cNvSpPr txBox="1"/>
          <p:nvPr/>
        </p:nvSpPr>
        <p:spPr>
          <a:xfrm>
            <a:off x="5705943" y="506239"/>
            <a:ext cx="6098874" cy="92333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b="1" dirty="0"/>
              <a:t>Priorizar Recall:</a:t>
            </a:r>
            <a:r>
              <a:rPr lang="pt-BR" dirty="0"/>
              <a:t> "Se tiver 10% de suspeita, apite logo!" (Encontra quase todos os casos reais, mas gera incômodo com alarmes falsos).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8288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CLASSIFICAÇÃO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Precision — precisão dos alertas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11311128" y="647395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30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66928" y="1417320"/>
            <a:ext cx="11018520" cy="475488"/>
          </a:xfrm>
          <a:prstGeom prst="roundRect">
            <a:avLst>
              <a:gd name="adj" fmla="val 15385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527048"/>
            <a:ext cx="10616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Quando o modelo acusa positivo, com que frequência está certo?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13232" y="2057400"/>
            <a:ext cx="48463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7824" y="2156840"/>
            <a:ext cx="4439067" cy="1055397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897880" y="1956816"/>
            <a:ext cx="2720340" cy="400050"/>
          </a:xfrm>
          <a:prstGeom prst="rect">
            <a:avLst/>
          </a:prstGeom>
          <a:solidFill>
            <a:srgbClr val="F59E0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61888" y="2002536"/>
            <a:ext cx="2592324" cy="31775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Variável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8101584" y="1956816"/>
            <a:ext cx="3236976" cy="400050"/>
          </a:xfrm>
          <a:prstGeom prst="rect">
            <a:avLst/>
          </a:prstGeom>
          <a:solidFill>
            <a:srgbClr val="F59E0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189904" y="2002536"/>
            <a:ext cx="3084648" cy="31775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Significado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897880" y="2356866"/>
            <a:ext cx="2245360" cy="40005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961888" y="2402586"/>
            <a:ext cx="2139696" cy="31775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TP</a:t>
            </a:r>
            <a:endParaRPr lang="en-US" sz="1400" b="1" dirty="0"/>
          </a:p>
        </p:txBody>
      </p:sp>
      <p:sp>
        <p:nvSpPr>
          <p:cNvPr id="17" name="Shape 14"/>
          <p:cNvSpPr/>
          <p:nvPr/>
        </p:nvSpPr>
        <p:spPr>
          <a:xfrm>
            <a:off x="8101584" y="2356866"/>
            <a:ext cx="3236976" cy="40005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189904" y="2402586"/>
            <a:ext cx="3084648" cy="31775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alertas positivos corretos (ex.: 80)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5897880" y="2756916"/>
            <a:ext cx="2245360" cy="40005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961888" y="2802636"/>
            <a:ext cx="2139696" cy="31775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FP</a:t>
            </a:r>
            <a:endParaRPr lang="en-US" sz="1400" b="1" dirty="0"/>
          </a:p>
        </p:txBody>
      </p:sp>
      <p:sp>
        <p:nvSpPr>
          <p:cNvPr id="21" name="Shape 18"/>
          <p:cNvSpPr/>
          <p:nvPr/>
        </p:nvSpPr>
        <p:spPr>
          <a:xfrm>
            <a:off x="8101584" y="2756916"/>
            <a:ext cx="3236976" cy="40005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189904" y="2802636"/>
            <a:ext cx="3084648" cy="31775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alertas positivos falsos (ex.: 20)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5897880" y="3156966"/>
            <a:ext cx="2245360" cy="40005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961888" y="3202686"/>
            <a:ext cx="2139696" cy="31775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TP+FP</a:t>
            </a:r>
            <a:endParaRPr lang="en-US" sz="1400" b="1" dirty="0"/>
          </a:p>
        </p:txBody>
      </p:sp>
      <p:sp>
        <p:nvSpPr>
          <p:cNvPr id="25" name="Shape 22"/>
          <p:cNvSpPr/>
          <p:nvPr/>
        </p:nvSpPr>
        <p:spPr>
          <a:xfrm>
            <a:off x="8101584" y="3156966"/>
            <a:ext cx="3236976" cy="40005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189904" y="3202686"/>
            <a:ext cx="3084648" cy="31775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todos os alertas positivos (ex.: 100)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713232" y="3730751"/>
            <a:ext cx="3383280" cy="1600199"/>
          </a:xfrm>
          <a:prstGeom prst="roundRect">
            <a:avLst>
              <a:gd name="adj" fmla="val 6400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77824" y="3840480"/>
            <a:ext cx="3054096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 QUE SERVE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877824" y="4114800"/>
            <a:ext cx="3054096" cy="6675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Mede a confiabilidade dos alertas positivos.</a:t>
            </a:r>
            <a:endParaRPr lang="en-US" dirty="0"/>
          </a:p>
        </p:txBody>
      </p:sp>
      <p:sp>
        <p:nvSpPr>
          <p:cNvPr id="30" name="Shape 27"/>
          <p:cNvSpPr/>
          <p:nvPr/>
        </p:nvSpPr>
        <p:spPr>
          <a:xfrm>
            <a:off x="4407408" y="3730751"/>
            <a:ext cx="3383280" cy="1600199"/>
          </a:xfrm>
          <a:prstGeom prst="roundRect">
            <a:avLst>
              <a:gd name="adj" fmla="val 6400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572000" y="3840480"/>
            <a:ext cx="3054096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COMO INTERPRETAR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4572000" y="4114800"/>
            <a:ext cx="3054096" cy="6675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Precision = 0,80: de cada 100 alertas, 80 são verdadeiros.</a:t>
            </a:r>
            <a:endParaRPr lang="en-US" dirty="0"/>
          </a:p>
        </p:txBody>
      </p:sp>
      <p:sp>
        <p:nvSpPr>
          <p:cNvPr id="33" name="Shape 30"/>
          <p:cNvSpPr/>
          <p:nvPr/>
        </p:nvSpPr>
        <p:spPr>
          <a:xfrm>
            <a:off x="8101584" y="3730752"/>
            <a:ext cx="3236976" cy="1600200"/>
          </a:xfrm>
          <a:prstGeom prst="roundRect">
            <a:avLst>
              <a:gd name="adj" fmla="val 6400"/>
            </a:avLst>
          </a:prstGeom>
          <a:solidFill>
            <a:srgbClr val="FDE2E7"/>
          </a:solidFill>
          <a:ln w="12700">
            <a:solidFill>
              <a:srgbClr val="FDE2E7">
                <a:alpha val="0"/>
              </a:srgbClr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8266176" y="3840480"/>
            <a:ext cx="2907792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D149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CUIDADO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8266176" y="4114800"/>
            <a:ext cx="2907792" cy="6675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Autofit/>
          </a:bodyPr>
          <a:lstStyle/>
          <a:p>
            <a:pPr marL="0" indent="0" algn="l">
              <a:buNone/>
            </a:pP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Precision alta pode deixar positivos passarem se o modelo só acusa quando tem muita certeza.</a:t>
            </a:r>
            <a:endParaRPr lang="en-US" dirty="0"/>
          </a:p>
        </p:txBody>
      </p:sp>
      <p:sp>
        <p:nvSpPr>
          <p:cNvPr id="36" name="Shape 33"/>
          <p:cNvSpPr/>
          <p:nvPr/>
        </p:nvSpPr>
        <p:spPr>
          <a:xfrm>
            <a:off x="758952" y="5609844"/>
            <a:ext cx="10625328" cy="919379"/>
          </a:xfrm>
          <a:prstGeom prst="roundRect">
            <a:avLst>
              <a:gd name="adj" fmla="val 11429"/>
            </a:avLst>
          </a:prstGeom>
          <a:solidFill>
            <a:srgbClr val="FEF3C7"/>
          </a:solidFill>
          <a:ln w="12700">
            <a:solidFill>
              <a:srgbClr val="FEF3C7">
                <a:alpha val="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23544" y="5719572"/>
            <a:ext cx="10296144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EXEMPLO EM UMA FRASE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923544" y="5993892"/>
            <a:ext cx="10296144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 bloqueio de cartão, Precision baixa significa muitos clientes corretos bloqueados.</a:t>
            </a:r>
            <a:endParaRPr lang="en-US" sz="2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8288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CLASSIFICAÇÃO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Quando Precision recebe maior peso?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12064" y="114300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Quando falso alarme custa caro.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1311128" y="647395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31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12064" y="1673352"/>
            <a:ext cx="2720340" cy="585216"/>
          </a:xfrm>
          <a:prstGeom prst="rect">
            <a:avLst/>
          </a:prstGeom>
          <a:solidFill>
            <a:srgbClr val="F59E0B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576072" y="1719072"/>
            <a:ext cx="2592324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Mundo real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3232404" y="1673352"/>
            <a:ext cx="2720340" cy="585216"/>
          </a:xfrm>
          <a:prstGeom prst="rect">
            <a:avLst/>
          </a:prstGeom>
          <a:solidFill>
            <a:srgbClr val="F59E0B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3296412" y="1719072"/>
            <a:ext cx="2592324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Positivo previsto significa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5952744" y="1673352"/>
            <a:ext cx="2720340" cy="585216"/>
          </a:xfrm>
          <a:prstGeom prst="rect">
            <a:avLst/>
          </a:prstGeom>
          <a:solidFill>
            <a:srgbClr val="F59E0B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6016752" y="1719072"/>
            <a:ext cx="2592324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FP significa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8673084" y="1673352"/>
            <a:ext cx="2720340" cy="585216"/>
          </a:xfrm>
          <a:prstGeom prst="rect">
            <a:avLst/>
          </a:prstGeom>
          <a:solidFill>
            <a:srgbClr val="F59E0B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8737092" y="1719072"/>
            <a:ext cx="2592324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 que Precision pesa?</a:t>
            </a: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512064" y="2258568"/>
            <a:ext cx="272034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576072" y="2304288"/>
            <a:ext cx="2592324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Cartão</a:t>
            </a: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3232404" y="2258568"/>
            <a:ext cx="272034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3296412" y="2304288"/>
            <a:ext cx="2592324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bloquear por fraude</a:t>
            </a: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5952744" y="2258568"/>
            <a:ext cx="272034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6016752" y="2304288"/>
            <a:ext cx="2592324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cliente correto bloqueado</a:t>
            </a: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8673084" y="2258568"/>
            <a:ext cx="272034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8737092" y="2304288"/>
            <a:ext cx="2592324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experiência ruim</a:t>
            </a: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512064" y="2843784"/>
            <a:ext cx="2720340" cy="58521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576072" y="2889504"/>
            <a:ext cx="2592324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Inspeção manual</a:t>
            </a: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3232404" y="2843784"/>
            <a:ext cx="2720340" cy="58521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3296412" y="2889504"/>
            <a:ext cx="2592324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chamar técnico</a:t>
            </a: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5952744" y="2843784"/>
            <a:ext cx="2720340" cy="58521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6016752" y="2889504"/>
            <a:ext cx="2592324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visita desnecessária</a:t>
            </a: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8673084" y="2843784"/>
            <a:ext cx="2720340" cy="58521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/>
          </a:p>
        </p:txBody>
      </p:sp>
      <p:sp>
        <p:nvSpPr>
          <p:cNvPr id="30" name="Text 28"/>
          <p:cNvSpPr/>
          <p:nvPr/>
        </p:nvSpPr>
        <p:spPr>
          <a:xfrm>
            <a:off x="8737092" y="2889504"/>
            <a:ext cx="2592324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 operacional</a:t>
            </a: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512064" y="3429000"/>
            <a:ext cx="272034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/>
          </a:p>
        </p:txBody>
      </p:sp>
      <p:sp>
        <p:nvSpPr>
          <p:cNvPr id="32" name="Text 30"/>
          <p:cNvSpPr/>
          <p:nvPr/>
        </p:nvSpPr>
        <p:spPr>
          <a:xfrm>
            <a:off x="576072" y="3474720"/>
            <a:ext cx="2592324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Processo seletivo</a:t>
            </a: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3232404" y="3429000"/>
            <a:ext cx="272034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/>
          </a:p>
        </p:txBody>
      </p:sp>
      <p:sp>
        <p:nvSpPr>
          <p:cNvPr id="34" name="Text 32"/>
          <p:cNvSpPr/>
          <p:nvPr/>
        </p:nvSpPr>
        <p:spPr>
          <a:xfrm>
            <a:off x="3296412" y="3474720"/>
            <a:ext cx="2592324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reprovar candidato</a:t>
            </a:r>
            <a:endParaRPr lang="en-US" dirty="0"/>
          </a:p>
        </p:txBody>
      </p:sp>
      <p:sp>
        <p:nvSpPr>
          <p:cNvPr id="35" name="Shape 33"/>
          <p:cNvSpPr/>
          <p:nvPr/>
        </p:nvSpPr>
        <p:spPr>
          <a:xfrm>
            <a:off x="5952744" y="3429000"/>
            <a:ext cx="272034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/>
          </a:p>
        </p:txBody>
      </p:sp>
      <p:sp>
        <p:nvSpPr>
          <p:cNvPr id="36" name="Text 34"/>
          <p:cNvSpPr/>
          <p:nvPr/>
        </p:nvSpPr>
        <p:spPr>
          <a:xfrm>
            <a:off x="6016752" y="3474720"/>
            <a:ext cx="2592324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bom candidato excluído</a:t>
            </a:r>
            <a:endParaRPr lang="en-US" dirty="0"/>
          </a:p>
        </p:txBody>
      </p:sp>
      <p:sp>
        <p:nvSpPr>
          <p:cNvPr id="37" name="Shape 35"/>
          <p:cNvSpPr/>
          <p:nvPr/>
        </p:nvSpPr>
        <p:spPr>
          <a:xfrm>
            <a:off x="8673084" y="3429000"/>
            <a:ext cx="272034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/>
          </a:p>
        </p:txBody>
      </p:sp>
      <p:sp>
        <p:nvSpPr>
          <p:cNvPr id="38" name="Text 36"/>
          <p:cNvSpPr/>
          <p:nvPr/>
        </p:nvSpPr>
        <p:spPr>
          <a:xfrm>
            <a:off x="8737092" y="3474720"/>
            <a:ext cx="2592324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perda de oportunidade</a:t>
            </a:r>
            <a:endParaRPr lang="en-US" dirty="0"/>
          </a:p>
        </p:txBody>
      </p:sp>
      <p:sp>
        <p:nvSpPr>
          <p:cNvPr id="39" name="Shape 37"/>
          <p:cNvSpPr/>
          <p:nvPr/>
        </p:nvSpPr>
        <p:spPr>
          <a:xfrm>
            <a:off x="512064" y="4014216"/>
            <a:ext cx="2720340" cy="58521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/>
          </a:p>
        </p:txBody>
      </p:sp>
      <p:sp>
        <p:nvSpPr>
          <p:cNvPr id="40" name="Text 38"/>
          <p:cNvSpPr/>
          <p:nvPr/>
        </p:nvSpPr>
        <p:spPr>
          <a:xfrm>
            <a:off x="576072" y="4059936"/>
            <a:ext cx="2592324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Alarme industrial</a:t>
            </a:r>
            <a:endParaRPr lang="en-US" dirty="0"/>
          </a:p>
        </p:txBody>
      </p:sp>
      <p:sp>
        <p:nvSpPr>
          <p:cNvPr id="41" name="Shape 39"/>
          <p:cNvSpPr/>
          <p:nvPr/>
        </p:nvSpPr>
        <p:spPr>
          <a:xfrm>
            <a:off x="3232404" y="4014216"/>
            <a:ext cx="2720340" cy="58521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/>
          </a:p>
        </p:txBody>
      </p:sp>
      <p:sp>
        <p:nvSpPr>
          <p:cNvPr id="42" name="Text 40"/>
          <p:cNvSpPr/>
          <p:nvPr/>
        </p:nvSpPr>
        <p:spPr>
          <a:xfrm>
            <a:off x="3296412" y="4059936"/>
            <a:ext cx="2592324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parar linha</a:t>
            </a:r>
            <a:endParaRPr lang="en-US" dirty="0"/>
          </a:p>
        </p:txBody>
      </p:sp>
      <p:sp>
        <p:nvSpPr>
          <p:cNvPr id="43" name="Shape 41"/>
          <p:cNvSpPr/>
          <p:nvPr/>
        </p:nvSpPr>
        <p:spPr>
          <a:xfrm>
            <a:off x="5952744" y="4014216"/>
            <a:ext cx="2720340" cy="58521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/>
          </a:p>
        </p:txBody>
      </p:sp>
      <p:sp>
        <p:nvSpPr>
          <p:cNvPr id="44" name="Text 42"/>
          <p:cNvSpPr/>
          <p:nvPr/>
        </p:nvSpPr>
        <p:spPr>
          <a:xfrm>
            <a:off x="6016752" y="4059936"/>
            <a:ext cx="2592324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parada falsa</a:t>
            </a:r>
            <a:endParaRPr lang="en-US" dirty="0"/>
          </a:p>
        </p:txBody>
      </p:sp>
      <p:sp>
        <p:nvSpPr>
          <p:cNvPr id="45" name="Shape 43"/>
          <p:cNvSpPr/>
          <p:nvPr/>
        </p:nvSpPr>
        <p:spPr>
          <a:xfrm>
            <a:off x="8673084" y="4014216"/>
            <a:ext cx="2720340" cy="58521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/>
          </a:p>
        </p:txBody>
      </p:sp>
      <p:sp>
        <p:nvSpPr>
          <p:cNvPr id="46" name="Text 44"/>
          <p:cNvSpPr/>
          <p:nvPr/>
        </p:nvSpPr>
        <p:spPr>
          <a:xfrm>
            <a:off x="8737092" y="4059936"/>
            <a:ext cx="2592324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perda de produção</a:t>
            </a:r>
            <a:endParaRPr lang="en-US" dirty="0"/>
          </a:p>
        </p:txBody>
      </p:sp>
      <p:sp>
        <p:nvSpPr>
          <p:cNvPr id="47" name="Shape 45"/>
          <p:cNvSpPr/>
          <p:nvPr/>
        </p:nvSpPr>
        <p:spPr>
          <a:xfrm>
            <a:off x="975360" y="4983479"/>
            <a:ext cx="10241280" cy="1184407"/>
          </a:xfrm>
          <a:prstGeom prst="roundRect">
            <a:avLst>
              <a:gd name="adj" fmla="val 9412"/>
            </a:avLst>
          </a:prstGeom>
          <a:solidFill>
            <a:srgbClr val="FEF3C7"/>
          </a:solidFill>
          <a:ln w="12700">
            <a:solidFill>
              <a:srgbClr val="FEF3C7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139952" y="5093208"/>
            <a:ext cx="9912096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PENSE ASSIM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1139952" y="5367528"/>
            <a:ext cx="9912096" cy="62783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Precision responde: “quando o sistema grita alerta, posso confiar?” </a:t>
            </a:r>
          </a:p>
          <a:p>
            <a:pPr marL="0" indent="0" algn="l">
              <a:buNone/>
            </a:pPr>
            <a:r>
              <a:rPr lang="en-US" sz="20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Ex.: 80 alertas corretos entre 100 emitidos dá Precision = 0,80.</a:t>
            </a:r>
            <a:endParaRPr lang="en-US" sz="2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8288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CLASSIFICAÇÃO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Precision e Recall puxam em direções diferentes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12064" y="114300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A decisão depende do custo do erro.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1311128" y="647395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32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713232" y="1417320"/>
            <a:ext cx="10744200" cy="530352"/>
          </a:xfrm>
          <a:prstGeom prst="roundRect">
            <a:avLst>
              <a:gd name="adj" fmla="val 13793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527048"/>
            <a:ext cx="103418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eu marco mais casos como positivos, encontro mais positivos — mas crio mais falsos alarmes.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49808" y="2331720"/>
            <a:ext cx="2663190" cy="514350"/>
          </a:xfrm>
          <a:prstGeom prst="rect">
            <a:avLst/>
          </a:prstGeom>
          <a:solidFill>
            <a:srgbClr val="F59E0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3816" y="2377440"/>
            <a:ext cx="2535174" cy="43205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Estratégia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412998" y="2331720"/>
            <a:ext cx="2663190" cy="514350"/>
          </a:xfrm>
          <a:prstGeom prst="rect">
            <a:avLst/>
          </a:prstGeom>
          <a:solidFill>
            <a:srgbClr val="F59E0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7006" y="2377440"/>
            <a:ext cx="2535174" cy="43205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que acontece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076188" y="2331720"/>
            <a:ext cx="2663190" cy="514350"/>
          </a:xfrm>
          <a:prstGeom prst="rect">
            <a:avLst/>
          </a:prstGeom>
          <a:solidFill>
            <a:srgbClr val="F59E0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40196" y="2377440"/>
            <a:ext cx="2535174" cy="43205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Recall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739378" y="2331720"/>
            <a:ext cx="2663190" cy="514350"/>
          </a:xfrm>
          <a:prstGeom prst="rect">
            <a:avLst/>
          </a:prstGeom>
          <a:solidFill>
            <a:srgbClr val="F59E0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803386" y="2377440"/>
            <a:ext cx="2535174" cy="43205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Precision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49808" y="2846070"/>
            <a:ext cx="2663190" cy="51435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3816" y="2891790"/>
            <a:ext cx="2535174" cy="43205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Acusar muitos casos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412998" y="2846070"/>
            <a:ext cx="2663190" cy="51435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7006" y="2891790"/>
            <a:ext cx="2535174" cy="43205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encontra quase todos positivos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076188" y="2846070"/>
            <a:ext cx="2663190" cy="51435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40196" y="2891790"/>
            <a:ext cx="2535174" cy="43205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sobe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739378" y="2846070"/>
            <a:ext cx="2663190" cy="51435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803386" y="2891790"/>
            <a:ext cx="2535174" cy="43205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pode cair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49808" y="3360420"/>
            <a:ext cx="2663190" cy="51435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13816" y="3406140"/>
            <a:ext cx="2535174" cy="43205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Acusar poucos casos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412998" y="3360420"/>
            <a:ext cx="2663190" cy="51435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7006" y="3406140"/>
            <a:ext cx="2535174" cy="43205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só acusa quando tem certeza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076188" y="3360420"/>
            <a:ext cx="2663190" cy="51435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40196" y="3406140"/>
            <a:ext cx="2535174" cy="43205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pode cair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739378" y="3360420"/>
            <a:ext cx="2663190" cy="51435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803386" y="3406140"/>
            <a:ext cx="2535174" cy="43205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sobe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49808" y="3874770"/>
            <a:ext cx="2663190" cy="51435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3816" y="3920490"/>
            <a:ext cx="2535174" cy="43205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Equilíbrio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3412998" y="3874770"/>
            <a:ext cx="2663190" cy="51435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77006" y="3920490"/>
            <a:ext cx="2535174" cy="43205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depende do custo de FP e FN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076188" y="3874770"/>
            <a:ext cx="2663190" cy="51435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40196" y="3920490"/>
            <a:ext cx="2535174" cy="43205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controlado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739378" y="3874770"/>
            <a:ext cx="2663190" cy="51435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803386" y="3920490"/>
            <a:ext cx="2535174" cy="43205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controlado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960120" y="5074920"/>
            <a:ext cx="10241280" cy="777240"/>
          </a:xfrm>
          <a:prstGeom prst="roundRect">
            <a:avLst>
              <a:gd name="adj" fmla="val 9412"/>
            </a:avLst>
          </a:prstGeom>
          <a:solidFill>
            <a:srgbClr val="FEF3C7"/>
          </a:solidFill>
          <a:ln w="12700">
            <a:solidFill>
              <a:srgbClr val="FEF3C7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124712" y="5184648"/>
            <a:ext cx="9912096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EXEMPLO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1124712" y="5458968"/>
            <a:ext cx="9912096" cy="30175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Triagem médica aceita mais FP para reduzir FN. Bloqueio automático de cartão exige controlar FP.</a:t>
            </a:r>
            <a:endParaRPr lang="en-US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B6AE98-1998-D5BB-7246-08A9FDD4A5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56E63D5-0475-45C9-05E4-6E35DECBC5EE}"/>
              </a:ext>
            </a:extLst>
          </p:cNvPr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69F23DF-7C0D-41B3-FB69-3E2D2671DDC2}"/>
              </a:ext>
            </a:extLst>
          </p:cNvPr>
          <p:cNvSpPr/>
          <p:nvPr/>
        </p:nvSpPr>
        <p:spPr>
          <a:xfrm>
            <a:off x="502920" y="18288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CLASSIFICAÇÃO</a:t>
            </a:r>
            <a:endParaRPr lang="en-US" sz="9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A52CCA6-6294-9A60-E0EA-A8D91089B21C}"/>
              </a:ext>
            </a:extLst>
          </p:cNvPr>
          <p:cNvSpPr/>
          <p:nvPr/>
        </p:nvSpPr>
        <p:spPr>
          <a:xfrm>
            <a:off x="502920" y="566928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Precision e Recall puxam em direções diferentes</a:t>
            </a:r>
            <a:endParaRPr lang="en-US" sz="25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F63FDB71-FBF7-9BF8-FCB5-05C3C1C2A824}"/>
              </a:ext>
            </a:extLst>
          </p:cNvPr>
          <p:cNvSpPr/>
          <p:nvPr/>
        </p:nvSpPr>
        <p:spPr>
          <a:xfrm>
            <a:off x="11311128" y="647395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32</a:t>
            </a:r>
            <a:endParaRPr lang="en-US" sz="800" dirty="0"/>
          </a:p>
        </p:txBody>
      </p:sp>
      <p:graphicFrame>
        <p:nvGraphicFramePr>
          <p:cNvPr id="44" name="Tabela 43">
            <a:extLst>
              <a:ext uri="{FF2B5EF4-FFF2-40B4-BE49-F238E27FC236}">
                <a16:creationId xmlns:a16="http://schemas.microsoft.com/office/drawing/2014/main" id="{7B34F2E7-71F2-80B5-92BF-76861AB2C1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9518761"/>
              </p:ext>
            </p:extLst>
          </p:nvPr>
        </p:nvGraphicFramePr>
        <p:xfrm>
          <a:off x="424324" y="1170432"/>
          <a:ext cx="11343045" cy="4351337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620435">
                  <a:extLst>
                    <a:ext uri="{9D8B030D-6E8A-4147-A177-3AD203B41FA5}">
                      <a16:colId xmlns:a16="http://schemas.microsoft.com/office/drawing/2014/main" val="3054118575"/>
                    </a:ext>
                  </a:extLst>
                </a:gridCol>
                <a:gridCol w="1620435">
                  <a:extLst>
                    <a:ext uri="{9D8B030D-6E8A-4147-A177-3AD203B41FA5}">
                      <a16:colId xmlns:a16="http://schemas.microsoft.com/office/drawing/2014/main" val="2069438043"/>
                    </a:ext>
                  </a:extLst>
                </a:gridCol>
                <a:gridCol w="1620435">
                  <a:extLst>
                    <a:ext uri="{9D8B030D-6E8A-4147-A177-3AD203B41FA5}">
                      <a16:colId xmlns:a16="http://schemas.microsoft.com/office/drawing/2014/main" val="2316948517"/>
                    </a:ext>
                  </a:extLst>
                </a:gridCol>
                <a:gridCol w="1620435">
                  <a:extLst>
                    <a:ext uri="{9D8B030D-6E8A-4147-A177-3AD203B41FA5}">
                      <a16:colId xmlns:a16="http://schemas.microsoft.com/office/drawing/2014/main" val="609605478"/>
                    </a:ext>
                  </a:extLst>
                </a:gridCol>
                <a:gridCol w="1620435">
                  <a:extLst>
                    <a:ext uri="{9D8B030D-6E8A-4147-A177-3AD203B41FA5}">
                      <a16:colId xmlns:a16="http://schemas.microsoft.com/office/drawing/2014/main" val="2367552283"/>
                    </a:ext>
                  </a:extLst>
                </a:gridCol>
                <a:gridCol w="1620435">
                  <a:extLst>
                    <a:ext uri="{9D8B030D-6E8A-4147-A177-3AD203B41FA5}">
                      <a16:colId xmlns:a16="http://schemas.microsoft.com/office/drawing/2014/main" val="3988853438"/>
                    </a:ext>
                  </a:extLst>
                </a:gridCol>
                <a:gridCol w="1620435">
                  <a:extLst>
                    <a:ext uri="{9D8B030D-6E8A-4147-A177-3AD203B41FA5}">
                      <a16:colId xmlns:a16="http://schemas.microsoft.com/office/drawing/2014/main" val="1398465316"/>
                    </a:ext>
                  </a:extLst>
                </a:gridCol>
              </a:tblGrid>
              <a:tr h="83679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 b="1" dirty="0"/>
                        <a:t>Estratégia</a:t>
                      </a:r>
                    </a:p>
                  </a:txBody>
                  <a:tcPr marL="83680" marR="83680" marT="41840" marB="4184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 b="1" dirty="0"/>
                        <a:t>Decisão do modelo</a:t>
                      </a:r>
                    </a:p>
                  </a:txBody>
                  <a:tcPr marL="83680" marR="83680" marT="41840" marB="4184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 b="1" dirty="0"/>
                        <a:t>TP — positivos encontrados</a:t>
                      </a:r>
                    </a:p>
                  </a:txBody>
                  <a:tcPr marL="83680" marR="83680" marT="41840" marB="4184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 b="1" dirty="0"/>
                        <a:t>FN — positivos perdidos</a:t>
                      </a:r>
                    </a:p>
                  </a:txBody>
                  <a:tcPr marL="83680" marR="83680" marT="41840" marB="4184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 b="1" dirty="0"/>
                        <a:t>FP — alarmes falsos</a:t>
                      </a:r>
                    </a:p>
                  </a:txBody>
                  <a:tcPr marL="83680" marR="83680" marT="41840" marB="4184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 b="1" dirty="0"/>
                        <a:t>Recall</a:t>
                      </a:r>
                    </a:p>
                  </a:txBody>
                  <a:tcPr marL="83680" marR="83680" marT="41840" marB="41840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 b="1" dirty="0" err="1"/>
                        <a:t>Precision</a:t>
                      </a:r>
                      <a:endParaRPr lang="pt-BR" sz="1600" b="1" dirty="0"/>
                    </a:p>
                  </a:txBody>
                  <a:tcPr marL="83680" marR="83680" marT="41840" marB="41840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4510604"/>
                  </a:ext>
                </a:extLst>
              </a:tr>
              <a:tr h="108783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 dirty="0"/>
                        <a:t>Acusar muitos (Modo Alarme)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 dirty="0"/>
                        <a:t>Marca 180 pessoas como positivas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 dirty="0"/>
                        <a:t>95 de 100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 dirty="0"/>
                        <a:t>5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 dirty="0"/>
                        <a:t>85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 dirty="0"/>
                        <a:t>95% ↑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/>
                        <a:t>53% ↓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325359096"/>
                  </a:ext>
                </a:extLst>
              </a:tr>
              <a:tr h="133887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/>
                        <a:t>Acusar poucos (Modo Conservador)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/>
                        <a:t>Marca apenas 30 pessoas com alta certeza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/>
                        <a:t>28 de 100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 dirty="0"/>
                        <a:t>72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/>
                        <a:t>2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 dirty="0"/>
                        <a:t>28% ↓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 dirty="0"/>
                        <a:t>93% ↑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3254138647"/>
                  </a:ext>
                </a:extLst>
              </a:tr>
              <a:tr h="108783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 dirty="0"/>
                        <a:t>Equilíbrio (Modo Balanceado)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/>
                        <a:t>Marca 90 pessoas com boa suspeita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/>
                        <a:t>80 de 100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/>
                        <a:t>20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/>
                        <a:t>10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/>
                        <a:t>80%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 dirty="0"/>
                        <a:t>89%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1584651047"/>
                  </a:ext>
                </a:extLst>
              </a:tr>
            </a:tbl>
          </a:graphicData>
        </a:graphic>
      </p:graphicFrame>
      <p:sp>
        <p:nvSpPr>
          <p:cNvPr id="45" name="CaixaDeTexto 44">
            <a:extLst>
              <a:ext uri="{FF2B5EF4-FFF2-40B4-BE49-F238E27FC236}">
                <a16:creationId xmlns:a16="http://schemas.microsoft.com/office/drawing/2014/main" id="{68E693C7-B528-9A43-64BD-6B2FE56888F7}"/>
              </a:ext>
            </a:extLst>
          </p:cNvPr>
          <p:cNvSpPr txBox="1"/>
          <p:nvPr/>
        </p:nvSpPr>
        <p:spPr>
          <a:xfrm>
            <a:off x="424324" y="5710860"/>
            <a:ext cx="1134304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pt-BR" sz="1400" b="1" dirty="0"/>
              <a:t>Acusar muitos:</a:t>
            </a:r>
            <a:r>
              <a:rPr lang="pt-BR" sz="1400" dirty="0"/>
              <a:t> Atinge </a:t>
            </a:r>
            <a:r>
              <a:rPr lang="pt-BR" sz="1400" b="1" dirty="0"/>
              <a:t>95% de Recall</a:t>
            </a:r>
            <a:r>
              <a:rPr lang="pt-BR" sz="1400" dirty="0"/>
              <a:t> (pega quase todo mundo), mas a </a:t>
            </a:r>
            <a:r>
              <a:rPr lang="pt-BR" sz="1400" b="1" dirty="0" err="1"/>
              <a:t>Precision</a:t>
            </a:r>
            <a:r>
              <a:rPr lang="pt-BR" sz="1400" b="1" dirty="0"/>
              <a:t> despenca para 53%</a:t>
            </a:r>
            <a:r>
              <a:rPr lang="pt-BR" sz="1400" dirty="0"/>
              <a:t> (metade dos chamados era alarme falso).</a:t>
            </a:r>
          </a:p>
          <a:p>
            <a:pPr lvl="0"/>
            <a:r>
              <a:rPr lang="pt-BR" sz="1400" b="1" dirty="0"/>
              <a:t>Acusar poucos:</a:t>
            </a:r>
            <a:r>
              <a:rPr lang="pt-BR" sz="1400" dirty="0"/>
              <a:t> A </a:t>
            </a:r>
            <a:r>
              <a:rPr lang="pt-BR" sz="1400" b="1" dirty="0" err="1"/>
              <a:t>Precision</a:t>
            </a:r>
            <a:r>
              <a:rPr lang="pt-BR" sz="1400" b="1" dirty="0"/>
              <a:t> vai a 93%</a:t>
            </a:r>
            <a:r>
              <a:rPr lang="pt-BR" sz="1400" dirty="0"/>
              <a:t> (quase não erra quando apita), mas o </a:t>
            </a:r>
            <a:r>
              <a:rPr lang="pt-BR" sz="1400" b="1" dirty="0"/>
              <a:t>Recall cai para 28%</a:t>
            </a:r>
            <a:r>
              <a:rPr lang="pt-BR" sz="1400" dirty="0"/>
              <a:t> (deixou 72 doentes passarem).</a:t>
            </a:r>
          </a:p>
          <a:p>
            <a:pPr lvl="0"/>
            <a:r>
              <a:rPr lang="pt-BR" sz="1400" b="1" dirty="0"/>
              <a:t>Equilíbrio:</a:t>
            </a:r>
            <a:r>
              <a:rPr lang="pt-BR" sz="1400" dirty="0"/>
              <a:t> Encontra a zona de compromisso ideal para o negócio.</a:t>
            </a:r>
          </a:p>
          <a:p>
            <a:endParaRPr lang="pt-BR" sz="1400" dirty="0"/>
          </a:p>
        </p:txBody>
      </p: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20933A2F-5BAA-7F7F-91E6-E9BDAEBE4F5E}"/>
              </a:ext>
            </a:extLst>
          </p:cNvPr>
          <p:cNvSpPr txBox="1"/>
          <p:nvPr/>
        </p:nvSpPr>
        <p:spPr>
          <a:xfrm>
            <a:off x="361188" y="907022"/>
            <a:ext cx="111556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dirty="0"/>
              <a:t>Configurar o modelo de Inteligência Artificial para ser </a:t>
            </a:r>
            <a:r>
              <a:rPr lang="pt-BR" sz="1200" b="1" dirty="0"/>
              <a:t>extremamente sensível, desconfiado ou balanceado.</a:t>
            </a:r>
            <a:endParaRPr lang="pt-BR" sz="1200" dirty="0"/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6AF6CCD8-379C-234C-6575-E399C4087F3A}"/>
              </a:ext>
            </a:extLst>
          </p:cNvPr>
          <p:cNvSpPr txBox="1"/>
          <p:nvPr/>
        </p:nvSpPr>
        <p:spPr>
          <a:xfrm>
            <a:off x="10125975" y="1524115"/>
            <a:ext cx="159663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 err="1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confiabilidade</a:t>
            </a:r>
            <a:r>
              <a:rPr lang="en-US" sz="10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dos </a:t>
            </a:r>
          </a:p>
          <a:p>
            <a:pPr algn="ctr"/>
            <a:r>
              <a:rPr lang="en-US" sz="1000" dirty="0" err="1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alertas</a:t>
            </a:r>
            <a:r>
              <a:rPr lang="en-US" sz="10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000" dirty="0" err="1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positivos</a:t>
            </a:r>
            <a:endParaRPr lang="pt-BR" sz="1000" dirty="0"/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506D25D3-F62D-E427-E69E-B2E903380E0F}"/>
              </a:ext>
            </a:extLst>
          </p:cNvPr>
          <p:cNvSpPr txBox="1"/>
          <p:nvPr/>
        </p:nvSpPr>
        <p:spPr>
          <a:xfrm>
            <a:off x="8582220" y="1513852"/>
            <a:ext cx="149899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dirty="0" err="1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não</a:t>
            </a:r>
            <a:r>
              <a:rPr lang="en-US" sz="11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100" dirty="0" err="1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deixar</a:t>
            </a:r>
            <a:r>
              <a:rPr lang="en-US" sz="11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100" dirty="0" err="1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positivos</a:t>
            </a:r>
            <a:r>
              <a:rPr lang="en-US" sz="11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100" dirty="0" err="1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passarem</a:t>
            </a:r>
            <a:endParaRPr lang="pt-BR" sz="1050" dirty="0"/>
          </a:p>
        </p:txBody>
      </p:sp>
    </p:spTree>
    <p:extLst>
      <p:ext uri="{BB962C8B-B14F-4D97-AF65-F5344CB8AC3E}">
        <p14:creationId xmlns:p14="http://schemas.microsoft.com/office/powerpoint/2010/main" val="371429540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8288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CLASSIFICAÇÃO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F1-score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11311128" y="647395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33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66928" y="1417320"/>
            <a:ext cx="11018520" cy="475488"/>
          </a:xfrm>
          <a:prstGeom prst="roundRect">
            <a:avLst>
              <a:gd name="adj" fmla="val 15385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527048"/>
            <a:ext cx="10616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Precision e Recall estão equilibrados?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13232" y="2057400"/>
            <a:ext cx="48463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4400" y="2240280"/>
            <a:ext cx="4434840" cy="82296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897880" y="1956816"/>
            <a:ext cx="2720340" cy="400050"/>
          </a:xfrm>
          <a:prstGeom prst="rect">
            <a:avLst/>
          </a:prstGeom>
          <a:solidFill>
            <a:srgbClr val="F59E0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61888" y="2002536"/>
            <a:ext cx="2592324" cy="31775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Variável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790688" y="1956816"/>
            <a:ext cx="3547872" cy="400050"/>
          </a:xfrm>
          <a:prstGeom prst="rect">
            <a:avLst/>
          </a:prstGeom>
          <a:solidFill>
            <a:srgbClr val="F59E0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893638" y="2002536"/>
            <a:ext cx="3380913" cy="31775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Significado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5897880" y="2356866"/>
            <a:ext cx="1919111" cy="40005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961888" y="2402586"/>
            <a:ext cx="1828800" cy="31775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Precision</a:t>
            </a:r>
            <a:endParaRPr lang="en-US" sz="1600" b="1" dirty="0"/>
          </a:p>
        </p:txBody>
      </p:sp>
      <p:sp>
        <p:nvSpPr>
          <p:cNvPr id="17" name="Shape 14"/>
          <p:cNvSpPr/>
          <p:nvPr/>
        </p:nvSpPr>
        <p:spPr>
          <a:xfrm>
            <a:off x="7790688" y="2356866"/>
            <a:ext cx="3547872" cy="40005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893638" y="2402586"/>
            <a:ext cx="3380913" cy="31775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confiabilidade dos alertas (ex.: 0,80)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5897880" y="2756916"/>
            <a:ext cx="1919111" cy="40005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961888" y="2802636"/>
            <a:ext cx="1828800" cy="31775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Recall</a:t>
            </a:r>
            <a:endParaRPr lang="en-US" sz="1600" b="1" dirty="0"/>
          </a:p>
        </p:txBody>
      </p:sp>
      <p:sp>
        <p:nvSpPr>
          <p:cNvPr id="21" name="Shape 18"/>
          <p:cNvSpPr/>
          <p:nvPr/>
        </p:nvSpPr>
        <p:spPr>
          <a:xfrm>
            <a:off x="7790688" y="2756916"/>
            <a:ext cx="3547872" cy="40005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893638" y="2802636"/>
            <a:ext cx="3380913" cy="31775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cobertura dos positivos (ex.: 0,95)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5897880" y="3156966"/>
            <a:ext cx="1919111" cy="40005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961888" y="3202686"/>
            <a:ext cx="1828800" cy="31775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F1</a:t>
            </a:r>
            <a:endParaRPr lang="en-US" sz="1600" b="1" dirty="0"/>
          </a:p>
        </p:txBody>
      </p:sp>
      <p:sp>
        <p:nvSpPr>
          <p:cNvPr id="25" name="Shape 22"/>
          <p:cNvSpPr/>
          <p:nvPr/>
        </p:nvSpPr>
        <p:spPr>
          <a:xfrm>
            <a:off x="7790688" y="3156966"/>
            <a:ext cx="3547872" cy="40005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893638" y="3202686"/>
            <a:ext cx="3380913" cy="31775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média harmônica dos dois (ex.: 0,87)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713232" y="3730752"/>
            <a:ext cx="3383280" cy="1453896"/>
          </a:xfrm>
          <a:prstGeom prst="roundRect">
            <a:avLst>
              <a:gd name="adj" fmla="val 6400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77824" y="3840480"/>
            <a:ext cx="3054096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 QUE SERVE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877824" y="4114800"/>
            <a:ext cx="3054096" cy="6675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Resume o equilíbrio entre Precision e Recall.</a:t>
            </a:r>
            <a:endParaRPr lang="en-US" sz="2000" dirty="0"/>
          </a:p>
        </p:txBody>
      </p:sp>
      <p:sp>
        <p:nvSpPr>
          <p:cNvPr id="30" name="Shape 27"/>
          <p:cNvSpPr/>
          <p:nvPr/>
        </p:nvSpPr>
        <p:spPr>
          <a:xfrm>
            <a:off x="4206240" y="3730752"/>
            <a:ext cx="3383280" cy="1453896"/>
          </a:xfrm>
          <a:prstGeom prst="roundRect">
            <a:avLst>
              <a:gd name="adj" fmla="val 6400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370832" y="3840480"/>
            <a:ext cx="3054096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COMO INTERPRETAR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4370832" y="4114800"/>
            <a:ext cx="3054096" cy="6675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F1 alto exige que Precision e Recall estejam razoavelmente altos.</a:t>
            </a:r>
            <a:endParaRPr lang="en-US" sz="2000" dirty="0"/>
          </a:p>
        </p:txBody>
      </p:sp>
      <p:sp>
        <p:nvSpPr>
          <p:cNvPr id="33" name="Shape 30"/>
          <p:cNvSpPr/>
          <p:nvPr/>
        </p:nvSpPr>
        <p:spPr>
          <a:xfrm>
            <a:off x="7699248" y="3730752"/>
            <a:ext cx="4023360" cy="1453896"/>
          </a:xfrm>
          <a:prstGeom prst="roundRect">
            <a:avLst>
              <a:gd name="adj" fmla="val 6400"/>
            </a:avLst>
          </a:prstGeom>
          <a:solidFill>
            <a:srgbClr val="FDE2E7"/>
          </a:solidFill>
          <a:ln w="12700">
            <a:solidFill>
              <a:srgbClr val="FDE2E7">
                <a:alpha val="0"/>
              </a:srgbClr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943088" y="3840480"/>
            <a:ext cx="323088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D149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CUIDADO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7889240" y="4114800"/>
            <a:ext cx="3769360" cy="6675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Não conhece o custo real: dois modelos com F1 parecido podem ter impactos diferentes.</a:t>
            </a:r>
            <a:endParaRPr lang="en-US" sz="2000" dirty="0"/>
          </a:p>
        </p:txBody>
      </p:sp>
      <p:sp>
        <p:nvSpPr>
          <p:cNvPr id="36" name="Shape 33"/>
          <p:cNvSpPr/>
          <p:nvPr/>
        </p:nvSpPr>
        <p:spPr>
          <a:xfrm>
            <a:off x="713232" y="5383572"/>
            <a:ext cx="10625328" cy="953219"/>
          </a:xfrm>
          <a:prstGeom prst="roundRect">
            <a:avLst>
              <a:gd name="adj" fmla="val 11429"/>
            </a:avLst>
          </a:prstGeom>
          <a:solidFill>
            <a:srgbClr val="FEF3C7"/>
          </a:solidFill>
          <a:ln w="12700">
            <a:solidFill>
              <a:srgbClr val="FEF3C7">
                <a:alpha val="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877824" y="5493301"/>
            <a:ext cx="10296144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EXEMPLO EM UMA FRASE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877824" y="5864753"/>
            <a:ext cx="10296144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F1 ajuda a comparar, mas a decisão final ainda depende de FP e FN.</a:t>
            </a:r>
            <a:endParaRPr lang="en-US" sz="2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8288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CLASSIFICAÇÃO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F1 ajuda, mas não decide sozinho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12064" y="114300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O custo do erro ainda manda.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1311128" y="647395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34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658368" y="1664208"/>
            <a:ext cx="2176272" cy="548640"/>
          </a:xfrm>
          <a:prstGeom prst="rect">
            <a:avLst/>
          </a:prstGeom>
          <a:solidFill>
            <a:srgbClr val="F59E0B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722376" y="1709928"/>
            <a:ext cx="2048256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Modelo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2834640" y="1664208"/>
            <a:ext cx="2176272" cy="548640"/>
          </a:xfrm>
          <a:prstGeom prst="rect">
            <a:avLst/>
          </a:prstGeom>
          <a:solidFill>
            <a:srgbClr val="F59E0B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2898648" y="1709928"/>
            <a:ext cx="2048256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Precision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5010912" y="1664208"/>
            <a:ext cx="2176272" cy="548640"/>
          </a:xfrm>
          <a:prstGeom prst="rect">
            <a:avLst/>
          </a:prstGeom>
          <a:solidFill>
            <a:srgbClr val="F59E0B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5074920" y="1709928"/>
            <a:ext cx="2048256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Recall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7187184" y="1664208"/>
            <a:ext cx="2176272" cy="548640"/>
          </a:xfrm>
          <a:prstGeom prst="rect">
            <a:avLst/>
          </a:prstGeom>
          <a:solidFill>
            <a:srgbClr val="F59E0B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7251192" y="1709928"/>
            <a:ext cx="2048256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F1 aproximado</a:t>
            </a: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9363456" y="1664208"/>
            <a:ext cx="2176272" cy="548640"/>
          </a:xfrm>
          <a:prstGeom prst="rect">
            <a:avLst/>
          </a:prstGeom>
          <a:solidFill>
            <a:srgbClr val="F59E0B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9427464" y="1709928"/>
            <a:ext cx="2048256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Pode ser ruim se...</a:t>
            </a: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658368" y="2212848"/>
            <a:ext cx="2176272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722376" y="2258568"/>
            <a:ext cx="2048256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2834640" y="2212848"/>
            <a:ext cx="2176272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2898648" y="2258568"/>
            <a:ext cx="2048256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0,95</a:t>
            </a: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5010912" y="2212848"/>
            <a:ext cx="2176272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5074920" y="2258568"/>
            <a:ext cx="2048256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0,40</a:t>
            </a: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7187184" y="2212848"/>
            <a:ext cx="2176272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7251192" y="2258568"/>
            <a:ext cx="2048256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0,56</a:t>
            </a: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9363456" y="2212848"/>
            <a:ext cx="2176272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9427464" y="2258568"/>
            <a:ext cx="2048256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FN é grave</a:t>
            </a: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658368" y="2761488"/>
            <a:ext cx="2176272" cy="5486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722376" y="2807208"/>
            <a:ext cx="2048256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2834640" y="2761488"/>
            <a:ext cx="2176272" cy="5486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/>
          </a:p>
        </p:txBody>
      </p:sp>
      <p:sp>
        <p:nvSpPr>
          <p:cNvPr id="30" name="Text 28"/>
          <p:cNvSpPr/>
          <p:nvPr/>
        </p:nvSpPr>
        <p:spPr>
          <a:xfrm>
            <a:off x="2898648" y="2807208"/>
            <a:ext cx="2048256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0,40</a:t>
            </a: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5010912" y="2761488"/>
            <a:ext cx="2176272" cy="5486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/>
          </a:p>
        </p:txBody>
      </p:sp>
      <p:sp>
        <p:nvSpPr>
          <p:cNvPr id="32" name="Text 30"/>
          <p:cNvSpPr/>
          <p:nvPr/>
        </p:nvSpPr>
        <p:spPr>
          <a:xfrm>
            <a:off x="5074920" y="2807208"/>
            <a:ext cx="2048256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0,95</a:t>
            </a: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7187184" y="2761488"/>
            <a:ext cx="2176272" cy="5486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/>
          </a:p>
        </p:txBody>
      </p:sp>
      <p:sp>
        <p:nvSpPr>
          <p:cNvPr id="34" name="Text 32"/>
          <p:cNvSpPr/>
          <p:nvPr/>
        </p:nvSpPr>
        <p:spPr>
          <a:xfrm>
            <a:off x="7251192" y="2807208"/>
            <a:ext cx="2048256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0,56</a:t>
            </a:r>
            <a:endParaRPr lang="en-US" dirty="0"/>
          </a:p>
        </p:txBody>
      </p:sp>
      <p:sp>
        <p:nvSpPr>
          <p:cNvPr id="35" name="Shape 33"/>
          <p:cNvSpPr/>
          <p:nvPr/>
        </p:nvSpPr>
        <p:spPr>
          <a:xfrm>
            <a:off x="9363456" y="2761488"/>
            <a:ext cx="2176272" cy="5486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/>
          </a:p>
        </p:txBody>
      </p:sp>
      <p:sp>
        <p:nvSpPr>
          <p:cNvPr id="36" name="Text 34"/>
          <p:cNvSpPr/>
          <p:nvPr/>
        </p:nvSpPr>
        <p:spPr>
          <a:xfrm>
            <a:off x="9427464" y="2807208"/>
            <a:ext cx="2048256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FP é caro</a:t>
            </a:r>
            <a:endParaRPr lang="en-US" dirty="0"/>
          </a:p>
        </p:txBody>
      </p:sp>
      <p:sp>
        <p:nvSpPr>
          <p:cNvPr id="37" name="Shape 35"/>
          <p:cNvSpPr/>
          <p:nvPr/>
        </p:nvSpPr>
        <p:spPr>
          <a:xfrm>
            <a:off x="658368" y="3310128"/>
            <a:ext cx="2176272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/>
          </a:p>
        </p:txBody>
      </p:sp>
      <p:sp>
        <p:nvSpPr>
          <p:cNvPr id="38" name="Text 36"/>
          <p:cNvSpPr/>
          <p:nvPr/>
        </p:nvSpPr>
        <p:spPr>
          <a:xfrm>
            <a:off x="722376" y="3355848"/>
            <a:ext cx="2048256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dirty="0"/>
          </a:p>
        </p:txBody>
      </p:sp>
      <p:sp>
        <p:nvSpPr>
          <p:cNvPr id="39" name="Shape 37"/>
          <p:cNvSpPr/>
          <p:nvPr/>
        </p:nvSpPr>
        <p:spPr>
          <a:xfrm>
            <a:off x="2834640" y="3310128"/>
            <a:ext cx="2176272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/>
          </a:p>
        </p:txBody>
      </p:sp>
      <p:sp>
        <p:nvSpPr>
          <p:cNvPr id="40" name="Text 38"/>
          <p:cNvSpPr/>
          <p:nvPr/>
        </p:nvSpPr>
        <p:spPr>
          <a:xfrm>
            <a:off x="2898648" y="3355848"/>
            <a:ext cx="2048256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0,70</a:t>
            </a:r>
            <a:endParaRPr lang="en-US" dirty="0"/>
          </a:p>
        </p:txBody>
      </p:sp>
      <p:sp>
        <p:nvSpPr>
          <p:cNvPr id="41" name="Shape 39"/>
          <p:cNvSpPr/>
          <p:nvPr/>
        </p:nvSpPr>
        <p:spPr>
          <a:xfrm>
            <a:off x="5010912" y="3310128"/>
            <a:ext cx="2176272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/>
          </a:p>
        </p:txBody>
      </p:sp>
      <p:sp>
        <p:nvSpPr>
          <p:cNvPr id="42" name="Text 40"/>
          <p:cNvSpPr/>
          <p:nvPr/>
        </p:nvSpPr>
        <p:spPr>
          <a:xfrm>
            <a:off x="5074920" y="3355848"/>
            <a:ext cx="2048256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0,70</a:t>
            </a:r>
            <a:endParaRPr lang="en-US" dirty="0"/>
          </a:p>
        </p:txBody>
      </p:sp>
      <p:sp>
        <p:nvSpPr>
          <p:cNvPr id="43" name="Shape 41"/>
          <p:cNvSpPr/>
          <p:nvPr/>
        </p:nvSpPr>
        <p:spPr>
          <a:xfrm>
            <a:off x="7187184" y="3310128"/>
            <a:ext cx="2176272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/>
          </a:p>
        </p:txBody>
      </p:sp>
      <p:sp>
        <p:nvSpPr>
          <p:cNvPr id="44" name="Text 42"/>
          <p:cNvSpPr/>
          <p:nvPr/>
        </p:nvSpPr>
        <p:spPr>
          <a:xfrm>
            <a:off x="7251192" y="3355848"/>
            <a:ext cx="2048256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0,70</a:t>
            </a:r>
            <a:endParaRPr lang="en-US" dirty="0"/>
          </a:p>
        </p:txBody>
      </p:sp>
      <p:sp>
        <p:nvSpPr>
          <p:cNvPr id="45" name="Shape 43"/>
          <p:cNvSpPr/>
          <p:nvPr/>
        </p:nvSpPr>
        <p:spPr>
          <a:xfrm>
            <a:off x="9363456" y="3310128"/>
            <a:ext cx="2176272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/>
          </a:p>
        </p:txBody>
      </p:sp>
      <p:sp>
        <p:nvSpPr>
          <p:cNvPr id="46" name="Text 44"/>
          <p:cNvSpPr/>
          <p:nvPr/>
        </p:nvSpPr>
        <p:spPr>
          <a:xfrm>
            <a:off x="9427464" y="3355848"/>
            <a:ext cx="2048256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equilíbrio é desejado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868680" y="4251960"/>
            <a:ext cx="10424160" cy="777240"/>
          </a:xfrm>
          <a:prstGeom prst="roundRect">
            <a:avLst>
              <a:gd name="adj" fmla="val 9412"/>
            </a:avLst>
          </a:prstGeom>
          <a:solidFill>
            <a:srgbClr val="FDE2E7"/>
          </a:solidFill>
          <a:ln w="12700">
            <a:solidFill>
              <a:srgbClr val="FDE2E7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033272" y="4361688"/>
            <a:ext cx="10094976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D149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INTERPRETAÇÃO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1033272" y="4636008"/>
            <a:ext cx="10094976" cy="30175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e B podem ter F1 parecido, mas um perde muitos positivos e o outro gera muitos falsos alertas.</a:t>
            </a:r>
            <a:endParaRPr lang="en-US" dirty="0"/>
          </a:p>
        </p:txBody>
      </p:sp>
      <p:sp>
        <p:nvSpPr>
          <p:cNvPr id="50" name="Shape 48"/>
          <p:cNvSpPr/>
          <p:nvPr/>
        </p:nvSpPr>
        <p:spPr>
          <a:xfrm>
            <a:off x="868680" y="5349240"/>
            <a:ext cx="10424160" cy="942362"/>
          </a:xfrm>
          <a:prstGeom prst="roundRect">
            <a:avLst>
              <a:gd name="adj" fmla="val 12308"/>
            </a:avLst>
          </a:prstGeom>
          <a:solidFill>
            <a:srgbClr val="FEF3C7"/>
          </a:solidFill>
          <a:ln w="12700">
            <a:solidFill>
              <a:srgbClr val="FEF3C7">
                <a:alpha val="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033272" y="5458968"/>
            <a:ext cx="10094976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FRASE ESPERADA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1033272" y="5733288"/>
            <a:ext cx="10094976" cy="46687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“F1 resume o equilíbrio, mas não substitui a análise de custo de FP e FN.” </a:t>
            </a:r>
          </a:p>
          <a:p>
            <a:pPr marL="0" indent="0" algn="l">
              <a:buNone/>
            </a:pP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Ex.: A e B têm F1 = 0,56, mas A deixa passar 60% dos positivos.</a:t>
            </a:r>
            <a:endParaRPr lang="en-US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8288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CLASSIFICAÇÃO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Resumo da classificação: quando a resposta é uma classe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12064" y="114300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Cada métrica protege contra uma leitura enganosa.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1311128" y="647395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36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777240" y="1417320"/>
            <a:ext cx="3535680" cy="525780"/>
          </a:xfrm>
          <a:prstGeom prst="rect">
            <a:avLst/>
          </a:prstGeom>
          <a:solidFill>
            <a:srgbClr val="F59E0B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 sz="2400"/>
          </a:p>
        </p:txBody>
      </p:sp>
      <p:sp>
        <p:nvSpPr>
          <p:cNvPr id="8" name="Text 6"/>
          <p:cNvSpPr/>
          <p:nvPr/>
        </p:nvSpPr>
        <p:spPr>
          <a:xfrm>
            <a:off x="841248" y="1463040"/>
            <a:ext cx="3407664" cy="4434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Pergunta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312920" y="1417320"/>
            <a:ext cx="3535680" cy="525780"/>
          </a:xfrm>
          <a:prstGeom prst="rect">
            <a:avLst/>
          </a:prstGeom>
          <a:solidFill>
            <a:srgbClr val="F59E0B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 sz="2400"/>
          </a:p>
        </p:txBody>
      </p:sp>
      <p:sp>
        <p:nvSpPr>
          <p:cNvPr id="10" name="Text 8"/>
          <p:cNvSpPr/>
          <p:nvPr/>
        </p:nvSpPr>
        <p:spPr>
          <a:xfrm>
            <a:off x="4376928" y="1463040"/>
            <a:ext cx="3407664" cy="4434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Métrica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7848600" y="1417320"/>
            <a:ext cx="3535680" cy="525780"/>
          </a:xfrm>
          <a:prstGeom prst="rect">
            <a:avLst/>
          </a:prstGeom>
          <a:solidFill>
            <a:srgbClr val="F59E0B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 sz="2400"/>
          </a:p>
        </p:txBody>
      </p:sp>
      <p:sp>
        <p:nvSpPr>
          <p:cNvPr id="12" name="Text 10"/>
          <p:cNvSpPr/>
          <p:nvPr/>
        </p:nvSpPr>
        <p:spPr>
          <a:xfrm>
            <a:off x="7912608" y="1463040"/>
            <a:ext cx="3407664" cy="4434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Quando pesa mais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777240" y="1943100"/>
            <a:ext cx="3535680" cy="5257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 sz="2400"/>
          </a:p>
        </p:txBody>
      </p:sp>
      <p:sp>
        <p:nvSpPr>
          <p:cNvPr id="14" name="Text 12"/>
          <p:cNvSpPr/>
          <p:nvPr/>
        </p:nvSpPr>
        <p:spPr>
          <a:xfrm>
            <a:off x="841248" y="1988820"/>
            <a:ext cx="3407664" cy="4434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Quantos acertei no total?</a:t>
            </a: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4312920" y="1943100"/>
            <a:ext cx="3535680" cy="5257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 sz="2400"/>
          </a:p>
        </p:txBody>
      </p:sp>
      <p:sp>
        <p:nvSpPr>
          <p:cNvPr id="16" name="Text 14"/>
          <p:cNvSpPr/>
          <p:nvPr/>
        </p:nvSpPr>
        <p:spPr>
          <a:xfrm>
            <a:off x="4376928" y="1988820"/>
            <a:ext cx="3407664" cy="4434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Accuracy</a:t>
            </a: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7848600" y="1943100"/>
            <a:ext cx="3535680" cy="5257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 sz="2400"/>
          </a:p>
        </p:txBody>
      </p:sp>
      <p:sp>
        <p:nvSpPr>
          <p:cNvPr id="18" name="Text 16"/>
          <p:cNvSpPr/>
          <p:nvPr/>
        </p:nvSpPr>
        <p:spPr>
          <a:xfrm>
            <a:off x="7912608" y="1988820"/>
            <a:ext cx="3407664" cy="4434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classes/custos equilibrados</a:t>
            </a: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777240" y="2468880"/>
            <a:ext cx="3535680" cy="5257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 sz="2400"/>
          </a:p>
        </p:txBody>
      </p:sp>
      <p:sp>
        <p:nvSpPr>
          <p:cNvPr id="20" name="Text 18"/>
          <p:cNvSpPr/>
          <p:nvPr/>
        </p:nvSpPr>
        <p:spPr>
          <a:xfrm>
            <a:off x="841248" y="2514600"/>
            <a:ext cx="3407664" cy="4434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Não posso perder positivos?</a:t>
            </a: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4312920" y="2468880"/>
            <a:ext cx="3535680" cy="5257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 sz="2400"/>
          </a:p>
        </p:txBody>
      </p:sp>
      <p:sp>
        <p:nvSpPr>
          <p:cNvPr id="22" name="Text 20"/>
          <p:cNvSpPr/>
          <p:nvPr/>
        </p:nvSpPr>
        <p:spPr>
          <a:xfrm>
            <a:off x="4376928" y="2514600"/>
            <a:ext cx="3407664" cy="4434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Recall</a:t>
            </a: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7848600" y="2468880"/>
            <a:ext cx="3535680" cy="5257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 sz="2400"/>
          </a:p>
        </p:txBody>
      </p:sp>
      <p:sp>
        <p:nvSpPr>
          <p:cNvPr id="24" name="Text 22"/>
          <p:cNvSpPr/>
          <p:nvPr/>
        </p:nvSpPr>
        <p:spPr>
          <a:xfrm>
            <a:off x="7912608" y="2514600"/>
            <a:ext cx="3407664" cy="4434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FN é grave</a:t>
            </a: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777240" y="2994660"/>
            <a:ext cx="3535680" cy="5257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 sz="2400"/>
          </a:p>
        </p:txBody>
      </p:sp>
      <p:sp>
        <p:nvSpPr>
          <p:cNvPr id="26" name="Text 24"/>
          <p:cNvSpPr/>
          <p:nvPr/>
        </p:nvSpPr>
        <p:spPr>
          <a:xfrm>
            <a:off x="841248" y="3040380"/>
            <a:ext cx="3407664" cy="4434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Falso alarme é caro?</a:t>
            </a: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4312920" y="2994660"/>
            <a:ext cx="3535680" cy="5257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 sz="2400"/>
          </a:p>
        </p:txBody>
      </p:sp>
      <p:sp>
        <p:nvSpPr>
          <p:cNvPr id="28" name="Text 26"/>
          <p:cNvSpPr/>
          <p:nvPr/>
        </p:nvSpPr>
        <p:spPr>
          <a:xfrm>
            <a:off x="4376928" y="3040380"/>
            <a:ext cx="3407664" cy="4434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Precision</a:t>
            </a: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7848600" y="2994660"/>
            <a:ext cx="3535680" cy="5257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 sz="2400"/>
          </a:p>
        </p:txBody>
      </p:sp>
      <p:sp>
        <p:nvSpPr>
          <p:cNvPr id="30" name="Text 28"/>
          <p:cNvSpPr/>
          <p:nvPr/>
        </p:nvSpPr>
        <p:spPr>
          <a:xfrm>
            <a:off x="7912608" y="3040380"/>
            <a:ext cx="3407664" cy="4434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FP é grave</a:t>
            </a: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777240" y="3520440"/>
            <a:ext cx="3535680" cy="5257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 sz="2400"/>
          </a:p>
        </p:txBody>
      </p:sp>
      <p:sp>
        <p:nvSpPr>
          <p:cNvPr id="32" name="Text 30"/>
          <p:cNvSpPr/>
          <p:nvPr/>
        </p:nvSpPr>
        <p:spPr>
          <a:xfrm>
            <a:off x="841248" y="3566160"/>
            <a:ext cx="3407664" cy="4434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Quero equilíbrio?</a:t>
            </a: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4312920" y="3520440"/>
            <a:ext cx="3535680" cy="5257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 sz="2400"/>
          </a:p>
        </p:txBody>
      </p:sp>
      <p:sp>
        <p:nvSpPr>
          <p:cNvPr id="34" name="Text 32"/>
          <p:cNvSpPr/>
          <p:nvPr/>
        </p:nvSpPr>
        <p:spPr>
          <a:xfrm>
            <a:off x="4376928" y="3566160"/>
            <a:ext cx="3407664" cy="4434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F1</a:t>
            </a:r>
            <a:endParaRPr lang="en-US" dirty="0"/>
          </a:p>
        </p:txBody>
      </p:sp>
      <p:sp>
        <p:nvSpPr>
          <p:cNvPr id="35" name="Shape 33"/>
          <p:cNvSpPr/>
          <p:nvPr/>
        </p:nvSpPr>
        <p:spPr>
          <a:xfrm>
            <a:off x="7848600" y="3520440"/>
            <a:ext cx="3535680" cy="5257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 sz="2400"/>
          </a:p>
        </p:txBody>
      </p:sp>
      <p:sp>
        <p:nvSpPr>
          <p:cNvPr id="36" name="Text 34"/>
          <p:cNvSpPr/>
          <p:nvPr/>
        </p:nvSpPr>
        <p:spPr>
          <a:xfrm>
            <a:off x="7912608" y="3566160"/>
            <a:ext cx="3407664" cy="4434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FP e FN importam</a:t>
            </a:r>
            <a:endParaRPr lang="en-US" dirty="0"/>
          </a:p>
        </p:txBody>
      </p:sp>
      <p:sp>
        <p:nvSpPr>
          <p:cNvPr id="37" name="Shape 35"/>
          <p:cNvSpPr/>
          <p:nvPr/>
        </p:nvSpPr>
        <p:spPr>
          <a:xfrm>
            <a:off x="777240" y="4046220"/>
            <a:ext cx="3535680" cy="5257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 sz="2400"/>
          </a:p>
        </p:txBody>
      </p:sp>
      <p:sp>
        <p:nvSpPr>
          <p:cNvPr id="38" name="Text 36"/>
          <p:cNvSpPr/>
          <p:nvPr/>
        </p:nvSpPr>
        <p:spPr>
          <a:xfrm>
            <a:off x="841248" y="4091940"/>
            <a:ext cx="3407664" cy="4434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Quero ver o tipo de erro?</a:t>
            </a:r>
            <a:endParaRPr lang="en-US" dirty="0"/>
          </a:p>
        </p:txBody>
      </p:sp>
      <p:sp>
        <p:nvSpPr>
          <p:cNvPr id="39" name="Shape 37"/>
          <p:cNvSpPr/>
          <p:nvPr/>
        </p:nvSpPr>
        <p:spPr>
          <a:xfrm>
            <a:off x="4312920" y="4046220"/>
            <a:ext cx="3535680" cy="5257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 sz="2400"/>
          </a:p>
        </p:txBody>
      </p:sp>
      <p:sp>
        <p:nvSpPr>
          <p:cNvPr id="40" name="Text 38"/>
          <p:cNvSpPr/>
          <p:nvPr/>
        </p:nvSpPr>
        <p:spPr>
          <a:xfrm>
            <a:off x="4376928" y="4091940"/>
            <a:ext cx="3407664" cy="4434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Matriz de confusão</a:t>
            </a:r>
            <a:endParaRPr lang="en-US" dirty="0"/>
          </a:p>
        </p:txBody>
      </p:sp>
      <p:sp>
        <p:nvSpPr>
          <p:cNvPr id="41" name="Shape 39"/>
          <p:cNvSpPr/>
          <p:nvPr/>
        </p:nvSpPr>
        <p:spPr>
          <a:xfrm>
            <a:off x="7848600" y="4046220"/>
            <a:ext cx="3535680" cy="5257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 sz="2400"/>
          </a:p>
        </p:txBody>
      </p:sp>
      <p:sp>
        <p:nvSpPr>
          <p:cNvPr id="42" name="Text 40"/>
          <p:cNvSpPr/>
          <p:nvPr/>
        </p:nvSpPr>
        <p:spPr>
          <a:xfrm>
            <a:off x="7912608" y="4091940"/>
            <a:ext cx="3407664" cy="4434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sempre</a:t>
            </a:r>
            <a:endParaRPr lang="en-US" dirty="0"/>
          </a:p>
        </p:txBody>
      </p:sp>
      <p:sp>
        <p:nvSpPr>
          <p:cNvPr id="43" name="Shape 41"/>
          <p:cNvSpPr/>
          <p:nvPr/>
        </p:nvSpPr>
        <p:spPr>
          <a:xfrm>
            <a:off x="824484" y="4878324"/>
            <a:ext cx="10543032" cy="1601754"/>
          </a:xfrm>
          <a:prstGeom prst="roundRect">
            <a:avLst>
              <a:gd name="adj" fmla="val 9412"/>
            </a:avLst>
          </a:prstGeom>
          <a:solidFill>
            <a:srgbClr val="FEF3C7"/>
          </a:solidFill>
          <a:ln w="12700">
            <a:solidFill>
              <a:srgbClr val="FEF3C7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89075" y="4988052"/>
            <a:ext cx="10202629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FRASE MODELO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989075" y="5262372"/>
            <a:ext cx="10202629" cy="46687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Autofit/>
          </a:bodyPr>
          <a:lstStyle/>
          <a:p>
            <a:r>
              <a:rPr lang="pt-BR" sz="2000" dirty="0"/>
              <a:t>A métrica principal deve representar o erro mais importante do problema. Depois, usamos uma ou mais métricas complementares para verificar se melhorar esse objetivo criou outros tipos de erro. 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8288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CLUSTERING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 quando não existe resposta correta conhecida?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12064" y="114300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Agrupamento muda a pergunta: não temos y verdadeiro para comparar.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1311128" y="647395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37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777240" y="1627632"/>
            <a:ext cx="10652760" cy="530352"/>
          </a:xfrm>
          <a:prstGeom prst="roundRect">
            <a:avLst>
              <a:gd name="adj" fmla="val 13793"/>
            </a:avLst>
          </a:prstGeom>
          <a:solidFill>
            <a:srgbClr val="2A9D8F"/>
          </a:solidFill>
          <a:ln w="12700">
            <a:solidFill>
              <a:srgbClr val="2A9D8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737360"/>
            <a:ext cx="102504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 classificação havia certo/errado. Em agrupamento, queremos grupos úteis e coerentes.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77240" y="2743200"/>
            <a:ext cx="4846320" cy="1495648"/>
          </a:xfrm>
          <a:prstGeom prst="roundRect">
            <a:avLst>
              <a:gd name="adj" fmla="val 5926"/>
            </a:avLst>
          </a:prstGeom>
          <a:solidFill>
            <a:srgbClr val="DDF4F1"/>
          </a:solidFill>
          <a:ln w="12700">
            <a:solidFill>
              <a:srgbClr val="DDF4F1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1832" y="2852928"/>
            <a:ext cx="4517136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EXEMPLO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41832" y="3127248"/>
            <a:ext cx="4517136" cy="75895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Uma loja quer descobrir perfis de clientes: frequentes, ocasionais, novos, inativos.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217920" y="2743200"/>
            <a:ext cx="4800600" cy="1495648"/>
          </a:xfrm>
          <a:prstGeom prst="roundRect">
            <a:avLst>
              <a:gd name="adj" fmla="val 5926"/>
            </a:avLst>
          </a:prstGeom>
          <a:solidFill>
            <a:srgbClr val="FDE2E7"/>
          </a:solidFill>
          <a:ln w="12700">
            <a:solidFill>
              <a:srgbClr val="FDE2E7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82512" y="2852928"/>
            <a:ext cx="4471416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D149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NÃO CABE ACCURACY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382512" y="3127248"/>
            <a:ext cx="4471416" cy="75895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não há rótulo real de “cluster correto”, não faz sentido falar em TP, FP, Recall ou Precision.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960120" y="4892040"/>
            <a:ext cx="10149840" cy="777240"/>
          </a:xfrm>
          <a:prstGeom prst="roundRect">
            <a:avLst>
              <a:gd name="adj" fmla="val 9412"/>
            </a:avLst>
          </a:prstGeom>
          <a:solidFill>
            <a:srgbClr val="DDF4F1"/>
          </a:solidFill>
          <a:ln w="12700">
            <a:solidFill>
              <a:srgbClr val="DDF4F1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24712" y="5001768"/>
            <a:ext cx="9820656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NOVA PERGUNTA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24712" y="5276088"/>
            <a:ext cx="9820656" cy="30175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Os grupos são compactos, separados, estáveis e interpretáveis?</a:t>
            </a:r>
            <a:endParaRPr lang="en-US" sz="2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8288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CLUSTERING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Duas ideias básicas para avaliar grupos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12064" y="114300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Coesão dentro do grupo e separação entre grupos.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1311128" y="647395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38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914400" y="1828800"/>
            <a:ext cx="44805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92240" y="1828800"/>
            <a:ext cx="44805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71600" y="20574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Bom: compacto e separado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949440" y="20574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149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Ruim: misturado/sobreposto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691640" y="2788920"/>
            <a:ext cx="1143000" cy="914400"/>
          </a:xfrm>
          <a:prstGeom prst="ellipse">
            <a:avLst/>
          </a:prstGeom>
          <a:solidFill>
            <a:srgbClr val="DDF4F1">
              <a:alpha val="90000"/>
            </a:srgbClr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20440" y="2788920"/>
            <a:ext cx="1143000" cy="914400"/>
          </a:xfrm>
          <a:prstGeom prst="ellipse">
            <a:avLst/>
          </a:prstGeom>
          <a:solidFill>
            <a:srgbClr val="D9ECFA">
              <a:alpha val="90000"/>
            </a:srgbClr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783080" y="3703320"/>
            <a:ext cx="1051560" cy="777240"/>
          </a:xfrm>
          <a:prstGeom prst="ellipse">
            <a:avLst/>
          </a:prstGeom>
          <a:solidFill>
            <a:srgbClr val="FEF3C7">
              <a:alpha val="9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20440" y="3703320"/>
            <a:ext cx="1051560" cy="777240"/>
          </a:xfrm>
          <a:prstGeom prst="ellipse">
            <a:avLst/>
          </a:prstGeom>
          <a:solidFill>
            <a:srgbClr val="EDE9FE">
              <a:alpha val="9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635240" y="2880360"/>
            <a:ext cx="2514600" cy="1828800"/>
          </a:xfrm>
          <a:prstGeom prst="ellipse">
            <a:avLst/>
          </a:prstGeom>
          <a:solidFill>
            <a:srgbClr val="FDE2E7">
              <a:alpha val="92000"/>
            </a:srgbClr>
          </a:solidFill>
          <a:ln w="19050">
            <a:solidFill>
              <a:srgbClr val="D1495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19872" y="361188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149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mistura de perfis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828800" y="457200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separados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321040" y="4709160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fronteira confusa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1005840" y="5349240"/>
            <a:ext cx="3108960" cy="685800"/>
          </a:xfrm>
          <a:prstGeom prst="roundRect">
            <a:avLst>
              <a:gd name="adj" fmla="val 10667"/>
            </a:avLst>
          </a:prstGeom>
          <a:solidFill>
            <a:srgbClr val="DDF4F1"/>
          </a:solidFill>
          <a:ln w="12700">
            <a:solidFill>
              <a:srgbClr val="DDF4F1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70432" y="5458968"/>
            <a:ext cx="2779776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COESÃO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70432" y="5733288"/>
            <a:ext cx="2779776" cy="2103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Pontos do mesmo grupo ficam próximos.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572000" y="5349240"/>
            <a:ext cx="3108960" cy="685800"/>
          </a:xfrm>
          <a:prstGeom prst="roundRect">
            <a:avLst>
              <a:gd name="adj" fmla="val 10667"/>
            </a:avLst>
          </a:prstGeom>
          <a:solidFill>
            <a:srgbClr val="DDF4F1"/>
          </a:solidFill>
          <a:ln w="12700">
            <a:solidFill>
              <a:srgbClr val="DDF4F1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36592" y="5458968"/>
            <a:ext cx="2779776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SEPARAÇÃO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736592" y="5733288"/>
            <a:ext cx="2779776" cy="2103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Grupos diferentes ficam afastados.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8138160" y="5349240"/>
            <a:ext cx="3108960" cy="685800"/>
          </a:xfrm>
          <a:prstGeom prst="roundRect">
            <a:avLst>
              <a:gd name="adj" fmla="val 10667"/>
            </a:avLst>
          </a:prstGeom>
          <a:solidFill>
            <a:srgbClr val="DDF4F1"/>
          </a:solidFill>
          <a:ln w="12700">
            <a:solidFill>
              <a:srgbClr val="DDF4F1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02752" y="5458968"/>
            <a:ext cx="2779776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SENTIDO PRÁTICO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302752" y="5733288"/>
            <a:ext cx="2779776" cy="2103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grupo precisa significar algo útil.</a:t>
            </a:r>
            <a:endParaRPr lang="en-US" sz="12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8288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CLUSTERING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Métricas de grupos: visão geral antes do algoritmo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12064" y="114300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Aqui a métrica não mede acerto; mede qualidade estrutural do agrupamento.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1311128" y="647395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39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731520" y="1647140"/>
            <a:ext cx="3581400" cy="585216"/>
          </a:xfrm>
          <a:prstGeom prst="rect">
            <a:avLst/>
          </a:prstGeom>
          <a:solidFill>
            <a:srgbClr val="2A9D8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692860"/>
            <a:ext cx="3453384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Pergunta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312920" y="1647140"/>
            <a:ext cx="3581400" cy="585216"/>
          </a:xfrm>
          <a:prstGeom prst="rect">
            <a:avLst/>
          </a:prstGeom>
          <a:solidFill>
            <a:srgbClr val="2A9D8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76928" y="1692860"/>
            <a:ext cx="3453384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Métrica futura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7894320" y="1647140"/>
            <a:ext cx="3581400" cy="585216"/>
          </a:xfrm>
          <a:prstGeom prst="rect">
            <a:avLst/>
          </a:prstGeom>
          <a:solidFill>
            <a:srgbClr val="2A9D8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58328" y="1692860"/>
            <a:ext cx="3453384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Interpretação simples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731520" y="2232356"/>
            <a:ext cx="358140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5528" y="2278076"/>
            <a:ext cx="3453384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Pontos estão próximos do centro?</a:t>
            </a: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4312920" y="2232356"/>
            <a:ext cx="358140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76928" y="2278076"/>
            <a:ext cx="3453384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Inertia / WCSS</a:t>
            </a: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7894320" y="2232356"/>
            <a:ext cx="358140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58328" y="2278076"/>
            <a:ext cx="3453384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compactação interna</a:t>
            </a: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731520" y="2817572"/>
            <a:ext cx="3581400" cy="58521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2863292"/>
            <a:ext cx="3453384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Ponto combina com seu grupo?</a:t>
            </a: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4312920" y="2817572"/>
            <a:ext cx="3581400" cy="58521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76928" y="2863292"/>
            <a:ext cx="3453384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Silhouette</a:t>
            </a: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7894320" y="2817572"/>
            <a:ext cx="3581400" cy="58521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958328" y="2863292"/>
            <a:ext cx="3453384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coesão + separação</a:t>
            </a: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731520" y="3402788"/>
            <a:ext cx="358140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5528" y="3448508"/>
            <a:ext cx="3453384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Clusters são parecidos demais?</a:t>
            </a: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4312920" y="3402788"/>
            <a:ext cx="358140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76928" y="3448508"/>
            <a:ext cx="3453384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Davies–Bouldin</a:t>
            </a: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7894320" y="3402788"/>
            <a:ext cx="358140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8328" y="3448508"/>
            <a:ext cx="3453384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menor é melhor</a:t>
            </a: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731520" y="3988004"/>
            <a:ext cx="3581400" cy="58521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95528" y="4033724"/>
            <a:ext cx="3453384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Grupos fazem sentido?</a:t>
            </a: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4312920" y="3988004"/>
            <a:ext cx="3581400" cy="58521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76928" y="4033724"/>
            <a:ext cx="3453384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interpretação do domínio</a:t>
            </a:r>
            <a:endParaRPr lang="en-US" dirty="0"/>
          </a:p>
        </p:txBody>
      </p:sp>
      <p:sp>
        <p:nvSpPr>
          <p:cNvPr id="35" name="Shape 33"/>
          <p:cNvSpPr/>
          <p:nvPr/>
        </p:nvSpPr>
        <p:spPr>
          <a:xfrm>
            <a:off x="7894320" y="3988004"/>
            <a:ext cx="3581400" cy="58521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958328" y="4033724"/>
            <a:ext cx="3453384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utilidade prática</a:t>
            </a:r>
            <a:endParaRPr lang="en-US" dirty="0"/>
          </a:p>
        </p:txBody>
      </p:sp>
      <p:sp>
        <p:nvSpPr>
          <p:cNvPr id="37" name="Shape 35"/>
          <p:cNvSpPr/>
          <p:nvPr/>
        </p:nvSpPr>
        <p:spPr>
          <a:xfrm>
            <a:off x="914400" y="5029199"/>
            <a:ext cx="10287000" cy="1444753"/>
          </a:xfrm>
          <a:prstGeom prst="roundRect">
            <a:avLst>
              <a:gd name="adj" fmla="val 9412"/>
            </a:avLst>
          </a:prstGeom>
          <a:solidFill>
            <a:srgbClr val="DDF4F1"/>
          </a:solidFill>
          <a:ln w="12700">
            <a:solidFill>
              <a:srgbClr val="DDF4F1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78992" y="5138928"/>
            <a:ext cx="9957816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LIÇÃO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1078992" y="5413247"/>
            <a:ext cx="9957816" cy="642495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Métrica interna boa não garante utilidade. Um grupo matemático pode não ser acionável no mundo real. </a:t>
            </a:r>
          </a:p>
          <a:p>
            <a:pPr marL="0" indent="0" algn="l">
              <a:buNone/>
            </a:pPr>
            <a:r>
              <a:rPr lang="en-US" sz="20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Ex.: quatro grupos bem separados que a loja não consegue transformar em campanha.</a:t>
            </a:r>
            <a:endParaRPr lang="en-US" sz="2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8288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FECHAMENTO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escolher a métrica principal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12064" y="114300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A escolha nasce do tipo de resposta e do erro mais perigoso.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1311128" y="647395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40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463040" y="2880360"/>
            <a:ext cx="96012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297680" y="2880360"/>
            <a:ext cx="96012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7132320" y="2880360"/>
            <a:ext cx="96012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85800" y="2240280"/>
            <a:ext cx="2240280" cy="1280160"/>
          </a:xfrm>
          <a:prstGeom prst="roundRect">
            <a:avLst>
              <a:gd name="adj" fmla="val 5714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5528" y="248716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que prevejo?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95528" y="285292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número, classe ou grupo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520440" y="2240280"/>
            <a:ext cx="2240280" cy="1280160"/>
          </a:xfrm>
          <a:prstGeom prst="roundRect">
            <a:avLst>
              <a:gd name="adj" fmla="val 5714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30168" y="248716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 erro custa mais?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630168" y="285292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magnitude, extremo, FP, FN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971032" y="2240280"/>
            <a:ext cx="2845164" cy="1280160"/>
          </a:xfrm>
          <a:prstGeom prst="roundRect">
            <a:avLst>
              <a:gd name="adj" fmla="val 5714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96000" y="2487168"/>
            <a:ext cx="251316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 métrica mede isso?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64808" y="285292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MAE, RMSE, Recall, Precision...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970264" y="2240280"/>
            <a:ext cx="2459736" cy="1280160"/>
          </a:xfrm>
          <a:prstGeom prst="roundRect">
            <a:avLst>
              <a:gd name="adj" fmla="val 5714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026508" y="2487168"/>
            <a:ext cx="22846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 ponto cego controlar?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299448" y="285292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métrica complementar + gráfico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14400" y="4800600"/>
            <a:ext cx="10241280" cy="1140799"/>
          </a:xfrm>
          <a:prstGeom prst="roundRect">
            <a:avLst>
              <a:gd name="adj" fmla="val 8421"/>
            </a:avLst>
          </a:prstGeom>
          <a:solidFill>
            <a:srgbClr val="EEF2FF"/>
          </a:solidFill>
          <a:ln w="12700">
            <a:solidFill>
              <a:srgbClr val="EEF2F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8992" y="4910328"/>
            <a:ext cx="9912096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REGRA DE OURO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78992" y="5184648"/>
            <a:ext cx="9912096" cy="665311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métrica principal deve representar o erro que mais prejudica a decisão real. A métrica complementar evita uma conclusão enganosa. Ex.: em dose de medicamento, RMSE como principal e MAE como complementar.</a:t>
            </a:r>
            <a:endParaRPr lang="en-US" sz="14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8288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FECHAMENTO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o aluno deve escrever a conclusão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12064" y="114300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Não basta citar a métrica; precisa interpretar o erro.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1311128" y="647395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41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822960" y="1554480"/>
            <a:ext cx="10515600" cy="685800"/>
          </a:xfrm>
          <a:prstGeom prst="roundRect">
            <a:avLst>
              <a:gd name="adj" fmla="val 10667"/>
            </a:avLst>
          </a:prstGeom>
          <a:solidFill>
            <a:srgbClr val="FDE2E7"/>
          </a:solidFill>
          <a:ln w="12700">
            <a:solidFill>
              <a:srgbClr val="FDE2E7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" y="1664208"/>
            <a:ext cx="10186416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D149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RESPOSTA FRACA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87552" y="1938528"/>
            <a:ext cx="10186416" cy="2103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“O modelo é bom porque teve F1 = 0,91.”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" y="2606040"/>
            <a:ext cx="10515600" cy="1234440"/>
          </a:xfrm>
          <a:prstGeom prst="roundRect">
            <a:avLst>
              <a:gd name="adj" fmla="val 5926"/>
            </a:avLst>
          </a:prstGeom>
          <a:solidFill>
            <a:srgbClr val="DDF4F1"/>
          </a:solidFill>
          <a:ln w="12700">
            <a:solidFill>
              <a:srgbClr val="DDF4F1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2715768"/>
            <a:ext cx="10186416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RESPOSTA FORTE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987552" y="2990088"/>
            <a:ext cx="10186416" cy="75895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“O problema prioriza não perder positivos; por isso Recall foi a métrica principal. O modelo manteve Recall alto sem reduzir demais Precision. A matriz de confusão mostrou poucos FN, e o resultado supera o baseline.”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2960" y="4343400"/>
            <a:ext cx="5257800" cy="338328"/>
          </a:xfrm>
          <a:prstGeom prst="rect">
            <a:avLst/>
          </a:prstGeom>
          <a:solidFill>
            <a:srgbClr val="102A43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6968" y="4389120"/>
            <a:ext cx="5129784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conclusão deve citar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80760" y="4343400"/>
            <a:ext cx="5257800" cy="338328"/>
          </a:xfrm>
          <a:prstGeom prst="rect">
            <a:avLst/>
          </a:prstGeom>
          <a:solidFill>
            <a:srgbClr val="102A43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44768" y="4389120"/>
            <a:ext cx="5129784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Pergunta que responde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22960" y="4681728"/>
            <a:ext cx="525780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86968" y="4727448"/>
            <a:ext cx="5129784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métrica principal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080760" y="4681728"/>
            <a:ext cx="525780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44768" y="4727448"/>
            <a:ext cx="5129784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erro crítico foi controlado?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22960" y="5020056"/>
            <a:ext cx="5257800" cy="33832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86968" y="5065776"/>
            <a:ext cx="5129784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métrica complementar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080760" y="5020056"/>
            <a:ext cx="5257800" cy="33832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44768" y="5065776"/>
            <a:ext cx="5129784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há efeito colateral escondido?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22960" y="5358384"/>
            <a:ext cx="525780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86968" y="5404104"/>
            <a:ext cx="5129784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gráfico ou matriz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080760" y="5358384"/>
            <a:ext cx="525780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44768" y="5404104"/>
            <a:ext cx="5129784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onde e como o modelo erra?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22960" y="5696712"/>
            <a:ext cx="5257800" cy="33832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86968" y="5742432"/>
            <a:ext cx="5129784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baseline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080760" y="5696712"/>
            <a:ext cx="5257800" cy="33832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44768" y="5742432"/>
            <a:ext cx="5129784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modelo agrega valor real?</a:t>
            </a:r>
            <a:endParaRPr lang="en-US" sz="12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8288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EXERCÍCIOS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Exercício 1 — Previsão numérica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12064" y="114300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Objetivo: interpretar MAE e RMSE juntos.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1311128" y="647395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42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822960" y="1709928"/>
            <a:ext cx="1371600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886968" y="1755648"/>
            <a:ext cx="1243584" cy="374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Modelo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194560" y="1709928"/>
            <a:ext cx="1371600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2258568" y="1755648"/>
            <a:ext cx="1243584" cy="374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566160" y="1709928"/>
            <a:ext cx="1371600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3630168" y="1755648"/>
            <a:ext cx="1243584" cy="374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RMSE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937760" y="1709928"/>
            <a:ext cx="1371600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5001768" y="1755648"/>
            <a:ext cx="1243584" cy="374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R²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22960" y="2167128"/>
            <a:ext cx="1371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886968" y="2212848"/>
            <a:ext cx="1243584" cy="374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194560" y="2167128"/>
            <a:ext cx="1371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2258568" y="2212848"/>
            <a:ext cx="1243584" cy="374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566160" y="2167128"/>
            <a:ext cx="1371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3630168" y="2212848"/>
            <a:ext cx="1243584" cy="374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937760" y="2167128"/>
            <a:ext cx="1371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5001768" y="2212848"/>
            <a:ext cx="1243584" cy="374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0,82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22960" y="2624328"/>
            <a:ext cx="137160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886968" y="2670048"/>
            <a:ext cx="1243584" cy="374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2194560" y="2624328"/>
            <a:ext cx="137160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2258568" y="2670048"/>
            <a:ext cx="1243584" cy="374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3566160" y="2624328"/>
            <a:ext cx="137160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3630168" y="2670048"/>
            <a:ext cx="1243584" cy="374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28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937760" y="2624328"/>
            <a:ext cx="137160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/>
          </a:p>
        </p:txBody>
      </p:sp>
      <p:sp>
        <p:nvSpPr>
          <p:cNvPr id="30" name="Text 28"/>
          <p:cNvSpPr/>
          <p:nvPr/>
        </p:nvSpPr>
        <p:spPr>
          <a:xfrm>
            <a:off x="5001768" y="2670048"/>
            <a:ext cx="1243584" cy="374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0,84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822960" y="3081528"/>
            <a:ext cx="1371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/>
          </a:p>
        </p:txBody>
      </p:sp>
      <p:sp>
        <p:nvSpPr>
          <p:cNvPr id="32" name="Text 30"/>
          <p:cNvSpPr/>
          <p:nvPr/>
        </p:nvSpPr>
        <p:spPr>
          <a:xfrm>
            <a:off x="886968" y="3127248"/>
            <a:ext cx="1243584" cy="374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2194560" y="3081528"/>
            <a:ext cx="1371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/>
          </a:p>
        </p:txBody>
      </p:sp>
      <p:sp>
        <p:nvSpPr>
          <p:cNvPr id="34" name="Text 32"/>
          <p:cNvSpPr/>
          <p:nvPr/>
        </p:nvSpPr>
        <p:spPr>
          <a:xfrm>
            <a:off x="2258568" y="3127248"/>
            <a:ext cx="1243584" cy="374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3566160" y="3081528"/>
            <a:ext cx="1371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/>
          </a:p>
        </p:txBody>
      </p:sp>
      <p:sp>
        <p:nvSpPr>
          <p:cNvPr id="36" name="Text 34"/>
          <p:cNvSpPr/>
          <p:nvPr/>
        </p:nvSpPr>
        <p:spPr>
          <a:xfrm>
            <a:off x="3630168" y="3127248"/>
            <a:ext cx="1243584" cy="374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4937760" y="3081528"/>
            <a:ext cx="1371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/>
          </a:p>
        </p:txBody>
      </p:sp>
      <p:sp>
        <p:nvSpPr>
          <p:cNvPr id="38" name="Text 36"/>
          <p:cNvSpPr/>
          <p:nvPr/>
        </p:nvSpPr>
        <p:spPr>
          <a:xfrm>
            <a:off x="5001768" y="3127248"/>
            <a:ext cx="1243584" cy="374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0,86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6629400" y="1801368"/>
            <a:ext cx="4297680" cy="1828800"/>
          </a:xfrm>
          <a:prstGeom prst="roundRect">
            <a:avLst>
              <a:gd name="adj" fmla="val 6667"/>
            </a:avLst>
          </a:prstGeom>
          <a:solidFill>
            <a:srgbClr val="EDE9FE"/>
          </a:solidFill>
          <a:ln w="12700">
            <a:solidFill>
              <a:srgbClr val="EDE9FE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793992" y="1911096"/>
            <a:ext cx="3968496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PERGUNTA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793992" y="2185416"/>
            <a:ext cx="3968496" cy="6217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o problema é prever dose de medicamento, qual modelo você evitaria primeiro e por quê?</a:t>
            </a:r>
            <a:endParaRPr lang="en-US" sz="2000" dirty="0"/>
          </a:p>
        </p:txBody>
      </p:sp>
      <p:sp>
        <p:nvSpPr>
          <p:cNvPr id="42" name="Shape 40"/>
          <p:cNvSpPr/>
          <p:nvPr/>
        </p:nvSpPr>
        <p:spPr>
          <a:xfrm>
            <a:off x="960120" y="4206240"/>
            <a:ext cx="10241280" cy="1280160"/>
          </a:xfrm>
          <a:prstGeom prst="roundRect">
            <a:avLst>
              <a:gd name="adj" fmla="val 7619"/>
            </a:avLst>
          </a:prstGeom>
          <a:solidFill>
            <a:srgbClr val="DDF4F1"/>
          </a:solidFill>
          <a:ln w="12700">
            <a:solidFill>
              <a:srgbClr val="DDF4F1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124712" y="4315968"/>
            <a:ext cx="9912096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RESPOSTA ESPERADA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124712" y="4590288"/>
            <a:ext cx="9912096" cy="4846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Evitaria B se erros extremos são perigosos: mesmo MAE de A, mas RMSE muito maior. </a:t>
            </a:r>
          </a:p>
          <a:p>
            <a:pPr marL="0" indent="0" algn="l">
              <a:buNone/>
            </a:pPr>
            <a:r>
              <a:rPr lang="en-US" sz="20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R² levemente maior não compensa o risco.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  <p:bldP spid="44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8288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EXERCÍCIOS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Exercício 2 — Accuracy alta pode ser péssima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12064" y="114300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Objetivo: reconhecer desbalanceamento e falso negativo.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1311128" y="647395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43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822960" y="1508760"/>
            <a:ext cx="2194560" cy="475488"/>
          </a:xfrm>
          <a:prstGeom prst="rect">
            <a:avLst/>
          </a:prstGeom>
          <a:solidFill>
            <a:srgbClr val="7C3AED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6968" y="1554480"/>
            <a:ext cx="2066544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Cenário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017520" y="1508760"/>
            <a:ext cx="2194560" cy="475488"/>
          </a:xfrm>
          <a:prstGeom prst="rect">
            <a:avLst/>
          </a:prstGeom>
          <a:solidFill>
            <a:srgbClr val="7C3AED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81528" y="1554480"/>
            <a:ext cx="2066544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Quantidade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2960" y="1984248"/>
            <a:ext cx="2194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86968" y="2029968"/>
            <a:ext cx="2066544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Pacientes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017520" y="1984248"/>
            <a:ext cx="2194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81528" y="2029968"/>
            <a:ext cx="2066544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10.000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22960" y="2459736"/>
            <a:ext cx="2194560" cy="47548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86968" y="2505456"/>
            <a:ext cx="2066544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Doentes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017520" y="2459736"/>
            <a:ext cx="2194560" cy="47548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081528" y="2505456"/>
            <a:ext cx="2066544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22960" y="2935224"/>
            <a:ext cx="2194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86968" y="2980944"/>
            <a:ext cx="2066544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Saudáveis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017520" y="2935224"/>
            <a:ext cx="2194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081528" y="2980944"/>
            <a:ext cx="2066544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9.900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22960" y="3410712"/>
            <a:ext cx="2194560" cy="47548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86968" y="3456432"/>
            <a:ext cx="2066544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Modelo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017520" y="3410712"/>
            <a:ext cx="2194560" cy="47548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081528" y="3456432"/>
            <a:ext cx="2066544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diz saudável para todos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897880" y="1600200"/>
            <a:ext cx="5120640" cy="1097280"/>
          </a:xfrm>
          <a:prstGeom prst="roundRect">
            <a:avLst>
              <a:gd name="adj" fmla="val 6667"/>
            </a:avLst>
          </a:prstGeom>
          <a:solidFill>
            <a:srgbClr val="EDE9FE"/>
          </a:solidFill>
          <a:ln w="12700">
            <a:solidFill>
              <a:srgbClr val="EDE9FE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62472" y="1709928"/>
            <a:ext cx="4791456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PERGUNTA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062472" y="1984248"/>
            <a:ext cx="4791456" cy="6217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 que esse modelo não serve para triagem, mesmo com 99% de Accuracy?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960120" y="4572000"/>
            <a:ext cx="10241280" cy="1293962"/>
          </a:xfrm>
          <a:prstGeom prst="roundRect">
            <a:avLst>
              <a:gd name="adj" fmla="val 7619"/>
            </a:avLst>
          </a:prstGeom>
          <a:solidFill>
            <a:srgbClr val="DDF4F1"/>
          </a:solidFill>
          <a:ln w="12700">
            <a:solidFill>
              <a:srgbClr val="DDF4F1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124712" y="4681728"/>
            <a:ext cx="9912096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RESPOSTA ESPERADA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24712" y="4956048"/>
            <a:ext cx="9912096" cy="4846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Porque o erro crítico é FN: todos os doentes foram perdidos. A métrica principal deveria ser Recall/Sensibilidade, com Precision como controle.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2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8288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EXERCÍCIOS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Exercício 3 — Escolha da métrica pelo contexto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12064" y="114300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Objetivo: escolher métrica principal e justificar.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1311128" y="647395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44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94360" y="1706880"/>
            <a:ext cx="3627120" cy="487680"/>
          </a:xfrm>
          <a:prstGeom prst="rect">
            <a:avLst/>
          </a:prstGeom>
          <a:solidFill>
            <a:srgbClr val="7C3AED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 sz="3200"/>
          </a:p>
        </p:txBody>
      </p:sp>
      <p:sp>
        <p:nvSpPr>
          <p:cNvPr id="8" name="Text 6"/>
          <p:cNvSpPr/>
          <p:nvPr/>
        </p:nvSpPr>
        <p:spPr>
          <a:xfrm>
            <a:off x="658368" y="1752600"/>
            <a:ext cx="3499104" cy="4053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Situação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221480" y="1706880"/>
            <a:ext cx="3627120" cy="487680"/>
          </a:xfrm>
          <a:prstGeom prst="rect">
            <a:avLst/>
          </a:prstGeom>
          <a:solidFill>
            <a:srgbClr val="7C3AED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 sz="3200"/>
          </a:p>
        </p:txBody>
      </p:sp>
      <p:sp>
        <p:nvSpPr>
          <p:cNvPr id="10" name="Text 8"/>
          <p:cNvSpPr/>
          <p:nvPr/>
        </p:nvSpPr>
        <p:spPr>
          <a:xfrm>
            <a:off x="4285488" y="1752600"/>
            <a:ext cx="3499104" cy="4053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 mais perigoso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7848600" y="1706880"/>
            <a:ext cx="3627120" cy="487680"/>
          </a:xfrm>
          <a:prstGeom prst="rect">
            <a:avLst/>
          </a:prstGeom>
          <a:solidFill>
            <a:srgbClr val="7C3AED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 sz="3200"/>
          </a:p>
        </p:txBody>
      </p:sp>
      <p:sp>
        <p:nvSpPr>
          <p:cNvPr id="12" name="Text 10"/>
          <p:cNvSpPr/>
          <p:nvPr/>
        </p:nvSpPr>
        <p:spPr>
          <a:xfrm>
            <a:off x="7912608" y="1752600"/>
            <a:ext cx="3499104" cy="4053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Métrica principal provável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594360" y="2194560"/>
            <a:ext cx="3627120" cy="48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 sz="3200"/>
          </a:p>
        </p:txBody>
      </p:sp>
      <p:sp>
        <p:nvSpPr>
          <p:cNvPr id="14" name="Text 12"/>
          <p:cNvSpPr/>
          <p:nvPr/>
        </p:nvSpPr>
        <p:spPr>
          <a:xfrm>
            <a:off x="658368" y="2240280"/>
            <a:ext cx="3499104" cy="4053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Sensor de incêndio</a:t>
            </a: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4221480" y="2194560"/>
            <a:ext cx="3627120" cy="48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 sz="3200"/>
          </a:p>
        </p:txBody>
      </p:sp>
      <p:sp>
        <p:nvSpPr>
          <p:cNvPr id="16" name="Text 14"/>
          <p:cNvSpPr/>
          <p:nvPr/>
        </p:nvSpPr>
        <p:spPr>
          <a:xfrm>
            <a:off x="4285488" y="2240280"/>
            <a:ext cx="3499104" cy="4053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não detectar incêndio</a:t>
            </a: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7848600" y="2194560"/>
            <a:ext cx="3627120" cy="48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 sz="3200"/>
          </a:p>
        </p:txBody>
      </p:sp>
      <p:sp>
        <p:nvSpPr>
          <p:cNvPr id="18" name="Text 16"/>
          <p:cNvSpPr/>
          <p:nvPr/>
        </p:nvSpPr>
        <p:spPr>
          <a:xfrm>
            <a:off x="7912608" y="2240280"/>
            <a:ext cx="3499104" cy="4053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Recall</a:t>
            </a: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594360" y="2682240"/>
            <a:ext cx="3627120" cy="4876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 sz="3200"/>
          </a:p>
        </p:txBody>
      </p:sp>
      <p:sp>
        <p:nvSpPr>
          <p:cNvPr id="20" name="Text 18"/>
          <p:cNvSpPr/>
          <p:nvPr/>
        </p:nvSpPr>
        <p:spPr>
          <a:xfrm>
            <a:off x="658368" y="2727960"/>
            <a:ext cx="3499104" cy="4053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Bloqueio automático de cartão</a:t>
            </a: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4221480" y="2682240"/>
            <a:ext cx="3627120" cy="4876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 sz="3200"/>
          </a:p>
        </p:txBody>
      </p:sp>
      <p:sp>
        <p:nvSpPr>
          <p:cNvPr id="22" name="Text 20"/>
          <p:cNvSpPr/>
          <p:nvPr/>
        </p:nvSpPr>
        <p:spPr>
          <a:xfrm>
            <a:off x="4285488" y="2727960"/>
            <a:ext cx="3499104" cy="4053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bloquear cliente honesto</a:t>
            </a: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7848600" y="2682240"/>
            <a:ext cx="3627120" cy="4876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 sz="3200"/>
          </a:p>
        </p:txBody>
      </p:sp>
      <p:sp>
        <p:nvSpPr>
          <p:cNvPr id="24" name="Text 22"/>
          <p:cNvSpPr/>
          <p:nvPr/>
        </p:nvSpPr>
        <p:spPr>
          <a:xfrm>
            <a:off x="7912608" y="2727960"/>
            <a:ext cx="3499104" cy="4053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Precision</a:t>
            </a: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594360" y="3169920"/>
            <a:ext cx="3627120" cy="48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 sz="3200"/>
          </a:p>
        </p:txBody>
      </p:sp>
      <p:sp>
        <p:nvSpPr>
          <p:cNvPr id="26" name="Text 24"/>
          <p:cNvSpPr/>
          <p:nvPr/>
        </p:nvSpPr>
        <p:spPr>
          <a:xfrm>
            <a:off x="658368" y="3215640"/>
            <a:ext cx="3499104" cy="4053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Prever preço de imóvel</a:t>
            </a: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4221480" y="3169920"/>
            <a:ext cx="3627120" cy="48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 sz="3200"/>
          </a:p>
        </p:txBody>
      </p:sp>
      <p:sp>
        <p:nvSpPr>
          <p:cNvPr id="28" name="Text 26"/>
          <p:cNvSpPr/>
          <p:nvPr/>
        </p:nvSpPr>
        <p:spPr>
          <a:xfrm>
            <a:off x="4285488" y="3215640"/>
            <a:ext cx="3499104" cy="4053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 médio operacional</a:t>
            </a: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7848600" y="3169920"/>
            <a:ext cx="3627120" cy="48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 sz="3200"/>
          </a:p>
        </p:txBody>
      </p:sp>
      <p:sp>
        <p:nvSpPr>
          <p:cNvPr id="30" name="Text 28"/>
          <p:cNvSpPr/>
          <p:nvPr/>
        </p:nvSpPr>
        <p:spPr>
          <a:xfrm>
            <a:off x="7912608" y="3215640"/>
            <a:ext cx="3499104" cy="4053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MAE</a:t>
            </a: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594360" y="3657600"/>
            <a:ext cx="3627120" cy="4876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 sz="3200"/>
          </a:p>
        </p:txBody>
      </p:sp>
      <p:sp>
        <p:nvSpPr>
          <p:cNvPr id="32" name="Text 30"/>
          <p:cNvSpPr/>
          <p:nvPr/>
        </p:nvSpPr>
        <p:spPr>
          <a:xfrm>
            <a:off x="658368" y="3703320"/>
            <a:ext cx="3499104" cy="4053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Prever risco de falha crítica</a:t>
            </a: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4221480" y="3657600"/>
            <a:ext cx="3627120" cy="4876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 sz="3200"/>
          </a:p>
        </p:txBody>
      </p:sp>
      <p:sp>
        <p:nvSpPr>
          <p:cNvPr id="34" name="Text 32"/>
          <p:cNvSpPr/>
          <p:nvPr/>
        </p:nvSpPr>
        <p:spPr>
          <a:xfrm>
            <a:off x="4285488" y="3703320"/>
            <a:ext cx="3499104" cy="4053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 extremo</a:t>
            </a:r>
            <a:endParaRPr lang="en-US" dirty="0"/>
          </a:p>
        </p:txBody>
      </p:sp>
      <p:sp>
        <p:nvSpPr>
          <p:cNvPr id="35" name="Shape 33"/>
          <p:cNvSpPr/>
          <p:nvPr/>
        </p:nvSpPr>
        <p:spPr>
          <a:xfrm>
            <a:off x="7848600" y="3657600"/>
            <a:ext cx="3627120" cy="4876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 sz="3200"/>
          </a:p>
        </p:txBody>
      </p:sp>
      <p:sp>
        <p:nvSpPr>
          <p:cNvPr id="36" name="Text 34"/>
          <p:cNvSpPr/>
          <p:nvPr/>
        </p:nvSpPr>
        <p:spPr>
          <a:xfrm>
            <a:off x="7912608" y="3703320"/>
            <a:ext cx="3499104" cy="4053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RMSE</a:t>
            </a:r>
            <a:endParaRPr lang="en-US" dirty="0"/>
          </a:p>
        </p:txBody>
      </p:sp>
      <p:sp>
        <p:nvSpPr>
          <p:cNvPr id="37" name="Shape 35"/>
          <p:cNvSpPr/>
          <p:nvPr/>
        </p:nvSpPr>
        <p:spPr>
          <a:xfrm>
            <a:off x="594360" y="4145280"/>
            <a:ext cx="3627120" cy="48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 sz="3200"/>
          </a:p>
        </p:txBody>
      </p:sp>
      <p:sp>
        <p:nvSpPr>
          <p:cNvPr id="38" name="Text 36"/>
          <p:cNvSpPr/>
          <p:nvPr/>
        </p:nvSpPr>
        <p:spPr>
          <a:xfrm>
            <a:off x="658368" y="4191000"/>
            <a:ext cx="3499104" cy="4053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Agrupar clientes</a:t>
            </a:r>
            <a:endParaRPr lang="en-US" dirty="0"/>
          </a:p>
        </p:txBody>
      </p:sp>
      <p:sp>
        <p:nvSpPr>
          <p:cNvPr id="39" name="Shape 37"/>
          <p:cNvSpPr/>
          <p:nvPr/>
        </p:nvSpPr>
        <p:spPr>
          <a:xfrm>
            <a:off x="4221480" y="4145280"/>
            <a:ext cx="3627120" cy="48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 sz="3200"/>
          </a:p>
        </p:txBody>
      </p:sp>
      <p:sp>
        <p:nvSpPr>
          <p:cNvPr id="40" name="Text 38"/>
          <p:cNvSpPr/>
          <p:nvPr/>
        </p:nvSpPr>
        <p:spPr>
          <a:xfrm>
            <a:off x="4285488" y="4191000"/>
            <a:ext cx="3499104" cy="4053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grupos úteis e separados</a:t>
            </a:r>
            <a:endParaRPr lang="en-US" dirty="0"/>
          </a:p>
        </p:txBody>
      </p:sp>
      <p:sp>
        <p:nvSpPr>
          <p:cNvPr id="41" name="Shape 39"/>
          <p:cNvSpPr/>
          <p:nvPr/>
        </p:nvSpPr>
        <p:spPr>
          <a:xfrm>
            <a:off x="7848600" y="4145280"/>
            <a:ext cx="3627120" cy="48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lstStyle/>
          <a:p>
            <a:endParaRPr lang="pt-BR" sz="3200"/>
          </a:p>
        </p:txBody>
      </p:sp>
      <p:sp>
        <p:nvSpPr>
          <p:cNvPr id="42" name="Text 40"/>
          <p:cNvSpPr/>
          <p:nvPr/>
        </p:nvSpPr>
        <p:spPr>
          <a:xfrm>
            <a:off x="7912608" y="4191000"/>
            <a:ext cx="3499104" cy="4053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Silhouette + interpretação</a:t>
            </a:r>
            <a:endParaRPr lang="en-US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8288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FECHAMENTO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Resumo final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12064" y="114300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Antes de escolher algoritmo, escolha a forma correta de enxergar o erro.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1311128" y="647395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45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960120" y="1508760"/>
            <a:ext cx="10241280" cy="2468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1900" dirty="0">
                <a:solidFill>
                  <a:srgbClr val="172033"/>
                </a:solidFill>
              </a:rPr>
              <a:t>Se a resposta é número, comece por MAE, RMSE, R² e resíduos.</a:t>
            </a:r>
            <a:endParaRPr lang="en-US" sz="1900" dirty="0"/>
          </a:p>
          <a:p>
            <a:r>
              <a:rPr lang="en-US" sz="1900" dirty="0">
                <a:solidFill>
                  <a:srgbClr val="172033"/>
                </a:solidFill>
              </a:rPr>
              <a:t>Se a resposta é classe, comece pela matriz de confusão.</a:t>
            </a:r>
            <a:endParaRPr lang="en-US" sz="1900" dirty="0"/>
          </a:p>
          <a:p>
            <a:r>
              <a:rPr lang="en-US" sz="1900" dirty="0">
                <a:solidFill>
                  <a:srgbClr val="172033"/>
                </a:solidFill>
              </a:rPr>
              <a:t>Se perder positivo é grave, Recall pesa mais.</a:t>
            </a:r>
            <a:endParaRPr lang="en-US" sz="1900" dirty="0"/>
          </a:p>
          <a:p>
            <a:r>
              <a:rPr lang="en-US" sz="1900" dirty="0">
                <a:solidFill>
                  <a:srgbClr val="172033"/>
                </a:solidFill>
              </a:rPr>
              <a:t>Se falso alarme é caro, Precision pesa mais.</a:t>
            </a:r>
            <a:endParaRPr lang="en-US" sz="1900" dirty="0"/>
          </a:p>
          <a:p>
            <a:r>
              <a:rPr lang="en-US" sz="1900" dirty="0">
                <a:solidFill>
                  <a:srgbClr val="172033"/>
                </a:solidFill>
              </a:rPr>
              <a:t>Se não há rótulo correto, avalie coesão, separação e sentido prático.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960120" y="3933288"/>
            <a:ext cx="10241280" cy="1121791"/>
          </a:xfrm>
          <a:prstGeom prst="roundRect">
            <a:avLst>
              <a:gd name="adj" fmla="val 8421"/>
            </a:avLst>
          </a:prstGeom>
          <a:solidFill>
            <a:srgbClr val="EEF2FF"/>
          </a:solidFill>
          <a:ln w="12700">
            <a:solidFill>
              <a:srgbClr val="EEF2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24712" y="4043016"/>
            <a:ext cx="9912096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FRASE FINAL PARA A TURMA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24712" y="4317336"/>
            <a:ext cx="9912096" cy="737743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“Métrica boa não é a que dá o maior número; é a que responde à pergunta certa sobre o erro.”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195</TotalTime>
  <Words>5946</Words>
  <Application>Microsoft Office PowerPoint</Application>
  <PresentationFormat>Widescreen</PresentationFormat>
  <Paragraphs>1089</Paragraphs>
  <Slides>46</Slides>
  <Notes>46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46</vt:i4>
      </vt:variant>
    </vt:vector>
  </HeadingPairs>
  <TitlesOfParts>
    <vt:vector size="50" baseType="lpstr">
      <vt:lpstr>Aptos</vt:lpstr>
      <vt:lpstr>Aptos Display</vt:lpstr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Métricas antes dos algoritmos</dc:title>
  <dc:subject>Aula introdutória de métricas para Machine Learning clássico</dc:subject>
  <dc:creator>OpenAI</dc:creator>
  <cp:lastModifiedBy>Rodrigo Ramos</cp:lastModifiedBy>
  <cp:revision>67</cp:revision>
  <dcterms:created xsi:type="dcterms:W3CDTF">2026-08-24T13:56:18Z</dcterms:created>
  <dcterms:modified xsi:type="dcterms:W3CDTF">2026-08-24T18:51:13Z</dcterms:modified>
</cp:coreProperties>
</file>