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sldIdLst>
    <p:sldId id="256" r:id="rId2"/>
    <p:sldId id="314" r:id="rId3"/>
    <p:sldId id="334" r:id="rId4"/>
    <p:sldId id="316" r:id="rId5"/>
    <p:sldId id="383" r:id="rId6"/>
    <p:sldId id="387" r:id="rId7"/>
    <p:sldId id="397" r:id="rId8"/>
    <p:sldId id="388" r:id="rId9"/>
    <p:sldId id="398" r:id="rId10"/>
    <p:sldId id="389" r:id="rId11"/>
    <p:sldId id="399" r:id="rId12"/>
    <p:sldId id="390" r:id="rId13"/>
    <p:sldId id="400" r:id="rId14"/>
    <p:sldId id="401" r:id="rId15"/>
    <p:sldId id="391" r:id="rId16"/>
    <p:sldId id="402" r:id="rId17"/>
    <p:sldId id="403" r:id="rId18"/>
    <p:sldId id="392" r:id="rId19"/>
    <p:sldId id="404" r:id="rId20"/>
    <p:sldId id="405" r:id="rId21"/>
    <p:sldId id="394" r:id="rId22"/>
    <p:sldId id="406" r:id="rId23"/>
    <p:sldId id="407" r:id="rId24"/>
    <p:sldId id="393" r:id="rId25"/>
    <p:sldId id="408" r:id="rId26"/>
    <p:sldId id="409" r:id="rId27"/>
    <p:sldId id="395" r:id="rId28"/>
    <p:sldId id="410" r:id="rId29"/>
    <p:sldId id="411" r:id="rId30"/>
    <p:sldId id="396" r:id="rId31"/>
    <p:sldId id="412" r:id="rId32"/>
    <p:sldId id="413" r:id="rId33"/>
    <p:sldId id="335" r:id="rId34"/>
    <p:sldId id="336" r:id="rId35"/>
    <p:sldId id="324" r:id="rId36"/>
    <p:sldId id="321" r:id="rId37"/>
    <p:sldId id="322" r:id="rId38"/>
    <p:sldId id="337" r:id="rId39"/>
    <p:sldId id="385" r:id="rId40"/>
    <p:sldId id="339" r:id="rId41"/>
    <p:sldId id="381" r:id="rId42"/>
    <p:sldId id="340" r:id="rId43"/>
    <p:sldId id="341" r:id="rId44"/>
    <p:sldId id="343" r:id="rId45"/>
    <p:sldId id="342" r:id="rId46"/>
    <p:sldId id="344" r:id="rId47"/>
    <p:sldId id="345" r:id="rId48"/>
    <p:sldId id="346" r:id="rId49"/>
    <p:sldId id="347" r:id="rId50"/>
    <p:sldId id="361" r:id="rId51"/>
    <p:sldId id="348" r:id="rId52"/>
    <p:sldId id="349" r:id="rId53"/>
    <p:sldId id="350" r:id="rId54"/>
    <p:sldId id="386" r:id="rId55"/>
    <p:sldId id="382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ri Crotti" initials="YC" lastIdx="1" clrIdx="0">
    <p:extLst>
      <p:ext uri="{19B8F6BF-5375-455C-9EA6-DF929625EA0E}">
        <p15:presenceInfo xmlns:p15="http://schemas.microsoft.com/office/powerpoint/2012/main" userId="Yuri Crott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07" autoAdjust="0"/>
  </p:normalViewPr>
  <p:slideViewPr>
    <p:cSldViewPr snapToGrid="0">
      <p:cViewPr>
        <p:scale>
          <a:sx n="80" d="100"/>
          <a:sy n="80" d="100"/>
        </p:scale>
        <p:origin x="71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E8D53-2432-4DDB-A099-3E72A329664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99B70-AA64-44CA-81E6-C1A8899923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82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pt-BR" sz="1200" dirty="0"/>
          </a:p>
          <a:p>
            <a:pPr algn="just"/>
            <a:r>
              <a:rPr lang="pt-BR" sz="1200" dirty="0"/>
              <a:t>Este algoritmo pode ser aplicado em diversos segmentos de negócio, logo também se aplica em diversos problemas como </a:t>
            </a:r>
            <a:r>
              <a:rPr lang="pt-BR" sz="1200" dirty="0">
                <a:solidFill>
                  <a:srgbClr val="FF0000"/>
                </a:solidFill>
              </a:rPr>
              <a:t>finanças</a:t>
            </a:r>
            <a:r>
              <a:rPr lang="pt-BR" sz="1200" dirty="0"/>
              <a:t>, </a:t>
            </a:r>
            <a:r>
              <a:rPr lang="pt-BR" sz="1200" dirty="0">
                <a:solidFill>
                  <a:srgbClr val="FF0000"/>
                </a:solidFill>
              </a:rPr>
              <a:t>saúde</a:t>
            </a:r>
            <a:r>
              <a:rPr lang="pt-BR" sz="1200" dirty="0"/>
              <a:t>, </a:t>
            </a:r>
            <a:r>
              <a:rPr lang="pt-BR" sz="1200" dirty="0">
                <a:solidFill>
                  <a:srgbClr val="FF0000"/>
                </a:solidFill>
              </a:rPr>
              <a:t>ciência política</a:t>
            </a:r>
            <a:r>
              <a:rPr lang="pt-BR" sz="1200" dirty="0"/>
              <a:t>, </a:t>
            </a:r>
            <a:r>
              <a:rPr lang="pt-BR" sz="1200" dirty="0">
                <a:solidFill>
                  <a:srgbClr val="FF0000"/>
                </a:solidFill>
              </a:rPr>
              <a:t>reconhecimento de imagem e reconhecimento de vídeos</a:t>
            </a:r>
            <a:r>
              <a:rPr lang="pt-BR" sz="1200" dirty="0"/>
              <a:t>. 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dirty="0"/>
              <a:t>O que acho mais fantástico neste algoritmo é a possibilidade de utilização do mesmo tanto para </a:t>
            </a:r>
            <a:r>
              <a:rPr lang="pt-BR" sz="1200" dirty="0">
                <a:solidFill>
                  <a:srgbClr val="FF0000"/>
                </a:solidFill>
              </a:rPr>
              <a:t>classificação</a:t>
            </a:r>
            <a:r>
              <a:rPr lang="pt-BR" sz="1200" dirty="0"/>
              <a:t> quanto para </a:t>
            </a:r>
            <a:r>
              <a:rPr lang="pt-BR" sz="1200" dirty="0">
                <a:solidFill>
                  <a:srgbClr val="FF0000"/>
                </a:solidFill>
              </a:rPr>
              <a:t>regressão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900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176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84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278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1E016-03B5-C21B-7600-25717AFA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FC3A5C-A2B1-EB9F-7B4B-129BECD36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037239-169F-E6F2-9DB9-C203BA3C0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4A0F4E-F69B-15FF-1224-20BBD589A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068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69CBD-E673-85C6-0517-A54A3C08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576EEF-D2D6-5E4D-231F-8026BF687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714AE5-0C77-BE67-47AE-F43BB6661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34774E-2127-44CD-E366-1E1F784A6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35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F465-FAB4-63A5-6FE3-066682F3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121461-910F-FDC3-1C31-C621A865E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DB582C-D506-A241-75D4-76E8E2B1B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0340C4-766A-857C-725B-EBCB97251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2953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B1D2-D270-012F-C7C4-AFE73441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0469C8-5E01-4F42-EF9D-A58A4F36E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693354-4BE5-2C49-A5B1-3426ABB2B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E4CD4F-0272-EC25-1460-1F8C0971C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45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24A7D-BE26-E0E1-4933-600FCB6A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9076D6-F2A3-3271-2129-44C86AE5F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DDF487-E84D-D3E4-46B7-97C728026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674089-EF71-0A5A-A3B2-A4C2D9F97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2596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B058-EEE3-34FA-1F82-16C46F28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8213C8-82CB-CEF2-7547-F073F569A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602D41-A966-EF1C-7195-B2F7249F5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1FA274-927B-28E6-0EC2-7C284A0BA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525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943A-66F3-2536-C4A8-3090AE45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3EE805-FFC4-7DF1-84FD-F74A3C44C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FC158C-AD1D-FDD5-F0C7-430012088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867413-B434-3C5D-9C24-33A0B2033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910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B45B7-7CB7-DE11-BCAE-F54FB67C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AF91A8-F423-1401-3FC9-DC84F137C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E60908-7796-5DA5-A441-B8B22C3AA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9917D4-1842-7971-77D8-54EABF90E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301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8693-9A58-D721-7615-28F8488F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CDB617F-537F-82DB-8789-32046C00B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2377E2C-F21D-8984-A315-13D38C53A9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B2CA00-6AF8-560C-9D42-F188C649E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7977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D37D0-F072-5F43-40D2-7AD0555DF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B18704-C8CD-B31D-4A13-E395639F9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F9DB25-7AE6-7152-1F7C-33F530990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EDC5A5-51D7-0EFB-A9A3-0BE6DBB7D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88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6797-3285-7ACB-81F3-3C0CCBAC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203617-5F24-185A-6ECA-1F091F7C1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640E8C-71C4-C82D-2B4E-A16C783C1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810060-B114-8569-FE15-17EE3784C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142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A0D3B-76CB-4231-38F9-270A99D9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582AD5-D8E0-4AA7-9F73-8CC915B7F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13BBCC-5138-2200-2FFB-38BE5B5C9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BABF5D-9153-21F3-AED7-021B461CA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42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42F08-BD9A-0454-A673-463C56A7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1CD640-916A-AB0D-DA69-EEE2833CA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F2E841-C323-D6B2-1443-E504C644C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BD8F83-F663-A9F2-8CA5-89EDC5793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029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3E8CF-2A19-75EC-58E5-94D6D58F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D9600D-CB72-B3D1-F705-56DDEEE81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CB6FC0-DF20-4F25-A597-F1E72F07A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01E0C6-F9D0-D4ED-6667-A9D6BE145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621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E14C-187F-DFB3-4866-E5962317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EC5D22-52DA-B279-96D2-91225908A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8B424A-61AA-6067-C3BD-9A586DA61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33F83D-D013-B528-2790-BDF81E5E7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857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E2DD-5E49-2517-4A54-577D4B16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FC9EB4-4460-5905-862F-F55D8D1A2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BE006E-65D4-1F35-43C7-35E5B3C20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41195E-4262-967A-D50A-480B532D1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8254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02C2-31DE-8082-177D-5704FAB3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3D59A6F-5FDE-83BB-BD72-657DA07D2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1F159A-4C9A-41A9-E6B2-1B9C03551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016905-F64B-EA02-006F-6167B4D78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3266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0EA2B-F5A8-3B5C-93BC-8B4FA8B2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745B52-6F8D-0450-C7C2-670E53F0E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191288-4B10-F4CE-81C1-C19E7AC89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CC7E5E-6BA8-2DDE-1E9F-CFC64A3E1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699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572A6-11D7-472A-D378-06101DA4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2DCC47-901D-228E-1B0E-5A20F0D12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C2B562-B25F-B6E4-DCE4-802D637E0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CE04B6-5099-C067-F489-E6289BD43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6215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1214E-0174-04C9-93D0-4B85147C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43F3B6-055E-75EC-50C9-E81F517FF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D048C9-E220-1781-5AF7-F67FE248D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C008E7-8104-A0F8-B532-952C7C78F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2281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FD866-56BD-FBCE-EEE1-8F57112D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63A931-424E-993C-39FD-29FC1C1CA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BCC36B-711F-CA4D-7CC6-F8D761E73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33E187-9381-6D19-A101-0562C7443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590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549B-0C31-0CB3-4AFC-DBF0B93D2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E3AC107-E2B8-A5EB-A0FD-B222C5CAB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447508-B154-64FA-C0DB-4AB791C1A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Em conjuntos:</a:t>
            </a:r>
            <a:r>
              <a:rPr lang="pt-PT" dirty="0"/>
              <a:t> ∣A∣| é a </a:t>
            </a:r>
            <a:r>
              <a:rPr lang="pt-PT" b="1" dirty="0"/>
              <a:t>cardinalidade</a:t>
            </a:r>
            <a:r>
              <a:rPr lang="pt-PT" dirty="0"/>
              <a:t> → </a:t>
            </a:r>
            <a:r>
              <a:rPr lang="pt-PT" b="1" dirty="0"/>
              <a:t>quantidade de itens únicos</a:t>
            </a:r>
            <a:r>
              <a:rPr lang="pt-PT" dirty="0"/>
              <a:t>,</a:t>
            </a:r>
          </a:p>
          <a:p>
            <a:r>
              <a:rPr lang="pt-PT" b="1" dirty="0"/>
              <a:t>Em vetores binários (0/1):</a:t>
            </a:r>
            <a:r>
              <a:rPr lang="pt-PT" dirty="0"/>
              <a:t> ∣A∣=∑ixi|A|=​ (soma dos 1’s).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ACFDF4-CB97-51F7-BB7F-EA6C8298F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916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C01F6-C73C-8609-0D19-C830AA88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E3D45D-7DC2-0363-C8D8-9F573BFFF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03A3C0-393B-B4B3-CBC2-DE34A1C80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Em conjuntos:</a:t>
            </a:r>
            <a:r>
              <a:rPr lang="pt-PT" dirty="0"/>
              <a:t> ∣A∣| é a </a:t>
            </a:r>
            <a:r>
              <a:rPr lang="pt-PT" b="1" dirty="0"/>
              <a:t>cardinalidade</a:t>
            </a:r>
            <a:r>
              <a:rPr lang="pt-PT" dirty="0"/>
              <a:t> → </a:t>
            </a:r>
            <a:r>
              <a:rPr lang="pt-PT" b="1" dirty="0"/>
              <a:t>quantidade de itens únicos</a:t>
            </a:r>
            <a:r>
              <a:rPr lang="pt-PT" dirty="0"/>
              <a:t>,</a:t>
            </a:r>
          </a:p>
          <a:p>
            <a:r>
              <a:rPr lang="pt-PT" b="1" dirty="0"/>
              <a:t>Em vetores binários (0/1):</a:t>
            </a:r>
            <a:r>
              <a:rPr lang="pt-PT" dirty="0"/>
              <a:t> ∣A∣=∑ixi|A|=​ (soma dos 1’s).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739C45-9AF8-A534-C609-6AA228667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3716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A0A6-9E0A-AA9B-053F-DEF0E7B0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021BFF-2D9A-98D5-D198-2A05DD6A4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AFE16B-A4DF-CFDD-3B47-D182CE912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Em conjuntos:</a:t>
            </a:r>
            <a:r>
              <a:rPr lang="pt-PT" dirty="0"/>
              <a:t> ∣A∣| é a </a:t>
            </a:r>
            <a:r>
              <a:rPr lang="pt-PT" b="1" dirty="0"/>
              <a:t>cardinalidade</a:t>
            </a:r>
            <a:r>
              <a:rPr lang="pt-PT" dirty="0"/>
              <a:t> → </a:t>
            </a:r>
            <a:r>
              <a:rPr lang="pt-PT" b="1" dirty="0"/>
              <a:t>quantidade de itens únicos</a:t>
            </a:r>
            <a:r>
              <a:rPr lang="pt-PT" dirty="0"/>
              <a:t>,</a:t>
            </a:r>
          </a:p>
          <a:p>
            <a:r>
              <a:rPr lang="pt-PT" b="1" dirty="0"/>
              <a:t>Em vetores binários (0/1):</a:t>
            </a:r>
            <a:r>
              <a:rPr lang="pt-PT" dirty="0"/>
              <a:t> ∣A∣=∑ixi|A|=​ (soma dos 1’s).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3EA957-6057-AA97-3787-743A9B79C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10245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3953-ADFB-E465-AED4-9DF933AA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2D3FE1-D0B3-D862-54F9-1985E8816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4478AB-2161-ABA9-1EC8-248575B0DC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2D78CE-E1E0-E44F-198C-20E40D55F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2777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E0C70-56B7-C8D2-E3AB-7B0C8BE5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EBED07-FDD2-9415-79BB-33B7CEE8B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F84F20-3AC8-31AB-0FC3-9FEE67A2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8DF103-4F4F-AB17-D1C7-A3C58D679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2686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20F7-8006-AE2E-091E-9B49D42A5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6FDDD2-BFF5-E101-0847-9907A4A02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F0AD17A-E4CD-4245-FE0E-2C3C7F702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B0284D-4968-6CB5-5921-9A87D5E3B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97692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7383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5954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1472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9174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1144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03583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4100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87110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8453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25741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5171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4048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1576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9486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72011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4174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38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88EE9-35D9-44E0-934B-3B4AF87F1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E8BF95-7DB2-437B-8677-A2C48CE67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6F4C54-7F24-4815-B375-FCFB4621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C66C-0622-4057-9A8F-41ABA6A00B0C}" type="datetime1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0A53F2-4991-4CFB-A5B0-BDD47575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5F577B-0B2F-425F-9538-09BAFD3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49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30A3B-2335-431B-A4F7-7B8BD9E5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0D06D-97B9-4B75-851D-17389329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15DB4-4809-4B8E-897E-549BEC58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009-E659-4C5E-A085-389C3F5E6976}" type="datetime1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54262-8C63-4521-8A2C-678716B3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63663-9A1C-4989-96D6-7DFB5AE5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03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D9DC2-B265-48A8-AA25-5BBB2513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C02AB0-B703-496D-9C90-FBAE9F2E4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45AC8-9C89-4673-846E-76A81A78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F52E-E385-45D6-9C9C-478A43B9B1F5}" type="datetime1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252D0-390D-48BE-AAB6-66C2AB84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295C5-22E7-4A9B-98BC-E26CB465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37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A3CD-5C38-4029-AF67-261D547F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ABD9C0-5A79-482B-948E-8FF6C0F44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9C8404-21BE-406F-9053-B978A48D0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73A459-E728-451B-8A95-0C64F84A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1D87-8F45-48CC-ADFA-762C0DD5109C}" type="datetime1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6C32BC-B901-465B-B28B-09E582CF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EBFCE-B30C-43BA-82E6-0DF258E0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09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D7D3-7F09-49A5-8A57-9689EFD5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4FCEF6-A69A-4EA2-AF2C-A4BE7F75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4B67CD-358D-42FC-9893-933284851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B8A791-FACA-4289-8FFE-D89E34054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A29A48-6090-4C40-853B-C62E4679B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F660D0-9B73-4FB0-B826-55E83E2B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DE3D-F89F-4DA6-AC8C-6B667814E987}" type="datetime1">
              <a:rPr lang="pt-BR" smtClean="0"/>
              <a:t>14/09/2026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AB1CA2-5169-4399-99F4-F3D50FE7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A7A87C-7D0D-421B-9300-22774AE8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72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C8D08-1B39-4585-BFAC-725D77D0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EC3431-BDC3-4753-A507-C3C4FB1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6EF6-53E0-4F04-B7D7-10D4755DAFEA}" type="datetime1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2AFBF5-FC87-41AD-9BE5-F901329A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7E06CC-B1E4-4382-90DC-7742D170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93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5DD363-144D-41CE-94CF-E2459E51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A54A-877B-448B-8F34-9B83D1A0E4C0}" type="datetime1">
              <a:rPr lang="pt-BR" smtClean="0"/>
              <a:t>14/09/2026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E2A2A1-C7C1-457E-97D0-F2C44053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C7CEA-1299-483A-8AAB-2989DF0D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88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0F7D5-3A15-4932-9223-0F08DB7F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BE542F-1125-4657-B31C-73427FC4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886511-D02B-43BB-A182-600621BF3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ED9DDE-A5F5-4B4F-8C1B-7A9EEE0C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1FE5-6824-40F4-AA5C-1E93DC678B4C}" type="datetime1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CA570-D4CB-4141-9BEF-8279C904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4BD7F5-14B3-40E7-93B0-E5A5E2C0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50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C7D25-B680-42D6-9232-415FDA60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76EF1-DD74-4B3D-A094-5FACD19CA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0AEB4-BD24-4F27-883F-F3B7FEA46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A3D6E0-56D0-4591-B9CE-CB7F2562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B790C-5A5D-48BE-9835-6F495E8F8169}" type="datetime1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85481D-E102-496F-86BB-95D7F6F4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B937E-306E-4B5E-B150-F0471807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85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46546-F711-4E8A-A332-C877EDFB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4CBB98-24D0-458E-A9AA-096A4F69D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AF7F5-694A-4C82-A9A4-CE673690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B63F-CCA2-4A0C-A322-23A5B91B22F1}" type="datetime1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59477-D0AB-4157-B421-6E177310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52FA18-8268-4A18-8873-D1F855DF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45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886681-ABED-4846-B98E-CE18D4B5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1A0CC1-3933-4097-98AC-8566C4D17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93FB3-D199-408E-AF9A-66F2798C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F73-F02C-49A2-8376-2FC6168462DE}" type="datetime1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3D492-3731-4F74-8424-A042A518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8807F5-8F66-49C8-AF20-57EF8873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92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6AE854-0973-4056-B7D8-AF348DF3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5C39FB-1079-4E34-881D-DDF20003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E36169-01FC-483E-B62A-5C134F3DF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1542-75A7-4A64-8D19-5B158B383712}" type="datetime1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9B608C-064A-405D-9AAE-C7A2B4183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129A6-A980-4CBF-A865-5A62B2F57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21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0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eg"/><Relationship Id="rId3" Type="http://schemas.openxmlformats.org/officeDocument/2006/relationships/image" Target="../media/image5.png"/><Relationship Id="rId7" Type="http://schemas.openxmlformats.org/officeDocument/2006/relationships/image" Target="../media/image6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jpeg"/><Relationship Id="rId10" Type="http://schemas.openxmlformats.org/officeDocument/2006/relationships/image" Target="../media/image65.jpeg"/><Relationship Id="rId4" Type="http://schemas.openxmlformats.org/officeDocument/2006/relationships/image" Target="../media/image59.jpeg"/><Relationship Id="rId9" Type="http://schemas.openxmlformats.org/officeDocument/2006/relationships/image" Target="../media/image6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141" y="3101426"/>
                <a:ext cx="50040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96F3CE-DE9A-4F5A-AE63-9DBB2CFDE036}"/>
              </a:ext>
            </a:extLst>
          </p:cNvPr>
          <p:cNvSpPr txBox="1"/>
          <p:nvPr/>
        </p:nvSpPr>
        <p:spPr>
          <a:xfrm>
            <a:off x="6518366" y="2644170"/>
            <a:ext cx="555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Aula de KNN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F505634-22BF-4832-B2EF-A87CBD713B85}"/>
              </a:ext>
            </a:extLst>
          </p:cNvPr>
          <p:cNvSpPr txBox="1"/>
          <p:nvPr/>
        </p:nvSpPr>
        <p:spPr>
          <a:xfrm>
            <a:off x="5336999" y="4781574"/>
            <a:ext cx="6738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Dr. Rodrigo Ramos Silva</a:t>
            </a:r>
          </a:p>
        </p:txBody>
      </p:sp>
    </p:spTree>
    <p:extLst>
      <p:ext uri="{BB962C8B-B14F-4D97-AF65-F5344CB8AC3E}">
        <p14:creationId xmlns:p14="http://schemas.microsoft.com/office/powerpoint/2010/main" val="147087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K </a:t>
            </a:r>
            <a:r>
              <a:rPr lang="pt-BR" sz="4400" dirty="0" err="1">
                <a:solidFill>
                  <a:srgbClr val="003958"/>
                </a:solidFill>
                <a:latin typeface="+mj-lt"/>
              </a:rPr>
              <a:t>Nearest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</a:t>
            </a:r>
            <a:r>
              <a:rPr lang="pt-BR" sz="4400" dirty="0" err="1">
                <a:solidFill>
                  <a:srgbClr val="003958"/>
                </a:solidFill>
                <a:latin typeface="+mj-lt"/>
              </a:rPr>
              <a:t>Neighbor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(K vizinhos mais próximos)</a:t>
            </a:r>
            <a:endParaRPr lang="pt-BR" sz="36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818151" y="1807928"/>
            <a:ext cx="109369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O algoritmo KNN (K </a:t>
            </a:r>
            <a:r>
              <a:rPr lang="pt-BR" sz="2800" dirty="0" err="1"/>
              <a:t>Nearest</a:t>
            </a:r>
            <a:r>
              <a:rPr lang="pt-BR" sz="2800" dirty="0"/>
              <a:t> </a:t>
            </a:r>
            <a:r>
              <a:rPr lang="pt-BR" sz="2800" dirty="0" err="1"/>
              <a:t>Neighbor</a:t>
            </a:r>
            <a:r>
              <a:rPr lang="pt-BR" sz="2800" dirty="0"/>
              <a:t>) é um dos algoritmos mais utilizados em </a:t>
            </a:r>
            <a:r>
              <a:rPr lang="pt-BR" sz="2800" dirty="0" err="1"/>
              <a:t>Machine</a:t>
            </a:r>
            <a:r>
              <a:rPr lang="pt-BR" sz="2800" dirty="0"/>
              <a:t> Learning e também um dos mais simplistas, analisando seu processo de cálculo.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dirty="0"/>
              <a:t>É um algoritmo </a:t>
            </a:r>
            <a:r>
              <a:rPr lang="pt-BR" sz="2800" dirty="0">
                <a:solidFill>
                  <a:srgbClr val="FF0000"/>
                </a:solidFill>
              </a:rPr>
              <a:t>supervisionado</a:t>
            </a:r>
            <a:r>
              <a:rPr lang="pt-BR" sz="2800" dirty="0"/>
              <a:t> utilizado para :</a:t>
            </a:r>
          </a:p>
          <a:p>
            <a:pPr algn="just"/>
            <a:endParaRPr lang="pt-BR" sz="2800" dirty="0"/>
          </a:p>
          <a:p>
            <a:pPr marL="1714500" lvl="3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FF0000"/>
                </a:solidFill>
              </a:rPr>
              <a:t>Classificação </a:t>
            </a:r>
          </a:p>
          <a:p>
            <a:pPr marL="1714500" lvl="3" indent="-342900" algn="just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FF0000"/>
              </a:solidFill>
            </a:endParaRPr>
          </a:p>
          <a:p>
            <a:pPr marL="1714500" lvl="3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FF0000"/>
                </a:solidFill>
              </a:rPr>
              <a:t>Regressão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	</a:t>
            </a:r>
          </a:p>
        </p:txBody>
      </p:sp>
      <p:pic>
        <p:nvPicPr>
          <p:cNvPr id="2050" name="Picture 2" descr="Algoritmos de Aprendizagem de Máquina: qual deles escolher? | by Josenildo  Costa da Silva | Machina Sapiens | Medium">
            <a:extLst>
              <a:ext uri="{FF2B5EF4-FFF2-40B4-BE49-F238E27FC236}">
                <a16:creationId xmlns:a16="http://schemas.microsoft.com/office/drawing/2014/main" id="{B5E1D658-9B70-48BA-BD3A-CF14741C4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9434" y="4230354"/>
            <a:ext cx="4276256" cy="213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54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Funcionamento do algoritmo KNN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800100" y="1865091"/>
            <a:ext cx="1093691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Neste algoritmo possuímos uma variável chamada de K (quantidade de vizinhos mais próximos);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Pesquisa todo o conjunto de treinamento para as K instâncias mais semelhantes (os vizinhos);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Para determinar quais das instâncias do K no conjunto de dados de treinamento são mais semelhantes a uma nova entrada, uma medida de distância é usada.</a:t>
            </a:r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4767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Funcionamento do algoritmo KNN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800100" y="1865091"/>
            <a:ext cx="109369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Tipos de medidas para distância: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086100" lvl="6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Distância euclidiana</a:t>
            </a:r>
          </a:p>
          <a:p>
            <a:pPr marL="3086100" lvl="6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086100" lvl="6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Distância de </a:t>
            </a:r>
            <a:r>
              <a:rPr lang="pt-BR" sz="2800" dirty="0" err="1"/>
              <a:t>Hamming</a:t>
            </a:r>
            <a:endParaRPr lang="pt-BR" sz="2800" dirty="0"/>
          </a:p>
          <a:p>
            <a:pPr marL="3086100" lvl="6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086100" lvl="6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Manhattan </a:t>
            </a:r>
            <a:r>
              <a:rPr lang="pt-BR" sz="2800" dirty="0" err="1"/>
              <a:t>Distance</a:t>
            </a:r>
            <a:endParaRPr lang="pt-BR" sz="2800" dirty="0"/>
          </a:p>
          <a:p>
            <a:pPr marL="3086100" lvl="6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086100" lvl="6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Distância </a:t>
            </a:r>
            <a:r>
              <a:rPr lang="pt-BR" sz="2800" dirty="0" err="1"/>
              <a:t>Minkowski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22695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F96E81-5B9C-7447-A835-70FBDA259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7" y="1657893"/>
            <a:ext cx="9566177" cy="411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98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89F3-9790-6F96-42C1-630D5337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A861E57-65D6-EAA9-0C65-355F1FEE1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0A14045-5112-7C6B-5793-B74348049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EB06BEB-BA7B-6780-435B-717543D3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8779C8-F6C2-121A-5BED-A6F5CE2BF072}"/>
              </a:ext>
            </a:extLst>
          </p:cNvPr>
          <p:cNvSpPr txBox="1"/>
          <p:nvPr/>
        </p:nvSpPr>
        <p:spPr>
          <a:xfrm>
            <a:off x="649629" y="1153749"/>
            <a:ext cx="461361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Métricas para Vetores (Pontos no Espaço)</a:t>
            </a:r>
          </a:p>
          <a:p>
            <a:pPr algn="l">
              <a:buNone/>
            </a:pP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Sejam dois vetores (ou pontos)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em um espaço n-dimensional: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(x₁, x₂, ..., xₙ)</a:t>
            </a: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(y₁, y₂, ..., yₙ)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dirty="0">
              <a:solidFill>
                <a:srgbClr val="1A1C1E"/>
              </a:solidFill>
              <a:latin typeface="Inter"/>
            </a:endParaRPr>
          </a:p>
          <a:p>
            <a:pPr marL="342900" indent="-342900" algn="l">
              <a:buAutoNum type="arabicPeriod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Distância Euclidiana (Euclidean)</a:t>
            </a:r>
            <a:r>
              <a:rPr lang="pt-PT" b="1" dirty="0">
                <a:solidFill>
                  <a:srgbClr val="1A1C1E"/>
                </a:solidFill>
                <a:latin typeface="Inter"/>
              </a:rPr>
              <a:t> </a:t>
            </a:r>
            <a:br>
              <a:rPr lang="pt-PT" b="1" dirty="0">
                <a:solidFill>
                  <a:srgbClr val="1A1C1E"/>
                </a:solidFill>
                <a:latin typeface="Inter"/>
              </a:rPr>
            </a:br>
            <a:r>
              <a:rPr lang="pt-PT" dirty="0"/>
              <a:t>É a distância em linha reta "comum" entre dois pontos, como medir com uma régua. É uma aplicação direta do Teorema de Pitágoras.</a:t>
            </a: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2CF247-40C2-1645-6409-9BBBEF27D647}"/>
              </a:ext>
            </a:extLst>
          </p:cNvPr>
          <p:cNvSpPr txBox="1"/>
          <p:nvPr/>
        </p:nvSpPr>
        <p:spPr>
          <a:xfrm>
            <a:off x="5493497" y="1789632"/>
            <a:ext cx="5797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b="0" i="0" dirty="0">
                <a:solidFill>
                  <a:srgbClr val="1A1C1E"/>
                </a:solidFill>
                <a:effectLst/>
                <a:latin typeface="Inter"/>
              </a:rPr>
              <a:t>d(x, y) = √[ (x₁ - y₁)² + (x₂ - y₂)² + ... + (xₙ - yₙ)² ] = √[ </a:t>
            </a:r>
            <a:r>
              <a:rPr lang="el-GR" b="0" i="0" dirty="0">
                <a:solidFill>
                  <a:srgbClr val="1A1C1E"/>
                </a:solidFill>
                <a:effectLst/>
                <a:latin typeface="Inter"/>
              </a:rPr>
              <a:t>Σ(</a:t>
            </a:r>
            <a:r>
              <a:rPr lang="pt-BR" b="0" i="0" dirty="0">
                <a:solidFill>
                  <a:srgbClr val="1A1C1E"/>
                </a:solidFill>
                <a:effectLst/>
                <a:latin typeface="Inter"/>
              </a:rPr>
              <a:t>xᵢ - yᵢ)² ]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435678-052A-1471-7E92-03FE79F0E329}"/>
              </a:ext>
            </a:extLst>
          </p:cNvPr>
          <p:cNvSpPr txBox="1"/>
          <p:nvPr/>
        </p:nvSpPr>
        <p:spPr>
          <a:xfrm>
            <a:off x="5759714" y="2860218"/>
            <a:ext cx="4613614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Cálculo: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√[ (3 - 6)² + (4 - 0)² ]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√[ (-3)² + (4)² ]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√[ 9 + 16 ]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rPr>
              <a:t>√25</a:t>
            </a:r>
          </a:p>
          <a:p>
            <a:pPr marL="742950" lvl="1" indent="-285750"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Resultado: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5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FCEC48-9DE3-3FD5-0307-12648F02CE0D}"/>
              </a:ext>
            </a:extLst>
          </p:cNvPr>
          <p:cNvSpPr txBox="1"/>
          <p:nvPr/>
        </p:nvSpPr>
        <p:spPr>
          <a:xfrm>
            <a:off x="2638407" y="2500271"/>
            <a:ext cx="2739963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x = (3, 4)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y = (6, 0)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9B419FA-B08D-29B9-7A02-651DAF36805C}"/>
              </a:ext>
            </a:extLst>
          </p:cNvPr>
          <p:cNvSpPr txBox="1"/>
          <p:nvPr/>
        </p:nvSpPr>
        <p:spPr>
          <a:xfrm>
            <a:off x="5871292" y="4846777"/>
            <a:ext cx="43904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Use quando as dimensões têm a </a:t>
            </a:r>
            <a:r>
              <a:rPr lang="pt-PT" b="1" dirty="0"/>
              <a:t>mesma escala</a:t>
            </a:r>
            <a:r>
              <a:rPr lang="pt-PT" dirty="0"/>
              <a:t> e você quer a noção geométrica padrão.</a:t>
            </a:r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32571F9-63E3-24FB-50F9-1FCA0AB34480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3A4FD42-029C-7887-87B2-72D996CD5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56" y="2345427"/>
            <a:ext cx="5820587" cy="3515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88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3B64-0349-387A-69A3-CCC219C37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C4F73D1-7220-7340-8489-3BF4B9B46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3D759BC-99B5-FFA8-AFFB-EC9393F6E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D46A17C-B66D-6492-DAD1-67EEFBD3A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CB5EDD-44EB-4184-2FA3-CAB3C13B5E31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DAE7CB0-17D3-9E94-D014-82C4D6D0D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61" y="1363165"/>
            <a:ext cx="5477639" cy="515374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2B9AE41-EC48-5DCD-D237-A82450297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9035" y="1363165"/>
            <a:ext cx="6287377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2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39E3-C173-2E91-B2EB-96410AD3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81B207D-EB4B-B555-A886-EBABD0AA6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D0CAE11-C133-5B21-7225-4ADC5C612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EE07343-A12B-DA24-9B83-D802EAC5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4B690D-90BC-0126-5392-4CDF030B86D1}"/>
              </a:ext>
            </a:extLst>
          </p:cNvPr>
          <p:cNvSpPr txBox="1"/>
          <p:nvPr/>
        </p:nvSpPr>
        <p:spPr>
          <a:xfrm>
            <a:off x="649629" y="1153749"/>
            <a:ext cx="461361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Métricas para Vetores (Pontos no Espaço)</a:t>
            </a:r>
          </a:p>
          <a:p>
            <a:pPr algn="l">
              <a:buNone/>
            </a:pP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Sejam dois vetores (ou pontos)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em um espaço n-dimensional: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(x₁, x₂, ..., xₙ)</a:t>
            </a: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(y₁, y₂, ..., yₙ)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r>
              <a:rPr lang="pt-PT" b="1" dirty="0"/>
              <a:t>2. Distância de Manhattan (Manhattan)</a:t>
            </a:r>
            <a:br>
              <a:rPr lang="pt-PT" b="1" dirty="0"/>
            </a:br>
            <a:endParaRPr lang="pt-PT" b="1" dirty="0"/>
          </a:p>
          <a:p>
            <a:r>
              <a:rPr lang="pt-PT" dirty="0"/>
              <a:t>Também conhecida como "distância do quarteirão" ou "distância L1". É a distância que você percorreria entre dois pontos em uma cidade com ruas em grade, movendo-se apenas na horizontal e vertical.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006357F-225C-F994-5B19-CF5D9C9DBE9E}"/>
              </a:ext>
            </a:extLst>
          </p:cNvPr>
          <p:cNvSpPr txBox="1"/>
          <p:nvPr/>
        </p:nvSpPr>
        <p:spPr>
          <a:xfrm>
            <a:off x="5493497" y="1789632"/>
            <a:ext cx="5797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dirty="0"/>
              <a:t>d(x, y) = |x₁ - y₁| + |x₂ - y₂| + ... + |xₙ - yₙ| = </a:t>
            </a:r>
            <a:r>
              <a:rPr lang="el-GR" dirty="0"/>
              <a:t>Σ |</a:t>
            </a:r>
            <a:r>
              <a:rPr lang="pt-BR" dirty="0"/>
              <a:t>xᵢ - yᵢ|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F5D10D5-8E97-8ABA-B36E-435CDCD64DF1}"/>
              </a:ext>
            </a:extLst>
          </p:cNvPr>
          <p:cNvSpPr txBox="1"/>
          <p:nvPr/>
        </p:nvSpPr>
        <p:spPr>
          <a:xfrm>
            <a:off x="5759714" y="2860218"/>
            <a:ext cx="46136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Cálculo:</a:t>
            </a:r>
            <a:endParaRPr lang="pt-PT" dirty="0"/>
          </a:p>
          <a:p>
            <a:pPr lvl="1"/>
            <a:r>
              <a:rPr lang="pt-PT" dirty="0"/>
              <a:t>|3 - 6| + |4 - 0|</a:t>
            </a:r>
          </a:p>
          <a:p>
            <a:pPr lvl="1"/>
            <a:r>
              <a:rPr lang="pt-PT" dirty="0"/>
              <a:t>|-3| + |4|</a:t>
            </a:r>
          </a:p>
          <a:p>
            <a:pPr lvl="1"/>
            <a:r>
              <a:rPr lang="pt-PT" dirty="0"/>
              <a:t>3 + 4</a:t>
            </a:r>
          </a:p>
          <a:p>
            <a:pPr lvl="1"/>
            <a:endParaRPr lang="pt-PT" dirty="0"/>
          </a:p>
          <a:p>
            <a:r>
              <a:rPr lang="pt-PT" b="1" dirty="0"/>
              <a:t>Resultado:</a:t>
            </a:r>
            <a:r>
              <a:rPr lang="pt-PT" dirty="0"/>
              <a:t> </a:t>
            </a:r>
            <a:r>
              <a:rPr lang="pt-PT" b="1" dirty="0"/>
              <a:t>7</a:t>
            </a:r>
            <a:endParaRPr lang="pt-PT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8D2880-199A-0B12-7E52-86A8F4398968}"/>
              </a:ext>
            </a:extLst>
          </p:cNvPr>
          <p:cNvSpPr txBox="1"/>
          <p:nvPr/>
        </p:nvSpPr>
        <p:spPr>
          <a:xfrm>
            <a:off x="5759714" y="4926576"/>
            <a:ext cx="4854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Útil quando os movimentos são restritos a eixos, como em layouts de circuitos ou em dados de alta dimensão, onde pode ser mais robusta que a Euclidiana.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1B7189C-6E34-76BB-E137-9400260B467A}"/>
              </a:ext>
            </a:extLst>
          </p:cNvPr>
          <p:cNvSpPr txBox="1"/>
          <p:nvPr/>
        </p:nvSpPr>
        <p:spPr>
          <a:xfrm>
            <a:off x="2638407" y="2500271"/>
            <a:ext cx="2739963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x = (3, 4)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y = (6, 0)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3F78B2-E2E4-7E39-4894-9AD5B051B431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9898B60-A25B-378A-8959-CD0B6EE0CB82}"/>
              </a:ext>
            </a:extLst>
          </p:cNvPr>
          <p:cNvGrpSpPr/>
          <p:nvPr/>
        </p:nvGrpSpPr>
        <p:grpSpPr>
          <a:xfrm>
            <a:off x="5132990" y="1595414"/>
            <a:ext cx="7059010" cy="5154049"/>
            <a:chOff x="5132990" y="1595414"/>
            <a:chExt cx="7059010" cy="5154049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5D434508-80D8-936F-AF26-8DC5CA750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32990" y="1595414"/>
              <a:ext cx="7059010" cy="278168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0A5338CE-8BA7-59EF-002D-D61B1814D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32990" y="4304017"/>
              <a:ext cx="5837118" cy="244544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6404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5278-89EE-894E-EEA3-A26B6D130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EF612EB-5F02-D924-CEBF-C668AA761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EA97320-05DA-8585-1B89-5972B3634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A5B918E-7456-A87E-C9B6-05756AA3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28C174F-64BB-30D2-D5FF-7C7A0AAED47A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A3C6BA34-F375-EBFE-0052-8FE2D9E45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26" y="1674288"/>
            <a:ext cx="5572903" cy="4210638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A853859-5CF5-0795-0C43-90C5AD5D4F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429" y="1674288"/>
            <a:ext cx="6315956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2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1C7D-C325-53A5-E024-9307053AA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2A0F7E5-A420-698E-E4EB-4FEFCA759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2BB31DE-4819-3AC5-C688-2A8CED889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DFC5C7B-F9D6-4196-0B69-513BCC2E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623C41-DF42-A402-3F1B-CB5A0BA882AE}"/>
              </a:ext>
            </a:extLst>
          </p:cNvPr>
          <p:cNvSpPr txBox="1"/>
          <p:nvPr/>
        </p:nvSpPr>
        <p:spPr>
          <a:xfrm>
            <a:off x="649629" y="1153749"/>
            <a:ext cx="4613614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Métricas para Vetores (Pontos no Espaço)</a:t>
            </a:r>
          </a:p>
          <a:p>
            <a:pPr algn="l">
              <a:buNone/>
            </a:pP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Sejam dois vetores (ou pontos)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em um espaço n-dimensional: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(x₁, x₂, ..., xₙ)</a:t>
            </a: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(y₁, y₂, ..., yₙ)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r>
              <a:rPr lang="pt-PT" b="1" dirty="0"/>
              <a:t>3. Distância de Chebyshev (Chebyshev)</a:t>
            </a:r>
          </a:p>
          <a:p>
            <a:endParaRPr lang="pt-PT" b="1" dirty="0"/>
          </a:p>
          <a:p>
            <a:r>
              <a:rPr lang="pt-PT" dirty="0"/>
              <a:t>Também conhecida como "distância do tabuleiro de xadrez" ou "distância L∞". É a maior distância ao longo de qualquer uma das dimensões. Imagine o número mínimo de movimentos que um rei precisa para ir de uma casa a outra em um tabuleiro de xadrez.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A33B97-7A16-3AD7-2F16-BC09F960379E}"/>
              </a:ext>
            </a:extLst>
          </p:cNvPr>
          <p:cNvSpPr txBox="1"/>
          <p:nvPr/>
        </p:nvSpPr>
        <p:spPr>
          <a:xfrm>
            <a:off x="5493497" y="1789632"/>
            <a:ext cx="5797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dirty="0"/>
              <a:t>d(x, y) = </a:t>
            </a:r>
            <a:r>
              <a:rPr lang="pt-BR" dirty="0" err="1"/>
              <a:t>max</a:t>
            </a:r>
            <a:r>
              <a:rPr lang="pt-BR" dirty="0"/>
              <a:t>( |x₁ - y₁|, |x₂ - y₂|, ..., |xₙ - yₙ| 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4906FF4-1132-3054-7E39-9BB6E4D7E6EE}"/>
              </a:ext>
            </a:extLst>
          </p:cNvPr>
          <p:cNvSpPr txBox="1"/>
          <p:nvPr/>
        </p:nvSpPr>
        <p:spPr>
          <a:xfrm>
            <a:off x="5759714" y="2860218"/>
            <a:ext cx="46136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Cálculo:</a:t>
            </a:r>
            <a:endParaRPr lang="pt-PT" dirty="0"/>
          </a:p>
          <a:p>
            <a:pPr lvl="1"/>
            <a:r>
              <a:rPr lang="pt-PT" dirty="0"/>
              <a:t>max( |3 - 6|, |4 - 0| )</a:t>
            </a:r>
          </a:p>
          <a:p>
            <a:pPr lvl="1"/>
            <a:r>
              <a:rPr lang="pt-PT" dirty="0"/>
              <a:t>max( |-3|, |4| )</a:t>
            </a:r>
          </a:p>
          <a:p>
            <a:pPr lvl="1"/>
            <a:r>
              <a:rPr lang="pt-PT" dirty="0"/>
              <a:t>max( 3, 4 )</a:t>
            </a:r>
          </a:p>
          <a:p>
            <a:pPr lvl="1"/>
            <a:endParaRPr lang="pt-PT" dirty="0"/>
          </a:p>
          <a:p>
            <a:r>
              <a:rPr lang="pt-PT" b="1" dirty="0"/>
              <a:t>Resultado: 4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03DDFC-E402-5A70-E9C6-8FBB6C0E112B}"/>
              </a:ext>
            </a:extLst>
          </p:cNvPr>
          <p:cNvSpPr txBox="1"/>
          <p:nvPr/>
        </p:nvSpPr>
        <p:spPr>
          <a:xfrm>
            <a:off x="5771246" y="5135482"/>
            <a:ext cx="4703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Aplicada em logística e planejamento, onde o custo de um movimento é determinado pelo recurso que leva mais tempo.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E0C812-CE07-6F4F-067D-42BB9D01F3C6}"/>
              </a:ext>
            </a:extLst>
          </p:cNvPr>
          <p:cNvSpPr txBox="1"/>
          <p:nvPr/>
        </p:nvSpPr>
        <p:spPr>
          <a:xfrm>
            <a:off x="2638407" y="2500271"/>
            <a:ext cx="2739963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x = (3, 4)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y = (6, 0)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F29F5DA-3DE2-1820-73DF-A20EF1137708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6983ED8-5F61-C84B-0F2E-461CC974885A}"/>
              </a:ext>
            </a:extLst>
          </p:cNvPr>
          <p:cNvGrpSpPr/>
          <p:nvPr/>
        </p:nvGrpSpPr>
        <p:grpSpPr>
          <a:xfrm>
            <a:off x="587963" y="228698"/>
            <a:ext cx="10703004" cy="5830115"/>
            <a:chOff x="587963" y="228698"/>
            <a:chExt cx="10703004" cy="5830115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7B598DBB-0BD5-64C8-B699-7BF872204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41801" y="228698"/>
              <a:ext cx="5849166" cy="583011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9DF86B37-B52E-71C1-9AFA-C74780C06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7963" y="3923819"/>
              <a:ext cx="4722568" cy="21349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466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C62EA-6025-50D0-ED04-09E85D932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F2A2C34-B5C4-21A0-DBE5-51FB99288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8CFB1A9-E7CB-F1EE-C86A-F7CAB1727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62C0B89-7B3A-DE7B-54A4-8B68F6CC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575DB43-12FC-3760-9A9A-61CC0DB1BAFB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B09505-06A6-2DE1-5E2B-7B1B81B3B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19" y="1674471"/>
            <a:ext cx="5487166" cy="433448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BEE58A6-7ADE-0C5F-518A-62157AFA4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253" y="1674471"/>
            <a:ext cx="6973273" cy="21338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E1FBCAA-465C-1D58-E4A6-E91C4C610F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8438" y="5305208"/>
            <a:ext cx="7468642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9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5FA3B-4750-625B-33F4-60B66934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1018E31-44B6-37E9-9FED-EC6995B23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AFABDC5-BC70-30DE-AAF5-EC2C370C2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16F22E9-10D7-DEF7-7E63-CE5A5859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83BC93-38DD-B359-CA85-E2025CD7384E}"/>
              </a:ext>
            </a:extLst>
          </p:cNvPr>
          <p:cNvSpPr txBox="1"/>
          <p:nvPr/>
        </p:nvSpPr>
        <p:spPr>
          <a:xfrm>
            <a:off x="649629" y="1153749"/>
            <a:ext cx="461361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Métricas para Vetores (Pontos no Espaço)</a:t>
            </a:r>
          </a:p>
          <a:p>
            <a:pPr algn="l">
              <a:buNone/>
            </a:pP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Sejam dois vetores (ou pontos)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em um espaço n-dimensional: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(x₁, x₂, ..., xₙ)</a:t>
            </a: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(y₁, y₂, ..., yₙ)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dirty="0">
              <a:solidFill>
                <a:srgbClr val="1A1C1E"/>
              </a:solidFill>
              <a:latin typeface="Inter"/>
            </a:endParaRPr>
          </a:p>
          <a:p>
            <a:r>
              <a:rPr lang="pt-BR" b="1" dirty="0"/>
              <a:t>4. Distância de Minkowski</a:t>
            </a:r>
          </a:p>
          <a:p>
            <a:endParaRPr lang="pt-PT" b="1" dirty="0"/>
          </a:p>
          <a:p>
            <a:r>
              <a:rPr lang="pt-PT" dirty="0"/>
              <a:t>É uma métrica generalizada que unifica as três anteriores. Ela tem um parâmetro </a:t>
            </a:r>
            <a:r>
              <a:rPr lang="pt-PT" b="1" dirty="0"/>
              <a:t>p</a:t>
            </a:r>
            <a:r>
              <a:rPr lang="pt-PT" dirty="0"/>
              <a:t>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8F18DFB-5D18-494D-ECC7-B5EDDB37C888}"/>
              </a:ext>
            </a:extLst>
          </p:cNvPr>
          <p:cNvSpPr txBox="1"/>
          <p:nvPr/>
        </p:nvSpPr>
        <p:spPr>
          <a:xfrm>
            <a:off x="5493497" y="1789632"/>
            <a:ext cx="5797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dirty="0"/>
              <a:t>d(x, y) = [ |x₁ - y₁|ᵖ + |x₂ - y₂|ᵖ ]^(1/p)   </a:t>
            </a:r>
            <a:r>
              <a:rPr lang="pt-BR" sz="1400" b="1" dirty="0"/>
              <a:t>ou</a:t>
            </a:r>
            <a:endParaRPr lang="pt-BR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2642411-F4F1-AD8D-9C82-CA430DD9836D}"/>
                  </a:ext>
                </a:extLst>
              </p:cNvPr>
              <p:cNvSpPr txBox="1"/>
              <p:nvPr/>
            </p:nvSpPr>
            <p:spPr>
              <a:xfrm>
                <a:off x="5700412" y="2702193"/>
                <a:ext cx="5178362" cy="1501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PT" b="1" dirty="0"/>
                  <a:t>Cálculo:</a:t>
                </a:r>
                <a:endParaRPr lang="pt-PT" dirty="0"/>
              </a:p>
              <a:p>
                <a:pPr lvl="1"/>
                <a:r>
                  <a:rPr lang="pt-PT" dirty="0"/>
                  <a:t>𝑝 = 1: ∣3∣+∣4∣ = 7</a:t>
                </a:r>
              </a:p>
              <a:p>
                <a:pPr lvl="1"/>
                <a:r>
                  <a:rPr lang="pt-PT" dirty="0"/>
                  <a:t>𝑝 = 2: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PT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+4</m:t>
                        </m:r>
                        <m:r>
                          <a:rPr lang="pt-PT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pt-PT" dirty="0"/>
                  <a:t> ​= 5</a:t>
                </a:r>
              </a:p>
              <a:p>
                <a:pPr lvl="1"/>
                <a:r>
                  <a:rPr lang="pt-PT" dirty="0"/>
                  <a:t>𝑝→∞: max⁡(3,4) = 4</a:t>
                </a:r>
              </a:p>
              <a:p>
                <a:pPr lvl="1"/>
                <a:endParaRPr lang="pt-PT" b="1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2642411-F4F1-AD8D-9C82-CA430DD98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12" y="2702193"/>
                <a:ext cx="5178362" cy="1501117"/>
              </a:xfrm>
              <a:prstGeom prst="rect">
                <a:avLst/>
              </a:prstGeom>
              <a:blipFill>
                <a:blip r:embed="rId5"/>
                <a:stretch>
                  <a:fillRect l="-941" t="-20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aixaDeTexto 8">
            <a:extLst>
              <a:ext uri="{FF2B5EF4-FFF2-40B4-BE49-F238E27FC236}">
                <a16:creationId xmlns:a16="http://schemas.microsoft.com/office/drawing/2014/main" id="{1F9BA30D-BE32-2B81-9DEB-90117F928CA1}"/>
              </a:ext>
            </a:extLst>
          </p:cNvPr>
          <p:cNvSpPr txBox="1"/>
          <p:nvPr/>
        </p:nvSpPr>
        <p:spPr>
          <a:xfrm>
            <a:off x="649629" y="5081621"/>
            <a:ext cx="4843868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Com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p=1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, ela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é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a Distância de Manhattan.</a:t>
            </a: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Com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p=2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, ela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é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a Distância Euclidiana.</a:t>
            </a:r>
          </a:p>
          <a:p>
            <a:pPr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dirty="0">
                <a:solidFill>
                  <a:srgbClr val="1A1C1E"/>
                </a:solidFill>
                <a:latin typeface="Inter"/>
              </a:rPr>
              <a:t>Com </a:t>
            </a:r>
            <a:r>
              <a:rPr lang="pt-PT" b="1" dirty="0">
                <a:solidFill>
                  <a:srgbClr val="1A1C1E"/>
                </a:solidFill>
                <a:latin typeface="Inter"/>
              </a:rPr>
              <a:t>p</a:t>
            </a:r>
            <a:r>
              <a:rPr lang="pt-BR" dirty="0"/>
              <a:t>→∞ → </a:t>
            </a:r>
            <a:r>
              <a:rPr lang="pt-BR" b="1" dirty="0" err="1"/>
              <a:t>Chebyshev</a:t>
            </a:r>
            <a:r>
              <a:rPr lang="pt-BR" b="1" dirty="0"/>
              <a:t> (L∞)</a:t>
            </a:r>
            <a:r>
              <a:rPr lang="pt-BR" dirty="0"/>
              <a:t>: d</a:t>
            </a:r>
            <a:r>
              <a:rPr lang="pt-BR" baseline="-25000" dirty="0"/>
              <a:t>∞</a:t>
            </a:r>
            <a:r>
              <a:rPr lang="pt-BR" dirty="0"/>
              <a:t>=maxi​∣x</a:t>
            </a:r>
            <a:r>
              <a:rPr lang="pt-BR" baseline="-25000" dirty="0"/>
              <a:t>i</a:t>
            </a:r>
            <a:r>
              <a:rPr lang="pt-BR" dirty="0"/>
              <a:t>​−</a:t>
            </a:r>
            <a:r>
              <a:rPr lang="pt-BR" dirty="0" err="1"/>
              <a:t>y</a:t>
            </a:r>
            <a:r>
              <a:rPr lang="pt-BR" baseline="-25000" dirty="0" err="1"/>
              <a:t>i</a:t>
            </a:r>
            <a:r>
              <a:rPr lang="pt-BR" dirty="0"/>
              <a:t>​∣</a:t>
            </a:r>
            <a:endParaRPr lang="pt-PT" dirty="0">
              <a:solidFill>
                <a:srgbClr val="1A1C1E"/>
              </a:solidFill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3474CF-AD1E-67A4-24D6-4D72236D323F}"/>
              </a:ext>
            </a:extLst>
          </p:cNvPr>
          <p:cNvSpPr txBox="1"/>
          <p:nvPr/>
        </p:nvSpPr>
        <p:spPr>
          <a:xfrm>
            <a:off x="2638407" y="2500271"/>
            <a:ext cx="2739963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x = (3, 4)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y = (6, 0)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FE3E3C-4284-FBB1-1990-6827E89700DA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086CEFA-3761-ECFA-47DA-B68B4C6C9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593" y="1912514"/>
            <a:ext cx="2410161" cy="72400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58352BE-BEF6-D2AC-2718-4B9498EBB0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297" y="4197650"/>
            <a:ext cx="5020376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4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345A-7FE3-11AD-C013-8DF096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216DB06-73CE-CA26-CCDA-9AD34E099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E43DF43-CCEB-EFEA-4467-A6C65C7EB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1C874AD-3ED8-A395-1CD8-AEDB02C2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A0CA28C-E5B1-B5AC-76C7-98678EC779E0}"/>
              </a:ext>
            </a:extLst>
          </p:cNvPr>
          <p:cNvSpPr txBox="1"/>
          <p:nvPr/>
        </p:nvSpPr>
        <p:spPr>
          <a:xfrm>
            <a:off x="759452" y="1171674"/>
            <a:ext cx="5797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dirty="0"/>
              <a:t>d(x, y) = [ |x₁ - y₁|ᵖ + |x₂ - y₂|ᵖ ]^(1/p)   </a:t>
            </a:r>
            <a:r>
              <a:rPr lang="pt-BR" sz="1400" b="1" dirty="0"/>
              <a:t>ou</a:t>
            </a:r>
            <a:endParaRPr lang="pt-BR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09044B-5131-914E-083F-188F88CD8EAA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3479B89-20F8-B64C-E582-72730C5AD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548" y="1294556"/>
            <a:ext cx="2410161" cy="7240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7E9E656-A9EF-E890-C6A3-DFE8251E3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14" y="2159364"/>
            <a:ext cx="4429743" cy="422016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C7943A-844F-C48A-E95F-6645967006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503" y="2159364"/>
            <a:ext cx="5048955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5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9C01-32CC-DFCD-20BC-6B9C8928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70849F2-337A-631F-3479-4EE117000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713ECCE-0327-F08A-4E03-FFA260476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C0B519A8-51EC-94F4-2382-B44EE54F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7D1E46C-86B9-9982-6B46-2683771C6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29" y="477985"/>
            <a:ext cx="7030431" cy="624927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C09CE93-C868-465E-EDAF-3AFF2F7CC8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518" y="477985"/>
            <a:ext cx="5963482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68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1B3AC-AD47-8E98-4C83-55222479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A86F5B1-E5F5-121E-C5F0-BBBD2991D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A91A13B-8531-03DD-88A4-88752106F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5EF4666-CF17-6946-5525-251537F1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AA891D-5867-0AD7-20F3-3A9585A0C5C7}"/>
              </a:ext>
            </a:extLst>
          </p:cNvPr>
          <p:cNvSpPr txBox="1"/>
          <p:nvPr/>
        </p:nvSpPr>
        <p:spPr>
          <a:xfrm>
            <a:off x="649629" y="1153749"/>
            <a:ext cx="461361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Métricas para Vetores (Pontos no Espaço)</a:t>
            </a:r>
          </a:p>
          <a:p>
            <a:pPr algn="l">
              <a:buNone/>
            </a:pP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Sejam dois vetores (ou pontos)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em um espaço n-dimensional: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(x₁, x₂, ..., xₙ)</a:t>
            </a: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(y₁, y₂, ..., yₙ)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dirty="0">
              <a:solidFill>
                <a:srgbClr val="1A1C1E"/>
              </a:solidFill>
              <a:latin typeface="Inter"/>
            </a:endParaRPr>
          </a:p>
          <a:p>
            <a:r>
              <a:rPr lang="pt-BR" b="1" dirty="0"/>
              <a:t>5. Similaridade de Cosseno</a:t>
            </a:r>
          </a:p>
          <a:p>
            <a:endParaRPr lang="pt-PT" b="1" dirty="0"/>
          </a:p>
          <a:p>
            <a:r>
              <a:rPr lang="pt-PT" dirty="0"/>
              <a:t>Mede o ângulo entre os vetores (quão "apontados" para a mesma direção eles estão).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CA56836-5732-693A-8E45-51E88CB79BC6}"/>
              </a:ext>
            </a:extLst>
          </p:cNvPr>
          <p:cNvSpPr txBox="1"/>
          <p:nvPr/>
        </p:nvSpPr>
        <p:spPr>
          <a:xfrm>
            <a:off x="5493497" y="1789632"/>
            <a:ext cx="5797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dirty="0"/>
              <a:t>(x ⋅ y) / (||x|| * ||y||)    </a:t>
            </a:r>
            <a:r>
              <a:rPr lang="pt-BR" b="1" dirty="0"/>
              <a:t>ou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2309E9B-A048-67B6-F3BB-D3CFA6A7E675}"/>
              </a:ext>
            </a:extLst>
          </p:cNvPr>
          <p:cNvSpPr txBox="1"/>
          <p:nvPr/>
        </p:nvSpPr>
        <p:spPr>
          <a:xfrm>
            <a:off x="5522479" y="2610683"/>
            <a:ext cx="5178362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700" b="1" dirty="0"/>
              <a:t>Cálculo:</a:t>
            </a:r>
            <a:endParaRPr lang="pt-BR" sz="1700" dirty="0"/>
          </a:p>
          <a:p>
            <a:pPr lvl="1"/>
            <a:r>
              <a:rPr lang="pt-BR" sz="1700" b="1" dirty="0"/>
              <a:t>Produto Escalar (x ⋅ y):</a:t>
            </a:r>
            <a:endParaRPr lang="pt-BR" sz="1700" dirty="0"/>
          </a:p>
          <a:p>
            <a:pPr lvl="2"/>
            <a:r>
              <a:rPr lang="pt-BR" sz="1700" dirty="0"/>
              <a:t>(x₁ * y₁) + (x₂ * y₂)</a:t>
            </a:r>
          </a:p>
          <a:p>
            <a:pPr lvl="2"/>
            <a:r>
              <a:rPr lang="pt-BR" sz="1700" dirty="0"/>
              <a:t>(3 * 6) + (4 * 0) = 18 + 0 = </a:t>
            </a:r>
            <a:r>
              <a:rPr lang="pt-BR" sz="1700" b="1" dirty="0"/>
              <a:t>18</a:t>
            </a:r>
          </a:p>
          <a:p>
            <a:pPr lvl="2"/>
            <a:endParaRPr lang="pt-BR" sz="1700" dirty="0"/>
          </a:p>
          <a:p>
            <a:pPr lvl="1"/>
            <a:r>
              <a:rPr lang="pt-BR" sz="1700" b="1" dirty="0"/>
              <a:t>Magnitude de x (||x||):</a:t>
            </a:r>
            <a:endParaRPr lang="pt-BR" sz="1700" dirty="0"/>
          </a:p>
          <a:p>
            <a:pPr lvl="2"/>
            <a:r>
              <a:rPr lang="pt-BR" sz="1700" dirty="0"/>
              <a:t>√(x₁² + x₂²)</a:t>
            </a:r>
          </a:p>
          <a:p>
            <a:pPr lvl="2"/>
            <a:r>
              <a:rPr lang="pt-BR" sz="1700" dirty="0"/>
              <a:t>√(3² + 4²) = √(9 + 16) = √25 = </a:t>
            </a:r>
            <a:r>
              <a:rPr lang="pt-BR" sz="1700" b="1" dirty="0"/>
              <a:t>5</a:t>
            </a:r>
          </a:p>
          <a:p>
            <a:pPr lvl="2"/>
            <a:endParaRPr lang="pt-BR" sz="1700" dirty="0"/>
          </a:p>
          <a:p>
            <a:pPr lvl="1"/>
            <a:r>
              <a:rPr lang="pt-BR" sz="1700" b="1" dirty="0"/>
              <a:t>Magnitude de y (||y||):</a:t>
            </a:r>
            <a:endParaRPr lang="pt-BR" sz="1700" dirty="0"/>
          </a:p>
          <a:p>
            <a:pPr lvl="2"/>
            <a:r>
              <a:rPr lang="pt-BR" sz="1700" dirty="0"/>
              <a:t>√(y₁² + y₂²)</a:t>
            </a:r>
          </a:p>
          <a:p>
            <a:pPr lvl="2"/>
            <a:r>
              <a:rPr lang="pt-BR" sz="1700" dirty="0"/>
              <a:t>√(6² + 0²) = √(36 + 0) = √36 = </a:t>
            </a:r>
            <a:r>
              <a:rPr lang="pt-BR" sz="1700" b="1" dirty="0"/>
              <a:t>6</a:t>
            </a:r>
          </a:p>
          <a:p>
            <a:pPr lvl="2"/>
            <a:endParaRPr lang="pt-BR" sz="1700" dirty="0"/>
          </a:p>
          <a:p>
            <a:r>
              <a:rPr lang="pt-BR" sz="1700" b="1" dirty="0"/>
              <a:t>Resultado Final:</a:t>
            </a:r>
            <a:r>
              <a:rPr lang="pt-BR" sz="1700" dirty="0"/>
              <a:t> 18 / (5 * 6) = 18 / 30 = </a:t>
            </a:r>
            <a:r>
              <a:rPr lang="pt-BR" sz="1700" b="1" dirty="0"/>
              <a:t>0.6</a:t>
            </a:r>
            <a:br>
              <a:rPr lang="pt-BR" sz="1700" b="1" dirty="0"/>
            </a:br>
            <a:r>
              <a:rPr lang="pt-BR" sz="1700" dirty="0"/>
              <a:t>(ângulo </a:t>
            </a:r>
            <a:r>
              <a:rPr lang="el-GR" sz="1700" dirty="0"/>
              <a:t>θ</a:t>
            </a:r>
            <a:r>
              <a:rPr lang="pt-PT" sz="1700" dirty="0"/>
              <a:t> </a:t>
            </a:r>
            <a:r>
              <a:rPr lang="el-GR" sz="1700" dirty="0"/>
              <a:t>=</a:t>
            </a:r>
            <a:r>
              <a:rPr lang="pt-PT" sz="1700" dirty="0"/>
              <a:t> </a:t>
            </a:r>
            <a:r>
              <a:rPr lang="pt-BR" sz="1700" dirty="0" err="1"/>
              <a:t>arccos</a:t>
            </a:r>
            <a:r>
              <a:rPr lang="pt-BR" sz="1700" dirty="0"/>
              <a:t>⁡(0,6) ≈ 53,1</a:t>
            </a:r>
            <a:r>
              <a:rPr lang="pt-BR" sz="1700" baseline="30000" dirty="0"/>
              <a:t>∘</a:t>
            </a:r>
            <a:r>
              <a:rPr lang="pt-BR" sz="1700" dirty="0"/>
              <a:t>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B8EBD3-ACBE-C5B0-0189-8F587D5382D7}"/>
              </a:ext>
            </a:extLst>
          </p:cNvPr>
          <p:cNvSpPr txBox="1"/>
          <p:nvPr/>
        </p:nvSpPr>
        <p:spPr>
          <a:xfrm>
            <a:off x="649629" y="5203162"/>
            <a:ext cx="4271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pt-PT" dirty="0"/>
              <a:t>Excelente para textos/embeddings onde importa a direção (perfil de pesos), não o tamanho.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58771A-E5C3-135E-BB6F-DAAB26173441}"/>
              </a:ext>
            </a:extLst>
          </p:cNvPr>
          <p:cNvSpPr txBox="1"/>
          <p:nvPr/>
        </p:nvSpPr>
        <p:spPr>
          <a:xfrm>
            <a:off x="2638407" y="2500271"/>
            <a:ext cx="2739963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x = (3, 4)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225"/>
              </a:spcAft>
              <a:buFont typeface="Arial" panose="020B0604020202020204" pitchFamily="34" charset="0"/>
              <a:buChar char="•"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Ponto y = (6, 0)</a:t>
            </a: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DF7DA9-9B2E-9ACC-D975-2CEFD15EAF1E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2003FE9-E69B-F7A5-D3FA-3D44C9AF9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2232" y="1749712"/>
            <a:ext cx="3626419" cy="1057193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281CAE8C-A6B7-8ADC-7333-445684E9D68E}"/>
              </a:ext>
            </a:extLst>
          </p:cNvPr>
          <p:cNvSpPr txBox="1"/>
          <p:nvPr/>
        </p:nvSpPr>
        <p:spPr>
          <a:xfrm>
            <a:off x="9721427" y="4334646"/>
            <a:ext cx="24772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Interpretação: vetores apontam </a:t>
            </a:r>
            <a:r>
              <a:rPr lang="pt-PT" b="1" dirty="0"/>
              <a:t>mais ou menos na mesma direção</a:t>
            </a:r>
            <a:r>
              <a:rPr lang="pt-PT" dirty="0"/>
              <a:t> (ângulo ~53°).</a:t>
            </a:r>
            <a:endParaRPr lang="pt-BR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4607866-A8F1-4F9D-AD83-28590122DA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946" y="451349"/>
            <a:ext cx="4993459" cy="6175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811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32209-D35A-E605-6662-C32E273CE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0577F5E-1902-9D4C-E91E-E48BFD11F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34B5A91-1CD8-5C0D-93B1-DAC70B646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4AE09F32-E3C5-5165-B7E9-7641C773D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C0F1BB9-F0B2-62B0-B1D8-6CE1735BF4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1091"/>
            <a:ext cx="4810796" cy="64874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FBFF2AD-08FB-DD8F-3285-FB230E00B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571" y="341091"/>
            <a:ext cx="3626419" cy="105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45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A8A6A-646E-8159-54CF-B2DF1BB1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D1FCB1F-35A8-7C08-E889-E000AF3E6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2398D5F-F316-EA55-E3CE-EA64C3C2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F4F03F6-594C-9C08-435D-2CC20FFCD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91A969-9E87-50B2-0295-B4931C2BB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680255"/>
            <a:ext cx="6058746" cy="560148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1F311B8-4F40-E467-C687-569F0EC10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3770" y="680255"/>
            <a:ext cx="5839640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32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42D8-F901-BB1D-5A7A-135EEE60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C31B868-AD3F-A2CA-1FF3-98056804B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780BA46-FE3A-5DE8-7533-A6C932FCC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1773889-40D8-4673-FDA8-3B22C6AD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7FAD420-8D0D-CD88-457A-5EA63BA1C7AC}"/>
              </a:ext>
            </a:extLst>
          </p:cNvPr>
          <p:cNvSpPr txBox="1"/>
          <p:nvPr/>
        </p:nvSpPr>
        <p:spPr>
          <a:xfrm>
            <a:off x="649629" y="1153749"/>
            <a:ext cx="461361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Métricas para Vetores (Pontos no Espaço)</a:t>
            </a:r>
          </a:p>
          <a:p>
            <a:pPr algn="l">
              <a:buNone/>
            </a:pP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Sejam dois vetores (ou pontos)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 </a:t>
            </a: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em um espaço n-dimensional: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x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(x₁, x₂, ..., xₙ)</a:t>
            </a: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y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= (y₁, y₂, ..., yₙ)</a:t>
            </a: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dirty="0">
              <a:solidFill>
                <a:srgbClr val="1A1C1E"/>
              </a:solidFill>
              <a:latin typeface="Inter"/>
            </a:endParaRPr>
          </a:p>
          <a:p>
            <a:r>
              <a:rPr lang="pt-BR" b="1" dirty="0"/>
              <a:t>6. </a:t>
            </a:r>
            <a:r>
              <a:rPr lang="pt-BR" b="1" dirty="0" err="1"/>
              <a:t>Haversine</a:t>
            </a:r>
            <a:endParaRPr lang="pt-BR" b="1" dirty="0"/>
          </a:p>
          <a:p>
            <a:endParaRPr lang="pt-PT" b="1" dirty="0"/>
          </a:p>
          <a:p>
            <a:r>
              <a:rPr lang="pt-PT" dirty="0"/>
              <a:t>Distância do </a:t>
            </a:r>
            <a:r>
              <a:rPr lang="pt-PT" b="1" dirty="0"/>
              <a:t>grande círculo</a:t>
            </a:r>
            <a:r>
              <a:rPr lang="pt-PT" dirty="0"/>
              <a:t> entre coordenadas (lat/long) numa esfera.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F46D46-DEDC-E1BC-688F-E2A08C004E6B}"/>
              </a:ext>
            </a:extLst>
          </p:cNvPr>
          <p:cNvSpPr txBox="1"/>
          <p:nvPr/>
        </p:nvSpPr>
        <p:spPr>
          <a:xfrm>
            <a:off x="5263243" y="1745083"/>
            <a:ext cx="6698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dirty="0"/>
              <a:t>d = 2R * </a:t>
            </a:r>
            <a:r>
              <a:rPr lang="pt-BR" dirty="0" err="1"/>
              <a:t>asin</a:t>
            </a:r>
            <a:r>
              <a:rPr lang="pt-BR" dirty="0"/>
              <a:t>( </a:t>
            </a:r>
            <a:r>
              <a:rPr lang="pt-BR" dirty="0" err="1"/>
              <a:t>sqrt</a:t>
            </a:r>
            <a:r>
              <a:rPr lang="pt-BR" dirty="0"/>
              <a:t>( sin²((</a:t>
            </a:r>
            <a:r>
              <a:rPr lang="el-GR" dirty="0"/>
              <a:t>φ2−φ1)/2) + </a:t>
            </a:r>
            <a:r>
              <a:rPr lang="pt-BR" dirty="0"/>
              <a:t>cos </a:t>
            </a:r>
            <a:r>
              <a:rPr lang="el-GR" dirty="0"/>
              <a:t>φ1 </a:t>
            </a:r>
            <a:r>
              <a:rPr lang="pt-BR" dirty="0"/>
              <a:t>cos </a:t>
            </a:r>
            <a:r>
              <a:rPr lang="el-GR" dirty="0"/>
              <a:t>φ2 </a:t>
            </a:r>
            <a:r>
              <a:rPr lang="pt-BR" dirty="0"/>
              <a:t>sin²((</a:t>
            </a:r>
            <a:r>
              <a:rPr lang="el-GR" dirty="0"/>
              <a:t>λ2−λ1)/2) ) )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E16389A-4BD9-A40B-A28D-6932597C1F43}"/>
              </a:ext>
            </a:extLst>
          </p:cNvPr>
          <p:cNvSpPr txBox="1"/>
          <p:nvPr/>
        </p:nvSpPr>
        <p:spPr>
          <a:xfrm>
            <a:off x="5522479" y="2610683"/>
            <a:ext cx="51783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Cálculo:</a:t>
            </a:r>
            <a:endParaRPr lang="pt-BR" dirty="0"/>
          </a:p>
          <a:p>
            <a:r>
              <a:rPr lang="pt-PT" b="1" dirty="0"/>
              <a:t>Ponto 1 (Paris, França):</a:t>
            </a:r>
            <a:endParaRPr lang="pt-PT" dirty="0"/>
          </a:p>
          <a:p>
            <a:pPr lvl="1"/>
            <a:r>
              <a:rPr lang="pt-PT" dirty="0"/>
              <a:t>Latitude (φ1): </a:t>
            </a:r>
            <a:r>
              <a:rPr lang="pt-PT" b="1" dirty="0"/>
              <a:t>48.8566° N</a:t>
            </a:r>
            <a:endParaRPr lang="pt-PT" dirty="0"/>
          </a:p>
          <a:p>
            <a:pPr lvl="1"/>
            <a:r>
              <a:rPr lang="pt-PT" dirty="0"/>
              <a:t>Longitude (λ1): </a:t>
            </a:r>
            <a:r>
              <a:rPr lang="pt-PT" b="1" dirty="0"/>
              <a:t>2.3522° E</a:t>
            </a:r>
          </a:p>
          <a:p>
            <a:pPr lvl="1"/>
            <a:endParaRPr lang="pt-PT" dirty="0"/>
          </a:p>
          <a:p>
            <a:r>
              <a:rPr lang="pt-PT" b="1" dirty="0"/>
              <a:t>Ponto 2 (Nova Iorque, EUA):</a:t>
            </a:r>
            <a:endParaRPr lang="pt-PT" dirty="0"/>
          </a:p>
          <a:p>
            <a:pPr lvl="1"/>
            <a:r>
              <a:rPr lang="pt-PT" dirty="0"/>
              <a:t>Latitude (φ2): </a:t>
            </a:r>
            <a:r>
              <a:rPr lang="pt-PT" b="1" dirty="0"/>
              <a:t>40.7128° N</a:t>
            </a:r>
            <a:endParaRPr lang="pt-PT" dirty="0"/>
          </a:p>
          <a:p>
            <a:pPr lvl="1"/>
            <a:r>
              <a:rPr lang="pt-PT" dirty="0"/>
              <a:t>Longitude (λ2): </a:t>
            </a:r>
            <a:r>
              <a:rPr lang="pt-PT" b="1" dirty="0"/>
              <a:t>-74.0060° W</a:t>
            </a:r>
            <a:r>
              <a:rPr lang="pt-PT" dirty="0"/>
              <a:t> (Oeste é negativo)</a:t>
            </a:r>
          </a:p>
          <a:p>
            <a:pPr lvl="1"/>
            <a:endParaRPr lang="pt-PT" dirty="0"/>
          </a:p>
          <a:p>
            <a:r>
              <a:rPr lang="pt-PT" b="1" dirty="0"/>
              <a:t>Raio da Terra (R):</a:t>
            </a:r>
            <a:endParaRPr lang="pt-PT" dirty="0"/>
          </a:p>
          <a:p>
            <a:pPr lvl="1"/>
            <a:r>
              <a:rPr lang="pt-PT" dirty="0"/>
              <a:t>Aproximadamente </a:t>
            </a:r>
            <a:r>
              <a:rPr lang="pt-PT" b="1" dirty="0"/>
              <a:t>6371 quilômetros</a:t>
            </a:r>
            <a:r>
              <a:rPr lang="pt-PT" dirty="0"/>
              <a:t>.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6DE6095-1D89-BD61-3FE9-4D902F63BB91}"/>
              </a:ext>
            </a:extLst>
          </p:cNvPr>
          <p:cNvSpPr txBox="1"/>
          <p:nvPr/>
        </p:nvSpPr>
        <p:spPr>
          <a:xfrm>
            <a:off x="763929" y="5144725"/>
            <a:ext cx="4613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pt-PT" dirty="0"/>
              <a:t>Use para geolocalização (R ≈ raio da Terra)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AF8AA1-4C4B-527D-2732-1E379B0949EA}"/>
              </a:ext>
            </a:extLst>
          </p:cNvPr>
          <p:cNvSpPr txBox="1"/>
          <p:nvPr/>
        </p:nvSpPr>
        <p:spPr>
          <a:xfrm>
            <a:off x="763929" y="5852541"/>
            <a:ext cx="6319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PT" b="1" i="0">
                <a:solidFill>
                  <a:srgbClr val="1A1C1E"/>
                </a:solidFill>
                <a:effectLst/>
                <a:latin typeface="Inter"/>
              </a:rPr>
              <a:t>Qual a distância entre Paris e Nova Iorque?</a:t>
            </a:r>
            <a:endParaRPr lang="pt-PT" b="1" i="0" dirty="0">
              <a:solidFill>
                <a:srgbClr val="1A1C1E"/>
              </a:solidFill>
              <a:effectLst/>
              <a:latin typeface="Inter"/>
            </a:endParaRP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448260F-5172-B93B-43AC-5E488787878A}"/>
              </a:ext>
            </a:extLst>
          </p:cNvPr>
          <p:cNvGrpSpPr/>
          <p:nvPr/>
        </p:nvGrpSpPr>
        <p:grpSpPr>
          <a:xfrm>
            <a:off x="519626" y="1186063"/>
            <a:ext cx="11552063" cy="5422979"/>
            <a:chOff x="409683" y="1574818"/>
            <a:chExt cx="11552063" cy="5422979"/>
          </a:xfrm>
        </p:grpSpPr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145834E1-F517-CC77-B9E1-86A41019F2FE}"/>
                </a:ext>
              </a:extLst>
            </p:cNvPr>
            <p:cNvSpPr/>
            <p:nvPr/>
          </p:nvSpPr>
          <p:spPr>
            <a:xfrm>
              <a:off x="409683" y="1574818"/>
              <a:ext cx="11490580" cy="50343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6EA39378-0B92-8800-E380-27F4C21160FE}"/>
                </a:ext>
              </a:extLst>
            </p:cNvPr>
            <p:cNvSpPr txBox="1"/>
            <p:nvPr/>
          </p:nvSpPr>
          <p:spPr>
            <a:xfrm>
              <a:off x="588146" y="1706605"/>
              <a:ext cx="5176046" cy="529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Passo 1: Converter Graus para Radianos (Crucial!)</a:t>
              </a:r>
            </a:p>
            <a:p>
              <a:pPr algn="l">
                <a:lnSpc>
                  <a:spcPts val="1500"/>
                </a:lnSpc>
                <a:spcAft>
                  <a:spcPts val="1350"/>
                </a:spcAft>
                <a:buNone/>
              </a:pP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As funções trigonométricas (seno, cosseno) em matemática e programação usam radianos, não graus. A fórmula de conversão é: 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radianos = graus * (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π / 180)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Inter"/>
                </a:rPr>
                <a:t>.</a:t>
              </a: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l-GR" sz="1400" b="1" i="0" dirty="0">
                  <a:solidFill>
                    <a:srgbClr val="1A1C1E"/>
                  </a:solidFill>
                  <a:effectLst/>
                  <a:latin typeface="Inter"/>
                </a:rPr>
                <a:t>φ1 (</a:t>
              </a: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Paris):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 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48.8566 * (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π / 180) ≈ 0.8527 </a:t>
              </a:r>
              <a:r>
                <a:rPr lang="pt-BR" sz="1400" b="0" i="0" dirty="0" err="1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rad</a:t>
              </a:r>
              <a:endParaRPr lang="pt-BR" sz="1400" b="0" i="0" dirty="0">
                <a:solidFill>
                  <a:srgbClr val="1A1C1E"/>
                </a:solidFill>
                <a:effectLst/>
                <a:latin typeface="Inter"/>
              </a:endParaRP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l-GR" sz="1400" b="1" i="0" dirty="0">
                  <a:solidFill>
                    <a:srgbClr val="1A1C1E"/>
                  </a:solidFill>
                  <a:effectLst/>
                  <a:latin typeface="Inter"/>
                </a:rPr>
                <a:t>λ1 (</a:t>
              </a: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Paris):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 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2.3522 * (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π / 180) ≈ 0.0411 </a:t>
              </a:r>
              <a:r>
                <a:rPr lang="pt-BR" sz="1400" b="0" i="0" dirty="0" err="1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rad</a:t>
              </a:r>
              <a:endParaRPr lang="pt-BR" sz="1400" b="0" i="0" dirty="0">
                <a:solidFill>
                  <a:srgbClr val="1A1C1E"/>
                </a:solidFill>
                <a:effectLst/>
                <a:latin typeface="Inter"/>
              </a:endParaRP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l-GR" sz="1400" b="1" i="0" dirty="0">
                  <a:solidFill>
                    <a:srgbClr val="1A1C1E"/>
                  </a:solidFill>
                  <a:effectLst/>
                  <a:latin typeface="Inter"/>
                </a:rPr>
                <a:t>φ2 (</a:t>
              </a: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NY):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 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40.7128 * (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π / 180) ≈ 0.7106 </a:t>
              </a:r>
              <a:r>
                <a:rPr lang="pt-BR" sz="1400" b="0" i="0" dirty="0" err="1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rad</a:t>
              </a:r>
              <a:endParaRPr lang="pt-BR" sz="1400" b="0" i="0" dirty="0">
                <a:solidFill>
                  <a:srgbClr val="1A1C1E"/>
                </a:solidFill>
                <a:effectLst/>
                <a:latin typeface="Inter"/>
              </a:endParaRP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l-GR" sz="1400" b="1" i="0" dirty="0">
                  <a:solidFill>
                    <a:srgbClr val="1A1C1E"/>
                  </a:solidFill>
                  <a:effectLst/>
                  <a:latin typeface="Inter"/>
                </a:rPr>
                <a:t>λ2 (</a:t>
              </a: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NY):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 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-74.0060 * (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π / 180) ≈ -1.2916 </a:t>
              </a:r>
              <a:r>
                <a:rPr lang="pt-BR" sz="1400" b="0" i="0" dirty="0" err="1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rad</a:t>
              </a:r>
              <a:endParaRPr lang="pt-BR" sz="1400" b="0" i="0" dirty="0">
                <a:solidFill>
                  <a:srgbClr val="1A1C1E"/>
                </a:solidFill>
                <a:effectLst/>
                <a:latin typeface="Inter"/>
              </a:endParaRPr>
            </a:p>
            <a:p>
              <a:pPr algn="l">
                <a:buNone/>
              </a:pP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Passo 2: Calcular as Diferenças (Deltas)</a:t>
              </a:r>
            </a:p>
            <a:p>
              <a:pPr algn="l">
                <a:lnSpc>
                  <a:spcPts val="1500"/>
                </a:lnSpc>
                <a:spcAft>
                  <a:spcPts val="1350"/>
                </a:spcAft>
                <a:buNone/>
              </a:pP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Calculamos a diferença entre as latitudes e longitudes (em radianos).</a:t>
              </a: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l-GR" sz="1400" b="1" i="0" dirty="0">
                  <a:solidFill>
                    <a:srgbClr val="1A1C1E"/>
                  </a:solidFill>
                  <a:effectLst/>
                  <a:latin typeface="Inter"/>
                </a:rPr>
                <a:t>Δφ (</a:t>
              </a: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Delta Latitude):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 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φ2 - φ1 = 0.7106 - 0.8527 = -0.1421 </a:t>
              </a:r>
              <a:r>
                <a:rPr lang="pt-BR" sz="1400" b="0" i="0" dirty="0" err="1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rad</a:t>
              </a:r>
              <a:endParaRPr lang="pt-BR" sz="1400" b="0" i="0" dirty="0">
                <a:solidFill>
                  <a:srgbClr val="1A1C1E"/>
                </a:solidFill>
                <a:effectLst/>
                <a:latin typeface="Inter"/>
              </a:endParaRP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el-GR" sz="1400" b="1" i="0" dirty="0">
                  <a:solidFill>
                    <a:srgbClr val="1A1C1E"/>
                  </a:solidFill>
                  <a:effectLst/>
                  <a:latin typeface="Inter"/>
                </a:rPr>
                <a:t>Δλ (</a:t>
              </a:r>
              <a:r>
                <a:rPr lang="pt-BR" sz="1400" b="1" i="0" dirty="0">
                  <a:solidFill>
                    <a:srgbClr val="1A1C1E"/>
                  </a:solidFill>
                  <a:effectLst/>
                  <a:latin typeface="Inter"/>
                </a:rPr>
                <a:t>Delta Longitude):</a:t>
              </a:r>
              <a:r>
                <a:rPr lang="pt-BR" sz="1400" b="0" i="0" dirty="0">
                  <a:solidFill>
                    <a:srgbClr val="1A1C1E"/>
                  </a:solidFill>
                  <a:effectLst/>
                  <a:latin typeface="Inter"/>
                </a:rPr>
                <a:t> </a:t>
              </a:r>
              <a:r>
                <a:rPr lang="el-GR" sz="1400" b="0" i="0" dirty="0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λ2 - λ1 = -1.2916 - 0.0411 = -1.3327 </a:t>
              </a:r>
              <a:r>
                <a:rPr lang="pt-BR" sz="1400" b="0" i="0" dirty="0" err="1">
                  <a:solidFill>
                    <a:srgbClr val="1A1C1E"/>
                  </a:solidFill>
                  <a:effectLst/>
                  <a:latin typeface="DM Mono" panose="020B0509040201040103" pitchFamily="49" charset="0"/>
                </a:rPr>
                <a:t>rad</a:t>
              </a:r>
              <a:endParaRPr lang="pt-BR" sz="1400" b="0" i="0" dirty="0">
                <a:solidFill>
                  <a:srgbClr val="1A1C1E"/>
                </a:solidFill>
                <a:effectLst/>
                <a:latin typeface="DM Mono" panose="020B0509040201040103" pitchFamily="49" charset="0"/>
              </a:endParaRP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pt-BR" sz="1400" dirty="0">
                <a:solidFill>
                  <a:srgbClr val="1A1C1E"/>
                </a:solidFill>
                <a:latin typeface="DM Mono" panose="020B0509040201040103" pitchFamily="49" charset="0"/>
              </a:endParaRPr>
            </a:p>
            <a:p>
              <a:r>
                <a:rPr lang="pt-PT" sz="1400" b="1" dirty="0">
                  <a:solidFill>
                    <a:srgbClr val="1A1C1E"/>
                  </a:solidFill>
                  <a:latin typeface="Inter"/>
                </a:rPr>
                <a:t>Passo 3: Calcular o Termo 'a' (O Coração da Fórmula)</a:t>
              </a:r>
            </a:p>
            <a:p>
              <a:pPr>
                <a:lnSpc>
                  <a:spcPts val="1500"/>
                </a:lnSpc>
                <a:spcAft>
                  <a:spcPts val="1350"/>
                </a:spcAft>
              </a:pPr>
              <a:r>
                <a:rPr lang="pt-PT" sz="1400" dirty="0">
                  <a:solidFill>
                    <a:srgbClr val="1A1C1E"/>
                  </a:solidFill>
                  <a:latin typeface="Inter"/>
                </a:rPr>
                <a:t>Agora, aplicamos a parte interna da fórmula:</a:t>
              </a:r>
              <a:br>
                <a:rPr lang="pt-PT" sz="1400" dirty="0">
                  <a:solidFill>
                    <a:srgbClr val="1A1C1E"/>
                  </a:solidFill>
                  <a:latin typeface="Inter"/>
                </a:rPr>
              </a:br>
              <a:r>
                <a:rPr lang="pt-PT" sz="1400" dirty="0">
                  <a:solidFill>
                    <a:srgbClr val="1A1C1E"/>
                  </a:solidFill>
                  <a:latin typeface="DM Mono" panose="020B0509040201040103" pitchFamily="49" charset="0"/>
                </a:rPr>
                <a:t>a = sin²(Δφ/2) + cos(φ1) * cos(φ2) * sin²(Δλ/2)</a:t>
              </a:r>
              <a:endParaRPr lang="pt-PT" sz="1400" dirty="0">
                <a:solidFill>
                  <a:srgbClr val="1A1C1E"/>
                </a:solidFill>
                <a:latin typeface="Inter"/>
              </a:endParaRPr>
            </a:p>
            <a:p>
              <a:pPr>
                <a:lnSpc>
                  <a:spcPts val="1500"/>
                </a:lnSpc>
                <a:spcAft>
                  <a:spcPts val="1350"/>
                </a:spcAft>
              </a:pPr>
              <a:r>
                <a:rPr lang="pt-PT" sz="1400" dirty="0">
                  <a:solidFill>
                    <a:srgbClr val="1A1C1E"/>
                  </a:solidFill>
                  <a:latin typeface="Inter"/>
                </a:rPr>
                <a:t>Vamos quebrar isso em partes:</a:t>
              </a:r>
            </a:p>
            <a:p>
              <a:pPr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endParaRPr lang="pt-BR" sz="1400" b="0" i="0" dirty="0">
                <a:solidFill>
                  <a:srgbClr val="1A1C1E"/>
                </a:solidFill>
                <a:effectLst/>
                <a:latin typeface="Inter"/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F86E6D6-B91B-64E2-574D-ACD174C31261}"/>
                </a:ext>
              </a:extLst>
            </p:cNvPr>
            <p:cNvSpPr txBox="1"/>
            <p:nvPr/>
          </p:nvSpPr>
          <p:spPr>
            <a:xfrm>
              <a:off x="6096000" y="1706605"/>
              <a:ext cx="5865746" cy="51809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dirty="0"/>
                <a:t>Primeira parte: sin²(</a:t>
              </a:r>
              <a:r>
                <a:rPr lang="el-GR" sz="1400" b="1" dirty="0"/>
                <a:t>Δφ/2)</a:t>
              </a:r>
              <a:endParaRPr lang="el-GR" sz="1400" dirty="0"/>
            </a:p>
            <a:p>
              <a:pPr lvl="1"/>
              <a:r>
                <a:rPr lang="el-GR" sz="1400" dirty="0"/>
                <a:t>Δφ/2 = -0.1421 / 2 = -0.07105</a:t>
              </a:r>
            </a:p>
            <a:p>
              <a:pPr lvl="1"/>
              <a:r>
                <a:rPr lang="pt-BR" sz="1400" dirty="0" err="1"/>
                <a:t>sin</a:t>
              </a:r>
              <a:r>
                <a:rPr lang="pt-BR" sz="1400" dirty="0"/>
                <a:t>(-0.07105) ≈ -0.0709</a:t>
              </a:r>
            </a:p>
            <a:p>
              <a:pPr lvl="1"/>
              <a:r>
                <a:rPr lang="pt-BR" sz="1400" dirty="0"/>
                <a:t>(-0.0709)² ≈ **0.0050**</a:t>
              </a:r>
            </a:p>
            <a:p>
              <a:r>
                <a:rPr lang="pt-BR" sz="1400" b="1" dirty="0"/>
                <a:t>Segunda parte: cos(</a:t>
              </a:r>
              <a:r>
                <a:rPr lang="el-GR" sz="1400" b="1" dirty="0"/>
                <a:t>φ1) * </a:t>
              </a:r>
              <a:r>
                <a:rPr lang="pt-BR" sz="1400" b="1" dirty="0"/>
                <a:t>cos(</a:t>
              </a:r>
              <a:r>
                <a:rPr lang="el-GR" sz="1400" b="1" dirty="0"/>
                <a:t>φ2) * </a:t>
              </a:r>
              <a:r>
                <a:rPr lang="pt-BR" sz="1400" b="1" dirty="0"/>
                <a:t>sin²(</a:t>
              </a:r>
              <a:r>
                <a:rPr lang="el-GR" sz="1400" b="1" dirty="0"/>
                <a:t>Δλ/2)</a:t>
              </a:r>
              <a:endParaRPr lang="el-GR" sz="1400" dirty="0"/>
            </a:p>
            <a:p>
              <a:pPr lvl="1"/>
              <a:r>
                <a:rPr lang="pt-BR" sz="1400" dirty="0"/>
                <a:t>cos(</a:t>
              </a:r>
              <a:r>
                <a:rPr lang="el-GR" sz="1400" dirty="0"/>
                <a:t>φ1) = </a:t>
              </a:r>
              <a:r>
                <a:rPr lang="pt-BR" sz="1400" dirty="0"/>
                <a:t>cos(0.8527) ≈ 0.6582</a:t>
              </a:r>
            </a:p>
            <a:p>
              <a:pPr lvl="1"/>
              <a:r>
                <a:rPr lang="pt-BR" sz="1400" dirty="0"/>
                <a:t>cos(</a:t>
              </a:r>
              <a:r>
                <a:rPr lang="el-GR" sz="1400" dirty="0"/>
                <a:t>φ2) = </a:t>
              </a:r>
              <a:r>
                <a:rPr lang="pt-BR" sz="1400" dirty="0"/>
                <a:t>cos(0.7106) ≈ 0.7580</a:t>
              </a:r>
            </a:p>
            <a:p>
              <a:pPr lvl="1"/>
              <a:r>
                <a:rPr lang="el-GR" sz="1400" dirty="0"/>
                <a:t>Δλ/2 = -1.3327 / 2 = -0.66635</a:t>
              </a:r>
            </a:p>
            <a:p>
              <a:pPr lvl="1"/>
              <a:r>
                <a:rPr lang="pt-BR" sz="1400" dirty="0" err="1"/>
                <a:t>sin</a:t>
              </a:r>
              <a:r>
                <a:rPr lang="pt-BR" sz="1400" dirty="0"/>
                <a:t>(-0.66635) ≈ -0.6181</a:t>
              </a:r>
            </a:p>
            <a:p>
              <a:pPr lvl="1"/>
              <a:r>
                <a:rPr lang="pt-BR" sz="1400" dirty="0"/>
                <a:t>sin²(</a:t>
              </a:r>
              <a:r>
                <a:rPr lang="el-GR" sz="1400" dirty="0"/>
                <a:t>Δλ/2) = (-0.6181)² ≈ 0.3820</a:t>
              </a:r>
            </a:p>
            <a:p>
              <a:pPr lvl="1"/>
              <a:r>
                <a:rPr lang="pt-BR" sz="1400" b="1" dirty="0"/>
                <a:t>Juntando:</a:t>
              </a:r>
              <a:r>
                <a:rPr lang="pt-BR" sz="1400" dirty="0"/>
                <a:t> 0.6582 * 0.7580 * 0.3820 ≈ **0.1906**</a:t>
              </a:r>
            </a:p>
            <a:p>
              <a:r>
                <a:rPr lang="pt-BR" sz="1400" b="1" dirty="0"/>
                <a:t>Somando as duas partes para obter 'a':</a:t>
              </a:r>
              <a:endParaRPr lang="pt-BR" sz="1400" dirty="0"/>
            </a:p>
            <a:p>
              <a:pPr lvl="1"/>
              <a:r>
                <a:rPr lang="pt-BR" sz="1400" dirty="0"/>
                <a:t>a = 0.0050 + 0.1906 = **0.1956**</a:t>
              </a:r>
            </a:p>
            <a:p>
              <a:r>
                <a:rPr lang="pt-BR" sz="1400" b="1" dirty="0"/>
                <a:t>Passo 4: Calcular a Distância Final (d)</a:t>
              </a:r>
            </a:p>
            <a:p>
              <a:r>
                <a:rPr lang="pt-BR" sz="1400" dirty="0"/>
                <a:t>Agora usamos a parte final da fórmula: d = 2 * R * </a:t>
              </a:r>
              <a:r>
                <a:rPr lang="pt-BR" sz="1400" dirty="0" err="1"/>
                <a:t>asin</a:t>
              </a:r>
              <a:r>
                <a:rPr lang="pt-BR" sz="1400" dirty="0"/>
                <a:t>(√a)</a:t>
              </a:r>
              <a:br>
                <a:rPr lang="pt-BR" sz="1400" dirty="0"/>
              </a:br>
              <a:r>
                <a:rPr lang="pt-BR" sz="1400" i="1" dirty="0"/>
                <a:t>(Onde </a:t>
              </a:r>
              <a:r>
                <a:rPr lang="pt-BR" sz="1400" i="1" dirty="0" err="1"/>
                <a:t>asin</a:t>
              </a:r>
              <a:r>
                <a:rPr lang="pt-BR" sz="1400" i="1" dirty="0"/>
                <a:t> é o arco seno, a operação inversa do seno)</a:t>
              </a:r>
              <a:endParaRPr lang="pt-BR" sz="1400" dirty="0"/>
            </a:p>
            <a:p>
              <a:r>
                <a:rPr lang="pt-BR" sz="1400" b="1" dirty="0"/>
                <a:t>√a:</a:t>
              </a:r>
              <a:r>
                <a:rPr lang="pt-BR" sz="1400" dirty="0"/>
                <a:t> √0.1956 ≈ 0.4423</a:t>
              </a:r>
            </a:p>
            <a:p>
              <a:r>
                <a:rPr lang="pt-BR" sz="1400" b="1" dirty="0" err="1"/>
                <a:t>asin</a:t>
              </a:r>
              <a:r>
                <a:rPr lang="pt-BR" sz="1400" b="1" dirty="0"/>
                <a:t>(√a):</a:t>
              </a:r>
              <a:r>
                <a:rPr lang="pt-BR" sz="1400" dirty="0"/>
                <a:t> </a:t>
              </a:r>
              <a:r>
                <a:rPr lang="pt-BR" sz="1400" dirty="0" err="1"/>
                <a:t>asin</a:t>
              </a:r>
              <a:r>
                <a:rPr lang="pt-BR" sz="1400" dirty="0"/>
                <a:t>(0.4423) ≈ 0.4582 </a:t>
              </a:r>
              <a:r>
                <a:rPr lang="pt-BR" sz="1400" dirty="0" err="1"/>
                <a:t>rad</a:t>
              </a:r>
              <a:r>
                <a:rPr lang="pt-BR" sz="1400" dirty="0"/>
                <a:t> (o resultado é um ângulo em radianos)</a:t>
              </a:r>
            </a:p>
            <a:p>
              <a:r>
                <a:rPr lang="pt-BR" sz="1400" b="1" dirty="0"/>
                <a:t>d = 2 * R * (resultado acima)</a:t>
              </a:r>
              <a:endParaRPr lang="pt-BR" sz="1400" dirty="0"/>
            </a:p>
            <a:p>
              <a:pPr lvl="1"/>
              <a:r>
                <a:rPr lang="pt-BR" sz="1400" dirty="0"/>
                <a:t>d = 2 * 6371 * 0.4582</a:t>
              </a:r>
            </a:p>
            <a:p>
              <a:pPr lvl="1"/>
              <a:r>
                <a:rPr lang="pt-BR" sz="1400" dirty="0"/>
                <a:t>d ≈ **5837 quilômetros**</a:t>
              </a:r>
            </a:p>
            <a:p>
              <a:pPr algn="l">
                <a:lnSpc>
                  <a:spcPts val="1500"/>
                </a:lnSpc>
                <a:spcAft>
                  <a:spcPts val="1350"/>
                </a:spcAft>
                <a:buNone/>
              </a:pPr>
              <a:endParaRPr lang="pt-PT" sz="1400" dirty="0">
                <a:solidFill>
                  <a:srgbClr val="1A1C1E"/>
                </a:solidFill>
                <a:latin typeface="Inter"/>
              </a:endParaRPr>
            </a:p>
            <a:p>
              <a:pPr algn="l">
                <a:lnSpc>
                  <a:spcPts val="1500"/>
                </a:lnSpc>
                <a:spcAft>
                  <a:spcPts val="1350"/>
                </a:spcAft>
                <a:buNone/>
              </a:pPr>
              <a:endParaRPr lang="pt-PT" sz="1400" b="0" i="0" dirty="0">
                <a:solidFill>
                  <a:srgbClr val="1A1C1E"/>
                </a:solidFill>
                <a:effectLst/>
                <a:latin typeface="Inter"/>
              </a:endParaRPr>
            </a:p>
          </p:txBody>
        </p:sp>
      </p:grp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BAFD6EA-6915-B320-5780-BFAEB9639F35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45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FF30-CC75-E42B-68D0-37F6EB920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41ED51D-7A07-A1E6-3B97-3F498C316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39D8E94-59B3-FBA9-4282-9A238430B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30DE7AD-9CE9-C1B7-4F4C-8A30A00FE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B51A27-B6E6-AA50-5DA7-0302B78C9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7105" y="675177"/>
            <a:ext cx="6420746" cy="93358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6D8BADF-3718-014B-5FB3-DA08DC9B39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1246"/>
          <a:stretch>
            <a:fillRect/>
          </a:stretch>
        </p:blipFill>
        <p:spPr>
          <a:xfrm>
            <a:off x="958582" y="2116546"/>
            <a:ext cx="4458322" cy="340301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0939FEB-2E8C-B96B-06C0-5422CB4CEF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7393"/>
          <a:stretch>
            <a:fillRect/>
          </a:stretch>
        </p:blipFill>
        <p:spPr>
          <a:xfrm>
            <a:off x="5861495" y="2116546"/>
            <a:ext cx="4458322" cy="246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82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73C7D-AF10-67B5-2C70-7A95DBBF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4555DEB-CCF4-2E03-11E6-477F879B7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816B7F1-C8E9-D96E-BB0A-89957B253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B460E22-0BD5-D74F-B918-14D4FD24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24054D-771D-81D1-B3C4-E8F1462F7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54" y="166232"/>
            <a:ext cx="5763429" cy="652553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BF638C9-7C93-E5B3-C331-0727CB809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923" y="166232"/>
            <a:ext cx="5801535" cy="378195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0F5F9D8-5918-DB94-1460-87B0268D9F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434" y="4334118"/>
            <a:ext cx="9549158" cy="1221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016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F4D1-CF04-0DB4-E4F3-5C206333B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900F361-AF0D-9D67-F35F-46F183A4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7A2AC9D-DE70-D041-18F9-E2D9207DA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B61C784-9B12-B936-13CC-40427C94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EE0844-7263-6F6B-002E-D4C0B38B038D}"/>
              </a:ext>
            </a:extLst>
          </p:cNvPr>
          <p:cNvSpPr txBox="1"/>
          <p:nvPr/>
        </p:nvSpPr>
        <p:spPr>
          <a:xfrm>
            <a:off x="649629" y="1153749"/>
            <a:ext cx="4613614" cy="3511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A1C1E"/>
                </a:solidFill>
                <a:latin typeface="Inter"/>
              </a:rPr>
              <a:t>Métricas para Strings Binárias</a:t>
            </a:r>
          </a:p>
          <a:p>
            <a:endParaRPr lang="pt-PT" b="1" dirty="0">
              <a:solidFill>
                <a:srgbClr val="1A1C1E"/>
              </a:solidFill>
              <a:latin typeface="Inter"/>
            </a:endParaRPr>
          </a:p>
          <a:p>
            <a:r>
              <a:rPr lang="pt-PT" b="1" dirty="0">
                <a:solidFill>
                  <a:srgbClr val="1A1C1E"/>
                </a:solidFill>
                <a:latin typeface="Inter"/>
              </a:rPr>
              <a:t>Vamos usar duas strings de 5 bits:</a:t>
            </a:r>
          </a:p>
          <a:p>
            <a:endParaRPr lang="pt-PT" b="1" dirty="0">
              <a:solidFill>
                <a:srgbClr val="1A1C1E"/>
              </a:solidFill>
              <a:latin typeface="Inter"/>
            </a:endParaRPr>
          </a:p>
          <a:p>
            <a:r>
              <a:rPr lang="pt-BR" b="1" dirty="0" err="1"/>
              <a:t>String</a:t>
            </a:r>
            <a:r>
              <a:rPr lang="pt-BR" b="1" dirty="0"/>
              <a:t> x = "10011"</a:t>
            </a:r>
            <a:endParaRPr lang="pt-BR" dirty="0"/>
          </a:p>
          <a:p>
            <a:r>
              <a:rPr lang="pt-BR" b="1" dirty="0" err="1"/>
              <a:t>String</a:t>
            </a:r>
            <a:r>
              <a:rPr lang="pt-BR" b="1" dirty="0"/>
              <a:t> y = "11010"</a:t>
            </a:r>
            <a:endParaRPr lang="pt-BR" dirty="0"/>
          </a:p>
          <a:p>
            <a:endParaRPr lang="pt-PT" dirty="0">
              <a:solidFill>
                <a:srgbClr val="1A1C1E"/>
              </a:solidFill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r>
              <a:rPr lang="pt-BR" b="1" dirty="0"/>
              <a:t>7. Distância de </a:t>
            </a:r>
            <a:r>
              <a:rPr lang="pt-BR" b="1" dirty="0" err="1"/>
              <a:t>Hamming</a:t>
            </a:r>
            <a:endParaRPr lang="pt-BR" b="1" dirty="0"/>
          </a:p>
          <a:p>
            <a:endParaRPr lang="pt-PT" b="1" dirty="0"/>
          </a:p>
          <a:p>
            <a:r>
              <a:rPr lang="pt-PT" dirty="0"/>
              <a:t>Conta posições diferentes em sequências do </a:t>
            </a:r>
            <a:r>
              <a:rPr lang="pt-PT" b="1" dirty="0"/>
              <a:t>mesmo tamanho</a:t>
            </a:r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79DDAF-D11C-7FA9-920C-5445AFDB378E}"/>
              </a:ext>
            </a:extLst>
          </p:cNvPr>
          <p:cNvSpPr txBox="1"/>
          <p:nvPr/>
        </p:nvSpPr>
        <p:spPr>
          <a:xfrm>
            <a:off x="5263243" y="1745083"/>
            <a:ext cx="3383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es-ES" dirty="0"/>
              <a:t>d(</a:t>
            </a:r>
            <a:r>
              <a:rPr lang="es-ES" dirty="0" err="1"/>
              <a:t>x,y</a:t>
            </a:r>
            <a:r>
              <a:rPr lang="es-ES" dirty="0"/>
              <a:t>) = # { i : xi ≠ </a:t>
            </a:r>
            <a:r>
              <a:rPr lang="es-ES" dirty="0" err="1"/>
              <a:t>yi</a:t>
            </a:r>
            <a:r>
              <a:rPr lang="es-ES" dirty="0"/>
              <a:t> }         </a:t>
            </a:r>
            <a:r>
              <a:rPr lang="es-ES" dirty="0" err="1"/>
              <a:t>ou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B909314-BF9C-25FA-5C40-FDE3CDF29708}"/>
              </a:ext>
            </a:extLst>
          </p:cNvPr>
          <p:cNvSpPr txBox="1"/>
          <p:nvPr/>
        </p:nvSpPr>
        <p:spPr>
          <a:xfrm>
            <a:off x="5522479" y="2610683"/>
            <a:ext cx="51783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Cálculo:</a:t>
            </a:r>
            <a:r>
              <a:rPr lang="pt-PT" dirty="0"/>
              <a:t> Vamos comparar posição por posição:</a:t>
            </a:r>
          </a:p>
          <a:p>
            <a:endParaRPr lang="pt-PT" dirty="0"/>
          </a:p>
          <a:p>
            <a:pPr lvl="1"/>
            <a:r>
              <a:rPr lang="pt-PT" dirty="0"/>
              <a:t>Posição 1: 1 vs 1 -&gt; Igual</a:t>
            </a:r>
          </a:p>
          <a:p>
            <a:pPr lvl="1"/>
            <a:r>
              <a:rPr lang="pt-PT" dirty="0"/>
              <a:t>Posição 2: 0 vs 1 -&gt; </a:t>
            </a:r>
            <a:r>
              <a:rPr lang="pt-PT" b="1" dirty="0"/>
              <a:t>Diferente</a:t>
            </a:r>
            <a:r>
              <a:rPr lang="pt-PT" dirty="0"/>
              <a:t> (1)</a:t>
            </a:r>
          </a:p>
          <a:p>
            <a:pPr lvl="1"/>
            <a:r>
              <a:rPr lang="pt-PT" dirty="0"/>
              <a:t>Posição 3: 0 vs 0 -&gt; Igual</a:t>
            </a:r>
          </a:p>
          <a:p>
            <a:pPr lvl="1"/>
            <a:r>
              <a:rPr lang="pt-PT" dirty="0"/>
              <a:t>Posição 4: 1 vs 1 -&gt; Igual</a:t>
            </a:r>
          </a:p>
          <a:p>
            <a:pPr lvl="1"/>
            <a:r>
              <a:rPr lang="pt-PT" dirty="0"/>
              <a:t>Posição 5: 1 vs 0 -&gt; </a:t>
            </a:r>
            <a:r>
              <a:rPr lang="pt-PT" b="1" dirty="0"/>
              <a:t>Diferente</a:t>
            </a:r>
            <a:r>
              <a:rPr lang="pt-PT" dirty="0"/>
              <a:t> (2)</a:t>
            </a:r>
          </a:p>
          <a:p>
            <a:pPr lvl="1"/>
            <a:endParaRPr lang="pt-PT" dirty="0"/>
          </a:p>
          <a:p>
            <a:r>
              <a:rPr lang="pt-PT" b="1" dirty="0"/>
              <a:t>Resultado:</a:t>
            </a:r>
            <a:r>
              <a:rPr lang="pt-PT" dirty="0"/>
              <a:t> </a:t>
            </a:r>
            <a:r>
              <a:rPr lang="pt-PT" b="1" dirty="0"/>
              <a:t>2</a:t>
            </a:r>
            <a:endParaRPr lang="pt-PT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3B5E8B-AD3A-F423-E3CB-A1C14A3F142F}"/>
              </a:ext>
            </a:extLst>
          </p:cNvPr>
          <p:cNvSpPr txBox="1"/>
          <p:nvPr/>
        </p:nvSpPr>
        <p:spPr>
          <a:xfrm>
            <a:off x="649629" y="5398667"/>
            <a:ext cx="9385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br>
              <a:rPr lang="pt-PT" b="0" i="0" dirty="0">
                <a:solidFill>
                  <a:srgbClr val="1A1C1E"/>
                </a:solidFill>
                <a:effectLst/>
                <a:latin typeface="Inter"/>
              </a:rPr>
            </a:br>
            <a:r>
              <a:rPr lang="pt-PT" b="1" dirty="0"/>
              <a:t>Códigos de detecção/correção de erros </a:t>
            </a:r>
            <a:r>
              <a:rPr lang="pt-PT" dirty="0"/>
              <a:t>(códigos de Hamming, </a:t>
            </a:r>
            <a:r>
              <a:rPr lang="pt-BR" dirty="0"/>
              <a:t>QR Reed–</a:t>
            </a:r>
            <a:r>
              <a:rPr lang="pt-BR" dirty="0" err="1"/>
              <a:t>Solomon</a:t>
            </a:r>
            <a:r>
              <a:rPr lang="pt-PT" dirty="0"/>
              <a:t>).</a:t>
            </a:r>
            <a:br>
              <a:rPr lang="pt-PT" dirty="0"/>
            </a:br>
            <a:r>
              <a:rPr lang="pt-PT" b="1" dirty="0"/>
              <a:t>Comparar hashes perceptuais/assinaturas </a:t>
            </a:r>
            <a:r>
              <a:rPr lang="pt-PT" dirty="0"/>
              <a:t>binárias de imagens para near-duplicates.</a:t>
            </a:r>
            <a:br>
              <a:rPr lang="pt-PT" dirty="0"/>
            </a:br>
            <a:r>
              <a:rPr lang="pt-PT" b="1" dirty="0"/>
              <a:t>Flags de recursos: </a:t>
            </a:r>
            <a:r>
              <a:rPr lang="pt-PT" dirty="0"/>
              <a:t>distância entre configurações binárias (AB tests, features ligadas).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8A6686C-163F-DC53-45E1-04689D500407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1F446A3-6D9F-EC79-65DB-8980B79B8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0623" y="1801727"/>
            <a:ext cx="3877835" cy="75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81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CA0F-619C-CCBF-D6B0-27CAA15A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3EAFA02-326F-C958-154E-AFE097EA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DEDE23E-1A6A-6A0E-2E77-03C10CDC4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2F32005-909C-AD00-8AF5-A4A038D42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9A417E-B075-8568-09CC-410C1833BA25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6C93EDC-646F-4262-9CDB-770461D41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2138" y="1588048"/>
            <a:ext cx="5725324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78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92CED-2B4A-EA9A-C275-2E5816DA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CA7BA45-16C1-E321-2D87-984A06D9D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BA60AA3-85E4-42E0-E078-B0F96B200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F705FA25-13A0-90BA-87D8-BD2703B6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E028A06-C97B-295D-EFD0-6CD077426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68" y="414526"/>
            <a:ext cx="7325747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43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8E2A7-311B-B98D-8C6A-957630B1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79B3FBC-9174-A6A3-FA52-F249F6310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78A9F92-86B4-CA04-1B31-8DD0AD6DF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F096304-6FB6-AE9D-573B-4D887597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8580C4-4CC0-824C-C055-EEE2568CF1BC}"/>
              </a:ext>
            </a:extLst>
          </p:cNvPr>
          <p:cNvSpPr txBox="1"/>
          <p:nvPr/>
        </p:nvSpPr>
        <p:spPr>
          <a:xfrm>
            <a:off x="649629" y="1153749"/>
            <a:ext cx="4386397" cy="268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A1C1E"/>
                </a:solidFill>
                <a:latin typeface="Inter"/>
              </a:rPr>
              <a:t>Métricas para Conjuntos (Sets)</a:t>
            </a:r>
          </a:p>
          <a:p>
            <a:endParaRPr lang="pt-PT" b="1" dirty="0">
              <a:solidFill>
                <a:srgbClr val="1A1C1E"/>
              </a:solidFill>
              <a:latin typeface="Inter"/>
            </a:endParaRPr>
          </a:p>
          <a:p>
            <a:r>
              <a:rPr lang="pt-BR" b="1" dirty="0"/>
              <a:t>Conjunto X = {maçã, banana, laranja, uva}</a:t>
            </a:r>
            <a:endParaRPr lang="pt-BR" dirty="0"/>
          </a:p>
          <a:p>
            <a:r>
              <a:rPr lang="pt-BR" b="1" dirty="0"/>
              <a:t>Conjunto Y = {laranja, uva, pera, abacaxi}</a:t>
            </a:r>
            <a:endParaRPr lang="pt-BR" dirty="0"/>
          </a:p>
          <a:p>
            <a:endParaRPr lang="pt-PT" dirty="0">
              <a:solidFill>
                <a:srgbClr val="1A1C1E"/>
              </a:solidFill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r>
              <a:rPr lang="pt-BR" b="1" dirty="0"/>
              <a:t>8. Similaridade de </a:t>
            </a:r>
            <a:r>
              <a:rPr lang="pt-BR" b="1" dirty="0" err="1"/>
              <a:t>Jaccard</a:t>
            </a:r>
            <a:endParaRPr lang="pt-BR" b="1" dirty="0"/>
          </a:p>
          <a:p>
            <a:endParaRPr lang="pt-BR" b="1" dirty="0"/>
          </a:p>
          <a:p>
            <a:r>
              <a:rPr lang="pt-PT" dirty="0"/>
              <a:t>Para </a:t>
            </a:r>
            <a:r>
              <a:rPr lang="pt-PT" b="1" dirty="0"/>
              <a:t>conjuntos</a:t>
            </a:r>
            <a:r>
              <a:rPr lang="pt-PT" dirty="0"/>
              <a:t> (ou vetores binários):</a:t>
            </a:r>
            <a:endParaRPr lang="pt-PT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D73A47-53B2-F27E-FC31-1AC620EB8BF1}"/>
              </a:ext>
            </a:extLst>
          </p:cNvPr>
          <p:cNvSpPr txBox="1"/>
          <p:nvPr/>
        </p:nvSpPr>
        <p:spPr>
          <a:xfrm>
            <a:off x="5263243" y="1745083"/>
            <a:ext cx="6698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PT" dirty="0"/>
              <a:t>sim(A,B) = |A ∩ B| / |A ∪ B| ; distância: 1 − sim.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F02585B-4BD0-9047-9E67-3ABAE238917F}"/>
              </a:ext>
            </a:extLst>
          </p:cNvPr>
          <p:cNvSpPr txBox="1"/>
          <p:nvPr/>
        </p:nvSpPr>
        <p:spPr>
          <a:xfrm>
            <a:off x="5522479" y="2610683"/>
            <a:ext cx="617952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Cálculo:</a:t>
            </a:r>
            <a:endParaRPr lang="pt-PT" dirty="0"/>
          </a:p>
          <a:p>
            <a:pPr lvl="1"/>
            <a:r>
              <a:rPr lang="pt-PT" b="1" dirty="0"/>
              <a:t>Interseção (X ∩ Y):</a:t>
            </a:r>
            <a:r>
              <a:rPr lang="pt-PT" dirty="0"/>
              <a:t> Itens que estão em ambos os conjuntos.</a:t>
            </a:r>
          </a:p>
          <a:p>
            <a:pPr lvl="2"/>
            <a:r>
              <a:rPr lang="pt-PT" dirty="0"/>
              <a:t>{laranja, uva}</a:t>
            </a:r>
          </a:p>
          <a:p>
            <a:pPr lvl="2"/>
            <a:r>
              <a:rPr lang="pt-PT" dirty="0"/>
              <a:t>Tamanho da Interseção = </a:t>
            </a:r>
            <a:r>
              <a:rPr lang="pt-PT" b="1" dirty="0"/>
              <a:t>2</a:t>
            </a:r>
          </a:p>
          <a:p>
            <a:pPr lvl="2"/>
            <a:endParaRPr lang="pt-PT" dirty="0"/>
          </a:p>
          <a:p>
            <a:pPr lvl="1"/>
            <a:r>
              <a:rPr lang="pt-PT" b="1" dirty="0"/>
              <a:t>União (X ∪ Y):</a:t>
            </a:r>
            <a:r>
              <a:rPr lang="pt-PT" dirty="0"/>
              <a:t> Todos os itens únicos combinados.</a:t>
            </a:r>
          </a:p>
          <a:p>
            <a:pPr lvl="2"/>
            <a:r>
              <a:rPr lang="pt-PT" dirty="0"/>
              <a:t>{maçã, banana, laranja, uva, pera, abacaxi}</a:t>
            </a:r>
          </a:p>
          <a:p>
            <a:pPr lvl="2"/>
            <a:r>
              <a:rPr lang="pt-PT" dirty="0"/>
              <a:t>Tamanho da União = </a:t>
            </a:r>
            <a:r>
              <a:rPr lang="pt-PT" b="1" dirty="0"/>
              <a:t>6</a:t>
            </a:r>
          </a:p>
          <a:p>
            <a:pPr lvl="2"/>
            <a:endParaRPr lang="pt-PT" dirty="0"/>
          </a:p>
          <a:p>
            <a:r>
              <a:rPr lang="pt-PT" b="1" dirty="0"/>
              <a:t>Fórmula:</a:t>
            </a:r>
            <a:r>
              <a:rPr lang="pt-PT" dirty="0"/>
              <a:t> |Interseção| / |União|</a:t>
            </a:r>
          </a:p>
          <a:p>
            <a:endParaRPr lang="pt-PT" dirty="0"/>
          </a:p>
          <a:p>
            <a:r>
              <a:rPr lang="pt-PT" b="1" dirty="0"/>
              <a:t>Resultado:</a:t>
            </a:r>
            <a:r>
              <a:rPr lang="pt-PT" dirty="0"/>
              <a:t> 2 / 6 = </a:t>
            </a:r>
            <a:r>
              <a:rPr lang="pt-PT" b="1" dirty="0"/>
              <a:t>1/3</a:t>
            </a:r>
            <a:r>
              <a:rPr lang="pt-PT" dirty="0"/>
              <a:t> (ou aproximadamente </a:t>
            </a:r>
            <a:r>
              <a:rPr lang="pt-PT" b="1" dirty="0"/>
              <a:t>0.333</a:t>
            </a:r>
            <a:r>
              <a:rPr lang="pt-PT" dirty="0"/>
              <a:t>)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CE7F46-FE03-B796-1BE2-4E3B13D2C1A3}"/>
              </a:ext>
            </a:extLst>
          </p:cNvPr>
          <p:cNvSpPr txBox="1"/>
          <p:nvPr/>
        </p:nvSpPr>
        <p:spPr>
          <a:xfrm>
            <a:off x="649629" y="4457342"/>
            <a:ext cx="46136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pt-PT" dirty="0"/>
              <a:t>comparação de conjuntos (ou vetores 0/1 como presença/ausência).</a:t>
            </a:r>
            <a:br>
              <a:rPr lang="pt-PT" dirty="0"/>
            </a:br>
            <a:r>
              <a:rPr lang="pt-PT" dirty="0"/>
              <a:t>Exemplos: postagem parecidas, detecção de textos quase iguais, itens em comum numa cesta de clientes.</a:t>
            </a:r>
          </a:p>
          <a:p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35A95BE-2F42-40E1-E774-FA60BC89503F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3471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E5BB-C82A-F12B-15BB-3A67EDE0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D8E72DC-ED54-5630-6252-8A496AC74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FC1D579-E44A-29AB-E9D6-4E2364DA8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A5BD8CB-70C4-250C-FABE-A3CDCAC3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323A76-0264-E282-FC9B-3E612EA0F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2732" y="1199839"/>
            <a:ext cx="6706536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49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03F8-C586-CF2C-3C35-E6706F342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FD56A983-5FF6-64AB-1681-E9DA615CA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783AC77-FC24-E73B-209B-7FF9C84FF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3800C526-4464-D86A-942A-E852CCEC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F9D20A-0155-C3AA-A89B-562256803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988" y="762000"/>
            <a:ext cx="5096586" cy="529663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91147E9-6D62-03B0-871D-5481CC3B65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574" y="799361"/>
            <a:ext cx="5334744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84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FAF9-A8FF-BA85-5054-1FDD710ED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099E9AC-75A1-332D-5A11-8D7A37B7B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44FAF77-F438-3013-F2D2-6A6FC7EC7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66BF8D41-C239-0D22-40BA-D15AF10F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90DB35-8CB7-B336-FE33-F306803C4F37}"/>
              </a:ext>
            </a:extLst>
          </p:cNvPr>
          <p:cNvSpPr txBox="1"/>
          <p:nvPr/>
        </p:nvSpPr>
        <p:spPr>
          <a:xfrm>
            <a:off x="649629" y="1153749"/>
            <a:ext cx="4386397" cy="268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A1C1E"/>
                </a:solidFill>
                <a:latin typeface="Inter"/>
              </a:rPr>
              <a:t>Métricas para Conjuntos (Sets)</a:t>
            </a:r>
          </a:p>
          <a:p>
            <a:endParaRPr lang="pt-PT" b="1" dirty="0">
              <a:solidFill>
                <a:srgbClr val="1A1C1E"/>
              </a:solidFill>
              <a:latin typeface="Inter"/>
            </a:endParaRPr>
          </a:p>
          <a:p>
            <a:r>
              <a:rPr lang="pt-BR" b="1" dirty="0"/>
              <a:t>Conjunto X = {maçã, banana, laranja, uva}</a:t>
            </a:r>
            <a:endParaRPr lang="pt-BR" dirty="0"/>
          </a:p>
          <a:p>
            <a:r>
              <a:rPr lang="pt-BR" b="1" dirty="0"/>
              <a:t>Conjunto Y = {laranja, uva, pera, abacaxi}</a:t>
            </a:r>
            <a:endParaRPr lang="pt-BR" dirty="0"/>
          </a:p>
          <a:p>
            <a:endParaRPr lang="pt-PT" dirty="0">
              <a:solidFill>
                <a:srgbClr val="1A1C1E"/>
              </a:solidFill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r>
              <a:rPr lang="pt-BR" b="1" dirty="0"/>
              <a:t>8. </a:t>
            </a:r>
            <a:r>
              <a:rPr lang="pt-BR" b="1" dirty="0" err="1"/>
              <a:t>Sørensen</a:t>
            </a:r>
            <a:r>
              <a:rPr lang="pt-BR" b="1" dirty="0"/>
              <a:t>–</a:t>
            </a:r>
            <a:r>
              <a:rPr lang="pt-BR" b="1" dirty="0" err="1"/>
              <a:t>Dice</a:t>
            </a:r>
            <a:r>
              <a:rPr lang="pt-BR" b="1" dirty="0"/>
              <a:t> (similaridade)</a:t>
            </a:r>
          </a:p>
          <a:p>
            <a:endParaRPr lang="pt-BR" b="1" dirty="0"/>
          </a:p>
          <a:p>
            <a:r>
              <a:rPr lang="pt-PT" dirty="0"/>
              <a:t>Variante que dá mais peso à interseção:</a:t>
            </a:r>
            <a:endParaRPr lang="pt-PT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D0EC687-B7AE-EAC9-E24B-30BCF8627DF7}"/>
              </a:ext>
            </a:extLst>
          </p:cNvPr>
          <p:cNvSpPr txBox="1"/>
          <p:nvPr/>
        </p:nvSpPr>
        <p:spPr>
          <a:xfrm>
            <a:off x="5263243" y="1745083"/>
            <a:ext cx="6698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PT" dirty="0"/>
              <a:t>sim(A,B) = 2 |A ∩ B| / |A | + | B| ; distância: 1 − sim.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4A9B8C-3310-B6F2-DFE0-22304FEE4E76}"/>
              </a:ext>
            </a:extLst>
          </p:cNvPr>
          <p:cNvSpPr txBox="1"/>
          <p:nvPr/>
        </p:nvSpPr>
        <p:spPr>
          <a:xfrm>
            <a:off x="5522479" y="2610683"/>
            <a:ext cx="61795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Cálculo:</a:t>
            </a:r>
            <a:endParaRPr lang="pt-PT" dirty="0"/>
          </a:p>
          <a:p>
            <a:endParaRPr lang="pt-PT" dirty="0"/>
          </a:p>
          <a:p>
            <a:pPr lvl="1"/>
            <a:r>
              <a:rPr lang="pt-PT" dirty="0"/>
              <a:t>Tamanho da Interseção = </a:t>
            </a:r>
            <a:r>
              <a:rPr lang="pt-PT" b="1" dirty="0"/>
              <a:t>2</a:t>
            </a:r>
            <a:endParaRPr lang="pt-PT" dirty="0"/>
          </a:p>
          <a:p>
            <a:pPr lvl="1"/>
            <a:r>
              <a:rPr lang="pt-PT" dirty="0"/>
              <a:t>Tamanho de X = </a:t>
            </a:r>
            <a:r>
              <a:rPr lang="pt-PT" b="1" dirty="0"/>
              <a:t>4</a:t>
            </a:r>
            <a:endParaRPr lang="pt-PT" dirty="0"/>
          </a:p>
          <a:p>
            <a:pPr lvl="1"/>
            <a:r>
              <a:rPr lang="pt-PT" dirty="0"/>
              <a:t>Tamanho de Y = </a:t>
            </a:r>
            <a:r>
              <a:rPr lang="pt-PT" b="1" dirty="0"/>
              <a:t>4</a:t>
            </a:r>
          </a:p>
          <a:p>
            <a:pPr lvl="1"/>
            <a:endParaRPr lang="pt-PT" dirty="0"/>
          </a:p>
          <a:p>
            <a:r>
              <a:rPr lang="pt-PT" b="1" dirty="0"/>
              <a:t>Fórmula:</a:t>
            </a:r>
            <a:r>
              <a:rPr lang="pt-PT" dirty="0"/>
              <a:t> (2 * |Interseção|) / (|X| + |Y|)</a:t>
            </a:r>
          </a:p>
          <a:p>
            <a:endParaRPr lang="pt-PT" dirty="0"/>
          </a:p>
          <a:p>
            <a:r>
              <a:rPr lang="pt-PT" b="1" dirty="0"/>
              <a:t>Resultado:</a:t>
            </a:r>
            <a:r>
              <a:rPr lang="pt-PT" dirty="0"/>
              <a:t> (2 * 2) / (4 + 4) = 4 / 8 = </a:t>
            </a:r>
            <a:r>
              <a:rPr lang="pt-PT" b="1" dirty="0"/>
              <a:t>0.5</a:t>
            </a:r>
            <a:endParaRPr lang="pt-PT" dirty="0"/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612767-DA82-E895-3D37-05FBDB4C4CCC}"/>
              </a:ext>
            </a:extLst>
          </p:cNvPr>
          <p:cNvSpPr txBox="1"/>
          <p:nvPr/>
        </p:nvSpPr>
        <p:spPr>
          <a:xfrm>
            <a:off x="649629" y="4457342"/>
            <a:ext cx="38644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pt-PT" dirty="0"/>
              <a:t>Muito usada em visão computacional e comparação de conjuntos/segmentações.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816BF6A-392A-E074-BE2C-49D7CDC3C66A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28290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7953-68F0-45E0-363F-C3CACB5D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41FF7E0-C73C-A45F-F63E-A2CA91F8E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6A776AA-BCE6-422E-4931-E5F809B83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0731FF6-7DE0-B661-F59A-46E16426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4918CE-C7F0-D52C-EE71-ED1C0C25F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5477" y="923841"/>
            <a:ext cx="3734321" cy="60015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A275078-5478-DA21-B075-7B03A30A26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8127" y="2052445"/>
            <a:ext cx="5515745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60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2C4F5-01EA-C8AC-7AF7-0CD89857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BDA5DF9-C78C-BDB7-9C10-B838AA96F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0B0E8A5-B35D-E697-9C0B-E46AC1BEA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AB64A4E-BE60-72D8-960F-2CA11B8E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B6FABB-636F-FEE3-1459-44DDE411E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690" y="0"/>
            <a:ext cx="52026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677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E79A-E012-B8DA-C773-5E71E672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F743955-8FD0-0708-5B56-CE083E4CA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9F5A2B6-9828-E144-9D4E-E5BC4CEA5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9A52553-0793-7F39-9858-9DB7446D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91A9F2-04C3-321B-D539-3A0DB7290ED3}"/>
              </a:ext>
            </a:extLst>
          </p:cNvPr>
          <p:cNvSpPr txBox="1"/>
          <p:nvPr/>
        </p:nvSpPr>
        <p:spPr>
          <a:xfrm>
            <a:off x="649629" y="1153749"/>
            <a:ext cx="4386397" cy="3234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>
                <a:solidFill>
                  <a:srgbClr val="1A1C1E"/>
                </a:solidFill>
                <a:latin typeface="Inter"/>
              </a:rPr>
              <a:t>Métricas para Conjuntos (Sets)</a:t>
            </a:r>
          </a:p>
          <a:p>
            <a:endParaRPr lang="pt-PT" b="1" dirty="0">
              <a:solidFill>
                <a:srgbClr val="1A1C1E"/>
              </a:solidFill>
              <a:latin typeface="Inter"/>
            </a:endParaRPr>
          </a:p>
          <a:p>
            <a:r>
              <a:rPr lang="pt-PT" b="1" dirty="0"/>
              <a:t>Sequência A = [ 1, 7, 3 ]</a:t>
            </a:r>
          </a:p>
          <a:p>
            <a:r>
              <a:rPr lang="pt-PT" b="1" dirty="0"/>
              <a:t>Sequência B = [ 1, 4, 8, 3 ]</a:t>
            </a:r>
            <a:endParaRPr lang="pt-PT" dirty="0">
              <a:solidFill>
                <a:srgbClr val="1A1C1E"/>
              </a:solidFill>
              <a:latin typeface="Inter"/>
            </a:endParaRPr>
          </a:p>
          <a:p>
            <a:pPr algn="l">
              <a:lnSpc>
                <a:spcPts val="1500"/>
              </a:lnSpc>
              <a:spcAft>
                <a:spcPts val="1350"/>
              </a:spcAft>
              <a:buNone/>
            </a:pPr>
            <a:endParaRPr lang="pt-PT" b="0" i="0" dirty="0">
              <a:solidFill>
                <a:srgbClr val="1A1C1E"/>
              </a:solidFill>
              <a:effectLst/>
              <a:latin typeface="Inter"/>
            </a:endParaRPr>
          </a:p>
          <a:p>
            <a:r>
              <a:rPr lang="pt-BR" b="1" dirty="0"/>
              <a:t>8. Dynamic Time </a:t>
            </a:r>
            <a:r>
              <a:rPr lang="pt-BR" b="1" dirty="0" err="1"/>
              <a:t>Warping</a:t>
            </a:r>
            <a:r>
              <a:rPr lang="pt-BR" b="1" dirty="0"/>
              <a:t> (DTW)</a:t>
            </a:r>
          </a:p>
          <a:p>
            <a:endParaRPr lang="pt-BR" b="1" dirty="0"/>
          </a:p>
          <a:p>
            <a:r>
              <a:rPr lang="pt-PT" dirty="0"/>
              <a:t>Similaridade entre </a:t>
            </a:r>
            <a:r>
              <a:rPr lang="pt-PT" b="1" dirty="0"/>
              <a:t>séries temporais</a:t>
            </a:r>
            <a:r>
              <a:rPr lang="pt-PT" dirty="0"/>
              <a:t> permitindo </a:t>
            </a:r>
            <a:r>
              <a:rPr lang="pt-PT" b="1" dirty="0"/>
              <a:t>atrasos/estiramentos</a:t>
            </a:r>
            <a:r>
              <a:rPr lang="pt-PT" dirty="0"/>
              <a:t> no tempo. Encontra o </a:t>
            </a:r>
            <a:r>
              <a:rPr lang="pt-PT" b="1" dirty="0"/>
              <a:t>alinhamento ótimo</a:t>
            </a:r>
            <a:r>
              <a:rPr lang="pt-PT" dirty="0"/>
              <a:t> (caminho) que minimiza o custo acumulado.</a:t>
            </a:r>
            <a:endParaRPr lang="pt-PT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808B89-E99C-5D20-1A3F-F9B2CCC5C0D1}"/>
              </a:ext>
            </a:extLst>
          </p:cNvPr>
          <p:cNvSpPr txBox="1"/>
          <p:nvPr/>
        </p:nvSpPr>
        <p:spPr>
          <a:xfrm>
            <a:off x="5263243" y="1745083"/>
            <a:ext cx="66985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solidFill>
                  <a:srgbClr val="1A1C1E"/>
                </a:solidFill>
                <a:effectLst/>
                <a:latin typeface="Inter"/>
              </a:rPr>
              <a:t>Fórmula:</a:t>
            </a:r>
            <a:br>
              <a:rPr lang="pt-BR" dirty="0"/>
            </a:br>
            <a:r>
              <a:rPr lang="pt-BR" dirty="0"/>
              <a:t>Dadas séries x</a:t>
            </a:r>
            <a:r>
              <a:rPr lang="pt-BR" baseline="-25000" dirty="0"/>
              <a:t>1..n</a:t>
            </a:r>
            <a:r>
              <a:rPr lang="pt-BR" dirty="0"/>
              <a:t>_​ e y</a:t>
            </a:r>
            <a:r>
              <a:rPr lang="pt-BR" baseline="-25000" dirty="0"/>
              <a:t>1..m</a:t>
            </a:r>
            <a:r>
              <a:rPr lang="pt-BR" dirty="0"/>
              <a:t>  e um </a:t>
            </a:r>
            <a:br>
              <a:rPr lang="pt-BR" dirty="0"/>
            </a:br>
            <a:r>
              <a:rPr lang="pt-BR" b="1" dirty="0"/>
              <a:t>custo local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86D318-7E18-34D1-25CF-A263162C98AB}"/>
              </a:ext>
            </a:extLst>
          </p:cNvPr>
          <p:cNvSpPr txBox="1"/>
          <p:nvPr/>
        </p:nvSpPr>
        <p:spPr>
          <a:xfrm>
            <a:off x="5393768" y="3295930"/>
            <a:ext cx="56161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i="0" dirty="0">
                <a:solidFill>
                  <a:srgbClr val="1A1C1E"/>
                </a:solidFill>
                <a:effectLst/>
                <a:latin typeface="Inter"/>
              </a:rPr>
              <a:t>Uso:</a:t>
            </a:r>
            <a:r>
              <a:rPr lang="pt-PT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pt-PT" dirty="0"/>
              <a:t>Fala/música, sensores, gestos, ECG: padrões iguais com diferentes ritmos/atrasos.</a:t>
            </a:r>
          </a:p>
          <a:p>
            <a:r>
              <a:rPr lang="pt-PT" dirty="0"/>
              <a:t>Não use para vetores estáticos (aí prefira L1/L2/cosseno).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C239631-9342-D40F-EB52-B7A58C2A9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0" y="2442122"/>
            <a:ext cx="4171812" cy="53257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90B2233-68C0-4D16-4429-4F558FE88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619985"/>
            <a:ext cx="4258269" cy="2143424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9D89AAB-32F7-8937-871F-64D504D20B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266" y="4576923"/>
            <a:ext cx="5487166" cy="2114845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4CF2339B-FDCF-D44C-E0F0-375317E0C7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586" y="1752366"/>
            <a:ext cx="6573167" cy="3353268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2F32FCEF-804B-12DB-D53B-1DB04ED6B818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Formas de calcular distâncias 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0373B8-F917-CCDB-6076-69E26F51A17C}"/>
              </a:ext>
            </a:extLst>
          </p:cNvPr>
          <p:cNvSpPr txBox="1"/>
          <p:nvPr/>
        </p:nvSpPr>
        <p:spPr>
          <a:xfrm>
            <a:off x="876758" y="2855104"/>
            <a:ext cx="293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(Distorção Temporal Dinâmica)</a:t>
            </a:r>
          </a:p>
        </p:txBody>
      </p:sp>
    </p:spTree>
    <p:extLst>
      <p:ext uri="{BB962C8B-B14F-4D97-AF65-F5344CB8AC3E}">
        <p14:creationId xmlns:p14="http://schemas.microsoft.com/office/powerpoint/2010/main" val="75392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B62A8-8CC7-39A3-6257-827E3C42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08F71B3-8B05-DC85-BBBD-B9F1C59DB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4C616CB-63D0-A3EB-7F3B-CD9BC3454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E06F21B-1A27-496C-F72C-BB4779BC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7037BA-7DDB-6CE6-9C7F-48EA6BB96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7711" y="351517"/>
            <a:ext cx="5439534" cy="65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21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28FCF-4043-3CB5-DA3A-8A59CC625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3F7E7D3-4CCE-0CB4-4544-C98250F52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94F8F96-2897-44B2-E793-5B0267FC9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8F2E024-3518-EF61-982C-6530DD7F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75C7D9B-B565-62AF-0965-6DBC1B258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335" y="432969"/>
            <a:ext cx="5468113" cy="599206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C9C7313-BF60-62CD-C4B7-840B2B8FD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904" y="432969"/>
            <a:ext cx="5220429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003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Funcionamento do algoritmo KNN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Picture 2" descr="XHTML válido">
            <a:extLst>
              <a:ext uri="{FF2B5EF4-FFF2-40B4-BE49-F238E27FC236}">
                <a16:creationId xmlns:a16="http://schemas.microsoft.com/office/drawing/2014/main" id="{AD877A0D-5CA6-4544-9D71-020D324564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19" b="47481"/>
          <a:stretch/>
        </p:blipFill>
        <p:spPr bwMode="auto">
          <a:xfrm>
            <a:off x="0" y="1969475"/>
            <a:ext cx="3626427" cy="335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XHTML válido">
            <a:extLst>
              <a:ext uri="{FF2B5EF4-FFF2-40B4-BE49-F238E27FC236}">
                <a16:creationId xmlns:a16="http://schemas.microsoft.com/office/drawing/2014/main" id="{CCCB98CF-01E4-4A1C-89AC-176C3A4A96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52" b="49256"/>
          <a:stretch/>
        </p:blipFill>
        <p:spPr bwMode="auto">
          <a:xfrm>
            <a:off x="3805210" y="1894251"/>
            <a:ext cx="3927763" cy="333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XHTML válido">
            <a:extLst>
              <a:ext uri="{FF2B5EF4-FFF2-40B4-BE49-F238E27FC236}">
                <a16:creationId xmlns:a16="http://schemas.microsoft.com/office/drawing/2014/main" id="{C06A9C4B-69D3-4A50-AD50-81EF6A373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7" t="49216" r="12643"/>
          <a:stretch/>
        </p:blipFill>
        <p:spPr bwMode="auto">
          <a:xfrm>
            <a:off x="7601477" y="1865091"/>
            <a:ext cx="4483072" cy="3170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455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Funcionamento do algoritmo KNN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Picture 2" descr="XHTML válido">
            <a:extLst>
              <a:ext uri="{FF2B5EF4-FFF2-40B4-BE49-F238E27FC236}">
                <a16:creationId xmlns:a16="http://schemas.microsoft.com/office/drawing/2014/main" id="{DFF78188-50E4-49C9-B77E-E6960D6A5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162" y="1241970"/>
            <a:ext cx="6573676" cy="5616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9288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163934" y="42800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Funcionamento do algoritmo KNN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720819" y="1952003"/>
            <a:ext cx="639583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K = 1 </a:t>
            </a:r>
          </a:p>
          <a:p>
            <a:pPr algn="just"/>
            <a:r>
              <a:rPr lang="pt-BR" sz="2800" dirty="0"/>
              <a:t>	Pertence a classe de quadrados.</a:t>
            </a:r>
          </a:p>
          <a:p>
            <a:pPr algn="just"/>
            <a:r>
              <a:rPr lang="pt-BR" sz="2800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K = 3 </a:t>
            </a:r>
          </a:p>
          <a:p>
            <a:pPr algn="just"/>
            <a:r>
              <a:rPr lang="pt-BR" sz="2800" dirty="0"/>
              <a:t>	Pertence a classe de triângulos.</a:t>
            </a:r>
          </a:p>
          <a:p>
            <a:pPr algn="just"/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K = 7 </a:t>
            </a:r>
          </a:p>
          <a:p>
            <a:pPr algn="just"/>
            <a:r>
              <a:rPr lang="pt-BR" sz="2800" dirty="0"/>
              <a:t>	Pertence a classe de quadrados.</a:t>
            </a:r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318743-2D6F-442D-B4CE-015FB1ABD9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453" y="1698065"/>
            <a:ext cx="4251880" cy="407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4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163934" y="42800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Como escolher o valor correto de K no KNN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669219" y="1668664"/>
            <a:ext cx="1113665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Agora que temos uma ideia do funcionamento do algoritmo, surge a dúvida das dúvidas quando se trata do KNN:</a:t>
            </a:r>
          </a:p>
          <a:p>
            <a:pPr algn="just"/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Qual o melhor valor a se atribuir para K?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Existe algum número mágico que servirá para todos os casos?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Qual impacto gerado na classificação dependendo do valor escolhido para K?</a:t>
            </a:r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482220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163934" y="42800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Como escolher o valor correto de K no KNN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904289" y="1769520"/>
            <a:ext cx="1113665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Para valores de K muito baixos pode ocorrer ruídos na detecção;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Para valores de K muito altos pode precisar de alto poder computacional;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Em geral, cientistas testam valores ímpares para K, pois identificou-se melhores resultados com valores não pares;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A melhor maneira de se obter o melhor K é testando diversos valores.</a:t>
            </a:r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  <a:p>
            <a:pPr marL="457200" indent="-457200" algn="just">
              <a:buAutoNum type="arabicParenR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23570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163934" y="42800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KNN para regressão e classificação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904289" y="2234451"/>
            <a:ext cx="111366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KNN para regressão: Quando o KNN é usado para problemas de regressão, a previsão é baseada na média ou na mediana das instâncias mais semelhantes.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/>
              <a:t>KNN para classificação: Quando o KNN é usado para classificação, a saída pode ser calculada como a classe com a maior frequência das instâncias mais semelhantes do K.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75552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163934" y="428003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KNN para regressão e classificação</a:t>
            </a:r>
            <a:endParaRPr lang="pt-BR" sz="40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4BB662-93C2-E4D7-C2BF-0F121E5027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114" b="10114"/>
          <a:stretch/>
        </p:blipFill>
        <p:spPr>
          <a:xfrm>
            <a:off x="1106309" y="1524000"/>
            <a:ext cx="10011241" cy="264355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101A903-CAA2-38C5-70BF-F64FA7784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307" y="4042165"/>
            <a:ext cx="10212383" cy="280150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EECA3F0-D28B-2530-5211-06FE09E737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511" y="1334375"/>
            <a:ext cx="5763429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2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A9A3A15-ECEC-4CA2-B2C6-B6A65A586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159" y="1377768"/>
            <a:ext cx="6319384" cy="529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83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4" name="Picture 4" descr="Roach Fish Painting by Craig Austin">
            <a:extLst>
              <a:ext uri="{FF2B5EF4-FFF2-40B4-BE49-F238E27FC236}">
                <a16:creationId xmlns:a16="http://schemas.microsoft.com/office/drawing/2014/main" id="{584163B7-2CD5-B159-33DA-3F944601E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341" y="2728096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Peixe branco do lago">
            <a:extLst>
              <a:ext uri="{FF2B5EF4-FFF2-40B4-BE49-F238E27FC236}">
                <a16:creationId xmlns:a16="http://schemas.microsoft.com/office/drawing/2014/main" id="{E956056B-1717-FC2F-D2A6-0EEF2DE6E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37" y="2861445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0FA1F9C-944D-CC2A-147D-EE886C0BA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5830" y="1625339"/>
            <a:ext cx="6035199" cy="972706"/>
          </a:xfrm>
          <a:prstGeom prst="rect">
            <a:avLst/>
          </a:prstGeom>
        </p:spPr>
      </p:pic>
      <p:pic>
        <p:nvPicPr>
          <p:cNvPr id="17" name="Picture 8" descr="A Research on Fish&amp;#39;s Weights">
            <a:extLst>
              <a:ext uri="{FF2B5EF4-FFF2-40B4-BE49-F238E27FC236}">
                <a16:creationId xmlns:a16="http://schemas.microsoft.com/office/drawing/2014/main" id="{872E299A-B823-AC24-D246-52C8ECE23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171" y="2880495"/>
            <a:ext cx="226695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Yellow perch">
            <a:extLst>
              <a:ext uri="{FF2B5EF4-FFF2-40B4-BE49-F238E27FC236}">
                <a16:creationId xmlns:a16="http://schemas.microsoft.com/office/drawing/2014/main" id="{557B187D-6F46-3DC0-82BB-3A8CB9678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86" y="4422816"/>
            <a:ext cx="325755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>
            <a:extLst>
              <a:ext uri="{FF2B5EF4-FFF2-40B4-BE49-F238E27FC236}">
                <a16:creationId xmlns:a16="http://schemas.microsoft.com/office/drawing/2014/main" id="{B72708EB-823C-4266-826A-5F15ECA7C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941" y="4678809"/>
            <a:ext cx="353377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4" descr="Smelt">
            <a:extLst>
              <a:ext uri="{FF2B5EF4-FFF2-40B4-BE49-F238E27FC236}">
                <a16:creationId xmlns:a16="http://schemas.microsoft.com/office/drawing/2014/main" id="{720F146F-31DE-25E2-74AD-37829F87B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067" y="4495950"/>
            <a:ext cx="2980671" cy="159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1328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CFEF44-6186-4591-93AA-66CE4BC812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855"/>
          <a:stretch/>
        </p:blipFill>
        <p:spPr>
          <a:xfrm>
            <a:off x="0" y="1716037"/>
            <a:ext cx="5449455" cy="391303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0D7F7D-5154-4E8B-80CA-204FB716455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655"/>
          <a:stretch/>
        </p:blipFill>
        <p:spPr>
          <a:xfrm>
            <a:off x="5552098" y="1778876"/>
            <a:ext cx="6542590" cy="399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820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737CC12-7748-4E77-BE93-0604CE9A8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4664" y="1360410"/>
            <a:ext cx="7600463" cy="515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39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BBD7F3-215A-4DED-9F3C-1C7D90F8F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496" y="1411778"/>
            <a:ext cx="8405226" cy="309596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959DA50-6F85-47AF-B2AB-7D129E5DE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34" y="4996392"/>
            <a:ext cx="10505056" cy="137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1969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BA1F55E-6D15-4B63-B535-0B13D87B7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18" y="1710623"/>
            <a:ext cx="10029041" cy="480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505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3DBFCB-78B1-4D06-B29D-6265F5CDF9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2942"/>
          <a:stretch/>
        </p:blipFill>
        <p:spPr>
          <a:xfrm>
            <a:off x="2532759" y="1269207"/>
            <a:ext cx="7126481" cy="509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919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DFC7C40-F1A1-4E7A-8C6D-D8BDB48B8B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8189"/>
          <a:stretch/>
        </p:blipFill>
        <p:spPr>
          <a:xfrm>
            <a:off x="1153332" y="1431231"/>
            <a:ext cx="8895832" cy="502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152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9DA1B5-08BD-4057-A24C-11D82C2260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41" y="1481312"/>
            <a:ext cx="6456731" cy="495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825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32BF0CE-1432-4A90-8EC3-C9ED11A1A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57" y="1865091"/>
            <a:ext cx="9604607" cy="291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359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F09F806-F7C7-A20D-8485-D82BE1DBB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38" y="1730829"/>
            <a:ext cx="1019329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993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05280C-753A-4AE4-94CD-DFF2766E8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57" y="4576995"/>
            <a:ext cx="7831375" cy="225695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4D95D9A-0C0C-434B-A463-28ADD0502A6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2136"/>
          <a:stretch/>
        </p:blipFill>
        <p:spPr>
          <a:xfrm>
            <a:off x="1193955" y="1481312"/>
            <a:ext cx="9841662" cy="27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2458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AE000C-65CD-9B76-9626-C5E5064F0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5163" y="1230086"/>
            <a:ext cx="7504282" cy="528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927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400" dirty="0">
                <a:solidFill>
                  <a:srgbClr val="003958"/>
                </a:solidFill>
                <a:latin typeface="+mj-lt"/>
              </a:rPr>
              <a:t> de espécies de peixes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34F663-105D-4D29-BB03-63FDAC36E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166" y="1524000"/>
            <a:ext cx="8690843" cy="445192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66F2D6F-5074-6B7A-C7C2-F3F38CCD0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716" y="2804541"/>
            <a:ext cx="6348942" cy="371236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81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79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400" dirty="0">
                <a:solidFill>
                  <a:srgbClr val="003958"/>
                </a:solidFill>
                <a:latin typeface="+mj-lt"/>
              </a:rPr>
              <a:t>Atividade</a:t>
            </a:r>
            <a:endParaRPr lang="pt-BR" sz="36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DB50D73-8E93-4906-B347-71B399DCEDBE}"/>
              </a:ext>
            </a:extLst>
          </p:cNvPr>
          <p:cNvSpPr txBox="1"/>
          <p:nvPr/>
        </p:nvSpPr>
        <p:spPr>
          <a:xfrm>
            <a:off x="818151" y="1807928"/>
            <a:ext cx="109369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Encontre um </a:t>
            </a:r>
            <a:r>
              <a:rPr lang="pt-BR" sz="2800" dirty="0" err="1"/>
              <a:t>dataset</a:t>
            </a:r>
            <a:r>
              <a:rPr lang="pt-BR" sz="2800" dirty="0"/>
              <a:t> para regressão, aplique o modelo KNN para regressão e faça avaliação do modelo utilizando a métrica de erro médio absoluto.</a:t>
            </a:r>
            <a:endParaRPr lang="pt-BR" sz="2800" dirty="0">
              <a:solidFill>
                <a:srgbClr val="FF0000"/>
              </a:solidFill>
            </a:endParaRP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6417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141" y="3101426"/>
                <a:ext cx="50040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96F3CE-DE9A-4F5A-AE63-9DBB2CFDE036}"/>
              </a:ext>
            </a:extLst>
          </p:cNvPr>
          <p:cNvSpPr txBox="1"/>
          <p:nvPr/>
        </p:nvSpPr>
        <p:spPr>
          <a:xfrm>
            <a:off x="6518366" y="2644170"/>
            <a:ext cx="555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Aula 5 – KNN</a:t>
            </a:r>
          </a:p>
        </p:txBody>
      </p:sp>
    </p:spTree>
    <p:extLst>
      <p:ext uri="{BB962C8B-B14F-4D97-AF65-F5344CB8AC3E}">
        <p14:creationId xmlns:p14="http://schemas.microsoft.com/office/powerpoint/2010/main" val="5305933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16558</TotalTime>
  <Words>3178</Words>
  <Application>Microsoft Office PowerPoint</Application>
  <PresentationFormat>Widescreen</PresentationFormat>
  <Paragraphs>444</Paragraphs>
  <Slides>55</Slides>
  <Notes>48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DM Mono</vt:lpstr>
      <vt:lpstr>Impact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Rodrigo Ramos</cp:lastModifiedBy>
  <cp:revision>164</cp:revision>
  <dcterms:created xsi:type="dcterms:W3CDTF">2019-02-19T17:16:10Z</dcterms:created>
  <dcterms:modified xsi:type="dcterms:W3CDTF">2026-09-15T10:46:27Z</dcterms:modified>
</cp:coreProperties>
</file>