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9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ie1x9nFXCuBFTvSgFFJ680sL2v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CDD36806-8804-4C83-A2FA-3B51FD13760E}">
  <a:tblStyle styleId="{CDD36806-8804-4C83-A2FA-3B51FD1376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28311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e15df9f4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1e15df9f4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e15df9f4d7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1e15df9f4d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e15df9f4d7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1e15df9f4d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e15df9f4d7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1e15df9f4d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e15df9f4d7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g1e15df9f4d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1F8B163-86D5-4878-916A-9D11FE2EA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xmlns="" id="{F3020D6C-6261-402F-84A7-AA1B65D9D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E3D630B1-A6DA-42B6-861B-AAD116CC443F}"/>
              </a:ext>
            </a:extLst>
          </p:cNvPr>
          <p:cNvSpPr txBox="1"/>
          <p:nvPr/>
        </p:nvSpPr>
        <p:spPr>
          <a:xfrm>
            <a:off x="2292626" y="1416758"/>
            <a:ext cx="76067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pt-BR" sz="6000" b="1" dirty="0" smtClean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pt-BR" sz="6000" b="1" dirty="0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Engenharia de Requisitos</a:t>
            </a:r>
            <a:endParaRPr lang="pt-BR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3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74171" y="4667876"/>
            <a:ext cx="8672285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003958"/>
                </a:solidFill>
                <a:latin typeface="Impact"/>
                <a:ea typeface="Impact"/>
                <a:cs typeface="Impact"/>
                <a:sym typeface="Impact"/>
              </a:rPr>
              <a:t>Documentação de requisitos</a:t>
            </a:r>
            <a:endParaRPr sz="6000">
              <a:solidFill>
                <a:srgbClr val="00395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5265" y="0"/>
            <a:ext cx="5715000" cy="395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Processos da engenharia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357158" y="1214422"/>
            <a:ext cx="7500990" cy="4714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7948" y="1251857"/>
            <a:ext cx="6753225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971007" y="1628281"/>
            <a:ext cx="102369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Especificação de requisitos é a descrição sistemática do que o software deve fazer a partir daquilo que foi anteriormente analisado. Ela descreve como as necessidades levantadas e já analisadas devem ser resolvidas pelo software.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termos gerais, a especificação de requisitos é o processo de escrever os requisitos de usuário e de sistema em um documento de requisitos. </a:t>
            </a:r>
            <a:b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Nesta etapa,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requisitos anteriormente elicitados e devidamente acordados com os stakeholders são descritos e apresentados em documentos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comumente denominados Especificação de Requisitos de Software, ou SRS´s (do inglês </a:t>
            </a:r>
            <a:r>
              <a:rPr lang="pt-BR" sz="2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Requirements Specification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1e15df9f4d7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1e15df9f4d7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e15df9f4d7_0_0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1e15df9f4d7_0_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28" name="Google Shape;128;g1e15df9f4d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450" y="1172091"/>
            <a:ext cx="5305941" cy="5381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1e15df9f4d7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8927" y="1172102"/>
            <a:ext cx="4644178" cy="53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971007" y="1628281"/>
            <a:ext cx="102369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SRS deve descrever de forma abrangente o software a ser desenvolvido, com seus objetivos, principais processos de negócios, recursos, comportamento, etc.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informação documentada em um SRS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 do tipo de software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ser desenvolvido e da abordagem de desenvolvimento que está em uso, porém  deve incluir tanto os requisitos de usuário quanto uma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especificação detalhada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dos requisitos de sistema, funcionais e não funcionais.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Pode-se optar por integrar os requisitos de usuário e de sistema em uma única descrição ou definir os requisitos de usuário em uma introdução à especificação de requisitos de sistema.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7" name="Google Shape;147;p6"/>
          <p:cNvSpPr txBox="1"/>
          <p:nvPr/>
        </p:nvSpPr>
        <p:spPr>
          <a:xfrm>
            <a:off x="971007" y="1628281"/>
            <a:ext cx="10236926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documento é a base para o planejamento do projeto, design e codificação, assim como a base para testes e documentação do usuário. No entanto, não deve conter detalhes de construção, teste ou gerenciamento de projeto.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971007" y="1628281"/>
            <a:ext cx="102369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Por que especificar e documentar requisitos?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são a base do desenvolvimento do sistema e influenciam na análise, design, implementação e teste, direta e indiretamente. 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qualidade de um requisito ou de um documento de requisitos tem um forte impacto no progresso do projeto e, portanto, no seu sucesso.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Determina o que o sistema deve executar;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requisitos, quando bem documentados, permitem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estimar de forma mais assertiva o tempo e orçamento necessários para seu desenvolvimento;</a:t>
            </a:r>
            <a:endParaRPr b="1"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Garante a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consistência com os objetivos propostos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 a solução;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971007" y="1628281"/>
            <a:ext cx="102369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Por que especificar e documentar requisitos?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Descreve e documenta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lógicas de negócios complexas;</a:t>
            </a:r>
            <a:endParaRPr b="1"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Facilita a comunicação dos requisitos; 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 a melhor priorização e designação de tarefas para a equipe;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Diminui o retrabalho;</a:t>
            </a:r>
            <a:endParaRPr b="1"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Pode ser utilizada na criação de casos de teste; </a:t>
            </a:r>
            <a:endParaRPr b="1"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Fornece insumos para a criação do manual do usuário e outros tipos de documentação;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Serve como base para futuras manutenções ou incremento de novas funcionalidades.</a:t>
            </a:r>
            <a:endParaRPr b="1"/>
          </a:p>
        </p:txBody>
      </p:sp>
      <p:sp>
        <p:nvSpPr>
          <p:cNvPr id="165" name="Google Shape;165;p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Onde o documento de requisitos é utilizado?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longo do projeto, os documentos de requisitos servem como base para diferentes tarefas: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Planejamento: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definição de pacotes de trabalho e marcos de implementação e entrega.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Projeto arquitetural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os requisitos documentados juntamente com as restrições servem como base para o projeto da arquitetura do sistema.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Implementação: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sistema vai ser implementado conforme os requisitos especificados.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971007" y="1628281"/>
            <a:ext cx="102369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Gerenciamento de mudanças: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quando os requisitos mudam, o documento de requisitos pode servir de base para analisar o impacto da mudança em outras partes do sistema, auxiliando na estimativa de esforço da alteração.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Uso e manutenção do sistema: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após o desenvolvimento, o documento de requisitos é usado para manutenção e suporte, sendo usado para analisar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defeitos e deficiências que podem surgir durante o uso do sistema. Por exemplo, é possível identificar se um defeito é resultado do uso incorreto do sistema, um resultado de um erro nos requisitos ou resultado de um erro na implementação.</a:t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971007" y="1628281"/>
            <a:ext cx="1023692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Quem lê o documento de requisitos?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410792" y="2690951"/>
            <a:ext cx="1867989" cy="66620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393376" y="3862252"/>
            <a:ext cx="1911532" cy="17155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Lêem os requisitos para verificar se estes atendem à necessidade.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3796940" y="2686596"/>
            <a:ext cx="1867989" cy="66620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3779524" y="3870962"/>
            <a:ext cx="1911532" cy="17155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Utilizam o documento para planejamento do projeto do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209215" y="2708368"/>
            <a:ext cx="1867989" cy="66620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Desenvolvimento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191799" y="3866607"/>
            <a:ext cx="1911532" cy="17155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Utilizam o documento para entender o sistema a ser desenvolvido.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8569240" y="2704014"/>
            <a:ext cx="1867989" cy="666206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551822" y="3875316"/>
            <a:ext cx="1911532" cy="171559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Utilizam o documento para desenvolver testes e para validação do sistema.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11"/>
          <p:cNvCxnSpPr>
            <a:stCxn id="199" idx="2"/>
            <a:endCxn id="200" idx="0"/>
          </p:cNvCxnSpPr>
          <p:nvPr/>
        </p:nvCxnSpPr>
        <p:spPr>
          <a:xfrm>
            <a:off x="9503235" y="3370220"/>
            <a:ext cx="4500" cy="505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2" name="Google Shape;202;p11"/>
          <p:cNvCxnSpPr>
            <a:stCxn id="197" idx="2"/>
            <a:endCxn id="198" idx="0"/>
          </p:cNvCxnSpPr>
          <p:nvPr/>
        </p:nvCxnSpPr>
        <p:spPr>
          <a:xfrm>
            <a:off x="7143210" y="3374574"/>
            <a:ext cx="4500" cy="492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3" name="Google Shape;203;p11"/>
          <p:cNvCxnSpPr>
            <a:stCxn id="195" idx="2"/>
            <a:endCxn id="196" idx="0"/>
          </p:cNvCxnSpPr>
          <p:nvPr/>
        </p:nvCxnSpPr>
        <p:spPr>
          <a:xfrm>
            <a:off x="4730935" y="3352802"/>
            <a:ext cx="4500" cy="518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4" name="Google Shape;204;p11"/>
          <p:cNvCxnSpPr>
            <a:stCxn id="193" idx="2"/>
            <a:endCxn id="194" idx="0"/>
          </p:cNvCxnSpPr>
          <p:nvPr/>
        </p:nvCxnSpPr>
        <p:spPr>
          <a:xfrm>
            <a:off x="2344787" y="3357157"/>
            <a:ext cx="4500" cy="505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Boas práticas de especificação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padrões e templates: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Padrões deixam os requisitos mais fáceis de ler, pois os leitores sabem o que esperar e onde encontrar a informação quando fazem a leitura.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Padrões deixam os requisitos mais fáceis de escrever, pois reduzem a probabilidade de esquecer informações importantes além de facilitar a verificação e validação.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Usar uma linguagem consistente, concisa e simples: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Tornam os requisitos mais fáceis de ler e entender, o que reduz o tempo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leitura de requisitos, porém mantendo o nível de compreensão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13" name="Google Shape;213;p1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971007" y="1628281"/>
            <a:ext cx="102369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 modelos de representação: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Modelos são muito eficazes para apresentar informações;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diagramas representam cenários, processos, fluxos de forma compreensível e visual, facilitando a compreensão da informação;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Sempre que possível, deve-se modelar os diagramas de forma simples, de forma que expresse a informação desejada.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palavra chave “deve”: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Convencionalmente, utiliza-se a palavra-chave “deve” para descrever alguma capacidade do sistema, pois elas indicam claramente a funcionalidade desejada.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individuais: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Cada requisito deve expressar um requisito por vez, evitando a criação de narrativas que contenham vários requisitos.</a:t>
            </a:r>
            <a:endParaRPr/>
          </a:p>
        </p:txBody>
      </p:sp>
      <p:sp>
        <p:nvSpPr>
          <p:cNvPr id="222" name="Google Shape;222;p1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0" name="Google Shape;230;p14"/>
          <p:cNvSpPr txBox="1"/>
          <p:nvPr/>
        </p:nvSpPr>
        <p:spPr>
          <a:xfrm>
            <a:off x="971007" y="1628281"/>
            <a:ext cx="10236926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Definição do nível de detalhes: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nível de detalhamento a ser utilizado no documento de requisitos depende do tipo de sistema em desenvolvimento e do processo usado. Devem ser fornecidas especificações suficientes para minimizar o risco de incompreensões, levando em consideração o conhecimento e experiência da equipe de desenvolvimento.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Consistência no nível de detalhes: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diferentes requisitos podem possuir diferentes níveis de detalhamento. Ou seja, para um requisito de maior complexidade ou de uma área de maior risco, a especificação pode ser mais aprofundada. Mas é importante encontrar uma constância na especificação dos requisitos.</a:t>
            </a:r>
            <a:endParaRPr/>
          </a:p>
        </p:txBody>
      </p:sp>
      <p:sp>
        <p:nvSpPr>
          <p:cNvPr id="231" name="Google Shape;231;p1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Identificador do requisito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requisito deve possuir um identificador único para referências posteriores e essa prática oferece diversos benefícios para o projeto: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referenciar um requisito de uma solicitação de mudança, verificar o histórico de modificações e identificar referências cruzadas; 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 a reutilização dos requisitos em vários projetos;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a colaboração entre membros da equipe quando ocorrem discussões sobre requisitos;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a  rastreabilidade de requisitos matriz de rastreabilidade.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6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971007" y="1628281"/>
            <a:ext cx="10236926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esperados: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Descrever os resultados esperados de regras de negócios e dos processos descritos agrega valor ao requisito, pois deixa permite que o leitor do requisito entenda com mais facilidade determinadas regras. 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Especificar para diversos públicos: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Ao especificar requisitos, leve em consideração que leitores com diferentes níveis de experiência e de conhecimento do sistema e do negócio irão ler seus requisitos. Dessa forma, os requisitos devem ser claros e atender aos atributos de qualidade, para que todos os públicos entendam o que deve ser feito.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7"/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Requisitos de software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884985" y="1714487"/>
            <a:ext cx="10127004" cy="458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Cuidado com requisitos: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Tópicos dispersos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Lembretes  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Anotações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0552" y="2556235"/>
            <a:ext cx="7272034" cy="3831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7" name="Google Shape;267;p18"/>
          <p:cNvSpPr txBox="1"/>
          <p:nvPr/>
        </p:nvSpPr>
        <p:spPr>
          <a:xfrm>
            <a:off x="971007" y="1628281"/>
            <a:ext cx="1023692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p18"/>
          <p:cNvGraphicFramePr/>
          <p:nvPr/>
        </p:nvGraphicFramePr>
        <p:xfrm>
          <a:off x="1087122" y="2426547"/>
          <a:ext cx="9476375" cy="1010940"/>
        </p:xfrm>
        <a:graphic>
          <a:graphicData uri="http://schemas.openxmlformats.org/drawingml/2006/table">
            <a:tbl>
              <a:tblPr firstRow="1" bandRow="1">
                <a:noFill/>
                <a:tableStyleId>{CDD36806-8804-4C83-A2FA-3B51FD13760E}</a:tableStyleId>
              </a:tblPr>
              <a:tblGrid>
                <a:gridCol w="1377450"/>
                <a:gridCol w="8098925"/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 u="none" strike="noStrike" cap="none"/>
                        <a:t>Recurso: Cadastro de usuários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RF01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Manter o cadastro de usuários, registrando o nome, email, telefone de contato e senha.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269" name="Google Shape;269;p18"/>
          <p:cNvGraphicFramePr/>
          <p:nvPr/>
        </p:nvGraphicFramePr>
        <p:xfrm>
          <a:off x="1082768" y="4002803"/>
          <a:ext cx="9476375" cy="1010940"/>
        </p:xfrm>
        <a:graphic>
          <a:graphicData uri="http://schemas.openxmlformats.org/drawingml/2006/table">
            <a:tbl>
              <a:tblPr firstRow="1" bandRow="1">
                <a:noFill/>
                <a:tableStyleId>{CDD36806-8804-4C83-A2FA-3B51FD13760E}</a:tableStyleId>
              </a:tblPr>
              <a:tblGrid>
                <a:gridCol w="1377450"/>
                <a:gridCol w="8098925"/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Recurso: Login</a:t>
                      </a:r>
                      <a:endParaRPr sz="1800" b="1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RF02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 usuário deve poder realizar o login no sistema por meio de usuário, que será o email, e senha.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70" name="Google Shape;270;p1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971007" y="1628281"/>
            <a:ext cx="1023692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19"/>
          <p:cNvGraphicFramePr/>
          <p:nvPr/>
        </p:nvGraphicFramePr>
        <p:xfrm>
          <a:off x="1039226" y="2404776"/>
          <a:ext cx="9476375" cy="2661970"/>
        </p:xfrm>
        <a:graphic>
          <a:graphicData uri="http://schemas.openxmlformats.org/drawingml/2006/table">
            <a:tbl>
              <a:tblPr firstRow="1" bandRow="1">
                <a:noFill/>
                <a:tableStyleId>{CDD36806-8804-4C83-A2FA-3B51FD13760E}</a:tableStyleId>
              </a:tblPr>
              <a:tblGrid>
                <a:gridCol w="1377450"/>
                <a:gridCol w="8098925"/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Recurso: Agendamento de horário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RF03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 sistema deve disponibilizar a seleção dos horários disponíveis para agendamento. A faixa de horários se estende das 8h até as 18h.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RF04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 usuário logado deve confirmar a solicitação de agendamento, após informar o horário e o médico desejado.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RF05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 recepcionista deve realizar a aprovação do horário solicitado.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RF06 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O sistema deve notificar o paciente sobre a aprovação/reprovação do horário solicitado.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80" name="Google Shape;280;p1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971007" y="1628281"/>
            <a:ext cx="1023692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 ainda: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9" name="Google Shape;289;p20"/>
          <p:cNvGraphicFramePr/>
          <p:nvPr/>
        </p:nvGraphicFramePr>
        <p:xfrm>
          <a:off x="1078410" y="2339459"/>
          <a:ext cx="9580875" cy="4145370"/>
        </p:xfrm>
        <a:graphic>
          <a:graphicData uri="http://schemas.openxmlformats.org/drawingml/2006/table">
            <a:tbl>
              <a:tblPr firstRow="1" bandRow="1">
                <a:noFill/>
                <a:tableStyleId>{CDD36806-8804-4C83-A2FA-3B51FD13760E}</a:tableStyleId>
              </a:tblPr>
              <a:tblGrid>
                <a:gridCol w="1455775"/>
                <a:gridCol w="8125100"/>
              </a:tblGrid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Recurso: Agendamento de horário</a:t>
                      </a:r>
                      <a:endParaRPr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RF03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Disponibilizar seleção de horários para agendamento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/>
                        <a:t>O sistema deve disponibilizar a seleção dos horários disponíveis para agendamento. A faixa de horários se estende das 8h até as 18h.</a:t>
                      </a:r>
                      <a:endParaRPr sz="180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b="1"/>
                        <a:t>RF04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/>
                        <a:t>Permitir a realização da solicitação de agendamento</a:t>
                      </a:r>
                      <a:endParaRPr/>
                    </a:p>
                  </a:txBody>
                  <a:tcPr marL="91450" marR="91450" marT="45725" marB="45725"/>
                </a:tc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/>
                        <a:t>O usuário logado deve confirmar a solicitação de agendamento, após informar o horário e o médico desejado.</a:t>
                      </a:r>
                      <a:endParaRPr sz="180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 b="1"/>
                        <a:t>RF05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/>
                        <a:t>Aprovar agendamento solicitado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/>
                        <a:t>O recepcionista deve realizar a aprovação do horário solicitado.</a:t>
                      </a:r>
                      <a:endParaRPr sz="180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1"/>
                        <a:t>RF06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Notificar resultado da aprovação de agendamento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85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pt-BR" sz="1800"/>
                        <a:t>O sistema deve notificar o paciente sobre a aprovação do horário solicitado por meio de um whatsapp.</a:t>
                      </a:r>
                      <a:endParaRPr sz="1800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90" name="Google Shape;290;p2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971007" y="1628281"/>
            <a:ext cx="10236926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 de usuário: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“Necessito agrupar os produtos em grupos específicos.”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Escrevendo o requisito de sistema: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1: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 sistema deve manter o cadastro de grupos de produto. Para isso, devem ser armazenados dados como código e descrição. Neste cadastro, o usuário poderá inserir, alterar e excluir um grupo de produto, bem como consultar todos os grupos de produto já cadastrados.”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7" name="Google Shape;307;p22"/>
          <p:cNvSpPr txBox="1"/>
          <p:nvPr/>
        </p:nvSpPr>
        <p:spPr>
          <a:xfrm>
            <a:off x="971007" y="1628281"/>
            <a:ext cx="10236926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2: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RF01 – Cadastro de grupos de produto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sistema deve manter o cadastro de grupos de produto. Para isso, devem ser armazenados dados como código e descrição. Neste cadastro, o usuário poderá inserir, alterar e excluir um grupo de produto.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RF02 – Listagem de grupos de produto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 ser possível consultar todos os grupos de produto já cadastrados. Ainda deve ser possível filtrar essa consulta por descrição do grupo de produto.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971007" y="1497651"/>
            <a:ext cx="10236926" cy="517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 3: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Recurso: Grupos de produto</a:t>
            </a: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RF01 – Lista de grupos de produto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lista deve estar disponível no menu </a:t>
            </a:r>
            <a:r>
              <a:rPr lang="pt-BR" sz="22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Cadastros &gt; Grupos de produto.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acessar esta tela, deve</a:t>
            </a: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mostrada uma lista com todos os grupos de produto já cadastrados, permitindo a filtragem por descrição.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 ser disponibilizado um botão de </a:t>
            </a: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Pesquisar, 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deve realizar uma nova consulta aplicando os filtros informados e mostrando os resultados na listagem. Na lista, devem ser mostrados código e descrição do grupo de produto.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tela deve possui um botão chamado </a:t>
            </a: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Novo grupo, 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permite a criação de um novo grupo de produto, conforme </a:t>
            </a: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RF02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25" name="Google Shape;325;p24"/>
          <p:cNvSpPr txBox="1"/>
          <p:nvPr/>
        </p:nvSpPr>
        <p:spPr>
          <a:xfrm>
            <a:off x="971007" y="1497651"/>
            <a:ext cx="10236926" cy="4493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RF02 – Cadastro de grupos de produto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sistema deve permitir o cadastro de grupos de produto. Esta opção deve ficar disponível por meio do botão </a:t>
            </a: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Novo grupo, 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 na tela de listagem dos grupos de produto </a:t>
            </a: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(VIDE RF01).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 cadastro, devem ser armazenados o código e a descrição do grupo de produto e o usuário poderá inserir, alterar e excluir um grupo de produto.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RF03 – Exclusão de grupos de produto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selecionar a opção de excluir um grupo de produto, deve ser mostrada uma mensagem de confirmação, pedindo que o usuário confirme a exclusão do registro.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 a confirmação, o registro deve ser excluído e o usuário deve ser redirecionado para a página de </a:t>
            </a:r>
            <a:r>
              <a:rPr lang="pt-BR" sz="2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Listagem de grupos de produto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5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Glossário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causa frequente de conflitos na engenharia de requisitos é que as pessoas envolvidas no processo de desenvolvimento interpretam de forma diferente os termos descritos.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fim de evitar esses conflitos, é preciso que todos os envolvidos no desenvolvimento compreendam da mesma forma a terminologia utilizada e, para isso, pode se fazer uso de um glossário.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Ao definir o significado dos termos, aumenta-se a compreensão de requisitos, pois diferentes interpretações de termos podem ser evitados desde o início.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43" name="Google Shape;343;p27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Critérios de qualidade dos requisitos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requisito documentado deve atender aos seguintes critérios (ISO/IEC/IEEE 29148:2011]):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 ambiguidade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um requisito só pode ser entendido de uma maneira, ou seja, todos os leitores do requisito devem chegar ao mesmo entendimento sobre a necessidade.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Necessário: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requisito deve descrever uma capacidade que agregue valor às partes interessadas, diferencie o produto no mercado ou seja necessário para a conformidade com um padrão, política ou regulamento externo.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28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2" name="Google Shape;352;p28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Consistente: 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 requisito não deve se contradizer com outros requisitos e nem consigo mesmo.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Verificável: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requisito deve ser descrito de uma forma que permita a sua verificação, ou seja, deve ser possível realizar testes e medições que evidenciem a funcionalidade exigida pelo requisito.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Viável: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 ser possível implementar o requisito dadas as condições organizacionais, legais, técnicas ou financeiras.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Rastreável: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requisito é rastreável se sua origem, bem como sua relação com outros documentos podem ser rastreados.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9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29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1" name="Google Shape;361;p29"/>
          <p:cNvSpPr txBox="1"/>
          <p:nvPr/>
        </p:nvSpPr>
        <p:spPr>
          <a:xfrm>
            <a:off x="971007" y="1628281"/>
            <a:ext cx="10236926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Completo: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Cada requisito individual deve descrever completamente a funcionalidade que especifica.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Compreensível: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Os requisitos devem ser compreensíveis para todas as partes interessadas.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Modificável:</a:t>
            </a: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 permitir mudanças sem grandes impactos.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30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0" name="Google Shape;370;p30"/>
          <p:cNvSpPr txBox="1"/>
          <p:nvPr/>
        </p:nvSpPr>
        <p:spPr>
          <a:xfrm>
            <a:off x="971007" y="1628281"/>
            <a:ext cx="10236926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Estrutura de documentação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SRS contêm uma grande quantidade de informações diferentes, que devem estar bem estruturadas e claras para o leitor. Para isso, pode-se fazer uso de estruturas padronizadas de documentos ou pode-se ainda definir uma estrutura personalizada de documento, utilizando ou não os padrões já existentes como base.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Padrões oferecem uma estrutura predefinida para documentação de requisitos.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Simplificam a incorporação de novos membros da equipe.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Permitem encontrar rapidamente o conteúdo desejado.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Permitem a leitura seletiva e validação de documentos de requisitos.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1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31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>
            <a:off x="971007" y="1628281"/>
            <a:ext cx="10236926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padrão IEEE 29148 fornece um formato geral para um documento de especificação de requisitos.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norma possui um template para a documentação de requisitos de software, onde a estrutura padrão divide o documento em, basicamente, cinco partes: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capítulo com informações introdutórias (objetivo do sistema, escopo) e uma descrição geral do software;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capítulo com uma lista de todos os documentos referenciados na especificação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capítulo para requisitos específicos (requisitos funcionais, desempenho, interfaces)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Um capítulo com todas as métricas para verificação</a:t>
            </a:r>
            <a:endParaRPr/>
          </a:p>
          <a:p>
            <a:pPr marL="0" marR="0" lvl="0" indent="-152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Apêndices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2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32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88" name="Google Shape;388;p32"/>
          <p:cNvSpPr txBox="1"/>
          <p:nvPr/>
        </p:nvSpPr>
        <p:spPr>
          <a:xfrm>
            <a:off x="971007" y="1628281"/>
            <a:ext cx="10236926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Especificação de requisitos em projetos ágeis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Projetos ágeis adotam diversos métodos para especificar requisitos. Muitos projetos usam histórias de usuários durante a etapa de elicitação, onde cada história de usuário é uma declaração de uma necessidade ou funcionalidade que agrega valor ao usuário.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Assim, a especificação pode ser iniciada descrevendo apenas informações que sejam suficientes para que as partes interessadas compreendam de forma geral a história do usuário e para que possam priorizá-la em relação a outras histórias, permitindo a alocação de histórias para iterações de entrega.</a:t>
            </a:r>
            <a:endParaRPr/>
          </a:p>
        </p:txBody>
      </p:sp>
      <p:sp>
        <p:nvSpPr>
          <p:cNvPr id="389" name="Google Shape;389;p32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3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286" cy="119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33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7" name="Google Shape;397;p33"/>
          <p:cNvSpPr txBox="1"/>
          <p:nvPr/>
        </p:nvSpPr>
        <p:spPr>
          <a:xfrm>
            <a:off x="971007" y="1628281"/>
            <a:ext cx="10236926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histórias de usuários ficam armazenadas e priorizadas em um backlog de produto, que é dinâmico e evolui ao longo o projeto. Histórias muito grandes são subdivididas em histórias menores, que são alocadas a várias iterações para implementação.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À medida que a equipe inicia uma iteração, a comunicação entre os stakeholders e os analista de negócios, desenvolvedores, testers, entre outros, vai detalhar cada história da iteração. A especificação envolve o refinamento progressivo de detalhes em uma etapa específica do projeto, sendo que esses detalhes geralmente correspondem aos requisitos funcionais e não funcionais no SRS, cabendo à cada equipe escolher as formas mais adequadas para especificar seus requisitos de software.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 txBox="1"/>
          <p:nvPr/>
        </p:nvSpPr>
        <p:spPr>
          <a:xfrm>
            <a:off x="1023257" y="341091"/>
            <a:ext cx="10877006" cy="83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Documentação de requisitos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g1e15df9f4d7_0_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g1e15df9f4d7_0_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1e15df9f4d7_0_10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34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6" name="Google Shape;406;g1e15df9f4d7_0_10"/>
          <p:cNvSpPr txBox="1"/>
          <p:nvPr/>
        </p:nvSpPr>
        <p:spPr>
          <a:xfrm>
            <a:off x="971007" y="1628281"/>
            <a:ext cx="102369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-Criar um SRS ou PRD com os requisitos funcionais e não funcionais, utilizando user stories. O Documento deve conter todos os itens dos slides 35-37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-Fazer as classes com os atributos de cada uma e desenhar os wireframes (desenho de baixa fidelidade para estas telas)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-Cada classe vai ter apenas 3 métodos: Criar, Editar e Excluir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1e15df9f4d7_0_10"/>
          <p:cNvSpPr txBox="1"/>
          <p:nvPr/>
        </p:nvSpPr>
        <p:spPr>
          <a:xfrm>
            <a:off x="1023257" y="341091"/>
            <a:ext cx="1087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003958"/>
                </a:solidFill>
                <a:latin typeface="Calibri"/>
                <a:ea typeface="Calibri"/>
                <a:cs typeface="Calibri"/>
                <a:sym typeface="Calibri"/>
              </a:rPr>
              <a:t>Exercício </a:t>
            </a:r>
            <a:endParaRPr sz="4800">
              <a:solidFill>
                <a:srgbClr val="00395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g1e15df9f4d7_0_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1e15df9f4d7_0_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1e15df9f4d7_0_18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35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15" name="Google Shape;415;g1e15df9f4d7_0_18"/>
          <p:cNvSpPr txBox="1"/>
          <p:nvPr/>
        </p:nvSpPr>
        <p:spPr>
          <a:xfrm>
            <a:off x="476449" y="300925"/>
            <a:ext cx="11494500" cy="75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33333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 de Requisitos do Produto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Visão geral</a:t>
            </a:r>
            <a:endParaRPr sz="19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Nome do produto: [Nome do seu produto]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Descrição do produto: [Breve descrição do produto e sua utilização pretendida]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Mercado-alvo: [Descrição do público-alvo ideal e do segmento de mercado]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e funcionalidades</a:t>
            </a:r>
            <a:endParaRPr sz="19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 1: [Descrição do recurso, seu propósito e quaisquer requisitos relevantes]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 2: [Descrição do recurso, seu propósito e quaisquer requisitos relevantes]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 3: [Descrição do recurso, seu propósito e quaisquer requisitos relevantes]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Histórias do usuário</a:t>
            </a:r>
            <a:endParaRPr sz="19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História do usuário 1: [Descrição de uma história do usuário que descreve como um usuário específico irá interagir com o produto]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História do usuário 2: [Descrição de uma história do usuário que descreve como um usuário específico irá interagir com o produto]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História do usuário 3: [Descrição de uma história do usuário que descreve como um usuário específico irá interagir com o produto]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g1e15df9f4d7_0_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1e15df9f4d7_0_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1e15df9f4d7_0_27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36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23" name="Google Shape;423;g1e15df9f4d7_0_27"/>
          <p:cNvSpPr txBox="1"/>
          <p:nvPr/>
        </p:nvSpPr>
        <p:spPr>
          <a:xfrm>
            <a:off x="476449" y="300925"/>
            <a:ext cx="11494500" cy="79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pt-BR" sz="21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técnicos</a:t>
            </a:r>
            <a:endParaRPr sz="21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de tecnologia: [Descrição das tecnologias e plataformas que serão usadas para desenvolver e implantar o produto]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de desempenho: [Descrição de quaisquer requisitos de desempenho específicos, como tempo de resposta]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de escalabilidade: [Descrição de quaisquer requisitos de escalabilidade específicos, como a capacidade de lidar com um aumento no tráfego ou volume de dados]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Requisitos de segurança: [Descrição de quaisquer requisitos de segurança específicos, como criptografia ou autenticação]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21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Critérios de aceitação</a:t>
            </a:r>
            <a:endParaRPr sz="21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Critério de aceitação 1: [Descrição dos critérios que devem ser atendidos para que o recurso do produto seja considerado completo e funcional]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Critério de aceitação 2: [Descrição dos critérios que devem ser atendidos para que o recurso do produto seja considerado completo e funcional]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Critério de aceitação 3: [Descrição dos critérios que devem ser atendidos para que o recurso do produto seja considerado completo e funcional]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g1e15df9f4d7_0_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6002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1e15df9f4d7_0_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88333" y="5705475"/>
            <a:ext cx="1000125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1e15df9f4d7_0_34"/>
          <p:cNvSpPr txBox="1">
            <a:spLocks noGrp="1"/>
          </p:cNvSpPr>
          <p:nvPr>
            <p:ph type="sldNum" idx="12"/>
          </p:nvPr>
        </p:nvSpPr>
        <p:spPr>
          <a:xfrm>
            <a:off x="11085690" y="5770107"/>
            <a:ext cx="1179300" cy="11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60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37</a:t>
            </a:fld>
            <a:endParaRPr sz="60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31" name="Google Shape;431;g1e15df9f4d7_0_34"/>
          <p:cNvSpPr txBox="1"/>
          <p:nvPr/>
        </p:nvSpPr>
        <p:spPr>
          <a:xfrm>
            <a:off x="476449" y="300925"/>
            <a:ext cx="11494500" cy="6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lang="pt-BR" sz="2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Suposições e restrições</a:t>
            </a:r>
            <a:endParaRPr sz="2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Suposição 1: [Descrição de quaisquer suposições feitas sobre o produto ou seu processo de desenvolvimento]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Suposição 2: [Descrição de quaisquer suposições feitas sobre o produto ou seu processo de desenvolvimento]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Restrição 1: [Descrição de quaisquer restrições, como orçamento ou restrições de prazo]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Restrição 2: [Descrição de quaisquer restrições, como orçamento ou restrições de prazo]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60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205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Aprovação</a:t>
            </a:r>
            <a:endParaRPr sz="20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PO: [Nome e assinatura do PO ou patrocinador do produto]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Equipe de desenvolvimento: [Nome e assinatura do líder da equipe de desenvolvimento ou gerente]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r>
              <a:rPr lang="pt-B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 [Data da aprovação do documento de requisitos do produto]</a:t>
            </a:r>
            <a:endParaRPr sz="255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None/>
            </a:pP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3064</Words>
  <Application>Microsoft Office PowerPoint</Application>
  <PresentationFormat>Personalizar</PresentationFormat>
  <Paragraphs>309</Paragraphs>
  <Slides>37</Slides>
  <Notes>36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38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Leandro Ugioni</cp:lastModifiedBy>
  <cp:revision>1</cp:revision>
  <dcterms:created xsi:type="dcterms:W3CDTF">2019-02-19T17:16:10Z</dcterms:created>
  <dcterms:modified xsi:type="dcterms:W3CDTF">2026-04-18T19:10:31Z</dcterms:modified>
</cp:coreProperties>
</file>