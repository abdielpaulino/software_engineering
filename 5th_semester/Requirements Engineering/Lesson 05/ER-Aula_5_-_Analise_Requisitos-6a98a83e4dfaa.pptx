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6"/>
  </p:notesMasterIdLst>
  <p:sldIdLst>
    <p:sldId id="295"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NoHNejr0Us/iP55VSCN+3PlY7b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145606D-B74F-4C98-9DD0-4C473370F171}">
  <a:tblStyle styleId="{6145606D-B74F-4C98-9DD0-4C473370F171}"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rgbClr val="FFFFFF"/>
      </a:tcTxStyle>
      <a:tcStyle>
        <a:tcBdr/>
        <a:fill>
          <a:solidFill>
            <a:srgbClr val="70AD47"/>
          </a:solidFill>
        </a:fill>
      </a:tcStyle>
    </a:lastCol>
    <a:firstCol>
      <a:tcTxStyle b="on" i="off">
        <a:font>
          <a:latin typeface="Calibri"/>
          <a:ea typeface="Calibri"/>
          <a:cs typeface="Calibri"/>
        </a:font>
        <a:srgbClr val="FFFFFF"/>
      </a:tcTxStyle>
      <a:tcStyle>
        <a:tcBdr/>
        <a:fill>
          <a:solidFill>
            <a:srgbClr val="70AD47"/>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70AD47"/>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70AD47"/>
          </a:solidFill>
        </a:fill>
      </a:tcStyle>
    </a:firstRow>
    <a:neCell>
      <a:tcTxStyle/>
      <a:tcStyle>
        <a:tcBdr/>
      </a:tcStyle>
    </a:neCell>
    <a:nwCell>
      <a:tcTxStyle/>
      <a:tcStyle>
        <a:tcBdr/>
      </a:tcStyle>
    </a:nwCell>
  </a:tblStyle>
  <a:tblStyle styleId="{CE315E2B-644D-484A-8BB6-DFAD4D64CBB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0F0"/>
          </a:solidFill>
        </a:fill>
      </a:tcStyle>
    </a:wholeTbl>
    <a:band1H>
      <a:tcTxStyle b="off" i="off"/>
      <a:tcStyle>
        <a:tcBdr/>
        <a:fill>
          <a:solidFill>
            <a:srgbClr val="E0E0E0"/>
          </a:solidFill>
        </a:fill>
      </a:tcStyle>
    </a:band1H>
    <a:band2H>
      <a:tcTxStyle b="off" i="off"/>
      <a:tcStyle>
        <a:tcBdr/>
      </a:tcStyle>
    </a:band2H>
    <a:band1V>
      <a:tcTxStyle b="off" i="off"/>
      <a:tcStyle>
        <a:tcBdr/>
        <a:fill>
          <a:solidFill>
            <a:srgbClr val="E0E0E0"/>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9486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1"/>
        <p:cNvGrpSpPr/>
        <p:nvPr/>
      </p:nvGrpSpPr>
      <p:grpSpPr>
        <a:xfrm>
          <a:off x="0" y="0"/>
          <a:ext cx="0" cy="0"/>
          <a:chOff x="0" y="0"/>
          <a:chExt cx="0" cy="0"/>
        </a:xfrm>
      </p:grpSpPr>
      <p:sp>
        <p:nvSpPr>
          <p:cNvPr id="22" name="Google Shape;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4"/>
        <p:cNvGrpSpPr/>
        <p:nvPr/>
      </p:nvGrpSpPr>
      <p:grpSpPr>
        <a:xfrm>
          <a:off x="0" y="0"/>
          <a:ext cx="0" cy="0"/>
          <a:chOff x="0" y="0"/>
          <a:chExt cx="0" cy="0"/>
        </a:xfrm>
      </p:grpSpPr>
      <p:sp>
        <p:nvSpPr>
          <p:cNvPr id="55" name="Google Shape;5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5"/>
          <p:cNvSpPr>
            <a:spLocks noGrp="1"/>
          </p:cNvSpPr>
          <p:nvPr>
            <p:ph type="pic" idx="2"/>
          </p:nvPr>
        </p:nvSpPr>
        <p:spPr>
          <a:xfrm>
            <a:off x="5183188" y="987425"/>
            <a:ext cx="6172200" cy="4873625"/>
          </a:xfrm>
          <a:prstGeom prst="rect">
            <a:avLst/>
          </a:prstGeom>
          <a:noFill/>
          <a:ln>
            <a:noFill/>
          </a:ln>
        </p:spPr>
      </p:sp>
      <p:sp>
        <p:nvSpPr>
          <p:cNvPr id="68" name="Google Shape;68;p4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4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1F8B163-86D5-4878-916A-9D11FE2EA181}"/>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 xmlns:a16="http://schemas.microsoft.com/office/drawing/2014/main" id="{F3020D6C-6261-402F-84A7-AA1B65D9D5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1" cy="6858000"/>
          </a:xfrm>
        </p:spPr>
      </p:pic>
      <p:sp>
        <p:nvSpPr>
          <p:cNvPr id="6" name="CaixaDeTexto 5">
            <a:extLst>
              <a:ext uri="{FF2B5EF4-FFF2-40B4-BE49-F238E27FC236}">
                <a16:creationId xmlns="" xmlns:a16="http://schemas.microsoft.com/office/drawing/2014/main" id="{E3D630B1-A6DA-42B6-861B-AAD116CC443F}"/>
              </a:ext>
            </a:extLst>
          </p:cNvPr>
          <p:cNvSpPr txBox="1"/>
          <p:nvPr/>
        </p:nvSpPr>
        <p:spPr>
          <a:xfrm>
            <a:off x="2292626" y="1416758"/>
            <a:ext cx="7606748" cy="2862322"/>
          </a:xfrm>
          <a:prstGeom prst="rect">
            <a:avLst/>
          </a:prstGeom>
          <a:noFill/>
        </p:spPr>
        <p:txBody>
          <a:bodyPr wrap="square" rtlCol="0">
            <a:spAutoFit/>
          </a:bodyPr>
          <a:lstStyle/>
          <a:p>
            <a:pPr algn="ctr"/>
            <a:endParaRPr lang="pt-BR" sz="6000" b="1" dirty="0" smtClean="0">
              <a:solidFill>
                <a:schemeClr val="bg2">
                  <a:lumMod val="10000"/>
                </a:schemeClr>
              </a:solidFill>
              <a:latin typeface="Arial" panose="020B0604020202020204" pitchFamily="34" charset="0"/>
              <a:cs typeface="Arial" panose="020B0604020202020204" pitchFamily="34" charset="0"/>
            </a:endParaRPr>
          </a:p>
          <a:p>
            <a:pPr algn="ctr"/>
            <a:r>
              <a:rPr lang="pt-BR" sz="6000" b="1" dirty="0" smtClean="0">
                <a:solidFill>
                  <a:schemeClr val="bg2">
                    <a:lumMod val="10000"/>
                  </a:schemeClr>
                </a:solidFill>
                <a:latin typeface="Arial" panose="020B0604020202020204" pitchFamily="34" charset="0"/>
                <a:cs typeface="Arial" panose="020B0604020202020204" pitchFamily="34" charset="0"/>
              </a:rPr>
              <a:t>Engenharia de Requisitos</a:t>
            </a:r>
            <a:endParaRPr lang="pt-BR" sz="60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550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p:nvPr/>
        </p:nvSpPr>
        <p:spPr>
          <a:xfrm>
            <a:off x="174171" y="4667876"/>
            <a:ext cx="8672285"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0" i="0" u="none" strike="noStrike" cap="none">
                <a:solidFill>
                  <a:srgbClr val="003958"/>
                </a:solidFill>
                <a:latin typeface="Impact"/>
                <a:ea typeface="Impact"/>
                <a:cs typeface="Impact"/>
                <a:sym typeface="Impact"/>
              </a:rPr>
              <a:t>Análise de requisitos</a:t>
            </a:r>
            <a:endParaRPr sz="6000" b="0" i="0" u="none" strike="noStrike" cap="none">
              <a:solidFill>
                <a:srgbClr val="003958"/>
              </a:solidFill>
              <a:latin typeface="Impact"/>
              <a:ea typeface="Impact"/>
              <a:cs typeface="Impact"/>
              <a:sym typeface="Impact"/>
            </a:endParaRP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pt-BR"/>
              <a:t>2</a:t>
            </a:fld>
            <a:endParaRPr/>
          </a:p>
        </p:txBody>
      </p:sp>
      <p:pic>
        <p:nvPicPr>
          <p:cNvPr id="99" name="Google Shape;99;p2"/>
          <p:cNvPicPr preferRelativeResize="0"/>
          <p:nvPr/>
        </p:nvPicPr>
        <p:blipFill rotWithShape="1">
          <a:blip r:embed="rId3">
            <a:alphaModFix/>
          </a:blip>
          <a:srcRect/>
          <a:stretch/>
        </p:blipFill>
        <p:spPr>
          <a:xfrm>
            <a:off x="885265" y="0"/>
            <a:ext cx="5715000" cy="3952875"/>
          </a:xfrm>
          <a:prstGeom prst="rect">
            <a:avLst/>
          </a:prstGeom>
          <a:noFill/>
          <a:ln>
            <a:noFill/>
          </a:ln>
        </p:spPr>
      </p:pic>
      <p:pic>
        <p:nvPicPr>
          <p:cNvPr id="100" name="Google Shape;100;p2"/>
          <p:cNvPicPr preferRelativeResize="0"/>
          <p:nvPr/>
        </p:nvPicPr>
        <p:blipFill rotWithShape="1">
          <a:blip r:embed="rId4">
            <a:alphaModFix/>
          </a:blip>
          <a:srcRect/>
          <a:stretch/>
        </p:blipFill>
        <p:spPr>
          <a:xfrm>
            <a:off x="8743950" y="0"/>
            <a:ext cx="34480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16" name="Google Shape;116;p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17" name="Google Shape;117;p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18" name="Google Shape;118;p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a:t>
            </a:fld>
            <a:endParaRPr sz="6000">
              <a:solidFill>
                <a:schemeClr val="lt1"/>
              </a:solidFill>
              <a:latin typeface="Impact"/>
              <a:ea typeface="Impact"/>
              <a:cs typeface="Impact"/>
              <a:sym typeface="Impact"/>
            </a:endParaRPr>
          </a:p>
        </p:txBody>
      </p:sp>
      <p:sp>
        <p:nvSpPr>
          <p:cNvPr id="119" name="Google Shape;119;p3"/>
          <p:cNvSpPr txBox="1"/>
          <p:nvPr/>
        </p:nvSpPr>
        <p:spPr>
          <a:xfrm>
            <a:off x="971007" y="1471525"/>
            <a:ext cx="10236926" cy="48936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Tem como objetivo aumentar o entendimento da informação, completá-la e refiná-la, a fim de estabelecer um conjunto completo e consistente de requisitos, tendo como insumos os requisitos obtidos na etapa de elicitação.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Na análise de requisitos são elaboradas questões que podem direcionar para a elicitação, quando é necessário levantar mais informações sobre a necessidade, ou para a especificação do requisito, quando já é possível documentar o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Na análise de requisitos, são verificadas questões como: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Checagem da consistência e completude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Checagem da necessidade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Checagem da viabilidade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25" name="Google Shape;125;p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26" name="Google Shape;126;p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27" name="Google Shape;127;p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4</a:t>
            </a:fld>
            <a:endParaRPr sz="6000">
              <a:solidFill>
                <a:schemeClr val="lt1"/>
              </a:solidFill>
              <a:latin typeface="Impact"/>
              <a:ea typeface="Impact"/>
              <a:cs typeface="Impact"/>
              <a:sym typeface="Impact"/>
            </a:endParaRPr>
          </a:p>
        </p:txBody>
      </p:sp>
      <p:sp>
        <p:nvSpPr>
          <p:cNvPr id="128" name="Google Shape;128;p4"/>
          <p:cNvSpPr txBox="1"/>
          <p:nvPr/>
        </p:nvSpPr>
        <p:spPr>
          <a:xfrm>
            <a:off x="971007" y="1471525"/>
            <a:ext cx="10236926"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Checagem da consistência e completude: </a:t>
            </a:r>
            <a:r>
              <a:rPr lang="pt-BR" sz="2200" b="0" i="0" u="none" strike="noStrike" cap="none">
                <a:solidFill>
                  <a:schemeClr val="dk1"/>
                </a:solidFill>
                <a:latin typeface="Calibri"/>
                <a:ea typeface="Calibri"/>
                <a:cs typeface="Calibri"/>
                <a:sym typeface="Calibri"/>
              </a:rPr>
              <a:t>os requisitos são verificados para validar a consistência (requisitos não contraditórios) e completude (todos os serviços necessários estão listados).</a:t>
            </a:r>
            <a:endParaRPr sz="2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Checagem da necessidade:</a:t>
            </a:r>
            <a:r>
              <a:rPr lang="pt-BR" sz="2200" b="0" i="0" u="none" strike="noStrike" cap="none">
                <a:solidFill>
                  <a:schemeClr val="dk1"/>
                </a:solidFill>
                <a:latin typeface="Calibri"/>
                <a:ea typeface="Calibri"/>
                <a:cs typeface="Calibri"/>
                <a:sym typeface="Calibri"/>
              </a:rPr>
              <a:t> é verificada</a:t>
            </a:r>
            <a:r>
              <a:rPr lang="pt-BR" sz="2200" b="1" i="0" u="none" strike="noStrike" cap="none">
                <a:solidFill>
                  <a:schemeClr val="dk1"/>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a necessidade do requisito proposto, para saber se este contribui para os objetivos do negócio e da organização e para a resolução do problema tratado pelo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Além disso, é preciso se certificar de que o problema existe de fato, assim evita-se: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Tempo gasto pela equipe (analista de requisitos , devs, testers, etc);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Requisitos desnecessários;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Custo de desenvolvimento e manutenção deste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Checagem da viabilidade: </a:t>
            </a:r>
            <a:r>
              <a:rPr lang="pt-BR" sz="2200" b="0" i="0" u="none" strike="noStrike" cap="none">
                <a:solidFill>
                  <a:schemeClr val="dk1"/>
                </a:solidFill>
                <a:latin typeface="Calibri"/>
                <a:ea typeface="Calibri"/>
                <a:cs typeface="Calibri"/>
                <a:sym typeface="Calibri"/>
              </a:rPr>
              <a:t>verifica-se se os requisitos propostos são passíveis de desenvolvimento conforme os recursos do projeto.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34" name="Google Shape;134;p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35" name="Google Shape;135;p5"/>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36" name="Google Shape;136;p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5</a:t>
            </a:fld>
            <a:endParaRPr sz="6000">
              <a:solidFill>
                <a:schemeClr val="lt1"/>
              </a:solidFill>
              <a:latin typeface="Impact"/>
              <a:ea typeface="Impact"/>
              <a:cs typeface="Impact"/>
              <a:sym typeface="Impact"/>
            </a:endParaRPr>
          </a:p>
        </p:txBody>
      </p:sp>
      <p:sp>
        <p:nvSpPr>
          <p:cNvPr id="137" name="Google Shape;137;p5"/>
          <p:cNvSpPr txBox="1"/>
          <p:nvPr/>
        </p:nvSpPr>
        <p:spPr>
          <a:xfrm>
            <a:off x="971007" y="1471525"/>
            <a:ext cx="10236926"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Um modelo do processo de elicitação e análise pode ser representado da seguinte forma: </a:t>
            </a:r>
            <a:br>
              <a:rPr lang="pt-BR" sz="2400" b="0" i="0" u="none" strike="noStrike" cap="none">
                <a:solidFill>
                  <a:schemeClr val="dk1"/>
                </a:solidFill>
                <a:latin typeface="Calibri"/>
                <a:ea typeface="Calibri"/>
                <a:cs typeface="Calibri"/>
                <a:sym typeface="Calibri"/>
              </a:rPr>
            </a:br>
            <a:endParaRPr sz="1800" b="0" i="0" u="none" strike="noStrike" cap="none">
              <a:solidFill>
                <a:schemeClr val="dk1"/>
              </a:solidFill>
              <a:latin typeface="Calibri"/>
              <a:ea typeface="Calibri"/>
              <a:cs typeface="Calibri"/>
              <a:sym typeface="Calibri"/>
            </a:endParaRPr>
          </a:p>
        </p:txBody>
      </p:sp>
      <p:pic>
        <p:nvPicPr>
          <p:cNvPr id="138" name="Google Shape;138;p5"/>
          <p:cNvPicPr preferRelativeResize="0"/>
          <p:nvPr/>
        </p:nvPicPr>
        <p:blipFill rotWithShape="1">
          <a:blip r:embed="rId5">
            <a:alphaModFix/>
          </a:blip>
          <a:srcRect/>
          <a:stretch/>
        </p:blipFill>
        <p:spPr>
          <a:xfrm>
            <a:off x="2575283" y="2225034"/>
            <a:ext cx="6882626" cy="4123511"/>
          </a:xfrm>
          <a:prstGeom prst="rect">
            <a:avLst/>
          </a:prstGeom>
          <a:noFill/>
          <a:ln>
            <a:noFill/>
          </a:ln>
        </p:spPr>
      </p:pic>
      <p:sp>
        <p:nvSpPr>
          <p:cNvPr id="139" name="Google Shape;139;p5"/>
          <p:cNvSpPr txBox="1"/>
          <p:nvPr/>
        </p:nvSpPr>
        <p:spPr>
          <a:xfrm>
            <a:off x="3187344" y="6401882"/>
            <a:ext cx="207826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0" i="0" u="none" strike="noStrike" cap="none">
                <a:solidFill>
                  <a:schemeClr val="dk1"/>
                </a:solidFill>
                <a:latin typeface="Calibri"/>
                <a:ea typeface="Calibri"/>
                <a:cs typeface="Calibri"/>
                <a:sym typeface="Calibri"/>
              </a:rPr>
              <a:t>Fonte:Sommervile (2011).</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5" name="Google Shape;145;p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46" name="Google Shape;146;p6"/>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47" name="Google Shape;147;p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6</a:t>
            </a:fld>
            <a:endParaRPr sz="6000">
              <a:solidFill>
                <a:schemeClr val="lt1"/>
              </a:solidFill>
              <a:latin typeface="Impact"/>
              <a:ea typeface="Impact"/>
              <a:cs typeface="Impact"/>
              <a:sym typeface="Impact"/>
            </a:endParaRPr>
          </a:p>
        </p:txBody>
      </p:sp>
      <p:sp>
        <p:nvSpPr>
          <p:cNvPr id="148" name="Google Shape;148;p6"/>
          <p:cNvSpPr txBox="1"/>
          <p:nvPr/>
        </p:nvSpPr>
        <p:spPr>
          <a:xfrm>
            <a:off x="971007" y="1471525"/>
            <a:ext cx="10236926"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Descoberta de requisitos:</a:t>
            </a:r>
            <a:r>
              <a:rPr lang="pt-BR" sz="2400" b="0" i="0" u="none" strike="noStrike" cap="none">
                <a:solidFill>
                  <a:schemeClr val="dk1"/>
                </a:solidFill>
                <a:latin typeface="Calibri"/>
                <a:ea typeface="Calibri"/>
                <a:cs typeface="Calibri"/>
                <a:sym typeface="Calibri"/>
              </a:rPr>
              <a:t> é a atividade de elicitação com os stakeholders do sistema para descobrir seus requisitos.</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Classificação e organização de requisitos</a:t>
            </a:r>
            <a:r>
              <a:rPr lang="pt-BR" sz="2400" b="0" i="0" u="none" strike="noStrike" cap="none">
                <a:solidFill>
                  <a:schemeClr val="dk1"/>
                </a:solidFill>
                <a:latin typeface="Calibri"/>
                <a:ea typeface="Calibri"/>
                <a:cs typeface="Calibri"/>
                <a:sym typeface="Calibri"/>
              </a:rPr>
              <a:t>: os requisitos levantados na elicitação, que não estão estruturados, são agrupados organizados em grupos.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Priorização e negociação de requisitos</a:t>
            </a:r>
            <a:r>
              <a:rPr lang="pt-BR" sz="2400" b="0" i="0" u="none" strike="noStrike" cap="none">
                <a:solidFill>
                  <a:schemeClr val="dk1"/>
                </a:solidFill>
                <a:latin typeface="Calibri"/>
                <a:ea typeface="Calibri"/>
                <a:cs typeface="Calibri"/>
                <a:sym typeface="Calibri"/>
              </a:rPr>
              <a:t>: atividade relacionada com a priorização de requisitos e em encontrar e resolver os conflitos por meio da negociação de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Especificação de requisitos:</a:t>
            </a:r>
            <a:r>
              <a:rPr lang="pt-BR" sz="2400" b="0" i="0" u="none" strike="noStrike" cap="none">
                <a:solidFill>
                  <a:schemeClr val="dk1"/>
                </a:solidFill>
                <a:latin typeface="Calibri"/>
                <a:ea typeface="Calibri"/>
                <a:cs typeface="Calibri"/>
                <a:sym typeface="Calibri"/>
              </a:rPr>
              <a:t> os requisitos são documentados.</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54" name="Google Shape;154;p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55" name="Google Shape;155;p7"/>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56" name="Google Shape;156;p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7</a:t>
            </a:fld>
            <a:endParaRPr sz="6000">
              <a:solidFill>
                <a:schemeClr val="lt1"/>
              </a:solidFill>
              <a:latin typeface="Impact"/>
              <a:ea typeface="Impact"/>
              <a:cs typeface="Impact"/>
              <a:sym typeface="Impact"/>
            </a:endParaRPr>
          </a:p>
        </p:txBody>
      </p:sp>
      <p:sp>
        <p:nvSpPr>
          <p:cNvPr id="157" name="Google Shape;157;p7"/>
          <p:cNvSpPr txBox="1"/>
          <p:nvPr/>
        </p:nvSpPr>
        <p:spPr>
          <a:xfrm>
            <a:off x="971007" y="1471525"/>
            <a:ext cx="10236926"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informações levantadas na elicitação de requisitos muitas vezes estão fragmentadas e carregam questões que devem ser exploradas.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002060"/>
                </a:solidFill>
                <a:latin typeface="Calibri"/>
                <a:ea typeface="Calibri"/>
                <a:cs typeface="Calibri"/>
                <a:sym typeface="Calibri"/>
              </a:rPr>
              <a:t>“Somente alunos com, no mínimo, 75% de presença poderão emitir seu certificado.”</a:t>
            </a:r>
            <a:r>
              <a:rPr lang="pt-BR"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Calibri"/>
              <a:buChar char="-"/>
            </a:pPr>
            <a:r>
              <a:rPr lang="pt-BR" sz="2400" b="0" i="0" u="none" strike="noStrike" cap="none">
                <a:solidFill>
                  <a:schemeClr val="dk1"/>
                </a:solidFill>
                <a:latin typeface="Calibri"/>
                <a:ea typeface="Calibri"/>
                <a:cs typeface="Calibri"/>
                <a:sym typeface="Calibri"/>
              </a:rPr>
              <a:t> Quais são os requisitos funcionais em que isso se aplica?</a:t>
            </a:r>
            <a:endParaRPr sz="1400" b="0" i="0" u="none" strike="noStrike" cap="none">
              <a:solidFill>
                <a:srgbClr val="000000"/>
              </a:solidFill>
              <a:latin typeface="Arial"/>
              <a:ea typeface="Arial"/>
              <a:cs typeface="Arial"/>
              <a:sym typeface="Arial"/>
            </a:endParaRPr>
          </a:p>
          <a:p>
            <a:pPr marL="457200" marR="0" lvl="1" indent="-152400" algn="l" rtl="0">
              <a:lnSpc>
                <a:spcPct val="100000"/>
              </a:lnSpc>
              <a:spcBef>
                <a:spcPts val="0"/>
              </a:spcBef>
              <a:spcAft>
                <a:spcPts val="0"/>
              </a:spcAft>
              <a:buClr>
                <a:schemeClr val="dk1"/>
              </a:buClr>
              <a:buSzPts val="2400"/>
              <a:buFont typeface="Calibri"/>
              <a:buChar char="-"/>
            </a:pPr>
            <a:r>
              <a:rPr lang="pt-BR" sz="2400" b="0" i="0" u="none" strike="noStrike" cap="none">
                <a:solidFill>
                  <a:schemeClr val="dk1"/>
                </a:solidFill>
                <a:latin typeface="Calibri"/>
                <a:ea typeface="Calibri"/>
                <a:cs typeface="Calibri"/>
                <a:sym typeface="Calibri"/>
              </a:rPr>
              <a:t> No requisito funcional que descreve a emissão do certificado pelo responsável pelo curso.</a:t>
            </a:r>
            <a:endParaRPr sz="1400" b="0" i="0" u="none" strike="noStrike" cap="none">
              <a:solidFill>
                <a:srgbClr val="000000"/>
              </a:solidFill>
              <a:latin typeface="Arial"/>
              <a:ea typeface="Arial"/>
              <a:cs typeface="Arial"/>
              <a:sym typeface="Arial"/>
            </a:endParaRPr>
          </a:p>
          <a:p>
            <a:pPr marL="457200" marR="0" lvl="1" indent="-152400" algn="l" rtl="0">
              <a:lnSpc>
                <a:spcPct val="100000"/>
              </a:lnSpc>
              <a:spcBef>
                <a:spcPts val="0"/>
              </a:spcBef>
              <a:spcAft>
                <a:spcPts val="0"/>
              </a:spcAft>
              <a:buClr>
                <a:schemeClr val="dk1"/>
              </a:buClr>
              <a:buSzPts val="2400"/>
              <a:buFont typeface="Calibri"/>
              <a:buChar char="-"/>
            </a:pPr>
            <a:r>
              <a:rPr lang="pt-BR" sz="2400" b="0" i="0" u="none" strike="noStrike" cap="none">
                <a:solidFill>
                  <a:schemeClr val="dk1"/>
                </a:solidFill>
                <a:latin typeface="Calibri"/>
                <a:ea typeface="Calibri"/>
                <a:cs typeface="Calibri"/>
                <a:sym typeface="Calibri"/>
              </a:rPr>
              <a:t> Mas também pode existir o requisito funcional que descreve a emissão do certificado pelo próprio aluno.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
            </a:r>
            <a:br>
              <a:rPr lang="pt-BR" sz="1800" b="0" i="0" u="none" strike="noStrike" cap="none">
                <a:solidFill>
                  <a:schemeClr val="dk1"/>
                </a:solidFill>
                <a:latin typeface="Calibri"/>
                <a:ea typeface="Calibri"/>
                <a:cs typeface="Calibri"/>
                <a:sym typeface="Calibri"/>
              </a:rPr>
            </a:b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3" name="Google Shape;163;p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4" name="Google Shape;164;p8"/>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65" name="Google Shape;165;p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8</a:t>
            </a:fld>
            <a:endParaRPr sz="6000">
              <a:solidFill>
                <a:schemeClr val="lt1"/>
              </a:solidFill>
              <a:latin typeface="Impact"/>
              <a:ea typeface="Impact"/>
              <a:cs typeface="Impact"/>
              <a:sym typeface="Impact"/>
            </a:endParaRPr>
          </a:p>
        </p:txBody>
      </p:sp>
      <p:sp>
        <p:nvSpPr>
          <p:cNvPr id="166" name="Google Shape;166;p8"/>
          <p:cNvSpPr txBox="1"/>
          <p:nvPr/>
        </p:nvSpPr>
        <p:spPr>
          <a:xfrm>
            <a:off x="733112" y="1280187"/>
            <a:ext cx="10641900" cy="554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Na etapa de análise de requisitos: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É realizada uma análise mais detalhada para identificar possíveis inconsistências, conflitos e omissões nos requisitos levantados na etapa de elicitação;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As informações anteriormente elicitadas são organizadas, compreendidas e classificadas;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Provê estrutura aos requisitos elicitados, e são construídos modelos que descrevem os objetivos e processos de negócio, o problema a ser resolvido e o sistema a ser desenvolvido.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Os requisitos são delineados de forma à atender as necessidades dos diferentes usuários e clientes, além de atender aos objetivos da empresa.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Char char="⮚"/>
            </a:pPr>
            <a:r>
              <a:rPr lang="pt-BR" sz="2200" b="0" i="0" u="none" strike="noStrike" cap="none">
                <a:solidFill>
                  <a:schemeClr val="dk1"/>
                </a:solidFill>
                <a:latin typeface="Calibri"/>
                <a:ea typeface="Calibri"/>
                <a:cs typeface="Calibri"/>
                <a:sym typeface="Calibri"/>
              </a:rPr>
              <a:t>  Usuários, clientes e analistas devem discutir os requisitos com problemas, negociar e chegar a um acordo sobre as modificações a serem feitas, para atender à todas as partes.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72" name="Google Shape;172;p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73" name="Google Shape;173;p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74" name="Google Shape;174;p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9</a:t>
            </a:fld>
            <a:endParaRPr sz="6000">
              <a:solidFill>
                <a:schemeClr val="lt1"/>
              </a:solidFill>
              <a:latin typeface="Impact"/>
              <a:ea typeface="Impact"/>
              <a:cs typeface="Impact"/>
              <a:sym typeface="Impact"/>
            </a:endParaRPr>
          </a:p>
        </p:txBody>
      </p:sp>
      <p:sp>
        <p:nvSpPr>
          <p:cNvPr id="175" name="Google Shape;175;p9"/>
          <p:cNvSpPr txBox="1"/>
          <p:nvPr/>
        </p:nvSpPr>
        <p:spPr>
          <a:xfrm>
            <a:off x="971007" y="1628281"/>
            <a:ext cx="10236926" cy="55707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2F5496"/>
                </a:solidFill>
                <a:latin typeface="Calibri"/>
                <a:ea typeface="Calibri"/>
                <a:cs typeface="Calibri"/>
                <a:sym typeface="Calibri"/>
              </a:rPr>
              <a:t>Decomposição funcional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Tem como objetivo decompor os processos em partes menores, possibilitando a análise de cada parte de forma independente, promovendo um melhor entendimento do processo geral.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Esta técnica permite a criação de um modelo conceitual do trabalho a ser desenvolvido, fornecendo uma visão clara do escopo e do esforço pois, avaliando parte menores, é possível obter uma maior precisão quanto ao tempo necessário para cada tarefa.</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A decomposição funcional dos requisitos estabelece uma hierarquia de atividades e utiliza o diagrama de estrutura de projeto (EAP) para representação.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81" name="Google Shape;181;p1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82" name="Google Shape;182;p1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83" name="Google Shape;183;p1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10</a:t>
            </a:fld>
            <a:endParaRPr sz="6000">
              <a:solidFill>
                <a:schemeClr val="lt1"/>
              </a:solidFill>
              <a:latin typeface="Impact"/>
              <a:ea typeface="Impact"/>
              <a:cs typeface="Impact"/>
              <a:sym typeface="Impact"/>
            </a:endParaRPr>
          </a:p>
        </p:txBody>
      </p:sp>
      <p:sp>
        <p:nvSpPr>
          <p:cNvPr id="184" name="Google Shape;184;p10"/>
          <p:cNvSpPr txBox="1"/>
          <p:nvPr/>
        </p:nvSpPr>
        <p:spPr>
          <a:xfrm>
            <a:off x="879566" y="1380084"/>
            <a:ext cx="10236926" cy="52014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 EAP (Estrutura Analítica do Projeto) é um diagrama que organiza o escopo de um processo ou projeto de forma visual, hierárquica e em partes menores, organizando o trabalho a ser realizado.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Cenário: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1" u="none" strike="noStrike" cap="none">
                <a:solidFill>
                  <a:schemeClr val="dk1"/>
                </a:solidFill>
                <a:latin typeface="Calibri"/>
                <a:ea typeface="Calibri"/>
                <a:cs typeface="Calibri"/>
                <a:sym typeface="Calibri"/>
              </a:rPr>
              <a:t>“Uma empresa deseja disponibilizar aos seus clientes pagamentos no cartão de crédito, sendo que quando uma transação for aprovada, deve automaticamente finalizar a venda no sistema. Também deve permitir estornar um pagamento realizado.”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90" name="Google Shape;190;p1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91" name="Google Shape;191;p1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192" name="Google Shape;192;p1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11</a:t>
            </a:fld>
            <a:endParaRPr sz="6000">
              <a:solidFill>
                <a:schemeClr val="lt1"/>
              </a:solidFill>
              <a:latin typeface="Impact"/>
              <a:ea typeface="Impact"/>
              <a:cs typeface="Impact"/>
              <a:sym typeface="Impact"/>
            </a:endParaRPr>
          </a:p>
        </p:txBody>
      </p:sp>
      <p:sp>
        <p:nvSpPr>
          <p:cNvPr id="193" name="Google Shape;193;p11"/>
          <p:cNvSpPr txBox="1"/>
          <p:nvPr/>
        </p:nvSpPr>
        <p:spPr>
          <a:xfrm>
            <a:off x="879566" y="1380084"/>
            <a:ext cx="10236926" cy="1508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194" name="Google Shape;194;p11"/>
          <p:cNvSpPr/>
          <p:nvPr/>
        </p:nvSpPr>
        <p:spPr>
          <a:xfrm>
            <a:off x="830207" y="1620995"/>
            <a:ext cx="10273222" cy="4779805"/>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114300" marR="0" lvl="1" indent="-114300" algn="l" rtl="0">
              <a:lnSpc>
                <a:spcPct val="75000"/>
              </a:lnSpc>
              <a:spcBef>
                <a:spcPts val="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Pagamentos no cartão</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Pagamento</a:t>
            </a:r>
            <a:endParaRPr sz="1800" b="0" i="0" u="none" strike="noStrike" cap="none">
              <a:solidFill>
                <a:schemeClr val="dk1"/>
              </a:solidFill>
              <a:latin typeface="Calibri"/>
              <a:ea typeface="Calibri"/>
              <a:cs typeface="Calibri"/>
              <a:sym typeface="Calibri"/>
            </a:endParaRPr>
          </a:p>
          <a:p>
            <a:pPr marL="342900" marR="0" lvl="3"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Envio da transação de pagamento</a:t>
            </a:r>
            <a:endParaRPr sz="1800" b="0" i="0" u="none" strike="noStrike" cap="none">
              <a:solidFill>
                <a:schemeClr val="dk1"/>
              </a:solidFill>
              <a:latin typeface="Calibri"/>
              <a:ea typeface="Calibri"/>
              <a:cs typeface="Calibri"/>
              <a:sym typeface="Calibri"/>
            </a:endParaRPr>
          </a:p>
          <a:p>
            <a:pPr marL="342900" marR="0" lvl="3"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342900" marR="0" lvl="3"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Processamento da resposta</a:t>
            </a:r>
            <a:endParaRPr sz="1800" b="0" i="0" u="none" strike="noStrike" cap="none">
              <a:solidFill>
                <a:schemeClr val="dk1"/>
              </a:solidFill>
              <a:latin typeface="Calibri"/>
              <a:ea typeface="Calibri"/>
              <a:cs typeface="Calibri"/>
              <a:sym typeface="Calibri"/>
            </a:endParaRPr>
          </a:p>
          <a:p>
            <a:pPr marL="457200" marR="0" lvl="4"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Processar sucesso</a:t>
            </a:r>
            <a:endParaRPr sz="1800" b="0" i="0" u="none" strike="noStrike" cap="none">
              <a:solidFill>
                <a:schemeClr val="dk1"/>
              </a:solidFill>
              <a:latin typeface="Calibri"/>
              <a:ea typeface="Calibri"/>
              <a:cs typeface="Calibri"/>
              <a:sym typeface="Calibri"/>
            </a:endParaRPr>
          </a:p>
          <a:p>
            <a:pPr marL="571500" marR="0" lvl="5"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Finalizar venda</a:t>
            </a:r>
            <a:endParaRPr sz="1800" b="0" i="0" u="none" strike="noStrike" cap="none">
              <a:solidFill>
                <a:schemeClr val="dk1"/>
              </a:solidFill>
              <a:latin typeface="Calibri"/>
              <a:ea typeface="Calibri"/>
              <a:cs typeface="Calibri"/>
              <a:sym typeface="Calibri"/>
            </a:endParaRPr>
          </a:p>
          <a:p>
            <a:pPr marL="571500" marR="0" lvl="5"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457200" marR="0" lvl="4"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457200" marR="0" lvl="4"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Processar erro</a:t>
            </a:r>
            <a:endParaRPr sz="1800" b="0" i="0" u="none" strike="noStrike" cap="none">
              <a:solidFill>
                <a:schemeClr val="dk1"/>
              </a:solidFill>
              <a:latin typeface="Calibri"/>
              <a:ea typeface="Calibri"/>
              <a:cs typeface="Calibri"/>
              <a:sym typeface="Calibri"/>
            </a:endParaRPr>
          </a:p>
          <a:p>
            <a:pPr marL="571500" marR="0" lvl="5"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Cancelar venda</a:t>
            </a:r>
            <a:endParaRPr sz="1800" b="0" i="0" u="none" strike="noStrike" cap="none">
              <a:solidFill>
                <a:schemeClr val="dk1"/>
              </a:solidFill>
              <a:latin typeface="Calibri"/>
              <a:ea typeface="Calibri"/>
              <a:cs typeface="Calibri"/>
              <a:sym typeface="Calibri"/>
            </a:endParaRPr>
          </a:p>
          <a:p>
            <a:pPr marL="571500" marR="0" lvl="5"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457200" marR="0" lvl="4"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342900" marR="0" lvl="3"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228600" marR="0" lvl="2"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Estorno</a:t>
            </a:r>
            <a:endParaRPr sz="1800" b="0" i="0" u="none" strike="noStrike" cap="none">
              <a:solidFill>
                <a:schemeClr val="dk1"/>
              </a:solidFill>
              <a:latin typeface="Calibri"/>
              <a:ea typeface="Calibri"/>
              <a:cs typeface="Calibri"/>
              <a:sym typeface="Calibri"/>
            </a:endParaRPr>
          </a:p>
          <a:p>
            <a:pPr marL="342900" marR="0" lvl="3"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Envio da solicitação de estorno</a:t>
            </a:r>
            <a:endParaRPr sz="1800" b="0" i="0" u="none" strike="noStrike" cap="none">
              <a:solidFill>
                <a:schemeClr val="dk1"/>
              </a:solidFill>
              <a:latin typeface="Calibri"/>
              <a:ea typeface="Calibri"/>
              <a:cs typeface="Calibri"/>
              <a:sym typeface="Calibri"/>
            </a:endParaRPr>
          </a:p>
          <a:p>
            <a:pPr marL="342900" marR="0" lvl="3"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342900" marR="0" lvl="3"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Processamento da solicitação de estorno</a:t>
            </a:r>
            <a:endParaRPr sz="1800" b="0" i="0" u="none" strike="noStrike" cap="none">
              <a:solidFill>
                <a:schemeClr val="dk1"/>
              </a:solidFill>
              <a:latin typeface="Calibri"/>
              <a:ea typeface="Calibri"/>
              <a:cs typeface="Calibri"/>
              <a:sym typeface="Calibri"/>
            </a:endParaRPr>
          </a:p>
          <a:p>
            <a:pPr marL="457200" marR="0" lvl="4"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Processar sucesso</a:t>
            </a:r>
            <a:endParaRPr sz="1800" b="0" i="0" u="none" strike="noStrike" cap="none">
              <a:solidFill>
                <a:schemeClr val="dk1"/>
              </a:solidFill>
              <a:latin typeface="Calibri"/>
              <a:ea typeface="Calibri"/>
              <a:cs typeface="Calibri"/>
              <a:sym typeface="Calibri"/>
            </a:endParaRPr>
          </a:p>
          <a:p>
            <a:pPr marL="457200" marR="0" lvl="4"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457200" marR="0" lvl="4" indent="-114300" algn="l" rtl="0">
              <a:lnSpc>
                <a:spcPct val="75000"/>
              </a:lnSpc>
              <a:spcBef>
                <a:spcPts val="180"/>
              </a:spcBef>
              <a:spcAft>
                <a:spcPts val="0"/>
              </a:spcAft>
              <a:buClr>
                <a:schemeClr val="dk1"/>
              </a:buClr>
              <a:buSzPts val="1800"/>
              <a:buFont typeface="Calibri"/>
              <a:buChar char="•"/>
            </a:pPr>
            <a:r>
              <a:rPr lang="pt-BR" sz="1800" b="0" i="0" u="none" strike="noStrike" cap="none">
                <a:solidFill>
                  <a:schemeClr val="dk1"/>
                </a:solidFill>
                <a:latin typeface="Calibri"/>
                <a:ea typeface="Calibri"/>
                <a:cs typeface="Calibri"/>
                <a:sym typeface="Calibri"/>
              </a:rPr>
              <a:t>Processar erro</a:t>
            </a:r>
            <a:endParaRPr sz="1800" b="0" i="0" u="none" strike="noStrike" cap="none">
              <a:solidFill>
                <a:schemeClr val="dk1"/>
              </a:solidFill>
              <a:latin typeface="Calibri"/>
              <a:ea typeface="Calibri"/>
              <a:cs typeface="Calibri"/>
              <a:sym typeface="Calibri"/>
            </a:endParaRPr>
          </a:p>
          <a:p>
            <a:pPr marL="457200" marR="0" lvl="4"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342900" marR="0" lvl="3"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228600" marR="0" lvl="2"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00" name="Google Shape;200;p1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01" name="Google Shape;201;p12"/>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02" name="Google Shape;202;p1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12</a:t>
            </a:fld>
            <a:endParaRPr sz="6000">
              <a:solidFill>
                <a:schemeClr val="lt1"/>
              </a:solidFill>
              <a:latin typeface="Impact"/>
              <a:ea typeface="Impact"/>
              <a:cs typeface="Impact"/>
              <a:sym typeface="Impact"/>
            </a:endParaRPr>
          </a:p>
        </p:txBody>
      </p:sp>
      <p:sp>
        <p:nvSpPr>
          <p:cNvPr id="203" name="Google Shape;203;p12"/>
          <p:cNvSpPr txBox="1"/>
          <p:nvPr/>
        </p:nvSpPr>
        <p:spPr>
          <a:xfrm>
            <a:off x="971007" y="1732785"/>
            <a:ext cx="10236926" cy="48013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Classificando os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Na elicitação, os clientes não vão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apresentar uma lista sucinta,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completa e bem organizada de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suas necessidades. Dessa forma,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analistas devem classificar todas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informações e requisitos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levantados para poder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documentá-los adequadamente.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4" name="Google Shape;204;p12"/>
          <p:cNvSpPr txBox="1"/>
          <p:nvPr/>
        </p:nvSpPr>
        <p:spPr>
          <a:xfrm>
            <a:off x="7341326" y="6188221"/>
            <a:ext cx="240444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0" i="0" u="none" strike="noStrike" cap="none">
                <a:solidFill>
                  <a:schemeClr val="dk1"/>
                </a:solidFill>
                <a:latin typeface="Calibri"/>
                <a:ea typeface="Calibri"/>
                <a:cs typeface="Calibri"/>
                <a:sym typeface="Calibri"/>
              </a:rPr>
              <a:t>Fonte: Wigers e Beatty (2013)</a:t>
            </a:r>
            <a:r>
              <a:rPr lang="pt-B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pic>
        <p:nvPicPr>
          <p:cNvPr id="205" name="Google Shape;205;p12" descr="C:\Users\usuario\Documents\UniSatc\Engenharia de requisitos\Materiais\ClassificacaoRequisitosAnalise.png"/>
          <p:cNvPicPr preferRelativeResize="0"/>
          <p:nvPr/>
        </p:nvPicPr>
        <p:blipFill rotWithShape="1">
          <a:blip r:embed="rId5">
            <a:alphaModFix/>
          </a:blip>
          <a:srcRect/>
          <a:stretch/>
        </p:blipFill>
        <p:spPr>
          <a:xfrm>
            <a:off x="5812063" y="1844400"/>
            <a:ext cx="5436995" cy="42428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11" name="Google Shape;211;p1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12" name="Google Shape;212;p1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13" name="Google Shape;213;p1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13</a:t>
            </a:fld>
            <a:endParaRPr sz="6000">
              <a:solidFill>
                <a:schemeClr val="lt1"/>
              </a:solidFill>
              <a:latin typeface="Impact"/>
              <a:ea typeface="Impact"/>
              <a:cs typeface="Impact"/>
              <a:sym typeface="Impact"/>
            </a:endParaRPr>
          </a:p>
        </p:txBody>
      </p:sp>
      <p:sp>
        <p:nvSpPr>
          <p:cNvPr id="214" name="Google Shape;214;p13"/>
          <p:cNvSpPr txBox="1"/>
          <p:nvPr/>
        </p:nvSpPr>
        <p:spPr>
          <a:xfrm>
            <a:off x="971007" y="1732785"/>
            <a:ext cx="10236926" cy="38164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Requisitos de negócio: </a:t>
            </a:r>
            <a:r>
              <a:rPr lang="pt-BR" sz="2200" b="0" i="0" u="none" strike="noStrike" cap="none">
                <a:solidFill>
                  <a:schemeClr val="dk1"/>
                </a:solidFill>
                <a:latin typeface="Calibri"/>
                <a:ea typeface="Calibri"/>
                <a:cs typeface="Calibri"/>
                <a:sym typeface="Calibri"/>
              </a:rPr>
              <a:t>Qualquer coisa que descreva as necessidade de negócio 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benefícios que os clientes desejam obter com o produto.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“Desejo economizar R$ X por mês em eletricidade desperdiçada.”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Requisitos do usuário:</a:t>
            </a:r>
            <a:r>
              <a:rPr lang="pt-BR" sz="2200" b="0" i="0" u="none" strike="noStrike" cap="none">
                <a:solidFill>
                  <a:schemeClr val="dk1"/>
                </a:solidFill>
                <a:latin typeface="Calibri"/>
                <a:ea typeface="Calibri"/>
                <a:cs typeface="Calibri"/>
                <a:sym typeface="Calibri"/>
              </a:rPr>
              <a:t> descrições de objetivos do usuário ou de tarefas referentes ao negócio que o usuário precisam executar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“Preciso imprimir uma etiqueta de envio para um pacote.”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Regras de negócio:</a:t>
            </a:r>
            <a:r>
              <a:rPr lang="pt-BR" sz="2200" b="0" i="0" u="none" strike="noStrike" cap="none">
                <a:solidFill>
                  <a:schemeClr val="dk1"/>
                </a:solidFill>
                <a:latin typeface="Calibri"/>
                <a:ea typeface="Calibri"/>
                <a:cs typeface="Calibri"/>
                <a:sym typeface="Calibri"/>
              </a:rPr>
              <a:t> são regras referentes à operação do negócio do cliente.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“Para realizar compras no crediário, o cliente não pode ter inadimplências com a loja.”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20" name="Google Shape;220;p1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21" name="Google Shape;221;p1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22" name="Google Shape;222;p1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14</a:t>
            </a:fld>
            <a:endParaRPr sz="6000">
              <a:solidFill>
                <a:schemeClr val="lt1"/>
              </a:solidFill>
              <a:latin typeface="Impact"/>
              <a:ea typeface="Impact"/>
              <a:cs typeface="Impact"/>
              <a:sym typeface="Impact"/>
            </a:endParaRPr>
          </a:p>
        </p:txBody>
      </p:sp>
      <p:sp>
        <p:nvSpPr>
          <p:cNvPr id="223" name="Google Shape;223;p14"/>
          <p:cNvSpPr txBox="1"/>
          <p:nvPr/>
        </p:nvSpPr>
        <p:spPr>
          <a:xfrm>
            <a:off x="971007" y="1732785"/>
            <a:ext cx="10236926" cy="44935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Requisitos funcionais:</a:t>
            </a:r>
            <a:r>
              <a:rPr lang="pt-BR" sz="2200" b="0" i="0" u="none" strike="noStrike" cap="none">
                <a:solidFill>
                  <a:schemeClr val="dk1"/>
                </a:solidFill>
                <a:latin typeface="Calibri"/>
                <a:ea typeface="Calibri"/>
                <a:cs typeface="Calibri"/>
                <a:sym typeface="Calibri"/>
              </a:rPr>
              <a:t> descrevem os comportamentos do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“Preciso ordenar a lista de clientes em ordem alfabética de forma direta e reversa.“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Requisitos não funcionais:</a:t>
            </a:r>
            <a:r>
              <a:rPr lang="pt-BR" sz="2200" b="0" i="0" u="none" strike="noStrike" cap="none">
                <a:solidFill>
                  <a:schemeClr val="dk1"/>
                </a:solidFill>
                <a:latin typeface="Calibri"/>
                <a:ea typeface="Calibri"/>
                <a:cs typeface="Calibri"/>
                <a:sym typeface="Calibri"/>
              </a:rPr>
              <a:t> descrevem características relacionadas desempenho, usabilidade, confiabilidade, segurança, entre outros.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“A forma para aplicar cupons no carrinho de compras deve ser visível e fácil de entender, para que meus clientes não abandonem a compra.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Restrições: </a:t>
            </a:r>
            <a:r>
              <a:rPr lang="pt-BR" sz="2200" b="0" i="0" u="none" strike="noStrike" cap="none">
                <a:solidFill>
                  <a:schemeClr val="dk1"/>
                </a:solidFill>
                <a:latin typeface="Calibri"/>
                <a:ea typeface="Calibri"/>
                <a:cs typeface="Calibri"/>
                <a:sym typeface="Calibri"/>
              </a:rPr>
              <a:t> são limitações externas ou internas ao projeto. Sempre que possível, é importante saber porque a restrição existe e registrar a sua justificativa.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“Nossa equipe só poderá atendê-los das 8h às 12h.”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1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29" name="Google Shape;229;p1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30" name="Google Shape;230;p15"/>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31" name="Google Shape;231;p1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15</a:t>
            </a:fld>
            <a:endParaRPr sz="6000">
              <a:solidFill>
                <a:schemeClr val="lt1"/>
              </a:solidFill>
              <a:latin typeface="Impact"/>
              <a:ea typeface="Impact"/>
              <a:cs typeface="Impact"/>
              <a:sym typeface="Impact"/>
            </a:endParaRPr>
          </a:p>
        </p:txBody>
      </p:sp>
      <p:sp>
        <p:nvSpPr>
          <p:cNvPr id="232" name="Google Shape;232;p15"/>
          <p:cNvSpPr txBox="1"/>
          <p:nvPr/>
        </p:nvSpPr>
        <p:spPr>
          <a:xfrm>
            <a:off x="971007" y="1732785"/>
            <a:ext cx="10236926"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Requisitos de dados: </a:t>
            </a:r>
            <a:r>
              <a:rPr lang="pt-BR" sz="2200" b="0" i="0" u="none" strike="noStrike" cap="none">
                <a:solidFill>
                  <a:schemeClr val="dk1"/>
                </a:solidFill>
                <a:latin typeface="Calibri"/>
                <a:ea typeface="Calibri"/>
                <a:cs typeface="Calibri"/>
                <a:sym typeface="Calibri"/>
              </a:rPr>
              <a:t>descrevem o formato, tipo de dados, valores permitidos ou valor padrão para um elemento de dados.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 Exemplo: “A gente trabalha com 4 casas decimais em informações como quantidade.”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E4E79"/>
                </a:solidFill>
                <a:latin typeface="Calibri"/>
                <a:ea typeface="Calibri"/>
                <a:cs typeface="Calibri"/>
                <a:sym typeface="Calibri"/>
              </a:rPr>
              <a:t>Ideias de soluções:</a:t>
            </a:r>
            <a:r>
              <a:rPr lang="pt-BR" sz="2200" b="0" i="0" u="none" strike="noStrike" cap="none">
                <a:solidFill>
                  <a:schemeClr val="dk1"/>
                </a:solidFill>
                <a:latin typeface="Calibri"/>
                <a:ea typeface="Calibri"/>
                <a:cs typeface="Calibri"/>
                <a:sym typeface="Calibri"/>
              </a:rPr>
              <a:t> Muitos requisitos dos usuários são, na verdade, ideias de soluções. O analista precisa entender uma ideia de solução para chegar ao requisito real. Perguntar o porque daquela sugestão pode revelar a verdadeira necessidade.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“Preciso de uma tela onde eu possa ver a listagem de clientes e onde tenha um botão para enviar um email para um cliente em específico ou para vários clientes ao mesmo tempo.”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38" name="Google Shape;238;p1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39" name="Google Shape;239;p1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40" name="Google Shape;240;p1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16</a:t>
            </a:fld>
            <a:endParaRPr sz="6000">
              <a:solidFill>
                <a:schemeClr val="lt1"/>
              </a:solidFill>
              <a:latin typeface="Impact"/>
              <a:ea typeface="Impact"/>
              <a:cs typeface="Impact"/>
              <a:sym typeface="Impact"/>
            </a:endParaRPr>
          </a:p>
        </p:txBody>
      </p:sp>
      <p:sp>
        <p:nvSpPr>
          <p:cNvPr id="241" name="Google Shape;241;p16"/>
          <p:cNvSpPr txBox="1"/>
          <p:nvPr/>
        </p:nvSpPr>
        <p:spPr>
          <a:xfrm>
            <a:off x="971007" y="1589092"/>
            <a:ext cx="10236926" cy="41549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Levantamento de requisitos com uma atendente da padaria do bairro, referente ao atendimento de um cliente:</a:t>
            </a: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"Olha, hoje o cliente chega na padaria, eu atendo ele né, vendo os pães, os bolos, e separo tudo. Então eu peso os pães e vou somando na calculadora o quanto vai dar, junto com as outras coisas que o cliente comprou.</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Dai se o cliente quiser anotar na continha dele, eu anoto a data e o valor da compra em um bloquinho que temos, e coloco na caixinha dos bilhetinhos.</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Se o cliente quiser pagar, eu chamo o responsável pela cobrança, que pode ser um dos donos da padaria ou a Maria."</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1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47" name="Google Shape;247;p1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48" name="Google Shape;248;p1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49" name="Google Shape;249;p1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17</a:t>
            </a:fld>
            <a:endParaRPr sz="6000">
              <a:solidFill>
                <a:schemeClr val="lt1"/>
              </a:solidFill>
              <a:latin typeface="Impact"/>
              <a:ea typeface="Impact"/>
              <a:cs typeface="Impact"/>
              <a:sym typeface="Impact"/>
            </a:endParaRPr>
          </a:p>
        </p:txBody>
      </p:sp>
      <p:sp>
        <p:nvSpPr>
          <p:cNvPr id="250" name="Google Shape;250;p17"/>
          <p:cNvSpPr txBox="1"/>
          <p:nvPr/>
        </p:nvSpPr>
        <p:spPr>
          <a:xfrm>
            <a:off x="971007" y="1628281"/>
            <a:ext cx="10236900" cy="461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2F5496"/>
                </a:solidFill>
                <a:latin typeface="Calibri"/>
                <a:ea typeface="Calibri"/>
                <a:cs typeface="Calibri"/>
                <a:sym typeface="Calibri"/>
              </a:rPr>
              <a:t>Histórias d</a:t>
            </a:r>
            <a:r>
              <a:rPr lang="pt-BR" sz="2400" b="1">
                <a:solidFill>
                  <a:srgbClr val="2F5496"/>
                </a:solidFill>
                <a:latin typeface="Calibri"/>
                <a:ea typeface="Calibri"/>
                <a:cs typeface="Calibri"/>
                <a:sym typeface="Calibri"/>
              </a:rPr>
              <a:t>e</a:t>
            </a:r>
            <a:r>
              <a:rPr lang="pt-BR" sz="2400" b="1" i="0" u="none" strike="noStrike" cap="none">
                <a:solidFill>
                  <a:srgbClr val="2F5496"/>
                </a:solidFill>
                <a:latin typeface="Calibri"/>
                <a:ea typeface="Calibri"/>
                <a:cs typeface="Calibri"/>
                <a:sym typeface="Calibri"/>
              </a:rPr>
              <a:t> usuário - </a:t>
            </a:r>
            <a:r>
              <a:rPr lang="pt-BR" sz="2400" b="1">
                <a:solidFill>
                  <a:srgbClr val="2F5496"/>
                </a:solidFill>
                <a:latin typeface="Calibri"/>
                <a:ea typeface="Calibri"/>
                <a:cs typeface="Calibri"/>
                <a:sym typeface="Calibri"/>
              </a:rPr>
              <a:t>User Stories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É uma declaração resumida sobre algo que o sistema deve executar para o usuário, adotado por muitas equipes que trabalham em projetos ágeis.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É uma representação clara e informal que expressa a necessidade e/ou requisito na visão de um usuário. São muito usadas em conjunto com metodologias ágeis.</a:t>
            </a:r>
            <a:br>
              <a:rPr lang="pt-BR" sz="2200" b="0" i="0" u="none" strike="noStrike" cap="none">
                <a:solidFill>
                  <a:schemeClr val="dk1"/>
                </a:solidFill>
                <a:latin typeface="Calibri"/>
                <a:ea typeface="Calibri"/>
                <a:cs typeface="Calibri"/>
                <a:sym typeface="Calibri"/>
              </a:rPr>
            </a:br>
            <a:r>
              <a:rPr lang="pt-BR" sz="2200" b="0" i="0" u="none" strike="noStrike" cap="none">
                <a:solidFill>
                  <a:schemeClr val="dk1"/>
                </a:solidFill>
                <a:latin typeface="Calibri"/>
                <a:ea typeface="Calibri"/>
                <a:cs typeface="Calibri"/>
                <a:sym typeface="Calibri"/>
              </a:rPr>
              <a:t> </a:t>
            </a:r>
            <a:br>
              <a:rPr lang="pt-BR" sz="2200" b="0" i="0" u="none" strike="noStrike" cap="none">
                <a:solidFill>
                  <a:schemeClr val="dk1"/>
                </a:solidFill>
                <a:latin typeface="Calibri"/>
                <a:ea typeface="Calibri"/>
                <a:cs typeface="Calibri"/>
                <a:sym typeface="Calibri"/>
              </a:rPr>
            </a:br>
            <a:r>
              <a:rPr lang="pt-BR" sz="2200" b="0" i="0" u="none" strike="noStrike" cap="none">
                <a:solidFill>
                  <a:schemeClr val="dk1"/>
                </a:solidFill>
                <a:latin typeface="Calibri"/>
                <a:ea typeface="Calibri"/>
                <a:cs typeface="Calibri"/>
                <a:sym typeface="Calibri"/>
              </a:rPr>
              <a:t>Define o escopo sem entrar em detalhes das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regras de negócio, sendo que esses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detalhes são descritos em interações entre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os  integrantes da equipe de desenvolvimento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 o dono do produto.</a:t>
            </a:r>
            <a:endParaRPr sz="2200" b="0" i="0" u="none" strike="noStrike" cap="none">
              <a:solidFill>
                <a:schemeClr val="dk1"/>
              </a:solidFill>
              <a:latin typeface="Calibri"/>
              <a:ea typeface="Calibri"/>
              <a:cs typeface="Calibri"/>
              <a:sym typeface="Calibri"/>
            </a:endParaRPr>
          </a:p>
        </p:txBody>
      </p:sp>
      <p:pic>
        <p:nvPicPr>
          <p:cNvPr id="251" name="Google Shape;251;p17" descr="Você já utilizou Histórias de Usuário?﻿ - método TI"/>
          <p:cNvPicPr preferRelativeResize="0"/>
          <p:nvPr/>
        </p:nvPicPr>
        <p:blipFill rotWithShape="1">
          <a:blip r:embed="rId5">
            <a:alphaModFix/>
          </a:blip>
          <a:srcRect/>
          <a:stretch/>
        </p:blipFill>
        <p:spPr>
          <a:xfrm>
            <a:off x="6662062" y="4280134"/>
            <a:ext cx="4080185" cy="20002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1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57" name="Google Shape;257;p1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58" name="Google Shape;258;p1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59" name="Google Shape;259;p1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18</a:t>
            </a:fld>
            <a:endParaRPr sz="6000">
              <a:solidFill>
                <a:schemeClr val="lt1"/>
              </a:solidFill>
              <a:latin typeface="Impact"/>
              <a:ea typeface="Impact"/>
              <a:cs typeface="Impact"/>
              <a:sym typeface="Impact"/>
            </a:endParaRPr>
          </a:p>
        </p:txBody>
      </p:sp>
      <p:sp>
        <p:nvSpPr>
          <p:cNvPr id="260" name="Google Shape;260;p18"/>
          <p:cNvSpPr txBox="1"/>
          <p:nvPr/>
        </p:nvSpPr>
        <p:spPr>
          <a:xfrm>
            <a:off x="971007" y="1628281"/>
            <a:ext cx="10236926" cy="48936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2F5496"/>
                </a:solidFill>
                <a:latin typeface="Calibri"/>
                <a:ea typeface="Calibri"/>
                <a:cs typeface="Calibri"/>
                <a:sym typeface="Calibri"/>
              </a:rPr>
              <a:t>Casos de uso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casos de uso descrevem as interações detalhadas entre o sistema e seus usuários e representa o software ou o sistema do ponto de vista do usuário.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Pode também ser representado pelo diagrama UML de caso de uso.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Eles fornecem informações para serem utilizadas em três áreas do projeto:</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Noto Sans Symbols"/>
              <a:buChar char="⮚"/>
            </a:pPr>
            <a:r>
              <a:rPr lang="pt-BR" sz="2400" b="1" i="0" u="none" strike="noStrike" cap="none">
                <a:solidFill>
                  <a:schemeClr val="dk1"/>
                </a:solidFill>
                <a:latin typeface="Calibri"/>
                <a:ea typeface="Calibri"/>
                <a:cs typeface="Calibri"/>
                <a:sym typeface="Calibri"/>
              </a:rPr>
              <a:t> Definição de requisitos: </a:t>
            </a:r>
            <a:r>
              <a:rPr lang="pt-BR" sz="2400" b="0" i="0" u="none" strike="noStrike" cap="none">
                <a:solidFill>
                  <a:schemeClr val="dk1"/>
                </a:solidFill>
                <a:latin typeface="Calibri"/>
                <a:ea typeface="Calibri"/>
                <a:cs typeface="Calibri"/>
                <a:sym typeface="Calibri"/>
              </a:rPr>
              <a:t>auxilia na leitura e entendimento dos cenários, bem como devem ser criados e atualizados de acordo com as mudanças do sistema;</a:t>
            </a:r>
            <a:endParaRPr sz="2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Noto Sans Symbols"/>
              <a:buChar char="⮚"/>
            </a:pPr>
            <a:r>
              <a:rPr lang="pt-BR" sz="2400" b="1" i="0" u="none" strike="noStrike" cap="none">
                <a:solidFill>
                  <a:schemeClr val="dk1"/>
                </a:solidFill>
                <a:latin typeface="Calibri"/>
                <a:ea typeface="Calibri"/>
                <a:cs typeface="Calibri"/>
                <a:sym typeface="Calibri"/>
              </a:rPr>
              <a:t> Comunicação com stakeholders: </a:t>
            </a:r>
            <a:r>
              <a:rPr lang="pt-BR" sz="2400" b="0" i="0" u="none" strike="noStrike" cap="none">
                <a:solidFill>
                  <a:schemeClr val="dk1"/>
                </a:solidFill>
                <a:latin typeface="Calibri"/>
                <a:ea typeface="Calibri"/>
                <a:cs typeface="Calibri"/>
                <a:sym typeface="Calibri"/>
              </a:rPr>
              <a:t>por serem simples, facilita a comunicação com o cliente.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1" i="0" u="none" strike="noStrike" cap="none">
                <a:solidFill>
                  <a:schemeClr val="dk1"/>
                </a:solidFill>
                <a:latin typeface="Calibri"/>
                <a:ea typeface="Calibri"/>
                <a:cs typeface="Calibri"/>
                <a:sym typeface="Calibri"/>
              </a:rPr>
              <a:t> Casos de teste: </a:t>
            </a:r>
            <a:r>
              <a:rPr lang="pt-BR" sz="2400" b="0" i="0" u="none" strike="noStrike" cap="none">
                <a:solidFill>
                  <a:schemeClr val="dk1"/>
                </a:solidFill>
                <a:latin typeface="Calibri"/>
                <a:ea typeface="Calibri"/>
                <a:cs typeface="Calibri"/>
                <a:sym typeface="Calibri"/>
              </a:rPr>
              <a:t>serve de insumo para a criação de casos de teste.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1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66" name="Google Shape;266;p1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67" name="Google Shape;267;p1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68" name="Google Shape;268;p1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19</a:t>
            </a:fld>
            <a:endParaRPr sz="6000">
              <a:solidFill>
                <a:schemeClr val="lt1"/>
              </a:solidFill>
              <a:latin typeface="Impact"/>
              <a:ea typeface="Impact"/>
              <a:cs typeface="Impact"/>
              <a:sym typeface="Impact"/>
            </a:endParaRPr>
          </a:p>
        </p:txBody>
      </p:sp>
      <p:sp>
        <p:nvSpPr>
          <p:cNvPr id="269" name="Google Shape;269;p19"/>
          <p:cNvSpPr txBox="1"/>
          <p:nvPr/>
        </p:nvSpPr>
        <p:spPr>
          <a:xfrm>
            <a:off x="971007" y="1628281"/>
            <a:ext cx="10236926"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 primeiro passo ao escrever um caso de uso é definir os atores envolvidos, que são as diferentes pessoas (ou dispositivos) que usam 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1" u="none" strike="noStrike" cap="none">
                <a:solidFill>
                  <a:schemeClr val="dk1"/>
                </a:solidFill>
                <a:latin typeface="Calibri"/>
                <a:ea typeface="Calibri"/>
                <a:cs typeface="Calibri"/>
                <a:sym typeface="Calibri"/>
              </a:rPr>
              <a:t>Atores: </a:t>
            </a:r>
            <a:r>
              <a:rPr lang="pt-BR" sz="2400" b="0" i="0" u="none" strike="noStrike" cap="none">
                <a:solidFill>
                  <a:schemeClr val="dk1"/>
                </a:solidFill>
                <a:latin typeface="Calibri"/>
                <a:ea typeface="Calibri"/>
                <a:cs typeface="Calibri"/>
                <a:sym typeface="Calibri"/>
              </a:rPr>
              <a:t>Representam uma pessoa ou entidade que interage com o software.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atores podem ser: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Quem irá utilizar uma determinada funcionalidade do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 parte interessada em determinado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Recursos externos e sistemas que interagem com 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Dispositivos de </a:t>
            </a:r>
            <a:r>
              <a:rPr lang="pt-BR" sz="2400" b="0" i="1" u="none" strike="noStrike" cap="none">
                <a:solidFill>
                  <a:schemeClr val="dk1"/>
                </a:solidFill>
                <a:latin typeface="Calibri"/>
                <a:ea typeface="Calibri"/>
                <a:cs typeface="Calibri"/>
                <a:sym typeface="Calibri"/>
              </a:rPr>
              <a:t>hardware</a:t>
            </a:r>
            <a:r>
              <a:rPr lang="pt-BR" sz="2400" b="0" i="0" u="none" strike="noStrike" cap="none">
                <a:solidFill>
                  <a:schemeClr val="dk1"/>
                </a:solidFill>
                <a:latin typeface="Calibri"/>
                <a:ea typeface="Calibri"/>
                <a:cs typeface="Calibri"/>
                <a:sym typeface="Calibri"/>
              </a:rPr>
              <a:t> que provém ou obtém alguma informação do sistema (Ex.: sensores, cartões inteligentes.)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2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75" name="Google Shape;275;p2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76" name="Google Shape;276;p2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77" name="Google Shape;277;p2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20</a:t>
            </a:fld>
            <a:endParaRPr sz="6000">
              <a:solidFill>
                <a:schemeClr val="lt1"/>
              </a:solidFill>
              <a:latin typeface="Impact"/>
              <a:ea typeface="Impact"/>
              <a:cs typeface="Impact"/>
              <a:sym typeface="Impact"/>
            </a:endParaRPr>
          </a:p>
        </p:txBody>
      </p:sp>
      <p:sp>
        <p:nvSpPr>
          <p:cNvPr id="278" name="Google Shape;278;p20"/>
          <p:cNvSpPr txBox="1"/>
          <p:nvPr/>
        </p:nvSpPr>
        <p:spPr>
          <a:xfrm>
            <a:off x="971007" y="1628281"/>
            <a:ext cx="10236926"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Em seguida, os casos de uso podem ser desenvolvidos, apresentando uma história detalhada que descreve a interação entre o ator e 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Para isso, algumas perguntas podem ser respondidas por um caso de uso:</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Quais são as metas do ator?</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Que precondições devem existir antes de uma jornada começar?</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Que tarefas ou funções principais são realizadas pelo ator?</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Que exceções poderiam ser consideradas à medida que uma jornada é</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descrita?</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Quais são as variações possíveis na interação do ator?</a:t>
            </a:r>
            <a:endParaRPr sz="2400" b="1"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2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84" name="Google Shape;284;p2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85" name="Google Shape;285;p2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86" name="Google Shape;286;p2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21</a:t>
            </a:fld>
            <a:endParaRPr sz="6000">
              <a:solidFill>
                <a:schemeClr val="lt1"/>
              </a:solidFill>
              <a:latin typeface="Impact"/>
              <a:ea typeface="Impact"/>
              <a:cs typeface="Impact"/>
              <a:sym typeface="Impact"/>
            </a:endParaRPr>
          </a:p>
        </p:txBody>
      </p:sp>
      <p:sp>
        <p:nvSpPr>
          <p:cNvPr id="287" name="Google Shape;287;p21"/>
          <p:cNvSpPr txBox="1"/>
          <p:nvPr/>
        </p:nvSpPr>
        <p:spPr>
          <a:xfrm>
            <a:off x="971007" y="1628281"/>
            <a:ext cx="10236926" cy="47705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Especificação de casos de uso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Descreve uma seqüência de ações que o sistema deve realizar para produzir uma resposta para um ator.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São especificadas informações gerais do caso de uso e quais atores interagem com ele. Contém o cenário principal e também cenários alternativos, que podem ser executados ou não, dependendo se uma condição for satisfeita.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Na especificação do caso de uso, o mesmo deve ter o seu comportamento descrito em um documento, utilizando um modelo que melhor se adeque ao contexto.</a:t>
            </a:r>
            <a:r>
              <a:rPr lang="pt-BR" sz="2000" b="0" i="0" u="none" strike="noStrike" cap="none">
                <a:solidFill>
                  <a:schemeClr val="dk1"/>
                </a:solidFill>
                <a:latin typeface="Calibri"/>
                <a:ea typeface="Calibri"/>
                <a:cs typeface="Calibri"/>
                <a:sym typeface="Calibri"/>
              </a:rPr>
              <a:t/>
            </a:r>
            <a:br>
              <a:rPr lang="pt-BR" sz="2000" b="0" i="0" u="none" strike="noStrike" cap="none">
                <a:solidFill>
                  <a:schemeClr val="dk1"/>
                </a:solidFill>
                <a:latin typeface="Calibri"/>
                <a:ea typeface="Calibri"/>
                <a:cs typeface="Calibri"/>
                <a:sym typeface="Calibri"/>
              </a:rPr>
            </a:br>
            <a:endParaRPr sz="1600" b="1"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2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93" name="Google Shape;293;p2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94" name="Google Shape;294;p2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295" name="Google Shape;295;p2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22</a:t>
            </a:fld>
            <a:endParaRPr sz="6000">
              <a:solidFill>
                <a:schemeClr val="lt1"/>
              </a:solidFill>
              <a:latin typeface="Impact"/>
              <a:ea typeface="Impact"/>
              <a:cs typeface="Impact"/>
              <a:sym typeface="Impact"/>
            </a:endParaRPr>
          </a:p>
        </p:txBody>
      </p:sp>
      <p:sp>
        <p:nvSpPr>
          <p:cNvPr id="296" name="Google Shape;296;p22"/>
          <p:cNvSpPr txBox="1"/>
          <p:nvPr/>
        </p:nvSpPr>
        <p:spPr>
          <a:xfrm>
            <a:off x="971007" y="1628281"/>
            <a:ext cx="10236926" cy="54784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Deve atender, basicamente, aos seguinte itens: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Nome do caso de uso</a:t>
            </a:r>
            <a:r>
              <a:rPr lang="pt-BR" sz="2400" b="0" i="0" u="none" strike="noStrike" cap="none">
                <a:solidFill>
                  <a:schemeClr val="dk1"/>
                </a:solidFill>
                <a:latin typeface="Calibri"/>
                <a:ea typeface="Calibri"/>
                <a:cs typeface="Calibri"/>
                <a:sym typeface="Calibri"/>
              </a:rPr>
              <a:t>: identifica de forma clara o objetivo do caso de uso.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1" i="0" u="none" strike="noStrike" cap="none">
                <a:solidFill>
                  <a:schemeClr val="dk1"/>
                </a:solidFill>
                <a:latin typeface="Calibri"/>
                <a:ea typeface="Calibri"/>
                <a:cs typeface="Calibri"/>
                <a:sym typeface="Calibri"/>
              </a:rPr>
              <a:t> Atores:</a:t>
            </a:r>
            <a:r>
              <a:rPr lang="pt-BR" sz="2400" b="0" i="0" u="none" strike="noStrike" cap="none">
                <a:solidFill>
                  <a:schemeClr val="dk1"/>
                </a:solidFill>
                <a:latin typeface="Calibri"/>
                <a:ea typeface="Calibri"/>
                <a:cs typeface="Calibri"/>
                <a:sym typeface="Calibri"/>
              </a:rPr>
              <a:t> são todas as entidades que interagem com a funcionalidade especificada no caso de uso.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Descrição do comportamento esperado do caso de uso: </a:t>
            </a:r>
            <a:r>
              <a:rPr lang="pt-BR" sz="2400" b="0" i="0" u="none" strike="noStrike" cap="none">
                <a:solidFill>
                  <a:schemeClr val="dk1"/>
                </a:solidFill>
                <a:latin typeface="Calibri"/>
                <a:ea typeface="Calibri"/>
                <a:cs typeface="Calibri"/>
                <a:sym typeface="Calibri"/>
              </a:rPr>
              <a:t>é uma descrição breve e clara que permite o entendimento do objetivo do caso de uso.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Pré condições:</a:t>
            </a:r>
            <a:r>
              <a:rPr lang="pt-BR" sz="2400" b="0" i="0" u="none" strike="noStrike" cap="none">
                <a:solidFill>
                  <a:schemeClr val="dk1"/>
                </a:solidFill>
                <a:latin typeface="Calibri"/>
                <a:ea typeface="Calibri"/>
                <a:cs typeface="Calibri"/>
                <a:sym typeface="Calibri"/>
              </a:rPr>
              <a:t> é o estado em que o sistema deve se encontrar ou o conjunto de operações que devem ser realizadas para que o caso de uso seja iniciado.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dk1"/>
              </a:buClr>
              <a:buSzPts val="1600"/>
              <a:buFont typeface="Noto Sans Symbols"/>
              <a:buNone/>
            </a:pPr>
            <a:endParaRPr sz="1600" b="1"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2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02" name="Google Shape;302;p2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03" name="Google Shape;303;p2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304" name="Google Shape;304;p2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23</a:t>
            </a:fld>
            <a:endParaRPr sz="6000">
              <a:solidFill>
                <a:schemeClr val="lt1"/>
              </a:solidFill>
              <a:latin typeface="Impact"/>
              <a:ea typeface="Impact"/>
              <a:cs typeface="Impact"/>
              <a:sym typeface="Impact"/>
            </a:endParaRPr>
          </a:p>
        </p:txBody>
      </p:sp>
      <p:sp>
        <p:nvSpPr>
          <p:cNvPr id="305" name="Google Shape;305;p23"/>
          <p:cNvSpPr txBox="1"/>
          <p:nvPr/>
        </p:nvSpPr>
        <p:spPr>
          <a:xfrm>
            <a:off x="971007" y="1628281"/>
            <a:ext cx="10236926" cy="4401205"/>
          </a:xfrm>
          <a:prstGeom prst="rect">
            <a:avLst/>
          </a:prstGeom>
          <a:noFill/>
          <a:ln>
            <a:noFill/>
          </a:ln>
        </p:spPr>
        <p:txBody>
          <a:bodyPr spcFirstLastPara="1" wrap="square" lIns="91425" tIns="45700" rIns="91425" bIns="45700" anchor="t" anchorCtr="0">
            <a:spAutoFit/>
          </a:bodyPr>
          <a:lstStyle/>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Pós condições:</a:t>
            </a:r>
            <a:r>
              <a:rPr lang="pt-BR" sz="2400" b="0" i="0" u="none" strike="noStrike" cap="none">
                <a:solidFill>
                  <a:schemeClr val="dk1"/>
                </a:solidFill>
                <a:latin typeface="Calibri"/>
                <a:ea typeface="Calibri"/>
                <a:cs typeface="Calibri"/>
                <a:sym typeface="Calibri"/>
              </a:rPr>
              <a:t> são possíveis estados em que o sistema deve se encontrar no fim do caso de uso.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Cenário principal:</a:t>
            </a:r>
            <a:r>
              <a:rPr lang="pt-BR" sz="2400" b="0" i="0" u="none" strike="noStrike" cap="none">
                <a:solidFill>
                  <a:schemeClr val="dk1"/>
                </a:solidFill>
                <a:latin typeface="Calibri"/>
                <a:ea typeface="Calibri"/>
                <a:cs typeface="Calibri"/>
                <a:sym typeface="Calibri"/>
              </a:rPr>
              <a:t> especifica o comportamento principal da funcionalidade.</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t>
            </a:r>
            <a:r>
              <a:rPr lang="pt-BR" sz="2400" b="1" i="0" u="none" strike="noStrike" cap="none">
                <a:solidFill>
                  <a:schemeClr val="dk1"/>
                </a:solidFill>
                <a:latin typeface="Calibri"/>
                <a:ea typeface="Calibri"/>
                <a:cs typeface="Calibri"/>
                <a:sym typeface="Calibri"/>
              </a:rPr>
              <a:t>Cenários alternativos: </a:t>
            </a:r>
            <a:r>
              <a:rPr lang="pt-BR" sz="2400" b="0" i="0" u="none" strike="noStrike" cap="none">
                <a:solidFill>
                  <a:schemeClr val="dk1"/>
                </a:solidFill>
                <a:latin typeface="Calibri"/>
                <a:ea typeface="Calibri"/>
                <a:cs typeface="Calibri"/>
                <a:sym typeface="Calibri"/>
              </a:rPr>
              <a:t>São cenários que podem ocorrer numa funcionalidade a partir de uma escolha feita pelo usuário, que vai alterar o comportamento da funcionalidade, e não a partir de erros do sistema.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Calibri"/>
              <a:ea typeface="Calibri"/>
              <a:cs typeface="Calibri"/>
              <a:sym typeface="Calibri"/>
            </a:endParaRPr>
          </a:p>
          <a:p>
            <a:pPr marL="457200" marR="0" lvl="1" indent="-152400" algn="l" rtl="0">
              <a:lnSpc>
                <a:spcPct val="100000"/>
              </a:lnSpc>
              <a:spcBef>
                <a:spcPts val="0"/>
              </a:spcBef>
              <a:spcAft>
                <a:spcPts val="0"/>
              </a:spcAft>
              <a:buClr>
                <a:schemeClr val="dk1"/>
              </a:buClr>
              <a:buSzPts val="2400"/>
              <a:buFont typeface="Noto Sans Symbols"/>
              <a:buChar char="▪"/>
            </a:pPr>
            <a:r>
              <a:rPr lang="pt-BR" sz="2400" b="1" i="0" u="none" strike="noStrike" cap="none">
                <a:solidFill>
                  <a:schemeClr val="dk1"/>
                </a:solidFill>
                <a:latin typeface="Calibri"/>
                <a:ea typeface="Calibri"/>
                <a:cs typeface="Calibri"/>
                <a:sym typeface="Calibri"/>
              </a:rPr>
              <a:t> Exceções: </a:t>
            </a:r>
            <a:r>
              <a:rPr lang="pt-BR" sz="2400" b="0" i="0" u="none" strike="noStrike" cap="none">
                <a:solidFill>
                  <a:schemeClr val="dk1"/>
                </a:solidFill>
                <a:latin typeface="Calibri"/>
                <a:ea typeface="Calibri"/>
                <a:cs typeface="Calibri"/>
                <a:sym typeface="Calibri"/>
              </a:rPr>
              <a:t>São os processos que podem dar errado no caso de uso. Pode-se informar qual será o fluxo a ser seguido quando a exceção ocorrer.</a:t>
            </a:r>
            <a:endParaRPr sz="24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dk1"/>
              </a:buClr>
              <a:buSzPts val="1600"/>
              <a:buFont typeface="Noto Sans Symbols"/>
              <a:buNone/>
            </a:pPr>
            <a:endParaRPr sz="1600" b="1"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2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11" name="Google Shape;311;p2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12" name="Google Shape;312;p2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Levantamento – Técnicas de elicitação</a:t>
            </a:r>
            <a:endParaRPr sz="4800" b="0" i="0" u="none" strike="noStrike" cap="none">
              <a:solidFill>
                <a:srgbClr val="003958"/>
              </a:solidFill>
              <a:latin typeface="Calibri"/>
              <a:ea typeface="Calibri"/>
              <a:cs typeface="Calibri"/>
              <a:sym typeface="Calibri"/>
            </a:endParaRPr>
          </a:p>
        </p:txBody>
      </p:sp>
      <p:sp>
        <p:nvSpPr>
          <p:cNvPr id="313" name="Google Shape;313;p2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24</a:t>
            </a:fld>
            <a:endParaRPr sz="6000">
              <a:solidFill>
                <a:schemeClr val="lt1"/>
              </a:solidFill>
              <a:latin typeface="Impact"/>
              <a:ea typeface="Impact"/>
              <a:cs typeface="Impact"/>
              <a:sym typeface="Impact"/>
            </a:endParaRPr>
          </a:p>
        </p:txBody>
      </p:sp>
      <p:sp>
        <p:nvSpPr>
          <p:cNvPr id="314" name="Google Shape;314;p24"/>
          <p:cNvSpPr txBox="1"/>
          <p:nvPr/>
        </p:nvSpPr>
        <p:spPr>
          <a:xfrm>
            <a:off x="357158" y="1214422"/>
            <a:ext cx="7500990" cy="4714908"/>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a:solidFill>
                <a:srgbClr val="FF0000"/>
              </a:solidFill>
              <a:latin typeface="Calibri"/>
              <a:ea typeface="Calibri"/>
              <a:cs typeface="Calibri"/>
              <a:sym typeface="Calibri"/>
            </a:endParaRPr>
          </a:p>
        </p:txBody>
      </p:sp>
      <p:sp>
        <p:nvSpPr>
          <p:cNvPr id="315" name="Google Shape;315;p24"/>
          <p:cNvSpPr txBox="1"/>
          <p:nvPr/>
        </p:nvSpPr>
        <p:spPr>
          <a:xfrm>
            <a:off x="1028671" y="1643050"/>
            <a:ext cx="9931065" cy="471490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Cenário de uma compra no ecommerce: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“Um cliente adiciona vários itens ao seu carrinho. Ele segue para a finalização da sua compra. É mostrado um resumo do carrinho, com os itens e valores. O cliente segue para a página de pagamento. O cliente seleciona a forma de pagamento de Cartão de Crédito. Ele pode pagar tanto em apenas um cartão de crédito quanto selecionar a opção de pagamento em dois cartões. Ele informa os dados do cartão de crédito e finaliza a compra. Se o pagamento for aprovado, a compra é realizada.”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2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21" name="Google Shape;321;p2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22" name="Google Shape;322;p25"/>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Modelagem de requisitos</a:t>
            </a:r>
            <a:endParaRPr sz="4800" b="0" i="0" u="none" strike="noStrike" cap="none">
              <a:solidFill>
                <a:srgbClr val="003958"/>
              </a:solidFill>
              <a:latin typeface="Calibri"/>
              <a:ea typeface="Calibri"/>
              <a:cs typeface="Calibri"/>
              <a:sym typeface="Calibri"/>
            </a:endParaRPr>
          </a:p>
        </p:txBody>
      </p:sp>
      <p:sp>
        <p:nvSpPr>
          <p:cNvPr id="323" name="Google Shape;323;p2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25</a:t>
            </a:fld>
            <a:endParaRPr sz="6000">
              <a:solidFill>
                <a:schemeClr val="lt1"/>
              </a:solidFill>
              <a:latin typeface="Impact"/>
              <a:ea typeface="Impact"/>
              <a:cs typeface="Impact"/>
              <a:sym typeface="Impact"/>
            </a:endParaRPr>
          </a:p>
        </p:txBody>
      </p:sp>
      <p:graphicFrame>
        <p:nvGraphicFramePr>
          <p:cNvPr id="324" name="Google Shape;324;p25"/>
          <p:cNvGraphicFramePr/>
          <p:nvPr/>
        </p:nvGraphicFramePr>
        <p:xfrm>
          <a:off x="1172363" y="1746076"/>
          <a:ext cx="9682875" cy="4023430"/>
        </p:xfrm>
        <a:graphic>
          <a:graphicData uri="http://schemas.openxmlformats.org/drawingml/2006/table">
            <a:tbl>
              <a:tblPr firstRow="1" bandRow="1">
                <a:noFill/>
                <a:tableStyleId>{CE315E2B-644D-484A-8BB6-DFAD4D64CBB0}</a:tableStyleId>
              </a:tblPr>
              <a:tblGrid>
                <a:gridCol w="2912425"/>
                <a:gridCol w="677045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Seção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Conteúdo</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Nome</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u="none" strike="noStrike" cap="none"/>
                        <a:t>Finalização de compra no ecommerce</a:t>
                      </a:r>
                      <a:endParaRPr sz="16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Descrição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u="none" strike="noStrike" cap="none"/>
                        <a:t>Finalização de compra de um produto no comércio eletrônico</a:t>
                      </a:r>
                      <a:endParaRPr sz="16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Atores</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u="none" strike="noStrike" cap="none"/>
                        <a:t>Cliente</a:t>
                      </a:r>
                      <a:endParaRPr sz="16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Pré condição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u="none" strike="noStrike" cap="none"/>
                        <a:t>O cliente deve possuir produtos adicionados ao carrinho</a:t>
                      </a:r>
                      <a:endParaRPr sz="16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Pós condições</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u="none" strike="noStrike" cap="none"/>
                        <a:t>Pedido realizado, compra confirmada</a:t>
                      </a:r>
                      <a:endParaRPr sz="16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Cenário principal</a:t>
                      </a:r>
                      <a:endParaRPr sz="1800" b="1" u="none" strike="noStrike" cap="none"/>
                    </a:p>
                  </a:txBody>
                  <a:tcPr marL="91450" marR="91450" marT="45725" marB="45725"/>
                </a:tc>
                <a:tc>
                  <a:txBody>
                    <a:bodyPr/>
                    <a:lstStyle/>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visualiza os produto no carrinho;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confirma o endereço de entrega;</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prossegue para a página de pagamento;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insere os dados necessários para pagamento com cartão de crédito;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confirma o pagamento do pedido;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A compra é finalizada com sucesso.</a:t>
                      </a:r>
                      <a:endParaRPr sz="1400" u="none" strike="noStrike" cap="none"/>
                    </a:p>
                  </a:txBody>
                  <a:tcPr marL="91450" marR="91450" marT="45725" marB="457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2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30" name="Google Shape;330;p2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31" name="Google Shape;331;p2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Modelagem de requisitos</a:t>
            </a:r>
            <a:endParaRPr sz="4800" b="0" i="0" u="none" strike="noStrike" cap="none">
              <a:solidFill>
                <a:srgbClr val="003958"/>
              </a:solidFill>
              <a:latin typeface="Calibri"/>
              <a:ea typeface="Calibri"/>
              <a:cs typeface="Calibri"/>
              <a:sym typeface="Calibri"/>
            </a:endParaRPr>
          </a:p>
        </p:txBody>
      </p:sp>
      <p:sp>
        <p:nvSpPr>
          <p:cNvPr id="332" name="Google Shape;332;p2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26</a:t>
            </a:fld>
            <a:endParaRPr sz="6000">
              <a:solidFill>
                <a:schemeClr val="lt1"/>
              </a:solidFill>
              <a:latin typeface="Impact"/>
              <a:ea typeface="Impact"/>
              <a:cs typeface="Impact"/>
              <a:sym typeface="Impact"/>
            </a:endParaRPr>
          </a:p>
        </p:txBody>
      </p:sp>
      <p:graphicFrame>
        <p:nvGraphicFramePr>
          <p:cNvPr id="333" name="Google Shape;333;p26"/>
          <p:cNvGraphicFramePr/>
          <p:nvPr/>
        </p:nvGraphicFramePr>
        <p:xfrm>
          <a:off x="1172363" y="1785265"/>
          <a:ext cx="9682875" cy="4081445"/>
        </p:xfrm>
        <a:graphic>
          <a:graphicData uri="http://schemas.openxmlformats.org/drawingml/2006/table">
            <a:tbl>
              <a:tblPr firstRow="1" bandRow="1">
                <a:noFill/>
                <a:tableStyleId>{CE315E2B-644D-484A-8BB6-DFAD4D64CBB0}</a:tableStyleId>
              </a:tblPr>
              <a:tblGrid>
                <a:gridCol w="2912425"/>
                <a:gridCol w="677045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Seção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Conteúdo</a:t>
                      </a:r>
                      <a:endParaRPr sz="1800" u="none" strike="noStrike" cap="none"/>
                    </a:p>
                  </a:txBody>
                  <a:tcPr marL="91450" marR="91450" marT="45725" marB="45725"/>
                </a:tc>
              </a:tr>
              <a:tr h="1668425">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Cenário alternativo</a:t>
                      </a:r>
                      <a:endParaRPr sz="1800" b="1" u="none" strike="noStrike" cap="none"/>
                    </a:p>
                  </a:txBody>
                  <a:tcPr marL="91450" marR="91450" marT="45725" marB="45725"/>
                </a:tc>
                <a:tc>
                  <a:txBody>
                    <a:bodyPr/>
                    <a:lstStyle/>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visualiza os produto no carrinho;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confirma o endereço de entrega;</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prossegue para a página de pagamento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escolhe pagar com dois cartões;</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insere os dados do primeiro cartão;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insere os dados do segundo cartão;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cliente confirma o pagamento do pedido;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A compra é finalizada com sucesso.</a:t>
                      </a:r>
                      <a:endParaRPr sz="1400" u="none" strike="noStrike" cap="none"/>
                    </a:p>
                  </a:txBody>
                  <a:tcPr marL="91450" marR="91450" marT="45725" marB="45725"/>
                </a:tc>
              </a:tr>
              <a:tr h="1668425">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Exceções</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pt-BR" sz="1600" b="1" u="none" strike="noStrike" cap="none"/>
                        <a:t>Pagamento rejeitado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pagamento com cartão de crédito foi rejeitado;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 O cliente deve ser notificado;</a:t>
                      </a:r>
                      <a:endParaRPr sz="1400" u="none" strike="noStrike" cap="none"/>
                    </a:p>
                    <a:p>
                      <a:pPr marL="342900" marR="0" lvl="0" indent="-342900" algn="l" rtl="0">
                        <a:lnSpc>
                          <a:spcPct val="100000"/>
                        </a:lnSpc>
                        <a:spcBef>
                          <a:spcPts val="0"/>
                        </a:spcBef>
                        <a:spcAft>
                          <a:spcPts val="0"/>
                        </a:spcAft>
                        <a:buClr>
                          <a:schemeClr val="dk1"/>
                        </a:buClr>
                        <a:buSzPts val="1600"/>
                        <a:buFont typeface="Calibri"/>
                        <a:buAutoNum type="arabicPeriod"/>
                      </a:pPr>
                      <a:r>
                        <a:rPr lang="pt-BR" sz="1600" u="none" strike="noStrike" cap="none"/>
                        <a:t>O pedido não deve ser efetivado.</a:t>
                      </a:r>
                      <a:endParaRPr sz="1400" u="none" strike="noStrike" cap="none"/>
                    </a:p>
                  </a:txBody>
                  <a:tcPr marL="91450" marR="91450" marT="45725" marB="457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2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39" name="Google Shape;339;p2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40" name="Google Shape;340;p2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341" name="Google Shape;341;p2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27</a:t>
            </a:fld>
            <a:endParaRPr sz="6000">
              <a:solidFill>
                <a:schemeClr val="lt1"/>
              </a:solidFill>
              <a:latin typeface="Impact"/>
              <a:ea typeface="Impact"/>
              <a:cs typeface="Impact"/>
              <a:sym typeface="Impact"/>
            </a:endParaRPr>
          </a:p>
        </p:txBody>
      </p:sp>
      <p:sp>
        <p:nvSpPr>
          <p:cNvPr id="342" name="Google Shape;342;p27"/>
          <p:cNvSpPr txBox="1"/>
          <p:nvPr/>
        </p:nvSpPr>
        <p:spPr>
          <a:xfrm>
            <a:off x="971007" y="1628281"/>
            <a:ext cx="10236926" cy="49859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Diagrama de caso de uso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1E4E7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O diagrama de caso de uso demonstra quais funcionalidades atenderão a quais usuários específicos. Representa graficamente os casos de uso, os papéis dos usuários e a relação entre os elementos.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Tem por objetivo apresentar uma visão geral das funcionalidades que o sistema deverá oferecer aos usuários, sem se preocupar em profundidade com a questão de como elas serão implementadas (GUEDES, 2018). </a:t>
            </a: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O diagrama de casos de uso é de grande auxílio para a identificação e compreensão dos requisitos funcionais do sistema, sendo muito utilizado para apresentação para stakeholders.</a:t>
            </a: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2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48" name="Google Shape;348;p2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49" name="Google Shape;349;p2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350" name="Google Shape;350;p2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28</a:t>
            </a:fld>
            <a:endParaRPr sz="6000">
              <a:solidFill>
                <a:schemeClr val="lt1"/>
              </a:solidFill>
              <a:latin typeface="Impact"/>
              <a:ea typeface="Impact"/>
              <a:cs typeface="Impact"/>
              <a:sym typeface="Impact"/>
            </a:endParaRPr>
          </a:p>
        </p:txBody>
      </p:sp>
      <p:sp>
        <p:nvSpPr>
          <p:cNvPr id="351" name="Google Shape;351;p28"/>
          <p:cNvSpPr txBox="1"/>
          <p:nvPr/>
        </p:nvSpPr>
        <p:spPr>
          <a:xfrm>
            <a:off x="971007" y="1589092"/>
            <a:ext cx="10236926"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Atores: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Representam uma pessoa ou entidade que interage com o software.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No diagrama, são representados por bonecos palito, com uma descrição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que identifica o papel que ele assume dentro do diagrama.</a:t>
            </a:r>
            <a:r>
              <a:rPr lang="pt-BR"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Caso de uso: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Usados para capturar os requisitos do sistema que são utilizados de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alguma forma pelos atores. São representados por elipses contendo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uma descrição da  funcionalidade a qual o caso de uso se refere.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chemeClr val="dk1"/>
                </a:solidFill>
                <a:latin typeface="Calibri"/>
                <a:ea typeface="Calibri"/>
                <a:cs typeface="Calibri"/>
                <a:sym typeface="Calibri"/>
              </a:rPr>
              <a:t>Relacionamento: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É a representação da interação entre o ator e o caso de uso. Este relacionamento demonstra que o ator utiliza a funcionalidade do sistema representada pelo caso de uso. É representada por uma linha ligando o ator ao caso de uso.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352" name="Google Shape;352;p28"/>
          <p:cNvPicPr preferRelativeResize="0"/>
          <p:nvPr/>
        </p:nvPicPr>
        <p:blipFill rotWithShape="1">
          <a:blip r:embed="rId5">
            <a:alphaModFix/>
          </a:blip>
          <a:srcRect/>
          <a:stretch/>
        </p:blipFill>
        <p:spPr>
          <a:xfrm>
            <a:off x="9445537" y="1748375"/>
            <a:ext cx="2205751" cy="1112383"/>
          </a:xfrm>
          <a:prstGeom prst="rect">
            <a:avLst/>
          </a:prstGeom>
          <a:noFill/>
          <a:ln>
            <a:noFill/>
          </a:ln>
        </p:spPr>
      </p:pic>
      <p:pic>
        <p:nvPicPr>
          <p:cNvPr id="353" name="Google Shape;353;p28"/>
          <p:cNvPicPr preferRelativeResize="0"/>
          <p:nvPr/>
        </p:nvPicPr>
        <p:blipFill rotWithShape="1">
          <a:blip r:embed="rId6">
            <a:alphaModFix/>
          </a:blip>
          <a:srcRect/>
          <a:stretch/>
        </p:blipFill>
        <p:spPr>
          <a:xfrm>
            <a:off x="9570448" y="3493899"/>
            <a:ext cx="2038350" cy="1228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2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59" name="Google Shape;359;p2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60" name="Google Shape;360;p2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Análise de requisitos</a:t>
            </a:r>
            <a:endParaRPr sz="4800" b="0" i="0" u="none" strike="noStrike" cap="none">
              <a:solidFill>
                <a:srgbClr val="003958"/>
              </a:solidFill>
              <a:latin typeface="Calibri"/>
              <a:ea typeface="Calibri"/>
              <a:cs typeface="Calibri"/>
              <a:sym typeface="Calibri"/>
            </a:endParaRPr>
          </a:p>
        </p:txBody>
      </p:sp>
      <p:sp>
        <p:nvSpPr>
          <p:cNvPr id="361" name="Google Shape;361;p2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29</a:t>
            </a:fld>
            <a:endParaRPr sz="6000">
              <a:solidFill>
                <a:schemeClr val="lt1"/>
              </a:solidFill>
              <a:latin typeface="Impact"/>
              <a:ea typeface="Impact"/>
              <a:cs typeface="Impact"/>
              <a:sym typeface="Impact"/>
            </a:endParaRPr>
          </a:p>
        </p:txBody>
      </p:sp>
      <p:pic>
        <p:nvPicPr>
          <p:cNvPr id="362" name="Google Shape;362;p29"/>
          <p:cNvPicPr preferRelativeResize="0"/>
          <p:nvPr/>
        </p:nvPicPr>
        <p:blipFill rotWithShape="1">
          <a:blip r:embed="rId5">
            <a:alphaModFix/>
          </a:blip>
          <a:srcRect/>
          <a:stretch/>
        </p:blipFill>
        <p:spPr>
          <a:xfrm>
            <a:off x="3089094" y="1580060"/>
            <a:ext cx="6028780" cy="471386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3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68" name="Google Shape;368;p3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69" name="Google Shape;369;p3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Modelagem de requisitos</a:t>
            </a:r>
            <a:endParaRPr sz="4800" b="0" i="0" u="none" strike="noStrike" cap="none">
              <a:solidFill>
                <a:srgbClr val="003958"/>
              </a:solidFill>
              <a:latin typeface="Calibri"/>
              <a:ea typeface="Calibri"/>
              <a:cs typeface="Calibri"/>
              <a:sym typeface="Calibri"/>
            </a:endParaRPr>
          </a:p>
        </p:txBody>
      </p:sp>
      <p:sp>
        <p:nvSpPr>
          <p:cNvPr id="370" name="Google Shape;370;p3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30</a:t>
            </a:fld>
            <a:endParaRPr sz="6000">
              <a:solidFill>
                <a:schemeClr val="lt1"/>
              </a:solidFill>
              <a:latin typeface="Impact"/>
              <a:ea typeface="Impact"/>
              <a:cs typeface="Impact"/>
              <a:sym typeface="Impact"/>
            </a:endParaRPr>
          </a:p>
        </p:txBody>
      </p:sp>
      <p:pic>
        <p:nvPicPr>
          <p:cNvPr id="371" name="Google Shape;371;p30" descr="C:\Users\usuario\Downloads\CasoUsoBanco"/>
          <p:cNvPicPr preferRelativeResize="0"/>
          <p:nvPr/>
        </p:nvPicPr>
        <p:blipFill rotWithShape="1">
          <a:blip r:embed="rId5">
            <a:alphaModFix/>
          </a:blip>
          <a:srcRect/>
          <a:stretch/>
        </p:blipFill>
        <p:spPr>
          <a:xfrm>
            <a:off x="2113142" y="1180011"/>
            <a:ext cx="8192800" cy="55212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pic>
        <p:nvPicPr>
          <p:cNvPr id="376" name="Google Shape;376;p3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77" name="Google Shape;377;p3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78" name="Google Shape;378;p3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Priorização de requisitos</a:t>
            </a:r>
            <a:endParaRPr sz="4800" b="0" i="0" u="none" strike="noStrike" cap="none">
              <a:solidFill>
                <a:srgbClr val="003958"/>
              </a:solidFill>
              <a:latin typeface="Calibri"/>
              <a:ea typeface="Calibri"/>
              <a:cs typeface="Calibri"/>
              <a:sym typeface="Calibri"/>
            </a:endParaRPr>
          </a:p>
        </p:txBody>
      </p:sp>
      <p:sp>
        <p:nvSpPr>
          <p:cNvPr id="379" name="Google Shape;379;p3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31</a:t>
            </a:fld>
            <a:endParaRPr sz="6000">
              <a:solidFill>
                <a:schemeClr val="lt1"/>
              </a:solidFill>
              <a:latin typeface="Impact"/>
              <a:ea typeface="Impact"/>
              <a:cs typeface="Impact"/>
              <a:sym typeface="Impact"/>
            </a:endParaRPr>
          </a:p>
        </p:txBody>
      </p:sp>
      <p:sp>
        <p:nvSpPr>
          <p:cNvPr id="380" name="Google Shape;380;p31"/>
          <p:cNvSpPr txBox="1"/>
          <p:nvPr/>
        </p:nvSpPr>
        <p:spPr>
          <a:xfrm>
            <a:off x="971007" y="1615218"/>
            <a:ext cx="10236926" cy="48628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Priorização de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 priorização de requisitos tem como objetivo atribuir um valor de importância relativa entre os requisitos, fazendo com que as coisas mais importantes sejam tratadas em primeiro lugar para maximizar o valor entregue pelo projeto.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Priorizar requisitos é uma atividade contínua e a prioridade dos requisitos vai mudando ao longo do projeto.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critérios da priorização de requisitos são definidos com base no objetivo a serem alcançados pela priorização. Dependendo do objetivo de priorização e dos critérios selecionados, pode ser necessário envolver diferentes stakeholders no processo de priorização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p3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86" name="Google Shape;386;p3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87" name="Google Shape;387;p3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Priorização de requisitos</a:t>
            </a:r>
            <a:endParaRPr sz="4800" b="0" i="0" u="none" strike="noStrike" cap="none">
              <a:solidFill>
                <a:srgbClr val="003958"/>
              </a:solidFill>
              <a:latin typeface="Calibri"/>
              <a:ea typeface="Calibri"/>
              <a:cs typeface="Calibri"/>
              <a:sym typeface="Calibri"/>
            </a:endParaRPr>
          </a:p>
        </p:txBody>
      </p:sp>
      <p:sp>
        <p:nvSpPr>
          <p:cNvPr id="388" name="Google Shape;388;p3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32</a:t>
            </a:fld>
            <a:endParaRPr sz="6000">
              <a:solidFill>
                <a:schemeClr val="lt1"/>
              </a:solidFill>
              <a:latin typeface="Impact"/>
              <a:ea typeface="Impact"/>
              <a:cs typeface="Impact"/>
              <a:sym typeface="Impact"/>
            </a:endParaRPr>
          </a:p>
        </p:txBody>
      </p:sp>
      <p:sp>
        <p:nvSpPr>
          <p:cNvPr id="389" name="Google Shape;389;p32"/>
          <p:cNvSpPr txBox="1"/>
          <p:nvPr/>
        </p:nvSpPr>
        <p:spPr>
          <a:xfrm>
            <a:off x="971007" y="1732785"/>
            <a:ext cx="10236926" cy="41549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Para priorizar um conjunto de requisitos, é preciso definir, em primeiro lugar, um objetivo a ser alcançado. Documenta-se também as restrições de priorização, como a disponibilidade de diferentes stakeholders e de recursos.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 priorização de requisitos leva em consideração itens como: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As necessidades dos clientes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 importância relativa dos requisitos para os clientes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O momento em que os recursos precisam ser entregues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Requisitos que servem como predecessores para outros requisitos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Quais requisitos devem ser implementados como um grupo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O custo para satisfazer cada requisito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3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95" name="Google Shape;395;p3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96" name="Google Shape;396;p3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Negociação de requisitos</a:t>
            </a:r>
            <a:endParaRPr sz="4800" b="0" i="0" u="none" strike="noStrike" cap="none">
              <a:solidFill>
                <a:srgbClr val="003958"/>
              </a:solidFill>
              <a:latin typeface="Calibri"/>
              <a:ea typeface="Calibri"/>
              <a:cs typeface="Calibri"/>
              <a:sym typeface="Calibri"/>
            </a:endParaRPr>
          </a:p>
        </p:txBody>
      </p:sp>
      <p:sp>
        <p:nvSpPr>
          <p:cNvPr id="397" name="Google Shape;397;p3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33</a:t>
            </a:fld>
            <a:endParaRPr sz="6000">
              <a:solidFill>
                <a:schemeClr val="lt1"/>
              </a:solidFill>
              <a:latin typeface="Impact"/>
              <a:ea typeface="Impact"/>
              <a:cs typeface="Impact"/>
              <a:sym typeface="Impact"/>
            </a:endParaRPr>
          </a:p>
        </p:txBody>
      </p:sp>
      <p:sp>
        <p:nvSpPr>
          <p:cNvPr id="398" name="Google Shape;398;p33"/>
          <p:cNvSpPr txBox="1"/>
          <p:nvPr/>
        </p:nvSpPr>
        <p:spPr>
          <a:xfrm>
            <a:off x="971007" y="1732785"/>
            <a:ext cx="10236926" cy="44935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Negociação de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Diferentes fontes de requisitos podem expressar uma mesma regra de negócio de maneiras diversas, sendo que essa informação pode ser complementar ou contraditória, gerando os conflitos que devem ser negociados nesta etapa. </a:t>
            </a: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Além disso, a priorização dos requisitos também pode gerar conflitos entre as partes interessadas.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 negociação tem como objetivo acordar um grupo de requisitos que atendam às necessidades dos stakeholders, refletindo também as restrições impostas à equipe de software, como prazo, orçamento e equipe.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04" name="Google Shape;404;p3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05" name="Google Shape;405;p3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Negociação de requisitos</a:t>
            </a:r>
            <a:endParaRPr sz="4800" b="0" i="0" u="none" strike="noStrike" cap="none">
              <a:solidFill>
                <a:srgbClr val="003958"/>
              </a:solidFill>
              <a:latin typeface="Calibri"/>
              <a:ea typeface="Calibri"/>
              <a:cs typeface="Calibri"/>
              <a:sym typeface="Calibri"/>
            </a:endParaRPr>
          </a:p>
        </p:txBody>
      </p:sp>
      <p:sp>
        <p:nvSpPr>
          <p:cNvPr id="406" name="Google Shape;406;p3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34</a:t>
            </a:fld>
            <a:endParaRPr sz="6000">
              <a:solidFill>
                <a:schemeClr val="lt1"/>
              </a:solidFill>
              <a:latin typeface="Impact"/>
              <a:ea typeface="Impact"/>
              <a:cs typeface="Impact"/>
              <a:sym typeface="Impact"/>
            </a:endParaRPr>
          </a:p>
        </p:txBody>
      </p:sp>
      <p:sp>
        <p:nvSpPr>
          <p:cNvPr id="407" name="Google Shape;407;p34"/>
          <p:cNvSpPr txBox="1"/>
          <p:nvPr/>
        </p:nvSpPr>
        <p:spPr>
          <a:xfrm>
            <a:off x="971007" y="1732785"/>
            <a:ext cx="10236926" cy="44935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Na negociação de requisitos são realizadas as atividades 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Discussão de requisitos:</a:t>
            </a:r>
            <a:r>
              <a:rPr lang="pt-BR" sz="2400" b="0" i="0" u="none" strike="noStrike" cap="none">
                <a:solidFill>
                  <a:schemeClr val="dk1"/>
                </a:solidFill>
                <a:latin typeface="Calibri"/>
                <a:ea typeface="Calibri"/>
                <a:cs typeface="Calibri"/>
                <a:sym typeface="Calibri"/>
              </a:rPr>
              <a:t> os requisitos que ainda possuem questões a ser resolvidas são discutidos com os stakeholders e pontos de vista são levantados.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Concordância de requisitos: </a:t>
            </a:r>
            <a:r>
              <a:rPr lang="pt-BR" sz="2400" b="0" i="0" u="none" strike="noStrike" cap="none">
                <a:solidFill>
                  <a:schemeClr val="dk1"/>
                </a:solidFill>
                <a:latin typeface="Calibri"/>
                <a:ea typeface="Calibri"/>
                <a:cs typeface="Calibri"/>
                <a:sym typeface="Calibri"/>
              </a:rPr>
              <a:t>soluções são definidas para os problemas identificados e os requisitos são acordados, podendo envolver mudanças em alguns dos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Priorização de requisitos: </a:t>
            </a:r>
            <a:r>
              <a:rPr lang="pt-BR" sz="2400" b="0" i="0" u="none" strike="noStrike" cap="none">
                <a:solidFill>
                  <a:schemeClr val="dk1"/>
                </a:solidFill>
                <a:latin typeface="Calibri"/>
                <a:ea typeface="Calibri"/>
                <a:cs typeface="Calibri"/>
                <a:sym typeface="Calibri"/>
              </a:rPr>
              <a:t>a prioridade dos requisitos é acordada entre as partes interessadas.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1312</TotalTime>
  <Words>2649</Words>
  <Application>Microsoft Office PowerPoint</Application>
  <PresentationFormat>Personalizar</PresentationFormat>
  <Paragraphs>325</Paragraphs>
  <Slides>34</Slides>
  <Notes>33</Notes>
  <HiddenSlides>0</HiddenSlides>
  <MMClips>0</MMClips>
  <ScaleCrop>false</ScaleCrop>
  <HeadingPairs>
    <vt:vector size="4" baseType="variant">
      <vt:variant>
        <vt:lpstr>Tema</vt:lpstr>
      </vt:variant>
      <vt:variant>
        <vt:i4>1</vt:i4>
      </vt:variant>
      <vt:variant>
        <vt:lpstr>Títulos de slides</vt:lpstr>
      </vt:variant>
      <vt:variant>
        <vt:i4>34</vt:i4>
      </vt:variant>
    </vt:vector>
  </HeadingPairs>
  <TitlesOfParts>
    <vt:vector size="35"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Joao Marcos Garcia Vieira</dc:creator>
  <cp:lastModifiedBy>Leandro Ugioni</cp:lastModifiedBy>
  <cp:revision>3</cp:revision>
  <dcterms:created xsi:type="dcterms:W3CDTF">2019-02-19T17:16:10Z</dcterms:created>
  <dcterms:modified xsi:type="dcterms:W3CDTF">2026-03-26T22:21:43Z</dcterms:modified>
</cp:coreProperties>
</file>