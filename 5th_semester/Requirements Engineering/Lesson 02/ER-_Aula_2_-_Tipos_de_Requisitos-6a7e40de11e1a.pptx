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0"/>
  </p:notesMasterIdLst>
  <p:sldIdLst>
    <p:sldId id="297"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adwjMfSKusRsiAFlm1Q2L3uCZ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244B3ED-BF7A-4296-A338-9F5F5E7ED7F2}">
  <a:tblStyle styleId="{F244B3ED-BF7A-4296-A338-9F5F5E7ED7F2}"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3"/>
              </a:solidFill>
              <a:prstDash val="solid"/>
              <a:round/>
              <a:headEnd type="none" w="sm" len="sm"/>
              <a:tailEnd type="none" w="sm" len="sm"/>
            </a:ln>
          </a:top>
          <a:bottom>
            <a:ln w="12700"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3">
              <a:alpha val="20000"/>
            </a:schemeClr>
          </a:solidFill>
        </a:fill>
      </a:tcStyle>
    </a:band1H>
    <a:band2H>
      <a:tcTxStyle b="off" i="off"/>
      <a:tcStyle>
        <a:tcBdr/>
      </a:tcStyle>
    </a:band2H>
    <a:band1V>
      <a:tcTxStyle b="off" i="off"/>
      <a:tcStyle>
        <a:tcBdr/>
        <a:fill>
          <a:solidFill>
            <a:schemeClr val="accent3">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accent3"/>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accent3"/>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45812F8B-BDFC-4130-B2F7-5E8F14D80D0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b="off" i="off"/>
      <a:tcStyle>
        <a:tcBdr/>
      </a:tcStyle>
    </a:neCell>
    <a:nwCell>
      <a:tcTxStyle b="off" i="off"/>
      <a:tcStyle>
        <a:tcBdr/>
      </a:tcStyle>
    </a:nwCell>
  </a:tblStyle>
  <a:tblStyle styleId="{EBC861FD-4FEC-45BB-A506-2BB005B36CC6}"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96696D03-7A98-4163-BA48-3A5B8B18AE18}" styleName="Table_3">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0F0"/>
          </a:solidFill>
        </a:fill>
      </a:tcStyle>
    </a:wholeTbl>
    <a:band1H>
      <a:tcTxStyle b="off" i="off"/>
      <a:tcStyle>
        <a:tcBdr/>
        <a:fill>
          <a:solidFill>
            <a:srgbClr val="E0E0E0"/>
          </a:solidFill>
        </a:fill>
      </a:tcStyle>
    </a:band1H>
    <a:band2H>
      <a:tcTxStyle b="off" i="off"/>
      <a:tcStyle>
        <a:tcBdr/>
      </a:tcStyle>
    </a:band2H>
    <a:band1V>
      <a:tcTxStyle b="off" i="off"/>
      <a:tcStyle>
        <a:tcBdr/>
        <a:fill>
          <a:solidFill>
            <a:srgbClr val="E0E0E0"/>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349996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de092b8da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1de092b8da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de092b8da9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1de092b8da9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 name="Google Shape;35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 name="Google Shape;40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2" name="Google Shape;44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d9adfc48c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 name="Google Shape;462;g2d9adfc48c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4"/>
        <p:cNvGrpSpPr/>
        <p:nvPr/>
      </p:nvGrpSpPr>
      <p:grpSpPr>
        <a:xfrm>
          <a:off x="0" y="0"/>
          <a:ext cx="0" cy="0"/>
          <a:chOff x="0" y="0"/>
          <a:chExt cx="0" cy="0"/>
        </a:xfrm>
      </p:grpSpPr>
      <p:sp>
        <p:nvSpPr>
          <p:cNvPr id="55" name="Google Shape;5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7"/>
          <p:cNvSpPr>
            <a:spLocks noGrp="1"/>
          </p:cNvSpPr>
          <p:nvPr>
            <p:ph type="pic" idx="2"/>
          </p:nvPr>
        </p:nvSpPr>
        <p:spPr>
          <a:xfrm>
            <a:off x="5183188" y="987425"/>
            <a:ext cx="6172200" cy="4873625"/>
          </a:xfrm>
          <a:prstGeom prst="rect">
            <a:avLst/>
          </a:prstGeom>
          <a:noFill/>
          <a:ln>
            <a:noFill/>
          </a:ln>
        </p:spPr>
      </p:sp>
      <p:sp>
        <p:nvSpPr>
          <p:cNvPr id="68" name="Google Shape;68;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1F8B163-86D5-4878-916A-9D11FE2EA181}"/>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 xmlns:a16="http://schemas.microsoft.com/office/drawing/2014/main" id="{F3020D6C-6261-402F-84A7-AA1B65D9D5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1" cy="6858000"/>
          </a:xfrm>
        </p:spPr>
      </p:pic>
      <p:sp>
        <p:nvSpPr>
          <p:cNvPr id="6" name="CaixaDeTexto 5">
            <a:extLst>
              <a:ext uri="{FF2B5EF4-FFF2-40B4-BE49-F238E27FC236}">
                <a16:creationId xmlns="" xmlns:a16="http://schemas.microsoft.com/office/drawing/2014/main" id="{E3D630B1-A6DA-42B6-861B-AAD116CC443F}"/>
              </a:ext>
            </a:extLst>
          </p:cNvPr>
          <p:cNvSpPr txBox="1"/>
          <p:nvPr/>
        </p:nvSpPr>
        <p:spPr>
          <a:xfrm>
            <a:off x="2292626" y="1416758"/>
            <a:ext cx="7606748" cy="2862322"/>
          </a:xfrm>
          <a:prstGeom prst="rect">
            <a:avLst/>
          </a:prstGeom>
          <a:noFill/>
        </p:spPr>
        <p:txBody>
          <a:bodyPr wrap="square" rtlCol="0">
            <a:spAutoFit/>
          </a:bodyPr>
          <a:lstStyle/>
          <a:p>
            <a:pPr algn="ctr"/>
            <a:endParaRPr lang="pt-BR" sz="6000" b="1" dirty="0" smtClean="0">
              <a:solidFill>
                <a:schemeClr val="bg2">
                  <a:lumMod val="10000"/>
                </a:schemeClr>
              </a:solidFill>
              <a:latin typeface="Arial" panose="020B0604020202020204" pitchFamily="34" charset="0"/>
              <a:cs typeface="Arial" panose="020B0604020202020204" pitchFamily="34" charset="0"/>
            </a:endParaRPr>
          </a:p>
          <a:p>
            <a:pPr algn="ctr"/>
            <a:r>
              <a:rPr lang="pt-BR" sz="6000" b="1" dirty="0" smtClean="0">
                <a:solidFill>
                  <a:schemeClr val="bg2">
                    <a:lumMod val="10000"/>
                  </a:schemeClr>
                </a:solidFill>
                <a:latin typeface="Arial" panose="020B0604020202020204" pitchFamily="34" charset="0"/>
                <a:cs typeface="Arial" panose="020B0604020202020204" pitchFamily="34" charset="0"/>
              </a:rPr>
              <a:t>Engenharia de Requisitos</a:t>
            </a:r>
            <a:endParaRPr lang="pt-BR" sz="60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84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p:nvPr/>
        </p:nvSpPr>
        <p:spPr>
          <a:xfrm>
            <a:off x="174171" y="4667876"/>
            <a:ext cx="8672285"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0" i="0" u="none" strike="noStrike" cap="none">
                <a:solidFill>
                  <a:srgbClr val="003958"/>
                </a:solidFill>
                <a:latin typeface="Impact"/>
                <a:ea typeface="Impact"/>
                <a:cs typeface="Impact"/>
                <a:sym typeface="Impact"/>
              </a:rPr>
              <a:t>Requisitos de software</a:t>
            </a:r>
            <a:endParaRPr sz="6000" b="0" i="0" u="none" strike="noStrike" cap="none">
              <a:solidFill>
                <a:srgbClr val="003958"/>
              </a:solidFill>
              <a:latin typeface="Impact"/>
              <a:ea typeface="Impact"/>
              <a:cs typeface="Impact"/>
              <a:sym typeface="Impact"/>
            </a:endParaRP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pt-BR"/>
              <a:t>2</a:t>
            </a:fld>
            <a:endParaRPr/>
          </a:p>
        </p:txBody>
      </p:sp>
      <p:pic>
        <p:nvPicPr>
          <p:cNvPr id="99" name="Google Shape;99;p2"/>
          <p:cNvPicPr preferRelativeResize="0"/>
          <p:nvPr/>
        </p:nvPicPr>
        <p:blipFill rotWithShape="1">
          <a:blip r:embed="rId3">
            <a:alphaModFix/>
          </a:blip>
          <a:srcRect/>
          <a:stretch/>
        </p:blipFill>
        <p:spPr>
          <a:xfrm>
            <a:off x="885265" y="0"/>
            <a:ext cx="5715000" cy="3952875"/>
          </a:xfrm>
          <a:prstGeom prst="rect">
            <a:avLst/>
          </a:prstGeom>
          <a:noFill/>
          <a:ln>
            <a:noFill/>
          </a:ln>
        </p:spPr>
      </p:pic>
      <p:pic>
        <p:nvPicPr>
          <p:cNvPr id="100" name="Google Shape;100;p2"/>
          <p:cNvPicPr preferRelativeResize="0"/>
          <p:nvPr/>
        </p:nvPicPr>
        <p:blipFill rotWithShape="1">
          <a:blip r:embed="rId4">
            <a:alphaModFix/>
          </a:blip>
          <a:srcRect/>
          <a:stretch/>
        </p:blipFill>
        <p:spPr>
          <a:xfrm>
            <a:off x="8743950" y="0"/>
            <a:ext cx="34480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06" name="Google Shape;106;p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07" name="Google Shape;107;p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08" name="Google Shape;108;p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a:t>
            </a:fld>
            <a:endParaRPr sz="6000">
              <a:solidFill>
                <a:schemeClr val="lt1"/>
              </a:solidFill>
              <a:latin typeface="Impact"/>
              <a:ea typeface="Impact"/>
              <a:cs typeface="Impact"/>
              <a:sym typeface="Impact"/>
            </a:endParaRPr>
          </a:p>
        </p:txBody>
      </p:sp>
      <p:sp>
        <p:nvSpPr>
          <p:cNvPr id="109" name="Google Shape;109;p3"/>
          <p:cNvSpPr/>
          <p:nvPr/>
        </p:nvSpPr>
        <p:spPr>
          <a:xfrm>
            <a:off x="1779390" y="1714488"/>
            <a:ext cx="8710091" cy="1000132"/>
          </a:xfrm>
          <a:prstGeom prst="roundRect">
            <a:avLst>
              <a:gd name="adj" fmla="val 16667"/>
            </a:avLst>
          </a:prstGeom>
          <a:solidFill>
            <a:srgbClr val="C9C9C9"/>
          </a:solidFill>
          <a:ln w="12700" cap="flat" cmpd="sng">
            <a:solidFill>
              <a:srgbClr val="7B7B7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Requisitos são descrições dos serviços que devem ser providos pelo sistema e de suas restrições operacionais (SOMMERVILLE, 2011).</a:t>
            </a:r>
            <a:endParaRPr sz="2000" b="1" i="0" u="none" strike="noStrike" cap="none">
              <a:solidFill>
                <a:schemeClr val="dk1"/>
              </a:solidFill>
              <a:latin typeface="Calibri"/>
              <a:ea typeface="Calibri"/>
              <a:cs typeface="Calibri"/>
              <a:sym typeface="Calibri"/>
            </a:endParaRPr>
          </a:p>
        </p:txBody>
      </p:sp>
      <p:sp>
        <p:nvSpPr>
          <p:cNvPr id="110" name="Google Shape;110;p3"/>
          <p:cNvSpPr/>
          <p:nvPr/>
        </p:nvSpPr>
        <p:spPr>
          <a:xfrm>
            <a:off x="1779391" y="3143248"/>
            <a:ext cx="8723154" cy="1071570"/>
          </a:xfrm>
          <a:prstGeom prst="roundRect">
            <a:avLst>
              <a:gd name="adj" fmla="val 16667"/>
            </a:avLst>
          </a:prstGeom>
          <a:solidFill>
            <a:srgbClr val="C9C9C9"/>
          </a:solidFill>
          <a:ln w="12700" cap="flat" cmpd="sng">
            <a:solidFill>
              <a:srgbClr val="7B7B7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Uma condição ou capacidade do sistema, solicitada por um usuário,</a:t>
            </a:r>
            <a:br>
              <a:rPr lang="pt-BR" sz="2000" b="1" i="0" u="none" strike="noStrike" cap="none">
                <a:solidFill>
                  <a:schemeClr val="dk1"/>
                </a:solidFill>
                <a:latin typeface="Calibri"/>
                <a:ea typeface="Calibri"/>
                <a:cs typeface="Calibri"/>
                <a:sym typeface="Calibri"/>
              </a:rPr>
            </a:br>
            <a:r>
              <a:rPr lang="pt-BR" sz="2000" b="1" i="0" u="none" strike="noStrike" cap="none">
                <a:solidFill>
                  <a:schemeClr val="dk1"/>
                </a:solidFill>
                <a:latin typeface="Calibri"/>
                <a:ea typeface="Calibri"/>
                <a:cs typeface="Calibri"/>
                <a:sym typeface="Calibri"/>
              </a:rPr>
              <a:t>para resolver um problema ou atingir um objetivo (IEE, 2010)</a:t>
            </a:r>
            <a:r>
              <a:rPr lang="pt-BR" sz="2000" b="0" i="0" u="none" strike="noStrike" cap="none">
                <a:solidFill>
                  <a:schemeClr val="lt1"/>
                </a:solidFill>
                <a:latin typeface="Calibri"/>
                <a:ea typeface="Calibri"/>
                <a:cs typeface="Calibri"/>
                <a:sym typeface="Calibri"/>
              </a:rPr>
              <a:t/>
            </a:r>
            <a:br>
              <a:rPr lang="pt-BR" sz="2000" b="0" i="0" u="none" strike="noStrike" cap="none">
                <a:solidFill>
                  <a:schemeClr val="lt1"/>
                </a:solidFill>
                <a:latin typeface="Calibri"/>
                <a:ea typeface="Calibri"/>
                <a:cs typeface="Calibri"/>
                <a:sym typeface="Calibri"/>
              </a:rPr>
            </a:br>
            <a:endParaRPr sz="2000" b="1" i="0" u="none" strike="noStrike" cap="none">
              <a:solidFill>
                <a:schemeClr val="dk1"/>
              </a:solidFill>
              <a:latin typeface="Calibri"/>
              <a:ea typeface="Calibri"/>
              <a:cs typeface="Calibri"/>
              <a:sym typeface="Calibri"/>
            </a:endParaRPr>
          </a:p>
        </p:txBody>
      </p:sp>
      <p:sp>
        <p:nvSpPr>
          <p:cNvPr id="111" name="Google Shape;111;p3"/>
          <p:cNvSpPr/>
          <p:nvPr/>
        </p:nvSpPr>
        <p:spPr>
          <a:xfrm>
            <a:off x="1779391" y="4714884"/>
            <a:ext cx="8710092" cy="1000132"/>
          </a:xfrm>
          <a:prstGeom prst="roundRect">
            <a:avLst>
              <a:gd name="adj" fmla="val 16667"/>
            </a:avLst>
          </a:prstGeom>
          <a:solidFill>
            <a:srgbClr val="C9C9C9"/>
          </a:solidFill>
          <a:ln w="12700" cap="flat" cmpd="sng">
            <a:solidFill>
              <a:srgbClr val="7B7B7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Um requisito é alguma coisa que o produto tem de fazer ou uma qualidade que ele precisa apresentar (ROBERTSON; ROBERTSON, 2006). </a:t>
            </a:r>
            <a:r>
              <a:rPr lang="pt-BR" sz="2000" b="0" i="0" u="none" strike="noStrike" cap="none">
                <a:solidFill>
                  <a:schemeClr val="lt1"/>
                </a:solidFill>
                <a:latin typeface="Calibri"/>
                <a:ea typeface="Calibri"/>
                <a:cs typeface="Calibri"/>
                <a:sym typeface="Calibri"/>
              </a:rPr>
              <a:t/>
            </a:r>
            <a:br>
              <a:rPr lang="pt-BR" sz="2000" b="0" i="0" u="none" strike="noStrike" cap="none">
                <a:solidFill>
                  <a:schemeClr val="lt1"/>
                </a:solidFill>
                <a:latin typeface="Calibri"/>
                <a:ea typeface="Calibri"/>
                <a:cs typeface="Calibri"/>
                <a:sym typeface="Calibri"/>
              </a:rPr>
            </a:br>
            <a:r>
              <a:rPr lang="pt-BR" sz="2000" b="0" i="0" u="none" strike="noStrike" cap="none">
                <a:solidFill>
                  <a:schemeClr val="lt1"/>
                </a:solidFill>
                <a:latin typeface="Calibri"/>
                <a:ea typeface="Calibri"/>
                <a:cs typeface="Calibri"/>
                <a:sym typeface="Calibri"/>
              </a:rPr>
              <a:t/>
            </a:r>
            <a:br>
              <a:rPr lang="pt-BR" sz="2000" b="0" i="0" u="none" strike="noStrike" cap="none">
                <a:solidFill>
                  <a:schemeClr val="lt1"/>
                </a:solidFill>
                <a:latin typeface="Calibri"/>
                <a:ea typeface="Calibri"/>
                <a:cs typeface="Calibri"/>
                <a:sym typeface="Calibri"/>
              </a:rPr>
            </a:br>
            <a:endParaRPr sz="2000" b="1"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17" name="Google Shape;117;p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18" name="Google Shape;118;p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19" name="Google Shape;119;p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4</a:t>
            </a:fld>
            <a:endParaRPr sz="6000">
              <a:solidFill>
                <a:schemeClr val="lt1"/>
              </a:solidFill>
              <a:latin typeface="Impact"/>
              <a:ea typeface="Impact"/>
              <a:cs typeface="Impact"/>
              <a:sym typeface="Impact"/>
            </a:endParaRPr>
          </a:p>
        </p:txBody>
      </p:sp>
      <p:sp>
        <p:nvSpPr>
          <p:cNvPr id="120" name="Google Shape;120;p4"/>
          <p:cNvSpPr txBox="1"/>
          <p:nvPr/>
        </p:nvSpPr>
        <p:spPr>
          <a:xfrm>
            <a:off x="884985" y="1714487"/>
            <a:ext cx="10127004"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Requisitos são o ponto de partida para a definição do sistema e, consequentemente, são fatores decisivos no desenvolvimento do produto final (MACHADO, 2016).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Requisitos tem natureza variável, podendo ser uma descrição de funcionalidade a nível de usuário, uma descrição detalhada de um comportamento esperado pelo sistema,  uma restrição técnica do sistema, uma restrição no processo de desenvolvimento, informações sobre como realizar um cálculo, etc.</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26" name="Google Shape;126;p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27" name="Google Shape;127;p6"/>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28" name="Google Shape;128;p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5</a:t>
            </a:fld>
            <a:endParaRPr sz="6000">
              <a:solidFill>
                <a:schemeClr val="lt1"/>
              </a:solidFill>
              <a:latin typeface="Impact"/>
              <a:ea typeface="Impact"/>
              <a:cs typeface="Impact"/>
              <a:sym typeface="Impact"/>
            </a:endParaRPr>
          </a:p>
        </p:txBody>
      </p:sp>
      <p:sp>
        <p:nvSpPr>
          <p:cNvPr id="129" name="Google Shape;129;p6"/>
          <p:cNvSpPr txBox="1"/>
          <p:nvPr/>
        </p:nvSpPr>
        <p:spPr>
          <a:xfrm>
            <a:off x="884985" y="1714487"/>
            <a:ext cx="10127004"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1F3864"/>
                </a:solidFill>
                <a:latin typeface="Calibri"/>
                <a:ea typeface="Calibri"/>
                <a:cs typeface="Calibri"/>
                <a:sym typeface="Calibri"/>
              </a:rPr>
              <a:t>Dificuldades associadas a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a:t>
            </a:r>
            <a:r>
              <a:rPr lang="pt-BR" sz="2200" b="1" i="0" u="none" strike="noStrike" cap="none">
                <a:solidFill>
                  <a:schemeClr val="dk1"/>
                </a:solidFill>
                <a:latin typeface="Calibri"/>
                <a:ea typeface="Calibri"/>
                <a:cs typeface="Calibri"/>
                <a:sym typeface="Calibri"/>
              </a:rPr>
              <a:t>Comunicação:</a:t>
            </a:r>
            <a:r>
              <a:rPr lang="pt-BR" sz="2200" b="0" i="0" u="none" strike="noStrike" cap="none">
                <a:solidFill>
                  <a:schemeClr val="dk1"/>
                </a:solidFill>
                <a:latin typeface="Calibri"/>
                <a:ea typeface="Calibri"/>
                <a:cs typeface="Calibri"/>
                <a:sym typeface="Calibri"/>
              </a:rPr>
              <a:t> a comunicação nem sempre é feita de forma clara com os stakeholders ou membros da equipe do projeto;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Acesso aos stakeholders:</a:t>
            </a:r>
            <a:r>
              <a:rPr lang="pt-BR" sz="2200" b="0" i="0" u="none" strike="noStrike" cap="none">
                <a:solidFill>
                  <a:schemeClr val="dk1"/>
                </a:solidFill>
                <a:latin typeface="Calibri"/>
                <a:ea typeface="Calibri"/>
                <a:cs typeface="Calibri"/>
                <a:sym typeface="Calibri"/>
              </a:rPr>
              <a:t> acesso limitado por indisponibilidade ou interação;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Indefinições:</a:t>
            </a:r>
            <a:r>
              <a:rPr lang="pt-BR" sz="2200" b="0" i="0" u="none" strike="noStrike" cap="none">
                <a:solidFill>
                  <a:schemeClr val="dk1"/>
                </a:solidFill>
                <a:latin typeface="Calibri"/>
                <a:ea typeface="Calibri"/>
                <a:cs typeface="Calibri"/>
                <a:sym typeface="Calibri"/>
              </a:rPr>
              <a:t> o cliente não sabe o que quer;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a:t>
            </a:r>
            <a:r>
              <a:rPr lang="pt-BR" sz="2200" b="1" i="0" u="none" strike="noStrike" cap="none">
                <a:solidFill>
                  <a:schemeClr val="dk1"/>
                </a:solidFill>
                <a:latin typeface="Calibri"/>
                <a:ea typeface="Calibri"/>
                <a:cs typeface="Calibri"/>
                <a:sym typeface="Calibri"/>
              </a:rPr>
              <a:t>Requisitos implícitos: </a:t>
            </a:r>
            <a:r>
              <a:rPr lang="pt-BR" sz="2200" b="0" i="0" u="none" strike="noStrike" cap="none">
                <a:solidFill>
                  <a:schemeClr val="dk1"/>
                </a:solidFill>
                <a:latin typeface="Calibri"/>
                <a:ea typeface="Calibri"/>
                <a:cs typeface="Calibri"/>
                <a:sym typeface="Calibri"/>
              </a:rPr>
              <a:t>requisitos que não são ditos por diversas razões;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a:t>
            </a:r>
            <a:r>
              <a:rPr lang="pt-BR" sz="2200" b="1" i="0" u="none" strike="noStrike" cap="none">
                <a:solidFill>
                  <a:schemeClr val="dk1"/>
                </a:solidFill>
                <a:latin typeface="Calibri"/>
                <a:ea typeface="Calibri"/>
                <a:cs typeface="Calibri"/>
                <a:sym typeface="Calibri"/>
              </a:rPr>
              <a:t>Mudanças de requisito: </a:t>
            </a:r>
            <a:r>
              <a:rPr lang="pt-BR" sz="2200" b="0" i="0" u="none" strike="noStrike" cap="none">
                <a:solidFill>
                  <a:schemeClr val="dk1"/>
                </a:solidFill>
                <a:latin typeface="Calibri"/>
                <a:ea typeface="Calibri"/>
                <a:cs typeface="Calibri"/>
                <a:sym typeface="Calibri"/>
              </a:rPr>
              <a:t>podem ser mudanças de necessidade, um requisito não mapeado corretamente, mudanças de negócio.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35" name="Google Shape;135;p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36" name="Google Shape;136;p7"/>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37" name="Google Shape;137;p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6</a:t>
            </a:fld>
            <a:endParaRPr sz="6000">
              <a:solidFill>
                <a:schemeClr val="lt1"/>
              </a:solidFill>
              <a:latin typeface="Impact"/>
              <a:ea typeface="Impact"/>
              <a:cs typeface="Impact"/>
              <a:sym typeface="Impact"/>
            </a:endParaRPr>
          </a:p>
        </p:txBody>
      </p:sp>
      <p:sp>
        <p:nvSpPr>
          <p:cNvPr id="138" name="Google Shape;138;p7"/>
          <p:cNvSpPr txBox="1"/>
          <p:nvPr/>
        </p:nvSpPr>
        <p:spPr>
          <a:xfrm>
            <a:off x="884984" y="1714487"/>
            <a:ext cx="9878809"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Conflitos: </a:t>
            </a:r>
            <a:r>
              <a:rPr lang="pt-BR" sz="2200" b="0" i="0" u="none" strike="noStrike" cap="none">
                <a:solidFill>
                  <a:schemeClr val="dk1"/>
                </a:solidFill>
                <a:latin typeface="Calibri"/>
                <a:ea typeface="Calibri"/>
                <a:cs typeface="Calibri"/>
                <a:sym typeface="Calibri"/>
              </a:rPr>
              <a:t>conflitos de necessidade, conflitos sobre o funcionamento do processo;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0" i="0" u="none" strike="noStrike" cap="none">
                <a:solidFill>
                  <a:schemeClr val="dk1"/>
                </a:solidFill>
                <a:latin typeface="Calibri"/>
                <a:ea typeface="Calibri"/>
                <a:cs typeface="Calibri"/>
                <a:sym typeface="Calibri"/>
              </a:rPr>
              <a:t> </a:t>
            </a:r>
            <a:r>
              <a:rPr lang="pt-BR" sz="2200" b="1" i="0" u="none" strike="noStrike" cap="none">
                <a:solidFill>
                  <a:schemeClr val="dk1"/>
                </a:solidFill>
                <a:latin typeface="Calibri"/>
                <a:ea typeface="Calibri"/>
                <a:cs typeface="Calibri"/>
                <a:sym typeface="Calibri"/>
              </a:rPr>
              <a:t>Resistência à mudança: </a:t>
            </a:r>
            <a:r>
              <a:rPr lang="pt-BR" sz="2200" b="0" i="0" u="none" strike="noStrike" cap="none">
                <a:solidFill>
                  <a:schemeClr val="dk1"/>
                </a:solidFill>
                <a:latin typeface="Calibri"/>
                <a:ea typeface="Calibri"/>
                <a:cs typeface="Calibri"/>
                <a:sym typeface="Calibri"/>
              </a:rPr>
              <a:t>usuários não querem novas formas de trabalhar;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Falta de domínio de negócio:</a:t>
            </a:r>
            <a:r>
              <a:rPr lang="pt-BR" sz="2200" b="0" i="0" u="none" strike="noStrike" cap="none">
                <a:solidFill>
                  <a:schemeClr val="dk1"/>
                </a:solidFill>
                <a:latin typeface="Calibri"/>
                <a:ea typeface="Calibri"/>
                <a:cs typeface="Calibri"/>
                <a:sym typeface="Calibri"/>
              </a:rPr>
              <a:t> a parte interessada não domina o seu negócio;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Super demanda:</a:t>
            </a:r>
            <a:r>
              <a:rPr lang="pt-BR" sz="2200" b="0" i="0" u="none" strike="noStrike" cap="none">
                <a:solidFill>
                  <a:schemeClr val="dk1"/>
                </a:solidFill>
                <a:latin typeface="Calibri"/>
                <a:ea typeface="Calibri"/>
                <a:cs typeface="Calibri"/>
                <a:sym typeface="Calibri"/>
              </a:rPr>
              <a:t> parte interessada demanda muitas coisas;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Arial"/>
              <a:buChar char="•"/>
            </a:pPr>
            <a:r>
              <a:rPr lang="pt-BR" sz="2200" b="1" i="0" u="none" strike="noStrike" cap="none">
                <a:solidFill>
                  <a:schemeClr val="dk1"/>
                </a:solidFill>
                <a:latin typeface="Calibri"/>
                <a:ea typeface="Calibri"/>
                <a:cs typeface="Calibri"/>
                <a:sym typeface="Calibri"/>
              </a:rPr>
              <a:t> Priorização:</a:t>
            </a:r>
            <a:r>
              <a:rPr lang="pt-BR" sz="2200" b="0" i="0" u="none" strike="noStrike" cap="none">
                <a:solidFill>
                  <a:schemeClr val="dk1"/>
                </a:solidFill>
                <a:latin typeface="Calibri"/>
                <a:ea typeface="Calibri"/>
                <a:cs typeface="Calibri"/>
                <a:sym typeface="Calibri"/>
              </a:rPr>
              <a:t> priorização do requisito.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pic>
        <p:nvPicPr>
          <p:cNvPr id="143" name="Google Shape;143;p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4" name="Google Shape;144;p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45" name="Google Shape;145;p8"/>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46" name="Google Shape;146;p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7</a:t>
            </a:fld>
            <a:endParaRPr sz="6000">
              <a:solidFill>
                <a:schemeClr val="lt1"/>
              </a:solidFill>
              <a:latin typeface="Impact"/>
              <a:ea typeface="Impact"/>
              <a:cs typeface="Impact"/>
              <a:sym typeface="Impact"/>
            </a:endParaRPr>
          </a:p>
        </p:txBody>
      </p:sp>
      <p:sp>
        <p:nvSpPr>
          <p:cNvPr id="147" name="Google Shape;147;p8"/>
          <p:cNvSpPr txBox="1"/>
          <p:nvPr/>
        </p:nvSpPr>
        <p:spPr>
          <a:xfrm>
            <a:off x="872284" y="1612886"/>
            <a:ext cx="10545016" cy="4813313"/>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de negócio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Requisitos de negócio descrevem as necessidades da organização como um</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todo e não de grupos ou partes interessadas. Geralmente são elaborados em análises realizadas antes da criação do projeto.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Exemplos:</a:t>
            </a:r>
            <a:r>
              <a:rPr lang="pt-BR"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Gerenciar o estoque de tintas. </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Implantar um sistema de ponto para economizar assinaturas em papel.</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Controlar a produção de lápis de cor.</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dk1"/>
              </a:buClr>
              <a:buSzPts val="2200"/>
              <a:buFont typeface="Calibri"/>
              <a:buNone/>
            </a:pPr>
            <a:endParaRPr sz="2200" b="0" i="0" u="none" strike="noStrike" cap="none">
              <a:solidFill>
                <a:schemeClr val="dk1"/>
              </a:solidFill>
              <a:latin typeface="Calibri"/>
              <a:ea typeface="Calibri"/>
              <a:cs typeface="Calibri"/>
              <a:sym typeface="Calibri"/>
            </a:endParaRPr>
          </a:p>
          <a:p>
            <a:pPr marL="457200" marR="0" lvl="0" indent="-317500" algn="l" rtl="0">
              <a:lnSpc>
                <a:spcPct val="100000"/>
              </a:lnSpc>
              <a:spcBef>
                <a:spcPts val="0"/>
              </a:spcBef>
              <a:spcAft>
                <a:spcPts val="0"/>
              </a:spcAft>
              <a:buClr>
                <a:schemeClr val="dk1"/>
              </a:buClr>
              <a:buSzPts val="2200"/>
              <a:buFont typeface="Calibri"/>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53" name="Google Shape;153;p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54" name="Google Shape;154;p9"/>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55" name="Google Shape;155;p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8</a:t>
            </a:fld>
            <a:endParaRPr sz="6000">
              <a:solidFill>
                <a:schemeClr val="lt1"/>
              </a:solidFill>
              <a:latin typeface="Impact"/>
              <a:ea typeface="Impact"/>
              <a:cs typeface="Impact"/>
              <a:sym typeface="Impact"/>
            </a:endParaRPr>
          </a:p>
        </p:txBody>
      </p:sp>
      <p:sp>
        <p:nvSpPr>
          <p:cNvPr id="156" name="Google Shape;156;p9"/>
          <p:cNvSpPr txBox="1"/>
          <p:nvPr/>
        </p:nvSpPr>
        <p:spPr>
          <a:xfrm>
            <a:off x="872284" y="1612886"/>
            <a:ext cx="10545016" cy="4813313"/>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de usuário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Requisitos de usuário são requisitos de mais alto nível, que definem a necessidade de um usuário, normalmente escritos em linguagem natural e sem entrar em detalhes técnicos.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Descrevem quais serviços os usuários esperam do sistema e as restrições com as quais este deve operar. É comum que um requisito de usuário seja expandido em um conjunto de requisitos de sistema.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Exemplos:</a:t>
            </a:r>
            <a:r>
              <a:rPr lang="pt-BR"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Visualizar os pacientes agendados no dia.</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Realizar uma requisição de materiais.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200"/>
              <a:buFont typeface="Calibri"/>
              <a:buAutoNum type="arabicPeriod"/>
            </a:pPr>
            <a:r>
              <a:rPr lang="pt-BR" sz="2200" b="0" i="0" u="none" strike="noStrike" cap="none">
                <a:solidFill>
                  <a:schemeClr val="dk1"/>
                </a:solidFill>
                <a:latin typeface="Calibri"/>
                <a:ea typeface="Calibri"/>
                <a:cs typeface="Calibri"/>
                <a:sym typeface="Calibri"/>
              </a:rPr>
              <a:t>Acessar o sistema de qualquer lugar.</a:t>
            </a:r>
            <a:endParaRPr sz="1400" b="0" i="0" u="none" strike="noStrike" cap="none">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chemeClr val="dk1"/>
              </a:buClr>
              <a:buSzPts val="2200"/>
              <a:buFont typeface="Calibri"/>
              <a:buNone/>
            </a:pPr>
            <a:endParaRPr sz="2200" b="0" i="0" u="none" strike="noStrike" cap="none">
              <a:solidFill>
                <a:schemeClr val="dk1"/>
              </a:solidFill>
              <a:latin typeface="Calibri"/>
              <a:ea typeface="Calibri"/>
              <a:cs typeface="Calibri"/>
              <a:sym typeface="Calibri"/>
            </a:endParaRPr>
          </a:p>
          <a:p>
            <a:pPr marL="457200" marR="0" lvl="0" indent="-317500" algn="l" rtl="0">
              <a:lnSpc>
                <a:spcPct val="100000"/>
              </a:lnSpc>
              <a:spcBef>
                <a:spcPts val="0"/>
              </a:spcBef>
              <a:spcAft>
                <a:spcPts val="0"/>
              </a:spcAft>
              <a:buClr>
                <a:schemeClr val="dk1"/>
              </a:buClr>
              <a:buSzPts val="2200"/>
              <a:buFont typeface="Calibri"/>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2" name="Google Shape;162;p1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3" name="Google Shape;163;p10"/>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64" name="Google Shape;164;p1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9</a:t>
            </a:fld>
            <a:endParaRPr sz="6000">
              <a:solidFill>
                <a:schemeClr val="lt1"/>
              </a:solidFill>
              <a:latin typeface="Impact"/>
              <a:ea typeface="Impact"/>
              <a:cs typeface="Impact"/>
              <a:sym typeface="Impact"/>
            </a:endParaRPr>
          </a:p>
        </p:txBody>
      </p:sp>
      <p:sp>
        <p:nvSpPr>
          <p:cNvPr id="165" name="Google Shape;165;p10"/>
          <p:cNvSpPr txBox="1"/>
          <p:nvPr/>
        </p:nvSpPr>
        <p:spPr>
          <a:xfrm>
            <a:off x="884985" y="1612887"/>
            <a:ext cx="10035564"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de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Os requisitos do sistema são declarações sobre o que um sistema deve ser capaz de fazer para satisfazer as necessidades dos usuários e derivam de requisitos de negócio e de requisitos do usuário.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Descrevem mais detalhadamente as funções, serviços e restrições operacionais do sistema do software.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pt-BR" sz="2000" b="0" i="0" u="none" strike="noStrike" cap="none">
                <a:solidFill>
                  <a:schemeClr val="dk1"/>
                </a:solidFill>
                <a:latin typeface="Calibri"/>
                <a:ea typeface="Calibri"/>
                <a:cs typeface="Calibri"/>
                <a:sym typeface="Calibri"/>
              </a:rPr>
              <a:t>Exe: Deve possuir uma tela no menu Consultas &gt; Agendamentos, onde será possível consultar todas as agendas do dia, dando a opção de filtragem por data e médico. Na visualização das agendas, deve mostrar o nome do paciente, horário e médico agendado.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1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71" name="Google Shape;171;p1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72" name="Google Shape;172;p11"/>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173" name="Google Shape;173;p1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10</a:t>
            </a:fld>
            <a:endParaRPr sz="6000">
              <a:solidFill>
                <a:schemeClr val="lt1"/>
              </a:solidFill>
              <a:latin typeface="Impact"/>
              <a:ea typeface="Impact"/>
              <a:cs typeface="Impact"/>
              <a:sym typeface="Impact"/>
            </a:endParaRPr>
          </a:p>
        </p:txBody>
      </p:sp>
      <p:sp>
        <p:nvSpPr>
          <p:cNvPr id="174" name="Google Shape;174;p11"/>
          <p:cNvSpPr txBox="1"/>
          <p:nvPr/>
        </p:nvSpPr>
        <p:spPr>
          <a:xfrm>
            <a:off x="884985" y="1612887"/>
            <a:ext cx="10035564"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pic>
        <p:nvPicPr>
          <p:cNvPr id="175" name="Google Shape;175;p11"/>
          <p:cNvPicPr preferRelativeResize="0"/>
          <p:nvPr/>
        </p:nvPicPr>
        <p:blipFill rotWithShape="1">
          <a:blip r:embed="rId5">
            <a:alphaModFix/>
          </a:blip>
          <a:srcRect/>
          <a:stretch/>
        </p:blipFill>
        <p:spPr>
          <a:xfrm>
            <a:off x="-36512" y="1300163"/>
            <a:ext cx="6615112" cy="5252837"/>
          </a:xfrm>
          <a:prstGeom prst="rect">
            <a:avLst/>
          </a:prstGeom>
          <a:noFill/>
          <a:ln>
            <a:noFill/>
          </a:ln>
        </p:spPr>
      </p:pic>
      <p:sp>
        <p:nvSpPr>
          <p:cNvPr id="176" name="Google Shape;176;p11"/>
          <p:cNvSpPr txBox="1"/>
          <p:nvPr/>
        </p:nvSpPr>
        <p:spPr>
          <a:xfrm>
            <a:off x="4229985" y="1406137"/>
            <a:ext cx="10101000" cy="45819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a:solidFill>
                  <a:srgbClr val="AACAE3"/>
                </a:solidFill>
                <a:latin typeface="Calibri"/>
                <a:ea typeface="Calibri"/>
                <a:cs typeface="Calibri"/>
                <a:sym typeface="Calibri"/>
              </a:rPr>
              <a:t>Objetivos de alto nível da organização</a:t>
            </a:r>
            <a:endParaRPr sz="2400">
              <a:solidFill>
                <a:srgbClr val="AACAE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AACAE3"/>
                </a:solidFill>
                <a:latin typeface="Calibri"/>
                <a:ea typeface="Calibri"/>
                <a:cs typeface="Calibri"/>
                <a:sym typeface="Calibri"/>
              </a:rPr>
              <a:t>   Ajudam a definir o escopo e os limites do Software</a:t>
            </a:r>
            <a:endParaRPr sz="2400">
              <a:solidFill>
                <a:srgbClr val="AACAE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AACAE3"/>
                </a:solidFill>
                <a:latin typeface="Calibri"/>
                <a:ea typeface="Calibri"/>
                <a:cs typeface="Calibri"/>
                <a:sym typeface="Calibri"/>
              </a:rPr>
              <a:t>      Especificam o que o software deve atingir para o negócio</a:t>
            </a: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a:t>
            </a:r>
            <a:br>
              <a:rPr lang="pt-BR" sz="2400" b="0" i="0" u="none" strike="noStrike" cap="none">
                <a:solidFill>
                  <a:schemeClr val="dk1"/>
                </a:solidFill>
                <a:latin typeface="Calibri"/>
                <a:ea typeface="Calibri"/>
                <a:cs typeface="Calibri"/>
                <a:sym typeface="Calibri"/>
              </a:rPr>
            </a:br>
            <a:endParaRPr sz="2200" b="0" i="0" u="none" strike="noStrike" cap="none">
              <a:solidFill>
                <a:schemeClr val="dk1"/>
              </a:solidFill>
              <a:latin typeface="Calibri"/>
              <a:ea typeface="Calibri"/>
              <a:cs typeface="Calibri"/>
              <a:sym typeface="Calibri"/>
            </a:endParaRPr>
          </a:p>
        </p:txBody>
      </p:sp>
      <p:sp>
        <p:nvSpPr>
          <p:cNvPr id="177" name="Google Shape;177;p11"/>
          <p:cNvSpPr txBox="1"/>
          <p:nvPr/>
        </p:nvSpPr>
        <p:spPr>
          <a:xfrm>
            <a:off x="4966610" y="2826262"/>
            <a:ext cx="10101000" cy="45819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a:solidFill>
                  <a:srgbClr val="828DED"/>
                </a:solidFill>
                <a:latin typeface="Calibri"/>
                <a:ea typeface="Calibri"/>
                <a:cs typeface="Calibri"/>
                <a:sym typeface="Calibri"/>
              </a:rPr>
              <a:t>Especificam o que o usuário deve fazer com o software</a:t>
            </a:r>
            <a:endParaRPr sz="2400">
              <a:solidFill>
                <a:srgbClr val="828DED"/>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828DED"/>
                </a:solidFill>
                <a:latin typeface="Calibri"/>
                <a:ea typeface="Calibri"/>
                <a:cs typeface="Calibri"/>
                <a:sym typeface="Calibri"/>
              </a:rPr>
              <a:t>  Capturam as necessidades e expectativas do usuário</a:t>
            </a:r>
            <a:endParaRPr sz="2400">
              <a:solidFill>
                <a:srgbClr val="828DED"/>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828DED"/>
                </a:solidFill>
                <a:latin typeface="Calibri"/>
                <a:ea typeface="Calibri"/>
                <a:cs typeface="Calibri"/>
                <a:sym typeface="Calibri"/>
              </a:rPr>
              <a:t>     Ajudam a identificar capacidades e funcionalidades do</a:t>
            </a:r>
            <a:endParaRPr sz="2400">
              <a:solidFill>
                <a:srgbClr val="828DED"/>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828DED"/>
                </a:solidFill>
                <a:latin typeface="Calibri"/>
                <a:ea typeface="Calibri"/>
                <a:cs typeface="Calibri"/>
                <a:sym typeface="Calibri"/>
              </a:rPr>
              <a:t>        software</a:t>
            </a:r>
            <a:r>
              <a:rPr lang="pt-BR" sz="2400" b="0" i="0" u="none" strike="noStrike" cap="none">
                <a:solidFill>
                  <a:srgbClr val="828DED"/>
                </a:solidFill>
                <a:latin typeface="Calibri"/>
                <a:ea typeface="Calibri"/>
                <a:cs typeface="Calibri"/>
                <a:sym typeface="Calibri"/>
              </a:rPr>
              <a:t/>
            </a:r>
            <a:br>
              <a:rPr lang="pt-BR" sz="2400" b="0" i="0" u="none" strike="noStrike" cap="none">
                <a:solidFill>
                  <a:srgbClr val="828DED"/>
                </a:solidFill>
                <a:latin typeface="Calibri"/>
                <a:ea typeface="Calibri"/>
                <a:cs typeface="Calibri"/>
                <a:sym typeface="Calibri"/>
              </a:rPr>
            </a:br>
            <a:r>
              <a:rPr lang="pt-BR" sz="2400" b="0" i="0" u="none" strike="noStrike" cap="none">
                <a:solidFill>
                  <a:srgbClr val="828DED"/>
                </a:solidFill>
                <a:latin typeface="Calibri"/>
                <a:ea typeface="Calibri"/>
                <a:cs typeface="Calibri"/>
                <a:sym typeface="Calibri"/>
              </a:rPr>
              <a:t> </a:t>
            </a:r>
            <a:br>
              <a:rPr lang="pt-BR" sz="2400" b="0" i="0" u="none" strike="noStrike" cap="none">
                <a:solidFill>
                  <a:srgbClr val="828DED"/>
                </a:solidFill>
                <a:latin typeface="Calibri"/>
                <a:ea typeface="Calibri"/>
                <a:cs typeface="Calibri"/>
                <a:sym typeface="Calibri"/>
              </a:rPr>
            </a:br>
            <a:endParaRPr sz="2200" b="0" i="0" u="none" strike="noStrike" cap="none">
              <a:solidFill>
                <a:srgbClr val="828DED"/>
              </a:solidFill>
              <a:latin typeface="Calibri"/>
              <a:ea typeface="Calibri"/>
              <a:cs typeface="Calibri"/>
              <a:sym typeface="Calibri"/>
            </a:endParaRPr>
          </a:p>
        </p:txBody>
      </p:sp>
      <p:sp>
        <p:nvSpPr>
          <p:cNvPr id="178" name="Google Shape;178;p11"/>
          <p:cNvSpPr txBox="1"/>
          <p:nvPr/>
        </p:nvSpPr>
        <p:spPr>
          <a:xfrm>
            <a:off x="5775254" y="4572000"/>
            <a:ext cx="6416700" cy="45231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a:solidFill>
                  <a:srgbClr val="25186B"/>
                </a:solidFill>
                <a:latin typeface="Calibri"/>
                <a:ea typeface="Calibri"/>
                <a:cs typeface="Calibri"/>
                <a:sym typeface="Calibri"/>
              </a:rPr>
              <a:t>Especificações técnicas</a:t>
            </a:r>
            <a:endParaRPr sz="2400">
              <a:solidFill>
                <a:srgbClr val="25186B"/>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25186B"/>
                </a:solidFill>
                <a:latin typeface="Calibri"/>
                <a:ea typeface="Calibri"/>
                <a:cs typeface="Calibri"/>
                <a:sym typeface="Calibri"/>
              </a:rPr>
              <a:t>    Como vai ser construído, testado e colocado em</a:t>
            </a:r>
            <a:endParaRPr sz="2400">
              <a:solidFill>
                <a:srgbClr val="25186B"/>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25186B"/>
                </a:solidFill>
                <a:latin typeface="Calibri"/>
                <a:ea typeface="Calibri"/>
                <a:cs typeface="Calibri"/>
                <a:sym typeface="Calibri"/>
              </a:rPr>
              <a:t>      prod.</a:t>
            </a:r>
            <a:endParaRPr sz="2400">
              <a:solidFill>
                <a:srgbClr val="25186B"/>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25186B"/>
                </a:solidFill>
                <a:latin typeface="Calibri"/>
                <a:ea typeface="Calibri"/>
                <a:cs typeface="Calibri"/>
                <a:sym typeface="Calibri"/>
              </a:rPr>
              <a:t>         Especificam requisitos de software e hard -</a:t>
            </a:r>
            <a:endParaRPr sz="2400">
              <a:solidFill>
                <a:srgbClr val="25186B"/>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rgbClr val="25186B"/>
                </a:solidFill>
                <a:latin typeface="Calibri"/>
                <a:ea typeface="Calibri"/>
                <a:cs typeface="Calibri"/>
                <a:sym typeface="Calibri"/>
              </a:rPr>
              <a:t>          ware, performance e segurança</a:t>
            </a:r>
            <a:endParaRPr sz="2400">
              <a:solidFill>
                <a:srgbClr val="25186B"/>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a:solidFill>
                  <a:schemeClr val="dk1"/>
                </a:solidFill>
                <a:latin typeface="Calibri"/>
                <a:ea typeface="Calibri"/>
                <a:cs typeface="Calibri"/>
                <a:sym typeface="Calibri"/>
              </a:rPr>
              <a:t>  </a:t>
            </a: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a:t>
            </a:r>
            <a:br>
              <a:rPr lang="pt-BR" sz="2400" b="0" i="0" u="none" strike="noStrike" cap="none">
                <a:solidFill>
                  <a:schemeClr val="dk1"/>
                </a:solidFill>
                <a:latin typeface="Calibri"/>
                <a:ea typeface="Calibri"/>
                <a:cs typeface="Calibri"/>
                <a:sym typeface="Calibri"/>
              </a:rPr>
            </a:b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1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94" name="Google Shape;194;p1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95" name="Google Shape;195;p1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 - Leitores</a:t>
            </a:r>
            <a:endParaRPr sz="4800" b="0" i="0" u="none" strike="noStrike" cap="none">
              <a:solidFill>
                <a:srgbClr val="003958"/>
              </a:solidFill>
              <a:latin typeface="Calibri"/>
              <a:ea typeface="Calibri"/>
              <a:cs typeface="Calibri"/>
              <a:sym typeface="Calibri"/>
            </a:endParaRPr>
          </a:p>
        </p:txBody>
      </p:sp>
      <p:sp>
        <p:nvSpPr>
          <p:cNvPr id="196" name="Google Shape;196;p1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11</a:t>
            </a:fld>
            <a:endParaRPr sz="6000">
              <a:solidFill>
                <a:schemeClr val="lt1"/>
              </a:solidFill>
              <a:latin typeface="Impact"/>
              <a:ea typeface="Impact"/>
              <a:cs typeface="Impact"/>
              <a:sym typeface="Impact"/>
            </a:endParaRPr>
          </a:p>
        </p:txBody>
      </p:sp>
      <p:sp>
        <p:nvSpPr>
          <p:cNvPr id="197" name="Google Shape;197;p12"/>
          <p:cNvSpPr txBox="1"/>
          <p:nvPr/>
        </p:nvSpPr>
        <p:spPr>
          <a:xfrm>
            <a:off x="884985" y="1714487"/>
            <a:ext cx="9369358"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requisitos são escritos em diferentes formas e níveis de detalhamento para que diferentes leitores possam usá-los de diversas maneiras.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
        <p:nvSpPr>
          <p:cNvPr id="198" name="Google Shape;198;p12"/>
          <p:cNvSpPr/>
          <p:nvPr/>
        </p:nvSpPr>
        <p:spPr>
          <a:xfrm>
            <a:off x="2050878" y="3297285"/>
            <a:ext cx="2913016" cy="757646"/>
          </a:xfrm>
          <a:prstGeom prst="rect">
            <a:avLst/>
          </a:prstGeom>
          <a:solidFill>
            <a:srgbClr val="C4E0B2"/>
          </a:solidFill>
          <a:ln w="12700" cap="flat" cmpd="sng">
            <a:solidFill>
              <a:srgbClr val="A8D0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Requisitos de usuário</a:t>
            </a:r>
            <a:endParaRPr sz="1800" b="1" i="0" u="none" strike="noStrike" cap="none">
              <a:solidFill>
                <a:schemeClr val="dk1"/>
              </a:solidFill>
              <a:latin typeface="Calibri"/>
              <a:ea typeface="Calibri"/>
              <a:cs typeface="Calibri"/>
              <a:sym typeface="Calibri"/>
            </a:endParaRPr>
          </a:p>
        </p:txBody>
      </p:sp>
      <p:sp>
        <p:nvSpPr>
          <p:cNvPr id="199" name="Google Shape;199;p12"/>
          <p:cNvSpPr/>
          <p:nvPr/>
        </p:nvSpPr>
        <p:spPr>
          <a:xfrm>
            <a:off x="2033460" y="5091613"/>
            <a:ext cx="2913016" cy="757646"/>
          </a:xfrm>
          <a:prstGeom prst="rect">
            <a:avLst/>
          </a:prstGeom>
          <a:solidFill>
            <a:srgbClr val="C4E0B2"/>
          </a:solidFill>
          <a:ln w="12700" cap="flat" cmpd="sng">
            <a:solidFill>
              <a:srgbClr val="A8D0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Requisitos de sistema</a:t>
            </a:r>
            <a:endParaRPr sz="1800" b="1" i="0" u="none" strike="noStrike" cap="none">
              <a:solidFill>
                <a:schemeClr val="dk1"/>
              </a:solidFill>
              <a:latin typeface="Calibri"/>
              <a:ea typeface="Calibri"/>
              <a:cs typeface="Calibri"/>
              <a:sym typeface="Calibri"/>
            </a:endParaRPr>
          </a:p>
        </p:txBody>
      </p:sp>
      <p:sp>
        <p:nvSpPr>
          <p:cNvPr id="200" name="Google Shape;200;p12"/>
          <p:cNvSpPr/>
          <p:nvPr/>
        </p:nvSpPr>
        <p:spPr>
          <a:xfrm>
            <a:off x="6318077" y="3114404"/>
            <a:ext cx="2913016" cy="1110342"/>
          </a:xfrm>
          <a:prstGeom prst="rect">
            <a:avLst/>
          </a:prstGeom>
          <a:solidFill>
            <a:srgbClr val="C4E0B2"/>
          </a:solidFill>
          <a:ln w="12700" cap="flat" cmpd="sng">
            <a:solidFill>
              <a:srgbClr val="A8D0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Gerentes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Clientes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Usuários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Arquiteto de sistemas</a:t>
            </a:r>
            <a:endParaRPr sz="1800" b="1" i="0" u="none" strike="noStrike" cap="none">
              <a:solidFill>
                <a:schemeClr val="dk1"/>
              </a:solidFill>
              <a:latin typeface="Calibri"/>
              <a:ea typeface="Calibri"/>
              <a:cs typeface="Calibri"/>
              <a:sym typeface="Calibri"/>
            </a:endParaRPr>
          </a:p>
        </p:txBody>
      </p:sp>
      <p:sp>
        <p:nvSpPr>
          <p:cNvPr id="201" name="Google Shape;201;p12"/>
          <p:cNvSpPr/>
          <p:nvPr/>
        </p:nvSpPr>
        <p:spPr>
          <a:xfrm>
            <a:off x="6326785" y="4921795"/>
            <a:ext cx="2913016" cy="1110342"/>
          </a:xfrm>
          <a:prstGeom prst="rect">
            <a:avLst/>
          </a:prstGeom>
          <a:solidFill>
            <a:srgbClr val="C4E0B2"/>
          </a:solidFill>
          <a:ln w="12700" cap="flat" cmpd="sng">
            <a:solidFill>
              <a:srgbClr val="A8D08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Usuários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Arquiteto de sistemas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Desenvolvedores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Testers</a:t>
            </a:r>
            <a:endParaRPr sz="1800" b="1" i="0" u="none" strike="noStrike" cap="none">
              <a:solidFill>
                <a:schemeClr val="dk1"/>
              </a:solidFill>
              <a:latin typeface="Calibri"/>
              <a:ea typeface="Calibri"/>
              <a:cs typeface="Calibri"/>
              <a:sym typeface="Calibri"/>
            </a:endParaRPr>
          </a:p>
        </p:txBody>
      </p:sp>
      <p:cxnSp>
        <p:nvCxnSpPr>
          <p:cNvPr id="202" name="Google Shape;202;p12"/>
          <p:cNvCxnSpPr>
            <a:stCxn id="198" idx="3"/>
            <a:endCxn id="200" idx="1"/>
          </p:cNvCxnSpPr>
          <p:nvPr/>
        </p:nvCxnSpPr>
        <p:spPr>
          <a:xfrm rot="10800000" flipH="1">
            <a:off x="4963894" y="3669508"/>
            <a:ext cx="1354200" cy="6600"/>
          </a:xfrm>
          <a:prstGeom prst="straightConnector1">
            <a:avLst/>
          </a:prstGeom>
          <a:noFill/>
          <a:ln w="9525" cap="flat" cmpd="sng">
            <a:solidFill>
              <a:schemeClr val="accent1"/>
            </a:solidFill>
            <a:prstDash val="solid"/>
            <a:miter lim="800000"/>
            <a:headEnd type="none" w="sm" len="sm"/>
            <a:tailEnd type="stealth" w="med" len="med"/>
          </a:ln>
        </p:spPr>
      </p:cxnSp>
      <p:cxnSp>
        <p:nvCxnSpPr>
          <p:cNvPr id="203" name="Google Shape;203;p12"/>
          <p:cNvCxnSpPr>
            <a:stCxn id="199" idx="3"/>
            <a:endCxn id="201" idx="1"/>
          </p:cNvCxnSpPr>
          <p:nvPr/>
        </p:nvCxnSpPr>
        <p:spPr>
          <a:xfrm>
            <a:off x="4946476" y="5470436"/>
            <a:ext cx="1380300" cy="6600"/>
          </a:xfrm>
          <a:prstGeom prst="straightConnector1">
            <a:avLst/>
          </a:prstGeom>
          <a:noFill/>
          <a:ln w="9525" cap="flat" cmpd="sng">
            <a:solidFill>
              <a:schemeClr val="accent1"/>
            </a:solidFill>
            <a:prstDash val="solid"/>
            <a:miter lim="800000"/>
            <a:headEnd type="none" w="sm" len="sm"/>
            <a:tailEnd type="stealth"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1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09" name="Google Shape;209;p1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10" name="Google Shape;210;p1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11" name="Google Shape;211;p1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12</a:t>
            </a:fld>
            <a:endParaRPr sz="6000">
              <a:solidFill>
                <a:schemeClr val="lt1"/>
              </a:solidFill>
              <a:latin typeface="Impact"/>
              <a:ea typeface="Impact"/>
              <a:cs typeface="Impact"/>
              <a:sym typeface="Impact"/>
            </a:endParaRPr>
          </a:p>
        </p:txBody>
      </p:sp>
      <p:sp>
        <p:nvSpPr>
          <p:cNvPr id="212" name="Google Shape;212;p13"/>
          <p:cNvSpPr txBox="1"/>
          <p:nvPr/>
        </p:nvSpPr>
        <p:spPr>
          <a:xfrm>
            <a:off x="884985" y="1714487"/>
            <a:ext cx="10100878" cy="4581810"/>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100000"/>
              </a:lnSpc>
              <a:spcBef>
                <a:spcPts val="0"/>
              </a:spcBef>
              <a:spcAft>
                <a:spcPts val="0"/>
              </a:spcAft>
              <a:buClr>
                <a:srgbClr val="000000"/>
              </a:buClr>
              <a:buSzPct val="100000"/>
              <a:buFont typeface="Arial"/>
              <a:buNone/>
            </a:pPr>
            <a:r>
              <a:rPr lang="pt-BR" sz="2400" b="0" i="0" u="none" strike="noStrike" cap="none">
                <a:solidFill>
                  <a:schemeClr val="dk1"/>
                </a:solidFill>
                <a:latin typeface="Calibri"/>
                <a:ea typeface="Calibri"/>
                <a:cs typeface="Calibri"/>
                <a:sym typeface="Calibri"/>
              </a:rPr>
              <a:t>Cada nível de requisito comunica informações sobre o sistema para diferentes tipos de leitor.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pt-BR" sz="2400" b="0" i="0" u="none" strike="noStrike" cap="none">
                <a:solidFill>
                  <a:schemeClr val="dk1"/>
                </a:solidFill>
                <a:latin typeface="Calibri"/>
                <a:ea typeface="Calibri"/>
                <a:cs typeface="Calibri"/>
                <a:sym typeface="Calibri"/>
              </a:rPr>
              <a:t>Os requisitos são escritos em diferentes formas e níveis de detalhamento para que diferentes leitores possam usá-los de diversas maneiras.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pt-BR" sz="2400" b="0" i="0" u="none" strike="noStrike" cap="none">
                <a:solidFill>
                  <a:schemeClr val="dk1"/>
                </a:solidFill>
                <a:latin typeface="Calibri"/>
                <a:ea typeface="Calibri"/>
                <a:cs typeface="Calibri"/>
                <a:sym typeface="Calibri"/>
              </a:rPr>
              <a:t>Os leitores dos </a:t>
            </a:r>
            <a:r>
              <a:rPr lang="pt-BR" sz="2400" b="1" i="0" u="none" strike="noStrike" cap="none">
                <a:solidFill>
                  <a:schemeClr val="dk1"/>
                </a:solidFill>
                <a:latin typeface="Calibri"/>
                <a:ea typeface="Calibri"/>
                <a:cs typeface="Calibri"/>
                <a:sym typeface="Calibri"/>
              </a:rPr>
              <a:t>requisitos de usuário </a:t>
            </a:r>
            <a:r>
              <a:rPr lang="pt-BR" sz="2400" b="0" i="0" u="none" strike="noStrike" cap="none">
                <a:solidFill>
                  <a:schemeClr val="dk1"/>
                </a:solidFill>
                <a:latin typeface="Calibri"/>
                <a:ea typeface="Calibri"/>
                <a:cs typeface="Calibri"/>
                <a:sym typeface="Calibri"/>
              </a:rPr>
              <a:t>não costumam se importar em entender como o sistema será implementado.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pt-BR" sz="2400" b="0" i="0" u="none" strike="noStrike" cap="none">
                <a:solidFill>
                  <a:schemeClr val="dk1"/>
                </a:solidFill>
                <a:latin typeface="Calibri"/>
                <a:ea typeface="Calibri"/>
                <a:cs typeface="Calibri"/>
                <a:sym typeface="Calibri"/>
              </a:rPr>
              <a:t>Já os leitores dos </a:t>
            </a:r>
            <a:r>
              <a:rPr lang="pt-BR" sz="2400" b="1" i="0" u="none" strike="noStrike" cap="none">
                <a:solidFill>
                  <a:schemeClr val="dk1"/>
                </a:solidFill>
                <a:latin typeface="Calibri"/>
                <a:ea typeface="Calibri"/>
                <a:cs typeface="Calibri"/>
                <a:sym typeface="Calibri"/>
              </a:rPr>
              <a:t>requisitos de sistema</a:t>
            </a:r>
            <a:r>
              <a:rPr lang="pt-BR" sz="2400" b="0" i="0" u="none" strike="noStrike" cap="none">
                <a:solidFill>
                  <a:schemeClr val="dk1"/>
                </a:solidFill>
                <a:latin typeface="Calibri"/>
                <a:ea typeface="Calibri"/>
                <a:cs typeface="Calibri"/>
                <a:sym typeface="Calibri"/>
              </a:rPr>
              <a:t> necessitam conhecer e compreender de forma mais detalhada o que o sistema fará, pois precisam entender como os requisitos darão apoio aos processos de negócio. </a:t>
            </a:r>
            <a:br>
              <a:rPr lang="pt-BR" sz="2400" b="0" i="0" u="none" strike="noStrike" cap="none">
                <a:solidFill>
                  <a:schemeClr val="dk1"/>
                </a:solidFill>
                <a:latin typeface="Calibri"/>
                <a:ea typeface="Calibri"/>
                <a:cs typeface="Calibri"/>
                <a:sym typeface="Calibri"/>
              </a:rPr>
            </a:br>
            <a:r>
              <a:rPr lang="pt-BR" sz="2400" b="0" i="0" u="none" strike="noStrike" cap="none">
                <a:solidFill>
                  <a:schemeClr val="dk1"/>
                </a:solidFill>
                <a:latin typeface="Calibri"/>
                <a:ea typeface="Calibri"/>
                <a:cs typeface="Calibri"/>
                <a:sym typeface="Calibri"/>
              </a:rPr>
              <a:t> </a:t>
            </a:r>
            <a:br>
              <a:rPr lang="pt-BR" sz="2400" b="0" i="0" u="none" strike="noStrike" cap="none">
                <a:solidFill>
                  <a:schemeClr val="dk1"/>
                </a:solidFill>
                <a:latin typeface="Calibri"/>
                <a:ea typeface="Calibri"/>
                <a:cs typeface="Calibri"/>
                <a:sym typeface="Calibri"/>
              </a:rPr>
            </a:b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1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18" name="Google Shape;218;p1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19" name="Google Shape;219;p1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20" name="Google Shape;220;p1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13</a:t>
            </a:fld>
            <a:endParaRPr sz="6000">
              <a:solidFill>
                <a:schemeClr val="lt1"/>
              </a:solidFill>
              <a:latin typeface="Impact"/>
              <a:ea typeface="Impact"/>
              <a:cs typeface="Impact"/>
              <a:sym typeface="Impact"/>
            </a:endParaRPr>
          </a:p>
        </p:txBody>
      </p:sp>
      <p:sp>
        <p:nvSpPr>
          <p:cNvPr id="221" name="Google Shape;221;p14"/>
          <p:cNvSpPr txBox="1"/>
          <p:nvPr/>
        </p:nvSpPr>
        <p:spPr>
          <a:xfrm>
            <a:off x="884984" y="1714487"/>
            <a:ext cx="10252915"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Tipos de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i="0" u="none" strike="noStrike" cap="none">
                <a:solidFill>
                  <a:srgbClr val="A50021"/>
                </a:solidFill>
                <a:latin typeface="Calibri"/>
                <a:ea typeface="Calibri"/>
                <a:cs typeface="Calibri"/>
                <a:sym typeface="Calibri"/>
              </a:rPr>
              <a:t>Requisitos funcionais: </a:t>
            </a:r>
            <a:r>
              <a:rPr lang="pt-BR" sz="2400" b="0" i="0" u="none" strike="noStrike" cap="none">
                <a:solidFill>
                  <a:schemeClr val="dk1"/>
                </a:solidFill>
                <a:latin typeface="Calibri"/>
                <a:ea typeface="Calibri"/>
                <a:cs typeface="Calibri"/>
                <a:sym typeface="Calibri"/>
              </a:rPr>
              <a:t>descrevem os serviços que o sistema deve fornecer e declaram explicitamente certos comportamentos que o sistema não deve fazer (SOMMERVILE,  2011).</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Ao se tratar de requisitos de usuário, os requisitos funcionais são escritos de maneira mais abstrata, para serem entendidos pelos usuários. Para requisitos de sistema, estes requisitos descrevem mais detalhadamente as funções do sistema, suas entradas e saídas, exceções. </a:t>
            </a: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000"/>
              <a:buFont typeface="Arial"/>
              <a:buNone/>
            </a:pPr>
            <a:r>
              <a:rPr lang="pt-BR" sz="2000" b="0" i="0" u="none" strike="noStrike" cap="none">
                <a:solidFill>
                  <a:schemeClr val="dk1"/>
                </a:solidFill>
                <a:latin typeface="Calibri"/>
                <a:ea typeface="Calibri"/>
                <a:cs typeface="Calibri"/>
                <a:sym typeface="Calibri"/>
              </a:rPr>
              <a:t>Exe: O login deve ser efetuado com usuário e senha.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g1de092b8da9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27" name="Google Shape;227;g1de092b8da9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28" name="Google Shape;228;g1de092b8da9_0_0"/>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29" name="Google Shape;229;g1de092b8da9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14</a:t>
            </a:fld>
            <a:endParaRPr sz="6000">
              <a:solidFill>
                <a:schemeClr val="lt1"/>
              </a:solidFill>
              <a:latin typeface="Impact"/>
              <a:ea typeface="Impact"/>
              <a:cs typeface="Impact"/>
              <a:sym typeface="Impact"/>
            </a:endParaRPr>
          </a:p>
        </p:txBody>
      </p:sp>
      <p:sp>
        <p:nvSpPr>
          <p:cNvPr id="230" name="Google Shape;230;g1de092b8da9_0_0"/>
          <p:cNvSpPr txBox="1"/>
          <p:nvPr/>
        </p:nvSpPr>
        <p:spPr>
          <a:xfrm>
            <a:off x="884984" y="1714487"/>
            <a:ext cx="10252800" cy="45819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Tipos de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i="0" u="none" strike="noStrike" cap="none">
                <a:solidFill>
                  <a:srgbClr val="A50021"/>
                </a:solidFill>
                <a:latin typeface="Calibri"/>
                <a:ea typeface="Calibri"/>
                <a:cs typeface="Calibri"/>
                <a:sym typeface="Calibri"/>
              </a:rPr>
              <a:t>Requisitos funcionais:</a:t>
            </a:r>
            <a:r>
              <a:rPr lang="pt-BR" sz="2400" b="1">
                <a:solidFill>
                  <a:srgbClr val="A50021"/>
                </a:solidFill>
                <a:latin typeface="Calibri"/>
                <a:ea typeface="Calibri"/>
                <a:cs typeface="Calibri"/>
                <a:sym typeface="Calibri"/>
              </a:rPr>
              <a:t> Descrevem o que o software deve fazer. Especificam as features, funções e capacidades do software.</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Podem ser testados para garantir que o software atende esses requisitos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Exemplos: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permitir que o usuário possa criar uma conta</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ser capaz de gerar relatórios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permitir que o usuário busque produtos</a:t>
            </a:r>
            <a:endParaRPr sz="2400" b="1">
              <a:solidFill>
                <a:srgbClr val="A5002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1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36" name="Google Shape;236;p1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37" name="Google Shape;237;p15"/>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38" name="Google Shape;238;p1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15</a:t>
            </a:fld>
            <a:endParaRPr sz="6000">
              <a:solidFill>
                <a:schemeClr val="lt1"/>
              </a:solidFill>
              <a:latin typeface="Impact"/>
              <a:ea typeface="Impact"/>
              <a:cs typeface="Impact"/>
              <a:sym typeface="Impact"/>
            </a:endParaRPr>
          </a:p>
        </p:txBody>
      </p:sp>
      <p:graphicFrame>
        <p:nvGraphicFramePr>
          <p:cNvPr id="239" name="Google Shape;239;p15"/>
          <p:cNvGraphicFramePr/>
          <p:nvPr/>
        </p:nvGraphicFramePr>
        <p:xfrm>
          <a:off x="1104535" y="2417837"/>
          <a:ext cx="9358825" cy="3395175"/>
        </p:xfrm>
        <a:graphic>
          <a:graphicData uri="http://schemas.openxmlformats.org/drawingml/2006/table">
            <a:tbl>
              <a:tblPr firstRow="1" bandRow="1">
                <a:noFill/>
                <a:tableStyleId>{F244B3ED-BF7A-4296-A338-9F5F5E7ED7F2}</a:tableStyleId>
              </a:tblPr>
              <a:tblGrid>
                <a:gridCol w="2067300"/>
                <a:gridCol w="7291525"/>
              </a:tblGrid>
              <a:tr h="4394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Código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a:t>
                      </a:r>
                      <a:endParaRPr sz="1800" u="none" strike="noStrike" cap="none"/>
                    </a:p>
                  </a:txBody>
                  <a:tcPr marL="91450" marR="91450" marT="45725" marB="45725"/>
                </a:tc>
              </a:tr>
              <a:tr h="439450">
                <a:tc gridSpan="2">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Login</a:t>
                      </a:r>
                      <a:endParaRPr sz="1800" b="1" u="none" strike="noStrike" cap="none"/>
                    </a:p>
                  </a:txBody>
                  <a:tcPr marL="91450" marR="91450" marT="45725" marB="45725"/>
                </a:tc>
                <a:tc hMerge="1">
                  <a:txBody>
                    <a:bodyPr/>
                    <a:lstStyle/>
                    <a:p>
                      <a:endParaRPr lang="pt-BR"/>
                    </a:p>
                  </a:txBody>
                  <a:tcPr/>
                </a:tc>
              </a:tr>
              <a:tr h="4394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RF01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Deve permitir o acesso ao sistema por meio de login e senha.</a:t>
                      </a:r>
                      <a:endParaRPr sz="1400" u="none" strike="noStrike" cap="none"/>
                    </a:p>
                  </a:txBody>
                  <a:tcPr marL="91450" marR="91450" marT="45725" marB="45725"/>
                </a:tc>
              </a:tr>
              <a:tr h="439450">
                <a:tc gridSpan="2">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Cadastro de clientes</a:t>
                      </a:r>
                      <a:endParaRPr sz="1800" b="1" u="none" strike="noStrike" cap="none"/>
                    </a:p>
                  </a:txBody>
                  <a:tcPr marL="91450" marR="91450" marT="45725" marB="45725"/>
                </a:tc>
                <a:tc hMerge="1">
                  <a:txBody>
                    <a:bodyPr/>
                    <a:lstStyle/>
                    <a:p>
                      <a:endParaRPr lang="pt-BR"/>
                    </a:p>
                  </a:txBody>
                  <a:tcPr/>
                </a:tc>
              </a:tr>
              <a:tr h="4394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RF02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cliente deve ser cadastrado como pessoa física ou jurídica.</a:t>
                      </a:r>
                      <a:endParaRPr sz="1400" u="none" strike="noStrike" cap="none"/>
                    </a:p>
                  </a:txBody>
                  <a:tcPr marL="91450" marR="91450" marT="45725" marB="45725"/>
                </a:tc>
              </a:tr>
              <a:tr h="758475">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RF03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cadastro do cliente deverá conter: nome completo, CPF, RG, fone celular, e-mail, CEP, bairro, cidade e estado. </a:t>
                      </a:r>
                      <a:endParaRPr sz="1400" u="none" strike="noStrike" cap="none"/>
                    </a:p>
                  </a:txBody>
                  <a:tcPr marL="91450" marR="91450" marT="45725" marB="45725"/>
                </a:tc>
              </a:tr>
              <a:tr h="4394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RF04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Deve ser possível realizar alterações do cadastro do cliente.</a:t>
                      </a:r>
                      <a:endParaRPr sz="1800" u="none" strike="noStrike" cap="none"/>
                    </a:p>
                  </a:txBody>
                  <a:tcPr marL="91450" marR="91450" marT="45725" marB="45725"/>
                </a:tc>
              </a:tr>
            </a:tbl>
          </a:graphicData>
        </a:graphic>
      </p:graphicFrame>
      <p:sp>
        <p:nvSpPr>
          <p:cNvPr id="240" name="Google Shape;240;p15"/>
          <p:cNvSpPr txBox="1"/>
          <p:nvPr/>
        </p:nvSpPr>
        <p:spPr>
          <a:xfrm>
            <a:off x="1084216" y="1815736"/>
            <a:ext cx="412446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Tabela de Requisitos Funcionais</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46" name="Google Shape;246;p1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47" name="Google Shape;247;p16"/>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48" name="Google Shape;248;p1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16</a:t>
            </a:fld>
            <a:endParaRPr sz="6000">
              <a:solidFill>
                <a:schemeClr val="lt1"/>
              </a:solidFill>
              <a:latin typeface="Impact"/>
              <a:ea typeface="Impact"/>
              <a:cs typeface="Impact"/>
              <a:sym typeface="Impact"/>
            </a:endParaRPr>
          </a:p>
        </p:txBody>
      </p:sp>
      <p:sp>
        <p:nvSpPr>
          <p:cNvPr id="249" name="Google Shape;249;p16"/>
          <p:cNvSpPr txBox="1"/>
          <p:nvPr/>
        </p:nvSpPr>
        <p:spPr>
          <a:xfrm>
            <a:off x="944516" y="1447436"/>
            <a:ext cx="876573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Funcionais de usuário x Requisitos funcionais de sistema</a:t>
            </a:r>
            <a:endParaRPr sz="1400" b="0" i="0" u="none" strike="noStrike" cap="none">
              <a:solidFill>
                <a:srgbClr val="000000"/>
              </a:solidFill>
              <a:latin typeface="Arial"/>
              <a:ea typeface="Arial"/>
              <a:cs typeface="Arial"/>
              <a:sym typeface="Arial"/>
            </a:endParaRPr>
          </a:p>
        </p:txBody>
      </p:sp>
      <p:graphicFrame>
        <p:nvGraphicFramePr>
          <p:cNvPr id="250" name="Google Shape;250;p16"/>
          <p:cNvGraphicFramePr/>
          <p:nvPr/>
        </p:nvGraphicFramePr>
        <p:xfrm>
          <a:off x="1041401" y="2091266"/>
          <a:ext cx="10020300" cy="3931960"/>
        </p:xfrm>
        <a:graphic>
          <a:graphicData uri="http://schemas.openxmlformats.org/drawingml/2006/table">
            <a:tbl>
              <a:tblPr firstRow="1" bandRow="1">
                <a:noFill/>
                <a:tableStyleId>{F244B3ED-BF7A-4296-A338-9F5F5E7ED7F2}</a:tableStyleId>
              </a:tblPr>
              <a:tblGrid>
                <a:gridCol w="2603500"/>
                <a:gridCol w="3403600"/>
                <a:gridCol w="4013200"/>
              </a:tblGrid>
              <a:tr h="2286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Necessidade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 funcional de usuário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 funcional de sistema</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Realizar o login no sistema</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usuário deve ser autenticado para acesso ao sistema.</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sistema deve permitir realizar o login no sistema por meio de usuário e senha, sendo que o usuário será o seu email.</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Distinguir o cliente entre físico e jurídico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É preciso diferenciar o cliente em pessoa física ou jurídica.</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No cadastro do cliente, deve existir um campo onde seja possível selecionar entre Físico, habilitando o campo de CPF, e Jurídico, habilitando o campo de CNPJ.</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Consultar horários para agendamentos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É necessário consultar os horários que estão disponíveis para agendamento.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Deve possuir uma tela onde serão mostrados todos os horários disponíveis para agendamento, com filtros por data e médico.</a:t>
                      </a:r>
                      <a:endParaRPr sz="1800" u="none" strike="noStrike" cap="none"/>
                    </a:p>
                  </a:txBody>
                  <a:tcPr marL="91450" marR="91450" marT="45725" marB="457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1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56" name="Google Shape;256;p1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57" name="Google Shape;257;p17"/>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58" name="Google Shape;258;p1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17</a:t>
            </a:fld>
            <a:endParaRPr sz="6000">
              <a:solidFill>
                <a:schemeClr val="lt1"/>
              </a:solidFill>
              <a:latin typeface="Impact"/>
              <a:ea typeface="Impact"/>
              <a:cs typeface="Impact"/>
              <a:sym typeface="Impact"/>
            </a:endParaRPr>
          </a:p>
        </p:txBody>
      </p:sp>
      <p:sp>
        <p:nvSpPr>
          <p:cNvPr id="259" name="Google Shape;259;p17"/>
          <p:cNvSpPr txBox="1"/>
          <p:nvPr/>
        </p:nvSpPr>
        <p:spPr>
          <a:xfrm>
            <a:off x="884984" y="1714487"/>
            <a:ext cx="10113941"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evidentes e requisitos ocultos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a:t>
            </a:r>
            <a:r>
              <a:rPr lang="pt-BR" sz="2400" b="1" i="0" u="none" strike="noStrike" cap="none">
                <a:solidFill>
                  <a:schemeClr val="dk1"/>
                </a:solidFill>
                <a:latin typeface="Calibri"/>
                <a:ea typeface="Calibri"/>
                <a:cs typeface="Calibri"/>
                <a:sym typeface="Calibri"/>
              </a:rPr>
              <a:t>requisitos evidentes </a:t>
            </a:r>
            <a:r>
              <a:rPr lang="pt-BR" sz="2400" b="0" i="0" u="none" strike="noStrike" cap="none">
                <a:solidFill>
                  <a:schemeClr val="dk1"/>
                </a:solidFill>
                <a:latin typeface="Calibri"/>
                <a:ea typeface="Calibri"/>
                <a:cs typeface="Calibri"/>
                <a:sym typeface="Calibri"/>
              </a:rPr>
              <a:t>são funcionalidades efetuadas com o conhecimento do cliente. São geralmente consultas, cadastros e processos realizados por meio de interfaces.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385623"/>
                </a:solidFill>
                <a:latin typeface="Calibri"/>
                <a:ea typeface="Calibri"/>
                <a:cs typeface="Calibri"/>
                <a:sym typeface="Calibri"/>
              </a:rPr>
              <a:t>Exemplo: </a:t>
            </a:r>
            <a:r>
              <a:rPr lang="pt-BR" sz="2200" b="0" i="0" u="none" strike="noStrike" cap="none">
                <a:solidFill>
                  <a:schemeClr val="dk1"/>
                </a:solidFill>
                <a:latin typeface="Calibri"/>
                <a:ea typeface="Calibri"/>
                <a:cs typeface="Calibri"/>
                <a:sym typeface="Calibri"/>
              </a:rPr>
              <a:t>Emitir o relatório de vendas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a:t>
            </a:r>
            <a:r>
              <a:rPr lang="pt-BR" sz="2400" b="1" i="0" u="none" strike="noStrike" cap="none">
                <a:solidFill>
                  <a:schemeClr val="dk1"/>
                </a:solidFill>
                <a:latin typeface="Calibri"/>
                <a:ea typeface="Calibri"/>
                <a:cs typeface="Calibri"/>
                <a:sym typeface="Calibri"/>
              </a:rPr>
              <a:t>requisitos ocultos</a:t>
            </a:r>
            <a:r>
              <a:rPr lang="pt-BR" sz="2400" b="0" i="0" u="none" strike="noStrike" cap="none">
                <a:solidFill>
                  <a:schemeClr val="dk1"/>
                </a:solidFill>
                <a:latin typeface="Calibri"/>
                <a:ea typeface="Calibri"/>
                <a:cs typeface="Calibri"/>
                <a:sym typeface="Calibri"/>
              </a:rPr>
              <a:t> são funções executadas sem o conhecimento explícito do usuário.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385623"/>
                </a:solidFill>
                <a:latin typeface="Calibri"/>
                <a:ea typeface="Calibri"/>
                <a:cs typeface="Calibri"/>
                <a:sym typeface="Calibri"/>
              </a:rPr>
              <a:t>Exemplo: </a:t>
            </a:r>
            <a:r>
              <a:rPr lang="pt-BR" sz="2200" b="0" i="0" u="none" strike="noStrike" cap="none">
                <a:solidFill>
                  <a:schemeClr val="dk1"/>
                </a:solidFill>
                <a:latin typeface="Calibri"/>
                <a:ea typeface="Calibri"/>
                <a:cs typeface="Calibri"/>
                <a:sym typeface="Calibri"/>
              </a:rPr>
              <a:t>Ao indicar um amigo e o amigo realizar uma compra no site, o cliente que indicou ganha um desconto em uma de suas parcelas.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1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65" name="Google Shape;265;p1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66" name="Google Shape;266;p18"/>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67" name="Google Shape;267;p1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18</a:t>
            </a:fld>
            <a:endParaRPr sz="6000">
              <a:solidFill>
                <a:schemeClr val="lt1"/>
              </a:solidFill>
              <a:latin typeface="Impact"/>
              <a:ea typeface="Impact"/>
              <a:cs typeface="Impact"/>
              <a:sym typeface="Impact"/>
            </a:endParaRPr>
          </a:p>
        </p:txBody>
      </p:sp>
      <p:sp>
        <p:nvSpPr>
          <p:cNvPr id="268" name="Google Shape;268;p18"/>
          <p:cNvSpPr txBox="1"/>
          <p:nvPr/>
        </p:nvSpPr>
        <p:spPr>
          <a:xfrm>
            <a:off x="884985" y="1714487"/>
            <a:ext cx="10125916"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Tipos de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i="0" u="none" strike="noStrike" cap="none">
                <a:solidFill>
                  <a:srgbClr val="A50021"/>
                </a:solidFill>
                <a:latin typeface="Calibri"/>
                <a:ea typeface="Calibri"/>
                <a:cs typeface="Calibri"/>
                <a:sym typeface="Calibri"/>
              </a:rPr>
              <a:t>Requisitos não funcionais: </a:t>
            </a:r>
            <a:r>
              <a:rPr lang="pt-BR" sz="2400" b="0" i="0" u="none" strike="noStrike" cap="none">
                <a:solidFill>
                  <a:schemeClr val="dk1"/>
                </a:solidFill>
                <a:latin typeface="Calibri"/>
                <a:ea typeface="Calibri"/>
                <a:cs typeface="Calibri"/>
                <a:sym typeface="Calibri"/>
              </a:rPr>
              <a:t>não estão diretamente relacionados aos serviços oferecidos pelo sistema a seus usuários , mas sim como o sistema se comporta com respeito a alguns atributos observáveis, como confiabilidade, reutilização, habilidade, etc. Descrevem restrições sobre os serviços ou funções oferecidos pelo sistema (SOMMERVILLE, 2007).</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000"/>
              <a:buFont typeface="Arial"/>
              <a:buNone/>
            </a:pPr>
            <a:r>
              <a:rPr lang="pt-BR" sz="2000" b="0" i="0" u="none" strike="noStrike" cap="none">
                <a:solidFill>
                  <a:schemeClr val="dk1"/>
                </a:solidFill>
                <a:latin typeface="Calibri"/>
                <a:ea typeface="Calibri"/>
                <a:cs typeface="Calibri"/>
                <a:sym typeface="Calibri"/>
              </a:rPr>
              <a:t>Exemplos: </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Calibri"/>
              <a:buAutoNum type="arabicPeriod"/>
            </a:pPr>
            <a:r>
              <a:rPr lang="pt-BR" sz="2000" b="0" i="0" u="none" strike="noStrike" cap="none">
                <a:solidFill>
                  <a:schemeClr val="dk1"/>
                </a:solidFill>
                <a:latin typeface="Calibri"/>
                <a:ea typeface="Calibri"/>
                <a:cs typeface="Calibri"/>
                <a:sym typeface="Calibri"/>
              </a:rPr>
              <a:t>O site deve funcionar nos navegadores Chrome e Firefox.</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Calibri"/>
              <a:buAutoNum type="arabicPeriod"/>
            </a:pPr>
            <a:r>
              <a:rPr lang="pt-BR" sz="2000" b="0" i="0" u="none" strike="noStrike" cap="none">
                <a:solidFill>
                  <a:schemeClr val="dk1"/>
                </a:solidFill>
                <a:latin typeface="Calibri"/>
                <a:ea typeface="Calibri"/>
                <a:cs typeface="Calibri"/>
                <a:sym typeface="Calibri"/>
              </a:rPr>
              <a:t>Todos os relatórios devem seguir o padrão de relatórios especificado pelo setor XYZ.</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Calibri"/>
              <a:buAutoNum type="arabicPeriod"/>
            </a:pPr>
            <a:r>
              <a:rPr lang="pt-BR" sz="2000" b="0" i="0" u="none" strike="noStrike" cap="none">
                <a:solidFill>
                  <a:schemeClr val="dk1"/>
                </a:solidFill>
                <a:latin typeface="Calibri"/>
                <a:ea typeface="Calibri"/>
                <a:cs typeface="Calibri"/>
                <a:sym typeface="Calibri"/>
              </a:rPr>
              <a:t>O sistema deve ser implementado em PHP.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g1de092b8da9_0_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74" name="Google Shape;274;g1de092b8da9_0_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75" name="Google Shape;275;g1de092b8da9_0_8"/>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76" name="Google Shape;276;g1de092b8da9_0_8"/>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19</a:t>
            </a:fld>
            <a:endParaRPr sz="6000">
              <a:solidFill>
                <a:schemeClr val="lt1"/>
              </a:solidFill>
              <a:latin typeface="Impact"/>
              <a:ea typeface="Impact"/>
              <a:cs typeface="Impact"/>
              <a:sym typeface="Impact"/>
            </a:endParaRPr>
          </a:p>
        </p:txBody>
      </p:sp>
      <p:sp>
        <p:nvSpPr>
          <p:cNvPr id="277" name="Google Shape;277;g1de092b8da9_0_8"/>
          <p:cNvSpPr txBox="1"/>
          <p:nvPr/>
        </p:nvSpPr>
        <p:spPr>
          <a:xfrm>
            <a:off x="884985" y="1714487"/>
            <a:ext cx="10125900" cy="45819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Tipos de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i="0" u="none" strike="noStrike" cap="none">
                <a:solidFill>
                  <a:srgbClr val="A50021"/>
                </a:solidFill>
                <a:latin typeface="Calibri"/>
                <a:ea typeface="Calibri"/>
                <a:cs typeface="Calibri"/>
                <a:sym typeface="Calibri"/>
              </a:rPr>
              <a:t>Requisitos não funcionais:</a:t>
            </a:r>
            <a:r>
              <a:rPr lang="pt-BR" sz="2400" b="1">
                <a:solidFill>
                  <a:srgbClr val="A50021"/>
                </a:solidFill>
                <a:latin typeface="Calibri"/>
                <a:ea typeface="Calibri"/>
                <a:cs typeface="Calibri"/>
                <a:sym typeface="Calibri"/>
              </a:rPr>
              <a:t> Descrevem como o software deverá performar. Especificam os critérios de performance, padrões de segurança, e outros atributos de qualidade para o software.</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Mais difíceis de serem testados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Exemplos: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ser capaz de suportar 100 usuários concomitantes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responder em menos de 2 segundos</a:t>
            </a:r>
            <a:endParaRPr sz="2400" b="1">
              <a:solidFill>
                <a:srgbClr val="A5002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a:solidFill>
                  <a:srgbClr val="A50021"/>
                </a:solidFill>
                <a:latin typeface="Calibri"/>
                <a:ea typeface="Calibri"/>
                <a:cs typeface="Calibri"/>
                <a:sym typeface="Calibri"/>
              </a:rPr>
              <a:t>-O Software deve ser seguro, e seguir a LGPD com relação a dados</a:t>
            </a:r>
            <a:endParaRPr sz="2400" b="1">
              <a:solidFill>
                <a:srgbClr val="A5002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1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83" name="Google Shape;283;p1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84" name="Google Shape;284;p19"/>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85" name="Google Shape;285;p1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20</a:t>
            </a:fld>
            <a:endParaRPr sz="6000">
              <a:solidFill>
                <a:schemeClr val="lt1"/>
              </a:solidFill>
              <a:latin typeface="Impact"/>
              <a:ea typeface="Impact"/>
              <a:cs typeface="Impact"/>
              <a:sym typeface="Impact"/>
            </a:endParaRPr>
          </a:p>
        </p:txBody>
      </p:sp>
      <p:sp>
        <p:nvSpPr>
          <p:cNvPr id="286" name="Google Shape;286;p19"/>
          <p:cNvSpPr txBox="1"/>
          <p:nvPr/>
        </p:nvSpPr>
        <p:spPr>
          <a:xfrm>
            <a:off x="884984" y="1714486"/>
            <a:ext cx="10153130" cy="4699013"/>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Sommerville (2011) classifica os requisitos não funcionais quanto à sua origem, e podem ser requisitos de produto, organizacionais ou externos. </a:t>
            </a:r>
            <a:r>
              <a:rPr lang="pt-BR" sz="2200" b="0" i="0" u="none" strike="noStrike" cap="none">
                <a:solidFill>
                  <a:schemeClr val="dk1"/>
                </a:solidFill>
                <a:latin typeface="Calibri"/>
                <a:ea typeface="Calibri"/>
                <a:cs typeface="Calibri"/>
                <a:sym typeface="Calibri"/>
              </a:rPr>
              <a:t/>
            </a:r>
            <a:br>
              <a:rPr lang="pt-BR" sz="2200" b="0" i="0" u="none" strike="noStrike" cap="none">
                <a:solidFill>
                  <a:schemeClr val="dk1"/>
                </a:solidFill>
                <a:latin typeface="Calibri"/>
                <a:ea typeface="Calibri"/>
                <a:cs typeface="Calibri"/>
                <a:sym typeface="Calibri"/>
              </a:rPr>
            </a:b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Requisitos de produto:</a:t>
            </a:r>
            <a:r>
              <a:rPr lang="pt-BR" sz="2400" b="0" i="0" u="none" strike="noStrike" cap="none">
                <a:solidFill>
                  <a:schemeClr val="dk1"/>
                </a:solidFill>
                <a:latin typeface="Calibri"/>
                <a:ea typeface="Calibri"/>
                <a:cs typeface="Calibri"/>
                <a:sym typeface="Calibri"/>
              </a:rPr>
              <a:t> especificam ou restringem o comportamento do software em termos de desempenho, confiabilidade, proteção, usabilidade, etc.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sng" strike="noStrike" cap="none">
                <a:solidFill>
                  <a:srgbClr val="1E4E79"/>
                </a:solidFill>
                <a:latin typeface="Calibri"/>
                <a:ea typeface="Calibri"/>
                <a:cs typeface="Calibri"/>
                <a:sym typeface="Calibri"/>
              </a:rPr>
              <a:t>Exemplos: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2E75B5"/>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de usabilidade: </a:t>
            </a:r>
            <a:r>
              <a:rPr lang="pt-BR" sz="2200" b="0" i="0" u="none" strike="noStrike" cap="none">
                <a:solidFill>
                  <a:schemeClr val="dk1"/>
                </a:solidFill>
                <a:latin typeface="Calibri"/>
                <a:ea typeface="Calibri"/>
                <a:cs typeface="Calibri"/>
                <a:sym typeface="Calibri"/>
              </a:rPr>
              <a:t>Quando ocorrer erros, o usuário será redirecionado para a página de erros.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de eficiência:</a:t>
            </a:r>
            <a:r>
              <a:rPr lang="pt-BR" sz="2200" b="1" i="0" u="none" strike="noStrike" cap="none">
                <a:solidFill>
                  <a:srgbClr val="548135"/>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O sistema deverá processar 25</a:t>
            </a:r>
            <a:r>
              <a:rPr lang="pt-BR" sz="2200" b="0" i="1" u="none" strike="noStrike" cap="none">
                <a:solidFill>
                  <a:schemeClr val="dk1"/>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requisições em um minuto.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de confiabilidade:</a:t>
            </a:r>
            <a:r>
              <a:rPr lang="pt-BR" sz="2200" b="0" i="0" u="none" strike="noStrike" cap="none">
                <a:solidFill>
                  <a:schemeClr val="dk1"/>
                </a:solidFill>
                <a:latin typeface="Calibri"/>
                <a:ea typeface="Calibri"/>
                <a:cs typeface="Calibri"/>
                <a:sym typeface="Calibri"/>
              </a:rPr>
              <a:t> O sistema deverá ficar disponível 99% do tempo.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2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92" name="Google Shape;292;p2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93" name="Google Shape;293;p20"/>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294" name="Google Shape;294;p2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21</a:t>
            </a:fld>
            <a:endParaRPr sz="6000">
              <a:solidFill>
                <a:schemeClr val="lt1"/>
              </a:solidFill>
              <a:latin typeface="Impact"/>
              <a:ea typeface="Impact"/>
              <a:cs typeface="Impact"/>
              <a:sym typeface="Impact"/>
            </a:endParaRPr>
          </a:p>
        </p:txBody>
      </p:sp>
      <p:sp>
        <p:nvSpPr>
          <p:cNvPr id="295" name="Google Shape;295;p20"/>
          <p:cNvSpPr txBox="1"/>
          <p:nvPr/>
        </p:nvSpPr>
        <p:spPr>
          <a:xfrm>
            <a:off x="884984" y="1714487"/>
            <a:ext cx="10153130"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Requisitos organizacionais:</a:t>
            </a:r>
            <a:r>
              <a:rPr lang="pt-BR" sz="2400" b="0" i="0" u="none" strike="noStrike" cap="none">
                <a:solidFill>
                  <a:schemeClr val="dk1"/>
                </a:solidFill>
                <a:latin typeface="Calibri"/>
                <a:ea typeface="Calibri"/>
                <a:cs typeface="Calibri"/>
                <a:sym typeface="Calibri"/>
              </a:rPr>
              <a:t> são originados das políticas e procedimentos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da organização, como requisitos do processo de desenvolvimento, normas de processo, ambiente operacional do sistema.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sng" strike="noStrike" cap="none">
                <a:solidFill>
                  <a:srgbClr val="1E4E79"/>
                </a:solidFill>
                <a:latin typeface="Calibri"/>
                <a:ea typeface="Calibri"/>
                <a:cs typeface="Calibri"/>
                <a:sym typeface="Calibri"/>
              </a:rPr>
              <a:t>Exemplos: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2E75B5"/>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de operacionais: </a:t>
            </a:r>
            <a:r>
              <a:rPr lang="pt-BR" sz="2200" b="0" i="0" u="none" strike="noStrike" cap="none">
                <a:solidFill>
                  <a:schemeClr val="dk1"/>
                </a:solidFill>
                <a:latin typeface="Calibri"/>
                <a:ea typeface="Calibri"/>
                <a:cs typeface="Calibri"/>
                <a:sym typeface="Calibri"/>
              </a:rPr>
              <a:t>Sempre que ocorrerem falhas, deve ser enviado um email para o responsável técnico.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de implementação:</a:t>
            </a:r>
            <a:r>
              <a:rPr lang="pt-BR" sz="2200" b="1" i="0" u="none" strike="noStrike" cap="none">
                <a:solidFill>
                  <a:srgbClr val="548135"/>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O sistema deverá ser desenvolvido em Java.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2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01" name="Google Shape;301;p2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02" name="Google Shape;302;p21"/>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03" name="Google Shape;303;p2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22</a:t>
            </a:fld>
            <a:endParaRPr sz="6000">
              <a:solidFill>
                <a:schemeClr val="lt1"/>
              </a:solidFill>
              <a:latin typeface="Impact"/>
              <a:ea typeface="Impact"/>
              <a:cs typeface="Impact"/>
              <a:sym typeface="Impact"/>
            </a:endParaRPr>
          </a:p>
        </p:txBody>
      </p:sp>
      <p:sp>
        <p:nvSpPr>
          <p:cNvPr id="304" name="Google Shape;304;p21"/>
          <p:cNvSpPr txBox="1"/>
          <p:nvPr/>
        </p:nvSpPr>
        <p:spPr>
          <a:xfrm>
            <a:off x="884984" y="1714487"/>
            <a:ext cx="10153130"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Requisitos externos:</a:t>
            </a:r>
            <a:r>
              <a:rPr lang="pt-BR" sz="2400" b="0" i="0" u="none" strike="noStrike" cap="none">
                <a:solidFill>
                  <a:schemeClr val="dk1"/>
                </a:solidFill>
                <a:latin typeface="Calibri"/>
                <a:ea typeface="Calibri"/>
                <a:cs typeface="Calibri"/>
                <a:sym typeface="Calibri"/>
              </a:rPr>
              <a:t> requisitos originados de fatores externos, como requisitos reguladores, que definem o que deve ser feito para que o sistema seja aprovado para uso,  e requisitos legais, que devem ser seguidos para garantir que o sistema opere dentro da lei, e requisitos éticos.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sng" strike="noStrike" cap="none">
                <a:solidFill>
                  <a:srgbClr val="1E4E79"/>
                </a:solidFill>
                <a:latin typeface="Calibri"/>
                <a:ea typeface="Calibri"/>
                <a:cs typeface="Calibri"/>
                <a:sym typeface="Calibri"/>
              </a:rPr>
              <a:t>Exemplos: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2E75B5"/>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éticos:</a:t>
            </a:r>
            <a:r>
              <a:rPr lang="pt-BR" sz="2200" b="1" i="0" u="none" strike="noStrike" cap="none">
                <a:solidFill>
                  <a:srgbClr val="548135"/>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O sistema irá criptografar dados sensíveis.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1" i="0" u="none" strike="noStrike" cap="none">
                <a:solidFill>
                  <a:srgbClr val="2E75B5"/>
                </a:solidFill>
                <a:latin typeface="Calibri"/>
                <a:ea typeface="Calibri"/>
                <a:cs typeface="Calibri"/>
                <a:sym typeface="Calibri"/>
              </a:rPr>
              <a:t>Requisitos legais:</a:t>
            </a:r>
            <a:r>
              <a:rPr lang="pt-BR" sz="2200" b="1" i="0" u="none" strike="noStrike" cap="none">
                <a:solidFill>
                  <a:srgbClr val="548135"/>
                </a:solidFill>
                <a:latin typeface="Calibri"/>
                <a:ea typeface="Calibri"/>
                <a:cs typeface="Calibri"/>
                <a:sym typeface="Calibri"/>
              </a:rPr>
              <a:t> </a:t>
            </a:r>
            <a:r>
              <a:rPr lang="pt-BR" sz="2200" b="0" i="0" u="none" strike="noStrike" cap="none">
                <a:solidFill>
                  <a:schemeClr val="dk1"/>
                </a:solidFill>
                <a:latin typeface="Calibri"/>
                <a:ea typeface="Calibri"/>
                <a:cs typeface="Calibri"/>
                <a:sym typeface="Calibri"/>
              </a:rPr>
              <a:t>O sistema deverá atender às normas legais, tais como padrões e leis.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200"/>
              <a:buFont typeface="Noto Sans Symbols"/>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pic>
        <p:nvPicPr>
          <p:cNvPr id="309" name="Google Shape;309;p2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10" name="Google Shape;310;p2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11" name="Google Shape;311;p22"/>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12" name="Google Shape;312;p2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23</a:t>
            </a:fld>
            <a:endParaRPr sz="6000">
              <a:solidFill>
                <a:schemeClr val="lt1"/>
              </a:solidFill>
              <a:latin typeface="Impact"/>
              <a:ea typeface="Impact"/>
              <a:cs typeface="Impact"/>
              <a:sym typeface="Impact"/>
            </a:endParaRPr>
          </a:p>
        </p:txBody>
      </p:sp>
      <p:pic>
        <p:nvPicPr>
          <p:cNvPr id="313" name="Google Shape;313;p22"/>
          <p:cNvPicPr preferRelativeResize="0"/>
          <p:nvPr/>
        </p:nvPicPr>
        <p:blipFill rotWithShape="1">
          <a:blip r:embed="rId5">
            <a:alphaModFix/>
          </a:blip>
          <a:srcRect/>
          <a:stretch/>
        </p:blipFill>
        <p:spPr>
          <a:xfrm>
            <a:off x="1112838" y="1363663"/>
            <a:ext cx="9328813" cy="4783137"/>
          </a:xfrm>
          <a:prstGeom prst="rect">
            <a:avLst/>
          </a:prstGeom>
          <a:noFill/>
          <a:ln>
            <a:noFill/>
          </a:ln>
        </p:spPr>
      </p:pic>
      <p:sp>
        <p:nvSpPr>
          <p:cNvPr id="314" name="Google Shape;314;p22"/>
          <p:cNvSpPr txBox="1"/>
          <p:nvPr/>
        </p:nvSpPr>
        <p:spPr>
          <a:xfrm>
            <a:off x="1435100" y="6286500"/>
            <a:ext cx="244310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pt-BR" sz="1600" b="0" i="0" u="none" strike="noStrike" cap="none">
                <a:solidFill>
                  <a:schemeClr val="dk1"/>
                </a:solidFill>
                <a:latin typeface="Calibri"/>
                <a:ea typeface="Calibri"/>
                <a:cs typeface="Calibri"/>
                <a:sym typeface="Calibri"/>
              </a:rPr>
              <a:t>Fonte: Sommerville (2011).</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p2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20" name="Google Shape;320;p2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21" name="Google Shape;321;p2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22" name="Google Shape;322;p2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24</a:t>
            </a:fld>
            <a:endParaRPr sz="6000">
              <a:solidFill>
                <a:schemeClr val="lt1"/>
              </a:solidFill>
              <a:latin typeface="Impact"/>
              <a:ea typeface="Impact"/>
              <a:cs typeface="Impact"/>
              <a:sym typeface="Impact"/>
            </a:endParaRPr>
          </a:p>
        </p:txBody>
      </p:sp>
      <p:sp>
        <p:nvSpPr>
          <p:cNvPr id="323" name="Google Shape;323;p23"/>
          <p:cNvSpPr txBox="1"/>
          <p:nvPr/>
        </p:nvSpPr>
        <p:spPr>
          <a:xfrm>
            <a:off x="944516" y="1447436"/>
            <a:ext cx="975638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Requisitos não funcionais de usuário x Requisitos não funcionais de sistema</a:t>
            </a:r>
            <a:endParaRPr sz="1400" b="0" i="0" u="none" strike="noStrike" cap="none">
              <a:solidFill>
                <a:srgbClr val="000000"/>
              </a:solidFill>
              <a:latin typeface="Arial"/>
              <a:ea typeface="Arial"/>
              <a:cs typeface="Arial"/>
              <a:sym typeface="Arial"/>
            </a:endParaRPr>
          </a:p>
        </p:txBody>
      </p:sp>
      <p:graphicFrame>
        <p:nvGraphicFramePr>
          <p:cNvPr id="324" name="Google Shape;324;p23"/>
          <p:cNvGraphicFramePr/>
          <p:nvPr/>
        </p:nvGraphicFramePr>
        <p:xfrm>
          <a:off x="1041401" y="2091266"/>
          <a:ext cx="10020300" cy="4108905"/>
        </p:xfrm>
        <a:graphic>
          <a:graphicData uri="http://schemas.openxmlformats.org/drawingml/2006/table">
            <a:tbl>
              <a:tblPr firstRow="1" bandRow="1">
                <a:noFill/>
                <a:tableStyleId>{45812F8B-BDFC-4130-B2F7-5E8F14D80D01}</a:tableStyleId>
              </a:tblPr>
              <a:tblGrid>
                <a:gridCol w="2603500"/>
                <a:gridCol w="3403600"/>
                <a:gridCol w="4013200"/>
              </a:tblGrid>
              <a:tr h="2286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Necessidade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 não funcional de usuário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 não funcional de sistema</a:t>
                      </a:r>
                      <a:endParaRPr sz="1800" u="none" strike="noStrike" cap="none"/>
                    </a:p>
                  </a:txBody>
                  <a:tcPr marL="91450" marR="91450" marT="45725" marB="45725"/>
                </a:tc>
              </a:tr>
              <a:tr h="1365675">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Limitar o funcionamento em navegadores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sistema deve rodar nos principais navegadores do mercado.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sistema deve rodar nos navegadores Chrome, com versão mínima x, e Firefox, na versão mínima y</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Padrões organizacionais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Devem ser seguidos os padrões de desenvolvimento estabelecidos pela empresa.</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Para o desenvolvimento, o sistema deve seguir o padrão de orientação a objetos.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Limitar tempo da transação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Em caso de demora excessiva no pagamento via máquina de cartão, o pagamento deve ser cancelado.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tempo limite para espera da resposta da máquina de cartão é de 10 segundos. Caso não haja resposta nesse tempo, a transação deve ser cancelada.</a:t>
                      </a:r>
                      <a:endParaRPr sz="1800" u="none" strike="noStrike" cap="none"/>
                    </a:p>
                  </a:txBody>
                  <a:tcPr marL="91450" marR="91450" marT="45725" marB="457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2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30" name="Google Shape;330;p2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31" name="Google Shape;331;p2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32" name="Google Shape;332;p2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25</a:t>
            </a:fld>
            <a:endParaRPr sz="6000">
              <a:solidFill>
                <a:schemeClr val="lt1"/>
              </a:solidFill>
              <a:latin typeface="Impact"/>
              <a:ea typeface="Impact"/>
              <a:cs typeface="Impact"/>
              <a:sym typeface="Impact"/>
            </a:endParaRPr>
          </a:p>
        </p:txBody>
      </p:sp>
      <p:sp>
        <p:nvSpPr>
          <p:cNvPr id="333" name="Google Shape;333;p24"/>
          <p:cNvSpPr txBox="1"/>
          <p:nvPr/>
        </p:nvSpPr>
        <p:spPr>
          <a:xfrm>
            <a:off x="884985" y="1714487"/>
            <a:ext cx="10074752" cy="458181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Tipos de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1" i="0" u="none" strike="noStrike" cap="none">
                <a:solidFill>
                  <a:srgbClr val="A50021"/>
                </a:solidFill>
                <a:latin typeface="Calibri"/>
                <a:ea typeface="Calibri"/>
                <a:cs typeface="Calibri"/>
                <a:sym typeface="Calibri"/>
              </a:rPr>
              <a:t>Requisitos de domínio (regras de negócio):</a:t>
            </a:r>
            <a:r>
              <a:rPr lang="pt-BR" sz="2400" b="0" i="0" u="none" strike="noStrike" cap="none">
                <a:solidFill>
                  <a:schemeClr val="dk1"/>
                </a:solidFill>
                <a:latin typeface="Calibri"/>
                <a:ea typeface="Calibri"/>
                <a:cs typeface="Calibri"/>
                <a:sym typeface="Calibri"/>
              </a:rPr>
              <a:t> são derivados do domínio da aplicação e descrevem características do sistema e qualidades que refletem o domínio/negócio.  Se referem à conhecimentos específicos da área a ser atendida pelo sistema.</a:t>
            </a: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Se os requisitos de domínio não forem satisfeitos, o sistema pode não atender à necessidade do cliente.</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rgbClr val="000000"/>
              </a:buClr>
              <a:buSzPts val="2000"/>
              <a:buFont typeface="Arial"/>
              <a:buNone/>
            </a:pPr>
            <a:r>
              <a:rPr lang="pt-BR" sz="2000" b="0" i="0" u="none" strike="noStrike" cap="none">
                <a:solidFill>
                  <a:schemeClr val="dk1"/>
                </a:solidFill>
                <a:latin typeface="Calibri"/>
                <a:ea typeface="Calibri"/>
                <a:cs typeface="Calibri"/>
                <a:sym typeface="Calibri"/>
              </a:rPr>
              <a:t>Exemplos:</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Calibri"/>
              <a:buAutoNum type="arabicPeriod"/>
            </a:pPr>
            <a:r>
              <a:rPr lang="pt-BR" sz="2000" b="0" i="0" u="none" strike="noStrike" cap="none">
                <a:solidFill>
                  <a:schemeClr val="dk1"/>
                </a:solidFill>
                <a:latin typeface="Calibri"/>
                <a:ea typeface="Calibri"/>
                <a:cs typeface="Calibri"/>
                <a:sym typeface="Calibri"/>
              </a:rPr>
              <a:t>Somente poderão realizar compras no crediário da loja os clientes que não tiverem prestações atrasadas.</a:t>
            </a:r>
            <a:endParaRPr sz="1400" b="0" i="0" u="none" strike="noStrike" cap="none">
              <a:solidFill>
                <a:srgbClr val="000000"/>
              </a:solidFill>
              <a:latin typeface="Arial"/>
              <a:ea typeface="Arial"/>
              <a:cs typeface="Arial"/>
              <a:sym typeface="Arial"/>
            </a:endParaRPr>
          </a:p>
          <a:p>
            <a:pPr marL="457200" marR="0" lvl="0" indent="-457200" algn="just" rtl="0">
              <a:lnSpc>
                <a:spcPct val="100000"/>
              </a:lnSpc>
              <a:spcBef>
                <a:spcPts val="0"/>
              </a:spcBef>
              <a:spcAft>
                <a:spcPts val="0"/>
              </a:spcAft>
              <a:buClr>
                <a:schemeClr val="dk1"/>
              </a:buClr>
              <a:buSzPts val="2000"/>
              <a:buFont typeface="Calibri"/>
              <a:buAutoNum type="arabicPeriod"/>
            </a:pPr>
            <a:r>
              <a:rPr lang="pt-BR" sz="2000" b="0" i="0" u="none" strike="noStrike" cap="none">
                <a:solidFill>
                  <a:schemeClr val="dk1"/>
                </a:solidFill>
                <a:latin typeface="Calibri"/>
                <a:ea typeface="Calibri"/>
                <a:cs typeface="Calibri"/>
                <a:sym typeface="Calibri"/>
              </a:rPr>
              <a:t>A média final do aluno é calculada pela fórmula: (A1 + A2 + A3) / 3.</a:t>
            </a: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2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39" name="Google Shape;339;p2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40" name="Google Shape;340;p25"/>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41" name="Google Shape;341;p2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26</a:t>
            </a:fld>
            <a:endParaRPr sz="6000">
              <a:solidFill>
                <a:schemeClr val="lt1"/>
              </a:solidFill>
              <a:latin typeface="Impact"/>
              <a:ea typeface="Impact"/>
              <a:cs typeface="Impact"/>
              <a:sym typeface="Impact"/>
            </a:endParaRPr>
          </a:p>
        </p:txBody>
      </p:sp>
      <p:sp>
        <p:nvSpPr>
          <p:cNvPr id="342" name="Google Shape;342;p25"/>
          <p:cNvSpPr txBox="1"/>
          <p:nvPr/>
        </p:nvSpPr>
        <p:spPr>
          <a:xfrm>
            <a:off x="884985" y="1714487"/>
            <a:ext cx="10074752"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regras de negócio podem ainda ser incorporadas a requisitos funcionais e não funcionais.</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sng" strike="noStrike" cap="none">
                <a:solidFill>
                  <a:schemeClr val="dk1"/>
                </a:solidFill>
                <a:latin typeface="Calibri"/>
                <a:ea typeface="Calibri"/>
                <a:cs typeface="Calibri"/>
                <a:sym typeface="Calibri"/>
              </a:rPr>
              <a:t>Exemplo: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Regra de negócio:</a:t>
            </a:r>
            <a:r>
              <a:rPr lang="pt-BR" sz="2400" b="0" i="0" u="none" strike="noStrike" cap="none">
                <a:solidFill>
                  <a:schemeClr val="dk1"/>
                </a:solidFill>
                <a:latin typeface="Calibri"/>
                <a:ea typeface="Calibri"/>
                <a:cs typeface="Calibri"/>
                <a:sym typeface="Calibri"/>
              </a:rPr>
              <a:t> A média final do aluno é calculada pela fórmula: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(A1 + A2 + A3) / 3.</a:t>
            </a: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chemeClr val="dk1"/>
                </a:solidFill>
                <a:latin typeface="Calibri"/>
                <a:ea typeface="Calibri"/>
                <a:cs typeface="Calibri"/>
                <a:sym typeface="Calibri"/>
              </a:rPr>
              <a:t>Requisito funcional: </a:t>
            </a:r>
            <a:r>
              <a:rPr lang="pt-BR" sz="2400" b="0" i="0" u="none" strike="noStrike" cap="none">
                <a:solidFill>
                  <a:schemeClr val="dk1"/>
                </a:solidFill>
                <a:latin typeface="Calibri"/>
                <a:ea typeface="Calibri"/>
                <a:cs typeface="Calibri"/>
                <a:sym typeface="Calibri"/>
              </a:rPr>
              <a:t>Ao realizar o fechamento da média do aluno, por meio do botão “Calcular média”, o cálculo da média deve ser feito pela fórmula:  (A1 + A2 + A3) / 3, mostrando o resultado final em uma popup.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347" name="Google Shape;347;p2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48" name="Google Shape;348;p2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49" name="Google Shape;349;p26"/>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50" name="Google Shape;350;p2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27</a:t>
            </a:fld>
            <a:endParaRPr sz="6000">
              <a:solidFill>
                <a:schemeClr val="lt1"/>
              </a:solidFill>
              <a:latin typeface="Impact"/>
              <a:ea typeface="Impact"/>
              <a:cs typeface="Impact"/>
              <a:sym typeface="Impact"/>
            </a:endParaRPr>
          </a:p>
        </p:txBody>
      </p:sp>
      <p:graphicFrame>
        <p:nvGraphicFramePr>
          <p:cNvPr id="351" name="Google Shape;351;p26"/>
          <p:cNvGraphicFramePr/>
          <p:nvPr/>
        </p:nvGraphicFramePr>
        <p:xfrm>
          <a:off x="1104535" y="2417838"/>
          <a:ext cx="9358825" cy="3094890"/>
        </p:xfrm>
        <a:graphic>
          <a:graphicData uri="http://schemas.openxmlformats.org/drawingml/2006/table">
            <a:tbl>
              <a:tblPr firstRow="1" bandRow="1">
                <a:noFill/>
                <a:tableStyleId>{45812F8B-BDFC-4130-B2F7-5E8F14D80D01}</a:tableStyleId>
              </a:tblPr>
              <a:tblGrid>
                <a:gridCol w="2067300"/>
                <a:gridCol w="7291525"/>
              </a:tblGrid>
              <a:tr h="61370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Código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Requisito</a:t>
                      </a:r>
                      <a:endParaRPr sz="1800" u="none" strike="noStrike" cap="none"/>
                    </a:p>
                  </a:txBody>
                  <a:tcPr marL="91450" marR="91450" marT="45725" marB="45725"/>
                </a:tc>
              </a:tr>
              <a:tr h="6137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RN01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Para realizar o cadastro no site, o cliente deve possuir mais de 18 anos.</a:t>
                      </a:r>
                      <a:endParaRPr sz="1800" u="none" strike="noStrike" cap="none"/>
                    </a:p>
                  </a:txBody>
                  <a:tcPr marL="91450" marR="91450" marT="45725" marB="45725"/>
                </a:tc>
              </a:tr>
              <a:tr h="6137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RN02</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Somente clientes com CPF cadastrado poderão realizar compras no site.</a:t>
                      </a:r>
                      <a:endParaRPr sz="1800" u="none" strike="noStrike" cap="none"/>
                    </a:p>
                  </a:txBody>
                  <a:tcPr marL="91450" marR="91450" marT="45725" marB="45725"/>
                </a:tc>
              </a:tr>
              <a:tr h="6137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RN03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Ao pagar a compra com PIX, o cliente ganha 5% de desconto no valor final da compra.</a:t>
                      </a:r>
                      <a:endParaRPr sz="1800" u="none" strike="noStrike" cap="none"/>
                    </a:p>
                  </a:txBody>
                  <a:tcPr marL="91450" marR="91450" marT="45725" marB="45725"/>
                </a:tc>
              </a:tr>
              <a:tr h="61370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RN04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Para compras acima de R$ 100,00, o frete é grátis.</a:t>
                      </a:r>
                      <a:endParaRPr sz="1800" u="none" strike="noStrike" cap="none"/>
                    </a:p>
                  </a:txBody>
                  <a:tcPr marL="91450" marR="91450" marT="45725" marB="45725"/>
                </a:tc>
              </a:tr>
            </a:tbl>
          </a:graphicData>
        </a:graphic>
      </p:graphicFrame>
      <p:sp>
        <p:nvSpPr>
          <p:cNvPr id="352" name="Google Shape;352;p26"/>
          <p:cNvSpPr txBox="1"/>
          <p:nvPr/>
        </p:nvSpPr>
        <p:spPr>
          <a:xfrm>
            <a:off x="1084216" y="1815736"/>
            <a:ext cx="677166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Tabela de Requisitos de domínio – Regras de negócio</a:t>
            </a: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7" name="Google Shape;357;p2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58" name="Google Shape;358;p2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59" name="Google Shape;359;p27"/>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60" name="Google Shape;360;p2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28</a:t>
            </a:fld>
            <a:endParaRPr sz="6000">
              <a:solidFill>
                <a:schemeClr val="lt1"/>
              </a:solidFill>
              <a:latin typeface="Impact"/>
              <a:ea typeface="Impact"/>
              <a:cs typeface="Impact"/>
              <a:sym typeface="Impact"/>
            </a:endParaRPr>
          </a:p>
        </p:txBody>
      </p:sp>
      <p:sp>
        <p:nvSpPr>
          <p:cNvPr id="361" name="Google Shape;361;p27"/>
          <p:cNvSpPr txBox="1"/>
          <p:nvPr/>
        </p:nvSpPr>
        <p:spPr>
          <a:xfrm>
            <a:off x="884985" y="1714487"/>
            <a:ext cx="9369358"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362" name="Google Shape;362;p27"/>
          <p:cNvSpPr/>
          <p:nvPr/>
        </p:nvSpPr>
        <p:spPr>
          <a:xfrm>
            <a:off x="1701012" y="2185974"/>
            <a:ext cx="8409645" cy="760426"/>
          </a:xfrm>
          <a:prstGeom prst="rect">
            <a:avLst/>
          </a:prstGeom>
          <a:solidFill>
            <a:srgbClr val="DDD6E2"/>
          </a:solidFill>
          <a:ln w="12700" cap="flat" cmpd="sng">
            <a:solidFill>
              <a:srgbClr val="DDD6E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Requisitos funcionais: </a:t>
            </a:r>
            <a:r>
              <a:rPr lang="pt-BR" sz="2000" b="0" i="0" u="none" strike="noStrike" cap="none">
                <a:solidFill>
                  <a:schemeClr val="dk1"/>
                </a:solidFill>
                <a:latin typeface="Calibri"/>
                <a:ea typeface="Calibri"/>
                <a:cs typeface="Calibri"/>
                <a:sym typeface="Calibri"/>
              </a:rPr>
              <a:t>descrevem O QUE o sistema deve realizar</a:t>
            </a:r>
            <a:endParaRPr sz="2000" b="0" i="0" u="none" strike="noStrike" cap="none">
              <a:solidFill>
                <a:schemeClr val="dk1"/>
              </a:solidFill>
              <a:latin typeface="Calibri"/>
              <a:ea typeface="Calibri"/>
              <a:cs typeface="Calibri"/>
              <a:sym typeface="Calibri"/>
            </a:endParaRPr>
          </a:p>
        </p:txBody>
      </p:sp>
      <p:sp>
        <p:nvSpPr>
          <p:cNvPr id="363" name="Google Shape;363;p27"/>
          <p:cNvSpPr/>
          <p:nvPr/>
        </p:nvSpPr>
        <p:spPr>
          <a:xfrm>
            <a:off x="1701012" y="4467220"/>
            <a:ext cx="8422707" cy="841380"/>
          </a:xfrm>
          <a:prstGeom prst="rect">
            <a:avLst/>
          </a:prstGeom>
          <a:solidFill>
            <a:srgbClr val="DDD6E2"/>
          </a:solidFill>
          <a:ln w="12700" cap="flat" cmpd="sng">
            <a:solidFill>
              <a:srgbClr val="DDD6E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Requisitos de domínio: </a:t>
            </a:r>
            <a:r>
              <a:rPr lang="pt-BR" sz="2000" b="0" i="0" u="none" strike="noStrike" cap="none">
                <a:solidFill>
                  <a:schemeClr val="dk1"/>
                </a:solidFill>
                <a:latin typeface="Calibri"/>
                <a:ea typeface="Calibri"/>
                <a:cs typeface="Calibri"/>
                <a:sym typeface="Calibri"/>
              </a:rPr>
              <a:t>são regras específicas do domínio, que precisam ser atendidas para que a funcionalidade atenda ao negócio.</a:t>
            </a:r>
            <a:endParaRPr sz="2000" b="0" i="0" u="none" strike="noStrike" cap="none">
              <a:solidFill>
                <a:schemeClr val="dk1"/>
              </a:solidFill>
              <a:latin typeface="Calibri"/>
              <a:ea typeface="Calibri"/>
              <a:cs typeface="Calibri"/>
              <a:sym typeface="Calibri"/>
            </a:endParaRPr>
          </a:p>
        </p:txBody>
      </p:sp>
      <p:sp>
        <p:nvSpPr>
          <p:cNvPr id="364" name="Google Shape;364;p27"/>
          <p:cNvSpPr/>
          <p:nvPr/>
        </p:nvSpPr>
        <p:spPr>
          <a:xfrm>
            <a:off x="1713712" y="3341674"/>
            <a:ext cx="8409645" cy="773126"/>
          </a:xfrm>
          <a:prstGeom prst="rect">
            <a:avLst/>
          </a:prstGeom>
          <a:solidFill>
            <a:srgbClr val="DDD6E2"/>
          </a:solidFill>
          <a:ln w="12700" cap="flat" cmpd="sng">
            <a:solidFill>
              <a:srgbClr val="DDD6E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rgbClr val="000000"/>
              </a:buClr>
              <a:buSzPts val="2000"/>
              <a:buFont typeface="Arial"/>
              <a:buNone/>
            </a:pPr>
            <a:r>
              <a:rPr lang="pt-BR" sz="2000" b="1" i="0" u="none" strike="noStrike" cap="none">
                <a:solidFill>
                  <a:schemeClr val="dk1"/>
                </a:solidFill>
                <a:latin typeface="Calibri"/>
                <a:ea typeface="Calibri"/>
                <a:cs typeface="Calibri"/>
                <a:sym typeface="Calibri"/>
              </a:rPr>
              <a:t>Requisitos não funcionais: </a:t>
            </a:r>
            <a:r>
              <a:rPr lang="pt-BR" sz="2000" b="0" i="0" u="none" strike="noStrike" cap="none">
                <a:solidFill>
                  <a:schemeClr val="dk1"/>
                </a:solidFill>
                <a:latin typeface="Calibri"/>
                <a:ea typeface="Calibri"/>
                <a:cs typeface="Calibri"/>
                <a:sym typeface="Calibri"/>
              </a:rPr>
              <a:t>pode ser definido como “DE QUAL MANEIRA o sistema deve fazer“.</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369" name="Google Shape;369;p2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70" name="Google Shape;370;p2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71" name="Google Shape;371;p28"/>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72" name="Google Shape;372;p2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29</a:t>
            </a:fld>
            <a:endParaRPr sz="6000">
              <a:solidFill>
                <a:schemeClr val="lt1"/>
              </a:solidFill>
              <a:latin typeface="Impact"/>
              <a:ea typeface="Impact"/>
              <a:cs typeface="Impact"/>
              <a:sym typeface="Impact"/>
            </a:endParaRPr>
          </a:p>
        </p:txBody>
      </p:sp>
      <p:sp>
        <p:nvSpPr>
          <p:cNvPr id="373" name="Google Shape;373;p28"/>
          <p:cNvSpPr txBox="1"/>
          <p:nvPr/>
        </p:nvSpPr>
        <p:spPr>
          <a:xfrm>
            <a:off x="884985" y="1714487"/>
            <a:ext cx="10009438"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Critérios de aceite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São as condições que devem ser atendidas para que as entregas do projeto sejam aceitas pelo cliente (PMI, 2018). Devem ser passíveis de medição para provar que o trabalho está completo.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critérios de aceite são, em termos gerais, as condições em que um requisito é aceito.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374" name="Google Shape;374;p28"/>
          <p:cNvSpPr/>
          <p:nvPr/>
        </p:nvSpPr>
        <p:spPr>
          <a:xfrm>
            <a:off x="3260403" y="5208827"/>
            <a:ext cx="4786346" cy="857256"/>
          </a:xfrm>
          <a:prstGeom prst="rect">
            <a:avLst/>
          </a:prstGeom>
          <a:solidFill>
            <a:srgbClr val="DBDBDB"/>
          </a:solidFill>
          <a:ln w="12700" cap="flat" cmpd="sng">
            <a:solidFill>
              <a:srgbClr val="C9C9C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a:solidFill>
                  <a:schemeClr val="dk1"/>
                </a:solidFill>
                <a:latin typeface="Calibri"/>
                <a:ea typeface="Calibri"/>
                <a:cs typeface="Calibri"/>
                <a:sym typeface="Calibri"/>
              </a:rPr>
              <a:t>Critério de aceitação = Requisito mínimo</a:t>
            </a:r>
            <a:endParaRPr sz="2100" b="1"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pic>
        <p:nvPicPr>
          <p:cNvPr id="379" name="Google Shape;379;p2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80" name="Google Shape;380;p2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81" name="Google Shape;381;p29"/>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82" name="Google Shape;382;p2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30</a:t>
            </a:fld>
            <a:endParaRPr sz="6000">
              <a:solidFill>
                <a:schemeClr val="lt1"/>
              </a:solidFill>
              <a:latin typeface="Impact"/>
              <a:ea typeface="Impact"/>
              <a:cs typeface="Impact"/>
              <a:sym typeface="Impact"/>
            </a:endParaRPr>
          </a:p>
        </p:txBody>
      </p:sp>
      <p:sp>
        <p:nvSpPr>
          <p:cNvPr id="383" name="Google Shape;383;p29"/>
          <p:cNvSpPr txBox="1"/>
          <p:nvPr/>
        </p:nvSpPr>
        <p:spPr>
          <a:xfrm>
            <a:off x="884985" y="1714487"/>
            <a:ext cx="10140066"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 Visualizar a agenda de consultas médicas na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rgbClr val="2F5496"/>
                </a:solidFill>
                <a:latin typeface="Calibri"/>
                <a:ea typeface="Calibri"/>
                <a:cs typeface="Calibri"/>
                <a:sym typeface="Calibri"/>
              </a:rPr>
              <a:t>Critério de aceite:  Cada agendamento deve mostrar o nome do paciente e o horário marcado.</a:t>
            </a:r>
            <a:endParaRPr sz="3200" b="0"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 Realizar o parcelamento da compra de acordo com a quantidade de parcelas escolhida no pagamento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rgbClr val="2F5496"/>
                </a:solidFill>
                <a:latin typeface="Calibri"/>
                <a:ea typeface="Calibri"/>
                <a:cs typeface="Calibri"/>
                <a:sym typeface="Calibri"/>
              </a:rPr>
              <a:t>Critério de aceite:  A soma de todas as parcelas deve ser exatamente o valor da compra.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2F549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Requisito: Realizar o backup diário da base de dados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rgbClr val="2F5496"/>
                </a:solidFill>
                <a:latin typeface="Calibri"/>
                <a:ea typeface="Calibri"/>
                <a:cs typeface="Calibri"/>
                <a:sym typeface="Calibri"/>
              </a:rPr>
              <a:t>Critério de aceite:  O backup deve ser funcional 100% das vezes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88" name="Google Shape;388;p3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89" name="Google Shape;389;p3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90" name="Google Shape;390;p30"/>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391" name="Google Shape;391;p3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31</a:t>
            </a:fld>
            <a:endParaRPr sz="6000">
              <a:solidFill>
                <a:schemeClr val="lt1"/>
              </a:solidFill>
              <a:latin typeface="Impact"/>
              <a:ea typeface="Impact"/>
              <a:cs typeface="Impact"/>
              <a:sym typeface="Impact"/>
            </a:endParaRPr>
          </a:p>
        </p:txBody>
      </p:sp>
      <p:sp>
        <p:nvSpPr>
          <p:cNvPr id="392" name="Google Shape;392;p30"/>
          <p:cNvSpPr txBox="1"/>
          <p:nvPr/>
        </p:nvSpPr>
        <p:spPr>
          <a:xfrm>
            <a:off x="884984" y="1714487"/>
            <a:ext cx="10113942"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Os critérios de aceite fornecem parâmetros para verificar o grau de conformidade da solução com os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Também traz como benefícios: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Auxiliar o analista no entendimento e detalhamento do que é necessário para entregar valor ao cliente;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Ajudar a equipe a entender melhor o objetivo do requisito;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Noto Sans Symbols"/>
              <a:buChar char="⮚"/>
            </a:pPr>
            <a:r>
              <a:rPr lang="pt-BR" sz="2400" b="0" i="0" u="none" strike="noStrike" cap="none">
                <a:solidFill>
                  <a:schemeClr val="dk1"/>
                </a:solidFill>
                <a:latin typeface="Calibri"/>
                <a:ea typeface="Calibri"/>
                <a:cs typeface="Calibri"/>
                <a:sym typeface="Calibri"/>
              </a:rPr>
              <a:t> Auxiliar no planejamento de testes.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7" name="Google Shape;397;p3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98" name="Google Shape;398;p3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99" name="Google Shape;399;p31"/>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00" name="Google Shape;400;p3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32</a:t>
            </a:fld>
            <a:endParaRPr sz="6000">
              <a:solidFill>
                <a:schemeClr val="lt1"/>
              </a:solidFill>
              <a:latin typeface="Impact"/>
              <a:ea typeface="Impact"/>
              <a:cs typeface="Impact"/>
              <a:sym typeface="Impact"/>
            </a:endParaRPr>
          </a:p>
        </p:txBody>
      </p:sp>
      <p:sp>
        <p:nvSpPr>
          <p:cNvPr id="401" name="Google Shape;401;p31"/>
          <p:cNvSpPr txBox="1"/>
          <p:nvPr/>
        </p:nvSpPr>
        <p:spPr>
          <a:xfrm>
            <a:off x="884984" y="1714487"/>
            <a:ext cx="10061689" cy="458181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Restrições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restrições são limitações, externas ou internas, que podem ser impostas ao projeto.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O orçamento para a reforma da casa é de 5 mil reais.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Quando as restrições não são previamente identificadas, é possível que soluções inviáveis possam ser cogitadas, desperdiçando tempo e recursos.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restrições podem direcionar o trabalho para que este possua maior ou menor abrangência dos requisitos e o nível de qualidade exigido.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Uma prazo curto de entrega pode influenciar no escopo do requisitos quanto à funcionalidade e usabilidade.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pic>
        <p:nvPicPr>
          <p:cNvPr id="406" name="Google Shape;406;p3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07" name="Google Shape;407;p3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08" name="Google Shape;408;p32"/>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09" name="Google Shape;409;p3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33</a:t>
            </a:fld>
            <a:endParaRPr sz="6000">
              <a:solidFill>
                <a:schemeClr val="lt1"/>
              </a:solidFill>
              <a:latin typeface="Impact"/>
              <a:ea typeface="Impact"/>
              <a:cs typeface="Impact"/>
              <a:sym typeface="Impact"/>
            </a:endParaRPr>
          </a:p>
        </p:txBody>
      </p:sp>
      <p:sp>
        <p:nvSpPr>
          <p:cNvPr id="410" name="Google Shape;410;p32"/>
          <p:cNvSpPr txBox="1"/>
          <p:nvPr/>
        </p:nvSpPr>
        <p:spPr>
          <a:xfrm>
            <a:off x="884984" y="1714487"/>
            <a:ext cx="10061689"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1E4E7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graphicFrame>
        <p:nvGraphicFramePr>
          <p:cNvPr id="411" name="Google Shape;411;p32"/>
          <p:cNvGraphicFramePr/>
          <p:nvPr/>
        </p:nvGraphicFramePr>
        <p:xfrm>
          <a:off x="1470295" y="2169644"/>
          <a:ext cx="9267375" cy="3236040"/>
        </p:xfrm>
        <a:graphic>
          <a:graphicData uri="http://schemas.openxmlformats.org/drawingml/2006/table">
            <a:tbl>
              <a:tblPr firstRow="1" bandRow="1">
                <a:noFill/>
                <a:tableStyleId>{EBC861FD-4FEC-45BB-A506-2BB005B36CC6}</a:tableStyleId>
              </a:tblPr>
              <a:tblGrid>
                <a:gridCol w="3010275"/>
                <a:gridCol w="6257100"/>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Classificação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Exemplos</a:t>
                      </a:r>
                      <a:endParaRPr sz="1800" u="none" strike="noStrike" cap="none"/>
                    </a:p>
                  </a:txBody>
                  <a:tcPr marL="91450" marR="91450" marT="45725" marB="45725"/>
                </a:tc>
              </a:tr>
              <a:tr h="370850">
                <a:tc rowSpan="4">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l" rtl="0">
                        <a:lnSpc>
                          <a:spcPct val="100000"/>
                        </a:lnSpc>
                        <a:spcBef>
                          <a:spcPts val="0"/>
                        </a:spcBef>
                        <a:spcAft>
                          <a:spcPts val="0"/>
                        </a:spcAft>
                        <a:buClr>
                          <a:srgbClr val="000000"/>
                        </a:buClr>
                        <a:buSzPts val="1800"/>
                        <a:buFont typeface="Arial"/>
                        <a:buNone/>
                      </a:pPr>
                      <a:endParaRPr sz="1800" u="none" strike="noStrike" cap="none"/>
                    </a:p>
                    <a:p>
                      <a:pPr marL="0" marR="0" lvl="0" indent="0" algn="ctr" rtl="0">
                        <a:lnSpc>
                          <a:spcPct val="100000"/>
                        </a:lnSpc>
                        <a:spcBef>
                          <a:spcPts val="0"/>
                        </a:spcBef>
                        <a:spcAft>
                          <a:spcPts val="0"/>
                        </a:spcAft>
                        <a:buClr>
                          <a:srgbClr val="000000"/>
                        </a:buClr>
                        <a:buSzPts val="1800"/>
                        <a:buFont typeface="Arial"/>
                        <a:buNone/>
                      </a:pPr>
                      <a:r>
                        <a:rPr lang="pt-BR" sz="1800" b="1" u="none" strike="noStrike" cap="none"/>
                        <a:t>Restrições de negócio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Recursos orçamentários ou de tempo</a:t>
                      </a:r>
                      <a:endParaRPr sz="1800" u="none" strike="noStrike" cap="none"/>
                    </a:p>
                  </a:txBody>
                  <a:tcPr marL="91450" marR="91450" marT="45725" marB="45725"/>
                </a:tc>
              </a:tr>
              <a:tr h="370850">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Disponibilidade dos envolvidos no projeto</a:t>
                      </a:r>
                      <a:r>
                        <a:rPr lang="pt-BR" sz="1800" b="0" u="none" strike="noStrike" cap="none"/>
                        <a:t> </a:t>
                      </a:r>
                      <a:endParaRPr sz="1800" b="0" u="none" strike="noStrike" cap="none"/>
                    </a:p>
                  </a:txBody>
                  <a:tcPr marL="91450" marR="91450" marT="45725" marB="45725"/>
                </a:tc>
              </a:tr>
              <a:tr h="370850">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Restrições baseadas nas habilidades da equipe de projeto e das partes interessadas</a:t>
                      </a:r>
                      <a:r>
                        <a:rPr lang="pt-BR" sz="1800" b="0" u="none" strike="noStrike" cap="none"/>
                        <a:t> </a:t>
                      </a:r>
                      <a:endParaRPr sz="1800" b="0" u="none" strike="noStrike" cap="none"/>
                    </a:p>
                  </a:txBody>
                  <a:tcPr marL="91450" marR="91450" marT="45725" marB="45725"/>
                </a:tc>
              </a:tr>
              <a:tr h="370850">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Outras restrições organizacionais</a:t>
                      </a:r>
                      <a:r>
                        <a:rPr lang="pt-BR" sz="1800" b="0" u="none" strike="noStrike" cap="none"/>
                        <a:t> </a:t>
                      </a:r>
                      <a:endParaRPr sz="1800" b="0" u="none" strike="noStrike" cap="none"/>
                    </a:p>
                  </a:txBody>
                  <a:tcPr marL="91450" marR="91450" marT="45725" marB="45725"/>
                </a:tc>
              </a:tr>
              <a:tr h="370850">
                <a:tc rowSpan="3">
                  <a:txBody>
                    <a:bodyPr/>
                    <a:lstStyle/>
                    <a:p>
                      <a:pPr marL="0" marR="0" lvl="0" indent="0" algn="ctr" rtl="0">
                        <a:lnSpc>
                          <a:spcPct val="100000"/>
                        </a:lnSpc>
                        <a:spcBef>
                          <a:spcPts val="0"/>
                        </a:spcBef>
                        <a:spcAft>
                          <a:spcPts val="0"/>
                        </a:spcAft>
                        <a:buClr>
                          <a:srgbClr val="000000"/>
                        </a:buClr>
                        <a:buSzPts val="1800"/>
                        <a:buFont typeface="Arial"/>
                        <a:buNone/>
                      </a:pPr>
                      <a:endParaRPr sz="1800" b="1" u="none" strike="noStrike" cap="none"/>
                    </a:p>
                    <a:p>
                      <a:pPr marL="0" marR="0" lvl="0" indent="0" algn="ctr" rtl="0">
                        <a:lnSpc>
                          <a:spcPct val="100000"/>
                        </a:lnSpc>
                        <a:spcBef>
                          <a:spcPts val="0"/>
                        </a:spcBef>
                        <a:spcAft>
                          <a:spcPts val="0"/>
                        </a:spcAft>
                        <a:buClr>
                          <a:srgbClr val="000000"/>
                        </a:buClr>
                        <a:buSzPts val="1800"/>
                        <a:buFont typeface="Arial"/>
                        <a:buNone/>
                      </a:pPr>
                      <a:r>
                        <a:rPr lang="pt-BR" sz="1800" b="1" u="none" strike="noStrike" cap="none"/>
                        <a:t>Restrições técnicas</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Restrições de arquitetura de software</a:t>
                      </a:r>
                      <a:endParaRPr sz="1800" u="none" strike="noStrike" cap="none"/>
                    </a:p>
                  </a:txBody>
                  <a:tcPr marL="91450" marR="91450" marT="45725" marB="45725"/>
                </a:tc>
              </a:tr>
              <a:tr h="370850">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Restrições de infra estrutura</a:t>
                      </a:r>
                      <a:endParaRPr sz="1800" b="0" u="none" strike="noStrike" cap="none"/>
                    </a:p>
                  </a:txBody>
                  <a:tcPr marL="91450" marR="91450" marT="45725" marB="45725"/>
                </a:tc>
              </a:tr>
              <a:tr h="370850">
                <a:tc vMerge="1">
                  <a:txBody>
                    <a:bodyPr/>
                    <a:lstStyle/>
                    <a:p>
                      <a:endParaRPr lang="pt-BR"/>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pt-BR" sz="1800" b="0" u="none" strike="noStrike" cap="none"/>
                        <a:t>Restrições de armazenamento</a:t>
                      </a:r>
                      <a:endParaRPr sz="1800" b="0" u="none" strike="noStrike" cap="none"/>
                    </a:p>
                  </a:txBody>
                  <a:tcPr marL="91450" marR="91450" marT="45725" marB="457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pic>
        <p:nvPicPr>
          <p:cNvPr id="416" name="Google Shape;416;p3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17" name="Google Shape;417;p3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18" name="Google Shape;418;p33"/>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19" name="Google Shape;419;p3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34</a:t>
            </a:fld>
            <a:endParaRPr sz="6000">
              <a:solidFill>
                <a:schemeClr val="lt1"/>
              </a:solidFill>
              <a:latin typeface="Impact"/>
              <a:ea typeface="Impact"/>
              <a:cs typeface="Impact"/>
              <a:sym typeface="Impact"/>
            </a:endParaRPr>
          </a:p>
        </p:txBody>
      </p:sp>
      <p:sp>
        <p:nvSpPr>
          <p:cNvPr id="420" name="Google Shape;420;p33"/>
          <p:cNvSpPr txBox="1"/>
          <p:nvPr/>
        </p:nvSpPr>
        <p:spPr>
          <a:xfrm>
            <a:off x="884984" y="1714487"/>
            <a:ext cx="10113941" cy="4581810"/>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Premissas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As premissas são fatores considerados como uma verdade. Podem ter sua veracidade comprovada ou não ao longo do projeto, sendo que sempre existe </a:t>
            </a:r>
            <a:r>
              <a:rPr lang="pt-BR" sz="2900" b="1" i="0" u="none" strike="noStrike" cap="none">
                <a:solidFill>
                  <a:schemeClr val="dk1"/>
                </a:solidFill>
                <a:latin typeface="Calibri"/>
                <a:ea typeface="Calibri"/>
                <a:cs typeface="Calibri"/>
                <a:sym typeface="Calibri"/>
              </a:rPr>
              <a:t>um risco associado</a:t>
            </a:r>
            <a:r>
              <a:rPr lang="pt-BR"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Muitas premissas possuem dependências que vão sendo criadas no decorrer do projeto, se tornando mais uma promessa do que uma premissa.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A arquitetura do software estará disponível em até 30 dias, para que possa ser utilizada pelo nosso projeto.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r>
              <a:rPr lang="pt-BR" sz="2200" b="0" i="0" u="none" strike="noStrike" cap="none">
                <a:solidFill>
                  <a:schemeClr val="dk1"/>
                </a:solidFill>
                <a:latin typeface="Calibri"/>
                <a:ea typeface="Calibri"/>
                <a:cs typeface="Calibri"/>
                <a:sym typeface="Calibri"/>
              </a:rPr>
              <a:t>Exemplo: A empresa estará habilitada para realizar transações PIX até o início do desenvolvimento.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3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26" name="Google Shape;426;p3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27" name="Google Shape;427;p34"/>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28" name="Google Shape;428;p3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35</a:t>
            </a:fld>
            <a:endParaRPr sz="6000">
              <a:solidFill>
                <a:schemeClr val="lt1"/>
              </a:solidFill>
              <a:latin typeface="Impact"/>
              <a:ea typeface="Impact"/>
              <a:cs typeface="Impact"/>
              <a:sym typeface="Impact"/>
            </a:endParaRPr>
          </a:p>
        </p:txBody>
      </p:sp>
      <p:sp>
        <p:nvSpPr>
          <p:cNvPr id="429" name="Google Shape;429;p34"/>
          <p:cNvSpPr txBox="1"/>
          <p:nvPr/>
        </p:nvSpPr>
        <p:spPr>
          <a:xfrm>
            <a:off x="884985" y="1714487"/>
            <a:ext cx="9369358"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430" name="Google Shape;430;p34"/>
          <p:cNvSpPr/>
          <p:nvPr/>
        </p:nvSpPr>
        <p:spPr>
          <a:xfrm>
            <a:off x="2308034" y="1571612"/>
            <a:ext cx="1928826" cy="428628"/>
          </a:xfrm>
          <a:prstGeom prst="rect">
            <a:avLst/>
          </a:prstGeom>
          <a:solidFill>
            <a:srgbClr val="9CC2E5"/>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Necessidade</a:t>
            </a:r>
            <a:endParaRPr sz="1800" b="1" i="0" u="none" strike="noStrike" cap="none">
              <a:solidFill>
                <a:schemeClr val="dk1"/>
              </a:solidFill>
              <a:latin typeface="Calibri"/>
              <a:ea typeface="Calibri"/>
              <a:cs typeface="Calibri"/>
              <a:sym typeface="Calibri"/>
            </a:endParaRPr>
          </a:p>
        </p:txBody>
      </p:sp>
      <p:sp>
        <p:nvSpPr>
          <p:cNvPr id="431" name="Google Shape;431;p34"/>
          <p:cNvSpPr/>
          <p:nvPr/>
        </p:nvSpPr>
        <p:spPr>
          <a:xfrm>
            <a:off x="2308034" y="2000240"/>
            <a:ext cx="1928826" cy="1714512"/>
          </a:xfrm>
          <a:prstGeom prst="rect">
            <a:avLst/>
          </a:prstGeom>
          <a:solidFill>
            <a:schemeClr val="lt1"/>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Calcular a folha de pagamento do funcionário</a:t>
            </a:r>
            <a:endParaRPr sz="2000" b="0" i="0" u="none" strike="noStrike" cap="none">
              <a:solidFill>
                <a:schemeClr val="dk1"/>
              </a:solidFill>
              <a:latin typeface="Calibri"/>
              <a:ea typeface="Calibri"/>
              <a:cs typeface="Calibri"/>
              <a:sym typeface="Calibri"/>
            </a:endParaRPr>
          </a:p>
        </p:txBody>
      </p:sp>
      <p:sp>
        <p:nvSpPr>
          <p:cNvPr id="432" name="Google Shape;432;p34"/>
          <p:cNvSpPr/>
          <p:nvPr/>
        </p:nvSpPr>
        <p:spPr>
          <a:xfrm>
            <a:off x="4951240" y="1571612"/>
            <a:ext cx="1928826" cy="428628"/>
          </a:xfrm>
          <a:prstGeom prst="rect">
            <a:avLst/>
          </a:prstGeom>
          <a:solidFill>
            <a:srgbClr val="9CC2E5"/>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Premissa</a:t>
            </a:r>
            <a:endParaRPr sz="1800" b="1" i="0" u="none" strike="noStrike" cap="none">
              <a:solidFill>
                <a:schemeClr val="dk1"/>
              </a:solidFill>
              <a:latin typeface="Calibri"/>
              <a:ea typeface="Calibri"/>
              <a:cs typeface="Calibri"/>
              <a:sym typeface="Calibri"/>
            </a:endParaRPr>
          </a:p>
        </p:txBody>
      </p:sp>
      <p:sp>
        <p:nvSpPr>
          <p:cNvPr id="433" name="Google Shape;433;p34"/>
          <p:cNvSpPr/>
          <p:nvPr/>
        </p:nvSpPr>
        <p:spPr>
          <a:xfrm>
            <a:off x="4951240" y="2000240"/>
            <a:ext cx="1928826" cy="1714512"/>
          </a:xfrm>
          <a:prstGeom prst="rect">
            <a:avLst/>
          </a:prstGeom>
          <a:solidFill>
            <a:schemeClr val="lt1"/>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A tabela do INSS não será alterada até o próximo ano</a:t>
            </a:r>
            <a:endParaRPr sz="2000" b="0" i="0" u="none" strike="noStrike" cap="none">
              <a:solidFill>
                <a:schemeClr val="dk1"/>
              </a:solidFill>
              <a:latin typeface="Calibri"/>
              <a:ea typeface="Calibri"/>
              <a:cs typeface="Calibri"/>
              <a:sym typeface="Calibri"/>
            </a:endParaRPr>
          </a:p>
        </p:txBody>
      </p:sp>
      <p:sp>
        <p:nvSpPr>
          <p:cNvPr id="434" name="Google Shape;434;p34"/>
          <p:cNvSpPr/>
          <p:nvPr/>
        </p:nvSpPr>
        <p:spPr>
          <a:xfrm>
            <a:off x="7594446" y="1571612"/>
            <a:ext cx="1928826" cy="428628"/>
          </a:xfrm>
          <a:prstGeom prst="rect">
            <a:avLst/>
          </a:prstGeom>
          <a:solidFill>
            <a:srgbClr val="9CC2E5"/>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Restrição</a:t>
            </a:r>
            <a:endParaRPr sz="1800" b="1" i="0" u="none" strike="noStrike" cap="none">
              <a:solidFill>
                <a:schemeClr val="dk1"/>
              </a:solidFill>
              <a:latin typeface="Calibri"/>
              <a:ea typeface="Calibri"/>
              <a:cs typeface="Calibri"/>
              <a:sym typeface="Calibri"/>
            </a:endParaRPr>
          </a:p>
        </p:txBody>
      </p:sp>
      <p:sp>
        <p:nvSpPr>
          <p:cNvPr id="435" name="Google Shape;435;p34"/>
          <p:cNvSpPr/>
          <p:nvPr/>
        </p:nvSpPr>
        <p:spPr>
          <a:xfrm>
            <a:off x="7594446" y="2000240"/>
            <a:ext cx="1928826" cy="1714512"/>
          </a:xfrm>
          <a:prstGeom prst="rect">
            <a:avLst/>
          </a:prstGeom>
          <a:solidFill>
            <a:schemeClr val="lt1"/>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A funcionalidade deve ser entregue até dia 20/05</a:t>
            </a:r>
            <a:endParaRPr sz="1800" b="0" i="0" u="none" strike="noStrike" cap="none">
              <a:solidFill>
                <a:schemeClr val="dk1"/>
              </a:solidFill>
              <a:latin typeface="Calibri"/>
              <a:ea typeface="Calibri"/>
              <a:cs typeface="Calibri"/>
              <a:sym typeface="Calibri"/>
            </a:endParaRPr>
          </a:p>
        </p:txBody>
      </p:sp>
      <p:sp>
        <p:nvSpPr>
          <p:cNvPr id="436" name="Google Shape;436;p34"/>
          <p:cNvSpPr/>
          <p:nvPr/>
        </p:nvSpPr>
        <p:spPr>
          <a:xfrm>
            <a:off x="3593918" y="4143380"/>
            <a:ext cx="1928826" cy="428628"/>
          </a:xfrm>
          <a:prstGeom prst="rect">
            <a:avLst/>
          </a:prstGeom>
          <a:solidFill>
            <a:srgbClr val="9CC2E5"/>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Regra de negócio</a:t>
            </a:r>
            <a:endParaRPr sz="1800" b="1" i="0" u="none" strike="noStrike" cap="none">
              <a:solidFill>
                <a:schemeClr val="dk1"/>
              </a:solidFill>
              <a:latin typeface="Calibri"/>
              <a:ea typeface="Calibri"/>
              <a:cs typeface="Calibri"/>
              <a:sym typeface="Calibri"/>
            </a:endParaRPr>
          </a:p>
        </p:txBody>
      </p:sp>
      <p:sp>
        <p:nvSpPr>
          <p:cNvPr id="437" name="Google Shape;437;p34"/>
          <p:cNvSpPr/>
          <p:nvPr/>
        </p:nvSpPr>
        <p:spPr>
          <a:xfrm>
            <a:off x="3593918" y="4572008"/>
            <a:ext cx="1928826" cy="1714512"/>
          </a:xfrm>
          <a:prstGeom prst="rect">
            <a:avLst/>
          </a:prstGeom>
          <a:solidFill>
            <a:schemeClr val="lt1"/>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O cálculo do valor do INSS se dá pela fórmula (...)</a:t>
            </a:r>
            <a:endParaRPr sz="1800" b="0" i="0" u="none" strike="noStrike" cap="none">
              <a:solidFill>
                <a:schemeClr val="dk1"/>
              </a:solidFill>
              <a:latin typeface="Calibri"/>
              <a:ea typeface="Calibri"/>
              <a:cs typeface="Calibri"/>
              <a:sym typeface="Calibri"/>
            </a:endParaRPr>
          </a:p>
        </p:txBody>
      </p:sp>
      <p:sp>
        <p:nvSpPr>
          <p:cNvPr id="438" name="Google Shape;438;p34"/>
          <p:cNvSpPr/>
          <p:nvPr/>
        </p:nvSpPr>
        <p:spPr>
          <a:xfrm>
            <a:off x="6380000" y="4143380"/>
            <a:ext cx="1928826" cy="428628"/>
          </a:xfrm>
          <a:prstGeom prst="rect">
            <a:avLst/>
          </a:prstGeom>
          <a:solidFill>
            <a:srgbClr val="9CC2E5"/>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1" i="0" u="none" strike="noStrike" cap="none">
                <a:solidFill>
                  <a:schemeClr val="dk1"/>
                </a:solidFill>
                <a:latin typeface="Calibri"/>
                <a:ea typeface="Calibri"/>
                <a:cs typeface="Calibri"/>
                <a:sym typeface="Calibri"/>
              </a:rPr>
              <a:t>Critério de aceite</a:t>
            </a:r>
            <a:endParaRPr sz="1800" b="1" i="0" u="none" strike="noStrike" cap="none">
              <a:solidFill>
                <a:schemeClr val="dk1"/>
              </a:solidFill>
              <a:latin typeface="Calibri"/>
              <a:ea typeface="Calibri"/>
              <a:cs typeface="Calibri"/>
              <a:sym typeface="Calibri"/>
            </a:endParaRPr>
          </a:p>
        </p:txBody>
      </p:sp>
      <p:sp>
        <p:nvSpPr>
          <p:cNvPr id="439" name="Google Shape;439;p34"/>
          <p:cNvSpPr/>
          <p:nvPr/>
        </p:nvSpPr>
        <p:spPr>
          <a:xfrm>
            <a:off x="6380000" y="4572008"/>
            <a:ext cx="1928826" cy="1714512"/>
          </a:xfrm>
          <a:prstGeom prst="rect">
            <a:avLst/>
          </a:prstGeom>
          <a:solidFill>
            <a:schemeClr val="lt1"/>
          </a:solidFill>
          <a:ln w="12700" cap="flat" cmpd="sng">
            <a:solidFill>
              <a:srgbClr val="BBD6E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pt-BR" sz="1800" b="0" i="0" u="none" strike="noStrike" cap="none">
                <a:solidFill>
                  <a:schemeClr val="dk1"/>
                </a:solidFill>
                <a:latin typeface="Calibri"/>
                <a:ea typeface="Calibri"/>
                <a:cs typeface="Calibri"/>
                <a:sym typeface="Calibri"/>
              </a:rPr>
              <a:t>100% dos funcionários devem ter sua folha calculada</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3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45" name="Google Shape;445;p3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46" name="Google Shape;446;p35"/>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47" name="Google Shape;447;p3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36</a:t>
            </a:fld>
            <a:endParaRPr sz="6000">
              <a:solidFill>
                <a:schemeClr val="lt1"/>
              </a:solidFill>
              <a:latin typeface="Impact"/>
              <a:ea typeface="Impact"/>
              <a:cs typeface="Impact"/>
              <a:sym typeface="Impact"/>
            </a:endParaRPr>
          </a:p>
        </p:txBody>
      </p:sp>
      <p:sp>
        <p:nvSpPr>
          <p:cNvPr id="448" name="Google Shape;448;p35"/>
          <p:cNvSpPr txBox="1"/>
          <p:nvPr/>
        </p:nvSpPr>
        <p:spPr>
          <a:xfrm>
            <a:off x="884984" y="1714487"/>
            <a:ext cx="10153129" cy="4581810"/>
          </a:xfrm>
          <a:prstGeom prst="rect">
            <a:avLst/>
          </a:prstGeom>
          <a:noFill/>
          <a:ln>
            <a:noFill/>
          </a:ln>
        </p:spPr>
        <p:txBody>
          <a:bodyPr spcFirstLastPara="1" wrap="square" lIns="91425" tIns="45700" rIns="91425" bIns="45700" anchor="t" anchorCtr="0">
            <a:normAutofit fontScale="92500"/>
          </a:bodyPr>
          <a:lstStyle/>
          <a:p>
            <a:pPr marL="0" marR="0" lvl="0" indent="0" algn="l" rtl="0">
              <a:lnSpc>
                <a:spcPct val="100000"/>
              </a:lnSpc>
              <a:spcBef>
                <a:spcPts val="0"/>
              </a:spcBef>
              <a:spcAft>
                <a:spcPts val="0"/>
              </a:spcAft>
              <a:buClr>
                <a:srgbClr val="000000"/>
              </a:buClr>
              <a:buSzPct val="100000"/>
              <a:buFont typeface="Arial"/>
              <a:buNone/>
            </a:pPr>
            <a:r>
              <a:rPr lang="pt-BR" sz="2400" b="0" i="0" u="none" strike="noStrike" cap="none">
                <a:solidFill>
                  <a:schemeClr val="dk1"/>
                </a:solidFill>
                <a:latin typeface="Calibri"/>
                <a:ea typeface="Calibri"/>
                <a:cs typeface="Calibri"/>
                <a:sym typeface="Calibri"/>
              </a:rPr>
              <a:t>Em relação à área de Engenharia de requisitos, os guias PMBOK (PMI, 2018) e BABOK (Bussiness Analysis Body of Knowledge) ainda citam alguns outros tipos de requisitos: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pt-BR" sz="2400" b="1" i="0" u="none" strike="noStrike" cap="none">
                <a:solidFill>
                  <a:schemeClr val="dk1"/>
                </a:solidFill>
                <a:latin typeface="Calibri"/>
                <a:ea typeface="Calibri"/>
                <a:cs typeface="Calibri"/>
                <a:sym typeface="Calibri"/>
              </a:rPr>
              <a:t>Requisitos de transição</a:t>
            </a:r>
            <a:r>
              <a:rPr lang="pt-BR" sz="2400" b="0" i="0" u="none" strike="noStrike" cap="none">
                <a:solidFill>
                  <a:schemeClr val="dk1"/>
                </a:solidFill>
                <a:latin typeface="Calibri"/>
                <a:ea typeface="Calibri"/>
                <a:cs typeface="Calibri"/>
                <a:sym typeface="Calibri"/>
              </a:rPr>
              <a:t>: descrevem requisitos que serão utilizados com o objetivo de realizar a transição de um estado para outro e que não serão mais necessários após a conclusão da transição.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r>
              <a:rPr lang="pt-BR" sz="2200" b="0" i="0" u="none" strike="noStrike" cap="none">
                <a:solidFill>
                  <a:schemeClr val="dk1"/>
                </a:solidFill>
                <a:latin typeface="Calibri"/>
                <a:ea typeface="Calibri"/>
                <a:cs typeface="Calibri"/>
                <a:sym typeface="Calibri"/>
              </a:rPr>
              <a:t>Exemplo: Os pagamentos em PIX deverão ser feitos por transferência e baixados como depósito até</a:t>
            </a:r>
            <a:r>
              <a:rPr lang="pt-BR" sz="2200">
                <a:solidFill>
                  <a:schemeClr val="dk1"/>
                </a:solidFill>
                <a:latin typeface="Calibri"/>
                <a:ea typeface="Calibri"/>
                <a:cs typeface="Calibri"/>
                <a:sym typeface="Calibri"/>
              </a:rPr>
              <a:t> que </a:t>
            </a:r>
            <a:r>
              <a:rPr lang="pt-BR" sz="2200" b="0" i="0" u="none" strike="noStrike" cap="none">
                <a:solidFill>
                  <a:schemeClr val="dk1"/>
                </a:solidFill>
                <a:latin typeface="Calibri"/>
                <a:ea typeface="Calibri"/>
                <a:cs typeface="Calibri"/>
                <a:sym typeface="Calibri"/>
              </a:rPr>
              <a:t>o sistema possua a geração de QR Code e PIX copia/cola.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pt-BR" sz="2400" b="1" i="0" u="none" strike="noStrike" cap="none">
                <a:solidFill>
                  <a:schemeClr val="dk1"/>
                </a:solidFill>
                <a:latin typeface="Calibri"/>
                <a:ea typeface="Calibri"/>
                <a:cs typeface="Calibri"/>
                <a:sym typeface="Calibri"/>
              </a:rPr>
              <a:t>Requisitos inversos: </a:t>
            </a:r>
            <a:r>
              <a:rPr lang="pt-BR" sz="2400" b="0" i="0" u="none" strike="noStrike" cap="none">
                <a:solidFill>
                  <a:schemeClr val="dk1"/>
                </a:solidFill>
                <a:latin typeface="Calibri"/>
                <a:ea typeface="Calibri"/>
                <a:cs typeface="Calibri"/>
                <a:sym typeface="Calibri"/>
              </a:rPr>
              <a:t>é uma declaração com aspecto negativo, indicando o que o sistema não deve fazer. Evita a criação de expectativas, mas sempre que possível, deve-se deixar claro o que o sistema deve fazer ao invés do que não deve fazer.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endParaRPr sz="2200" b="0" i="0" u="none" strike="noStrike" cap="non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p3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54" name="Google Shape;454;p3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55" name="Google Shape;455;p36"/>
          <p:cNvSpPr txBox="1"/>
          <p:nvPr/>
        </p:nvSpPr>
        <p:spPr>
          <a:xfrm>
            <a:off x="1023257" y="341091"/>
            <a:ext cx="10877006" cy="8126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56" name="Google Shape;456;p3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37</a:t>
            </a:fld>
            <a:endParaRPr sz="6000">
              <a:solidFill>
                <a:schemeClr val="lt1"/>
              </a:solidFill>
              <a:latin typeface="Impact"/>
              <a:ea typeface="Impact"/>
              <a:cs typeface="Impact"/>
              <a:sym typeface="Impact"/>
            </a:endParaRPr>
          </a:p>
        </p:txBody>
      </p:sp>
      <p:sp>
        <p:nvSpPr>
          <p:cNvPr id="457" name="Google Shape;457;p36"/>
          <p:cNvSpPr txBox="1"/>
          <p:nvPr/>
        </p:nvSpPr>
        <p:spPr>
          <a:xfrm>
            <a:off x="884985" y="1714487"/>
            <a:ext cx="9369358" cy="458181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graphicFrame>
        <p:nvGraphicFramePr>
          <p:cNvPr id="458" name="Google Shape;458;p36"/>
          <p:cNvGraphicFramePr/>
          <p:nvPr/>
        </p:nvGraphicFramePr>
        <p:xfrm>
          <a:off x="1078410" y="2058973"/>
          <a:ext cx="9724575" cy="4348590"/>
        </p:xfrm>
        <a:graphic>
          <a:graphicData uri="http://schemas.openxmlformats.org/drawingml/2006/table">
            <a:tbl>
              <a:tblPr firstRow="1" bandRow="1">
                <a:noFill/>
                <a:tableStyleId>{96696D03-7A98-4163-BA48-3A5B8B18AE18}</a:tableStyleId>
              </a:tblPr>
              <a:tblGrid>
                <a:gridCol w="2287100"/>
                <a:gridCol w="7437475"/>
              </a:tblGrid>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Atributo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Descrição</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Completude</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Todas as funcionalidades solicitadas foram documentadas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Consistente</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Os requisitos não devem possuir conflitos e contradições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Correto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O requisito é correto quando satisfaz uma determinada necessidade</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Sem ambiguidade</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O requisito deve possuir apenas uma interpretação</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Verificável</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Devem ser descritos de forma que seja possível verificar a sua implementação</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Compreensível</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Deve ser escrito levando em consideração vários tipos de leitores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Modificável</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Deve permitir mudanças sem um grande impacto</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Rastreável</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solidFill>
                            <a:schemeClr val="dk1"/>
                          </a:solidFill>
                        </a:rPr>
                        <a:t>A origem de um requisito deve estar claramente identificada</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Necessário</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O requisito deve agregar valor às partes interessadas</a:t>
                      </a:r>
                      <a:endParaRPr sz="1800" u="none" strike="noStrike" cap="none"/>
                    </a:p>
                  </a:txBody>
                  <a:tcPr marL="91450" marR="91450" marT="45725" marB="45725"/>
                </a:tc>
              </a:tr>
              <a:tr h="370850">
                <a:tc>
                  <a:txBody>
                    <a:bodyPr/>
                    <a:lstStyle/>
                    <a:p>
                      <a:pPr marL="0" marR="0" lvl="0" indent="0" algn="l" rtl="0">
                        <a:lnSpc>
                          <a:spcPct val="100000"/>
                        </a:lnSpc>
                        <a:spcBef>
                          <a:spcPts val="0"/>
                        </a:spcBef>
                        <a:spcAft>
                          <a:spcPts val="0"/>
                        </a:spcAft>
                        <a:buClr>
                          <a:srgbClr val="000000"/>
                        </a:buClr>
                        <a:buSzPts val="1800"/>
                        <a:buFont typeface="Arial"/>
                        <a:buNone/>
                      </a:pPr>
                      <a:r>
                        <a:rPr lang="pt-BR" sz="1800" b="1" u="none" strike="noStrike" cap="none"/>
                        <a:t>Viável</a:t>
                      </a:r>
                      <a:endParaRPr sz="18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pt-BR" sz="1800" u="none" strike="noStrike" cap="none"/>
                        <a:t>Deve ser possível implementar o requisito dadas as condições organizacionais, legais, técnicas ou financeiras</a:t>
                      </a:r>
                      <a:endParaRPr sz="1800" u="none" strike="noStrike" cap="none"/>
                    </a:p>
                  </a:txBody>
                  <a:tcPr marL="91450" marR="91450" marT="45725" marB="45725"/>
                </a:tc>
              </a:tr>
            </a:tbl>
          </a:graphicData>
        </a:graphic>
      </p:graphicFrame>
      <p:sp>
        <p:nvSpPr>
          <p:cNvPr id="459" name="Google Shape;459;p36"/>
          <p:cNvSpPr txBox="1"/>
          <p:nvPr/>
        </p:nvSpPr>
        <p:spPr>
          <a:xfrm>
            <a:off x="992775" y="1492792"/>
            <a:ext cx="470859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a:solidFill>
                  <a:srgbClr val="1E4E79"/>
                </a:solidFill>
                <a:latin typeface="Calibri"/>
                <a:ea typeface="Calibri"/>
                <a:cs typeface="Calibri"/>
                <a:sym typeface="Calibri"/>
              </a:rPr>
              <a:t>Atributos de qualidade do requisito</a:t>
            </a:r>
            <a:endParaRPr sz="2400" b="1" i="0" u="none" strike="noStrike" cap="none">
              <a:solidFill>
                <a:srgbClr val="1E4E79"/>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g2d9adfc48c3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65" name="Google Shape;465;g2d9adfc48c3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66" name="Google Shape;466;g2d9adfc48c3_0_0"/>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Requisitos de software</a:t>
            </a:r>
            <a:endParaRPr sz="4800" b="0" i="0" u="none" strike="noStrike" cap="none">
              <a:solidFill>
                <a:srgbClr val="003958"/>
              </a:solidFill>
              <a:latin typeface="Calibri"/>
              <a:ea typeface="Calibri"/>
              <a:cs typeface="Calibri"/>
              <a:sym typeface="Calibri"/>
            </a:endParaRPr>
          </a:p>
        </p:txBody>
      </p:sp>
      <p:sp>
        <p:nvSpPr>
          <p:cNvPr id="467" name="Google Shape;467;g2d9adfc48c3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6000"/>
              <a:buNone/>
            </a:pPr>
            <a:fld id="{00000000-1234-1234-1234-123412341234}" type="slidenum">
              <a:rPr lang="pt-BR" sz="6000">
                <a:solidFill>
                  <a:schemeClr val="lt1"/>
                </a:solidFill>
                <a:latin typeface="Impact"/>
                <a:ea typeface="Impact"/>
                <a:cs typeface="Impact"/>
                <a:sym typeface="Impact"/>
              </a:rPr>
              <a:t>38</a:t>
            </a:fld>
            <a:endParaRPr sz="6000">
              <a:solidFill>
                <a:schemeClr val="lt1"/>
              </a:solidFill>
              <a:latin typeface="Impact"/>
              <a:ea typeface="Impact"/>
              <a:cs typeface="Impact"/>
              <a:sym typeface="Impact"/>
            </a:endParaRPr>
          </a:p>
        </p:txBody>
      </p:sp>
      <p:sp>
        <p:nvSpPr>
          <p:cNvPr id="468" name="Google Shape;468;g2d9adfc48c3_0_0"/>
          <p:cNvSpPr txBox="1"/>
          <p:nvPr/>
        </p:nvSpPr>
        <p:spPr>
          <a:xfrm>
            <a:off x="884985" y="1714487"/>
            <a:ext cx="9369300" cy="45819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alibri"/>
              <a:ea typeface="Calibri"/>
              <a:cs typeface="Calibri"/>
              <a:sym typeface="Calibri"/>
            </a:endParaRPr>
          </a:p>
        </p:txBody>
      </p:sp>
      <p:sp>
        <p:nvSpPr>
          <p:cNvPr id="469" name="Google Shape;469;g2d9adfc48c3_0_0"/>
          <p:cNvSpPr txBox="1"/>
          <p:nvPr/>
        </p:nvSpPr>
        <p:spPr>
          <a:xfrm>
            <a:off x="992775" y="1492800"/>
            <a:ext cx="8458800" cy="230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a:solidFill>
                  <a:srgbClr val="1E4E79"/>
                </a:solidFill>
                <a:latin typeface="Calibri"/>
                <a:ea typeface="Calibri"/>
                <a:cs typeface="Calibri"/>
                <a:sym typeface="Calibri"/>
              </a:rPr>
              <a:t>Com a tela de Login da Aula anterior, criar 10 requisitos funcionais e 5 não funcionais para ela.</a:t>
            </a:r>
            <a:br>
              <a:rPr lang="pt-BR" sz="2400" b="1">
                <a:solidFill>
                  <a:srgbClr val="1E4E79"/>
                </a:solidFill>
                <a:latin typeface="Calibri"/>
                <a:ea typeface="Calibri"/>
                <a:cs typeface="Calibri"/>
                <a:sym typeface="Calibri"/>
              </a:rPr>
            </a:br>
            <a:r>
              <a:rPr lang="pt-BR" sz="2400" b="1">
                <a:solidFill>
                  <a:srgbClr val="1E4E79"/>
                </a:solidFill>
                <a:latin typeface="Calibri"/>
                <a:ea typeface="Calibri"/>
                <a:cs typeface="Calibri"/>
                <a:sym typeface="Calibri"/>
              </a:rPr>
              <a:t/>
            </a:r>
            <a:br>
              <a:rPr lang="pt-BR" sz="2400" b="1">
                <a:solidFill>
                  <a:srgbClr val="1E4E79"/>
                </a:solidFill>
                <a:latin typeface="Calibri"/>
                <a:ea typeface="Calibri"/>
                <a:cs typeface="Calibri"/>
                <a:sym typeface="Calibri"/>
              </a:rPr>
            </a:br>
            <a:r>
              <a:rPr lang="pt-BR" sz="2400" b="1">
                <a:solidFill>
                  <a:srgbClr val="1E4E79"/>
                </a:solidFill>
                <a:latin typeface="Calibri"/>
                <a:ea typeface="Calibri"/>
                <a:cs typeface="Calibri"/>
                <a:sym typeface="Calibri"/>
              </a:rPr>
              <a:t>Exemplo de requisito funcional:</a:t>
            </a:r>
            <a:br>
              <a:rPr lang="pt-BR" sz="2400" b="1">
                <a:solidFill>
                  <a:srgbClr val="1E4E79"/>
                </a:solidFill>
                <a:latin typeface="Calibri"/>
                <a:ea typeface="Calibri"/>
                <a:cs typeface="Calibri"/>
                <a:sym typeface="Calibri"/>
              </a:rPr>
            </a:br>
            <a:r>
              <a:rPr lang="pt-BR" sz="2400">
                <a:solidFill>
                  <a:srgbClr val="1E4E79"/>
                </a:solidFill>
                <a:latin typeface="Calibri"/>
                <a:ea typeface="Calibri"/>
                <a:cs typeface="Calibri"/>
                <a:sym typeface="Calibri"/>
              </a:rPr>
              <a:t>O sistema deve permitir que o usuário insira um identificador (nome de usuário ou e-mail) e uma senha para acessar sua conta.</a:t>
            </a:r>
            <a:endParaRPr sz="2400" i="0" u="none" strike="noStrike" cap="none">
              <a:solidFill>
                <a:srgbClr val="1E4E79"/>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2700</Words>
  <Application>Microsoft Office PowerPoint</Application>
  <PresentationFormat>Personalizar</PresentationFormat>
  <Paragraphs>395</Paragraphs>
  <Slides>38</Slides>
  <Notes>37</Notes>
  <HiddenSlides>0</HiddenSlides>
  <MMClips>0</MMClips>
  <ScaleCrop>false</ScaleCrop>
  <HeadingPairs>
    <vt:vector size="4" baseType="variant">
      <vt:variant>
        <vt:lpstr>Tema</vt:lpstr>
      </vt:variant>
      <vt:variant>
        <vt:i4>1</vt:i4>
      </vt:variant>
      <vt:variant>
        <vt:lpstr>Títulos de slides</vt:lpstr>
      </vt:variant>
      <vt:variant>
        <vt:i4>38</vt:i4>
      </vt:variant>
    </vt:vector>
  </HeadingPairs>
  <TitlesOfParts>
    <vt:vector size="39"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Joao Marcos Garcia Vieira</dc:creator>
  <cp:lastModifiedBy>Leandro Ugioni</cp:lastModifiedBy>
  <cp:revision>1</cp:revision>
  <dcterms:created xsi:type="dcterms:W3CDTF">2019-02-19T17:16:10Z</dcterms:created>
  <dcterms:modified xsi:type="dcterms:W3CDTF">2026-03-05T22:10:35Z</dcterms:modified>
</cp:coreProperties>
</file>