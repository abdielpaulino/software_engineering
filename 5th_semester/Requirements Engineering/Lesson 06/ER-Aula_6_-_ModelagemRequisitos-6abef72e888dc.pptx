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6"/>
  </p:notesMasterIdLst>
  <p:sldIdLst>
    <p:sldId id="30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6kqGhTtQNvwtRYa8dyYql6XZ8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FE8EFC0D-0CF8-4CBB-B8A5-F21A259A8E72}">
  <a:tblStyle styleId="{FE8EFC0D-0CF8-4CBB-B8A5-F21A259A8E7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F0F0"/>
          </a:solidFill>
        </a:fill>
      </a:tcStyle>
    </a:wholeTbl>
    <a:band1H>
      <a:tcTxStyle/>
      <a:tcStyle>
        <a:tcBdr/>
        <a:fill>
          <a:solidFill>
            <a:srgbClr val="E0E0E0"/>
          </a:solidFill>
        </a:fill>
      </a:tcStyle>
    </a:band1H>
    <a:band2H>
      <a:tcTxStyle/>
      <a:tcStyle>
        <a:tcBdr/>
      </a:tcStyle>
    </a:band2H>
    <a:band1V>
      <a:tcTxStyle/>
      <a:tcStyle>
        <a:tcBdr/>
        <a:fill>
          <a:solidFill>
            <a:srgbClr val="E0E0E0"/>
          </a:solidFill>
        </a:fill>
      </a:tcStyle>
    </a:band1V>
    <a:band2V>
      <a:tcTxStyle/>
      <a:tcStyle>
        <a:tcBdr/>
      </a:tcStyle>
    </a:band2V>
    <a:lastCol>
      <a:tcTxStyle b="on" i="off">
        <a:font>
          <a:latin typeface="Calibri"/>
          <a:ea typeface="Calibri"/>
          <a:cs typeface="Calibri"/>
        </a:font>
        <a:schemeClr val="lt1"/>
      </a:tcTxStyle>
      <a:tcStyle>
        <a:tcBdr/>
        <a:fill>
          <a:solidFill>
            <a:schemeClr val="accent3"/>
          </a:solidFill>
        </a:fill>
      </a:tcStyle>
    </a:lastCol>
    <a:firstCol>
      <a:tcTxStyle b="on" i="off">
        <a:font>
          <a:latin typeface="Calibri"/>
          <a:ea typeface="Calibri"/>
          <a:cs typeface="Calibri"/>
        </a:font>
        <a:schemeClr val="lt1"/>
      </a:tcTxStyle>
      <a:tcStyle>
        <a:tcBdr/>
        <a:fill>
          <a:solidFill>
            <a:schemeClr val="accent3"/>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9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56"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5804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1e10a38972e_0_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g1e10a38972e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5" name="Google Shape;40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5" name="Google Shape;41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f523380cc1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5" name="Google Shape;425;g1f523380cc1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1e10a38972e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g1e10a38972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4a2afdf54a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g34a2afdf5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f523380cc1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2" name="Google Shape;492;g1f523380cc1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21"/>
        <p:cNvGrpSpPr/>
        <p:nvPr/>
      </p:nvGrpSpPr>
      <p:grpSpPr>
        <a:xfrm>
          <a:off x="0" y="0"/>
          <a:ext cx="0" cy="0"/>
          <a:chOff x="0" y="0"/>
          <a:chExt cx="0" cy="0"/>
        </a:xfrm>
      </p:grpSpPr>
      <p:sp>
        <p:nvSpPr>
          <p:cNvPr id="22" name="Google Shape;22;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7"/>
        <p:cNvGrpSpPr/>
        <p:nvPr/>
      </p:nvGrpSpPr>
      <p:grpSpPr>
        <a:xfrm>
          <a:off x="0" y="0"/>
          <a:ext cx="0" cy="0"/>
          <a:chOff x="0" y="0"/>
          <a:chExt cx="0" cy="0"/>
        </a:xfrm>
      </p:grpSpPr>
      <p:sp>
        <p:nvSpPr>
          <p:cNvPr id="28" name="Google Shape;28;p4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33"/>
        <p:cNvGrpSpPr/>
        <p:nvPr/>
      </p:nvGrpSpPr>
      <p:grpSpPr>
        <a:xfrm>
          <a:off x="0" y="0"/>
          <a:ext cx="0" cy="0"/>
          <a:chOff x="0" y="0"/>
          <a:chExt cx="0" cy="0"/>
        </a:xfrm>
      </p:grpSpPr>
      <p:sp>
        <p:nvSpPr>
          <p:cNvPr id="34" name="Google Shape;34;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40"/>
        <p:cNvGrpSpPr/>
        <p:nvPr/>
      </p:nvGrpSpPr>
      <p:grpSpPr>
        <a:xfrm>
          <a:off x="0" y="0"/>
          <a:ext cx="0" cy="0"/>
          <a:chOff x="0" y="0"/>
          <a:chExt cx="0" cy="0"/>
        </a:xfrm>
      </p:grpSpPr>
      <p:sp>
        <p:nvSpPr>
          <p:cNvPr id="41" name="Google Shape;41;p4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9"/>
        <p:cNvGrpSpPr/>
        <p:nvPr/>
      </p:nvGrpSpPr>
      <p:grpSpPr>
        <a:xfrm>
          <a:off x="0" y="0"/>
          <a:ext cx="0" cy="0"/>
          <a:chOff x="0" y="0"/>
          <a:chExt cx="0" cy="0"/>
        </a:xfrm>
      </p:grpSpPr>
      <p:sp>
        <p:nvSpPr>
          <p:cNvPr id="50" name="Google Shape;50;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4"/>
        <p:cNvGrpSpPr/>
        <p:nvPr/>
      </p:nvGrpSpPr>
      <p:grpSpPr>
        <a:xfrm>
          <a:off x="0" y="0"/>
          <a:ext cx="0" cy="0"/>
          <a:chOff x="0" y="0"/>
          <a:chExt cx="0" cy="0"/>
        </a:xfrm>
      </p:grpSpPr>
      <p:sp>
        <p:nvSpPr>
          <p:cNvPr id="55" name="Google Shape;5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8"/>
        <p:cNvGrpSpPr/>
        <p:nvPr/>
      </p:nvGrpSpPr>
      <p:grpSpPr>
        <a:xfrm>
          <a:off x="0" y="0"/>
          <a:ext cx="0" cy="0"/>
          <a:chOff x="0" y="0"/>
          <a:chExt cx="0" cy="0"/>
        </a:xfrm>
      </p:grpSpPr>
      <p:sp>
        <p:nvSpPr>
          <p:cNvPr id="59" name="Google Shape;59;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5"/>
        <p:cNvGrpSpPr/>
        <p:nvPr/>
      </p:nvGrpSpPr>
      <p:grpSpPr>
        <a:xfrm>
          <a:off x="0" y="0"/>
          <a:ext cx="0" cy="0"/>
          <a:chOff x="0" y="0"/>
          <a:chExt cx="0" cy="0"/>
        </a:xfrm>
      </p:grpSpPr>
      <p:sp>
        <p:nvSpPr>
          <p:cNvPr id="66" name="Google Shape;66;p5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50"/>
          <p:cNvSpPr>
            <a:spLocks noGrp="1"/>
          </p:cNvSpPr>
          <p:nvPr>
            <p:ph type="pic" idx="2"/>
          </p:nvPr>
        </p:nvSpPr>
        <p:spPr>
          <a:xfrm>
            <a:off x="5183188" y="987425"/>
            <a:ext cx="6172200" cy="4873625"/>
          </a:xfrm>
          <a:prstGeom prst="rect">
            <a:avLst/>
          </a:prstGeom>
          <a:noFill/>
          <a:ln>
            <a:noFill/>
          </a:ln>
        </p:spPr>
      </p:sp>
      <p:sp>
        <p:nvSpPr>
          <p:cNvPr id="68" name="Google Shape;68;p5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72"/>
        <p:cNvGrpSpPr/>
        <p:nvPr/>
      </p:nvGrpSpPr>
      <p:grpSpPr>
        <a:xfrm>
          <a:off x="0" y="0"/>
          <a:ext cx="0" cy="0"/>
          <a:chOff x="0" y="0"/>
          <a:chExt cx="0" cy="0"/>
        </a:xfrm>
      </p:grpSpPr>
      <p:sp>
        <p:nvSpPr>
          <p:cNvPr id="73" name="Google Shape;73;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5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8"/>
        <p:cNvGrpSpPr/>
        <p:nvPr/>
      </p:nvGrpSpPr>
      <p:grpSpPr>
        <a:xfrm>
          <a:off x="0" y="0"/>
          <a:ext cx="0" cy="0"/>
          <a:chOff x="0" y="0"/>
          <a:chExt cx="0" cy="0"/>
        </a:xfrm>
      </p:grpSpPr>
      <p:sp>
        <p:nvSpPr>
          <p:cNvPr id="79" name="Google Shape;79;p5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5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5.jp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6.jp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1F8B163-86D5-4878-916A-9D11FE2EA181}"/>
              </a:ext>
            </a:extLst>
          </p:cNvPr>
          <p:cNvSpPr>
            <a:spLocks noGrp="1"/>
          </p:cNvSpPr>
          <p:nvPr>
            <p:ph type="title"/>
          </p:nvPr>
        </p:nvSpPr>
        <p:spPr/>
        <p:txBody>
          <a:bodyPr/>
          <a:lstStyle/>
          <a:p>
            <a:endParaRPr lang="pt-BR"/>
          </a:p>
        </p:txBody>
      </p:sp>
      <p:pic>
        <p:nvPicPr>
          <p:cNvPr id="5" name="Espaço Reservado para Conteúdo 4">
            <a:extLst>
              <a:ext uri="{FF2B5EF4-FFF2-40B4-BE49-F238E27FC236}">
                <a16:creationId xmlns:a16="http://schemas.microsoft.com/office/drawing/2014/main" xmlns="" id="{F3020D6C-6261-402F-84A7-AA1B65D9D5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1" cy="6858000"/>
          </a:xfrm>
        </p:spPr>
      </p:pic>
      <p:sp>
        <p:nvSpPr>
          <p:cNvPr id="6" name="CaixaDeTexto 5">
            <a:extLst>
              <a:ext uri="{FF2B5EF4-FFF2-40B4-BE49-F238E27FC236}">
                <a16:creationId xmlns:a16="http://schemas.microsoft.com/office/drawing/2014/main" xmlns="" id="{E3D630B1-A6DA-42B6-861B-AAD116CC443F}"/>
              </a:ext>
            </a:extLst>
          </p:cNvPr>
          <p:cNvSpPr txBox="1"/>
          <p:nvPr/>
        </p:nvSpPr>
        <p:spPr>
          <a:xfrm>
            <a:off x="2292626" y="1416758"/>
            <a:ext cx="7606748" cy="2862322"/>
          </a:xfrm>
          <a:prstGeom prst="rect">
            <a:avLst/>
          </a:prstGeom>
          <a:noFill/>
        </p:spPr>
        <p:txBody>
          <a:bodyPr wrap="square" rtlCol="0">
            <a:spAutoFit/>
          </a:bodyPr>
          <a:lstStyle/>
          <a:p>
            <a:pPr algn="ctr"/>
            <a:endParaRPr lang="pt-BR" sz="6000" b="1" dirty="0" smtClean="0">
              <a:solidFill>
                <a:schemeClr val="bg2">
                  <a:lumMod val="10000"/>
                </a:schemeClr>
              </a:solidFill>
              <a:latin typeface="Arial" panose="020B0604020202020204" pitchFamily="34" charset="0"/>
              <a:cs typeface="Arial" panose="020B0604020202020204" pitchFamily="34" charset="0"/>
            </a:endParaRPr>
          </a:p>
          <a:p>
            <a:pPr algn="ctr"/>
            <a:r>
              <a:rPr lang="pt-BR" sz="6000" b="1" dirty="0" smtClean="0">
                <a:solidFill>
                  <a:schemeClr val="bg2">
                    <a:lumMod val="10000"/>
                  </a:schemeClr>
                </a:solidFill>
                <a:latin typeface="Arial" panose="020B0604020202020204" pitchFamily="34" charset="0"/>
                <a:cs typeface="Arial" panose="020B0604020202020204" pitchFamily="34" charset="0"/>
              </a:rPr>
              <a:t>Engenharia de Requisitos</a:t>
            </a:r>
            <a:endParaRPr lang="pt-BR" sz="60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5139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p:nvPr/>
        </p:nvSpPr>
        <p:spPr>
          <a:xfrm>
            <a:off x="174171" y="4667876"/>
            <a:ext cx="8672285"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6000">
                <a:solidFill>
                  <a:srgbClr val="003958"/>
                </a:solidFill>
                <a:latin typeface="Impact"/>
                <a:ea typeface="Impact"/>
                <a:cs typeface="Impact"/>
                <a:sym typeface="Impact"/>
              </a:rPr>
              <a:t>Modelagem de requisitos</a:t>
            </a:r>
            <a:endParaRPr sz="6000">
              <a:solidFill>
                <a:srgbClr val="003958"/>
              </a:solidFill>
              <a:latin typeface="Impact"/>
              <a:ea typeface="Impact"/>
              <a:cs typeface="Impact"/>
              <a:sym typeface="Impact"/>
            </a:endParaRPr>
          </a:p>
        </p:txBody>
      </p:sp>
      <p:sp>
        <p:nvSpPr>
          <p:cNvPr id="98" name="Google Shape;9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a:t>2</a:t>
            </a:fld>
            <a:endParaRPr/>
          </a:p>
        </p:txBody>
      </p:sp>
      <p:pic>
        <p:nvPicPr>
          <p:cNvPr id="99" name="Google Shape;99;p2"/>
          <p:cNvPicPr preferRelativeResize="0"/>
          <p:nvPr/>
        </p:nvPicPr>
        <p:blipFill rotWithShape="1">
          <a:blip r:embed="rId3">
            <a:alphaModFix/>
          </a:blip>
          <a:srcRect/>
          <a:stretch/>
        </p:blipFill>
        <p:spPr>
          <a:xfrm>
            <a:off x="885265" y="0"/>
            <a:ext cx="5715000" cy="3952875"/>
          </a:xfrm>
          <a:prstGeom prst="rect">
            <a:avLst/>
          </a:prstGeom>
          <a:noFill/>
          <a:ln>
            <a:noFill/>
          </a:ln>
        </p:spPr>
      </p:pic>
      <p:pic>
        <p:nvPicPr>
          <p:cNvPr id="100" name="Google Shape;100;p2"/>
          <p:cNvPicPr preferRelativeResize="0"/>
          <p:nvPr/>
        </p:nvPicPr>
        <p:blipFill rotWithShape="1">
          <a:blip r:embed="rId4">
            <a:alphaModFix/>
          </a:blip>
          <a:srcRect/>
          <a:stretch/>
        </p:blipFill>
        <p:spPr>
          <a:xfrm>
            <a:off x="8743950" y="0"/>
            <a:ext cx="344805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06" name="Google Shape;106;p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07" name="Google Shape;107;p3"/>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08" name="Google Shape;108;p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a:t>
            </a:fld>
            <a:endParaRPr sz="6000">
              <a:solidFill>
                <a:schemeClr val="lt1"/>
              </a:solidFill>
              <a:latin typeface="Impact"/>
              <a:ea typeface="Impact"/>
              <a:cs typeface="Impact"/>
              <a:sym typeface="Impact"/>
            </a:endParaRPr>
          </a:p>
        </p:txBody>
      </p:sp>
      <p:sp>
        <p:nvSpPr>
          <p:cNvPr id="109" name="Google Shape;109;p3"/>
          <p:cNvSpPr txBox="1"/>
          <p:nvPr/>
        </p:nvSpPr>
        <p:spPr>
          <a:xfrm>
            <a:off x="971007" y="1602155"/>
            <a:ext cx="10236900" cy="5233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Um modelo é uma representação visual </a:t>
            </a:r>
            <a:r>
              <a:rPr lang="pt-BR" sz="2400">
                <a:solidFill>
                  <a:schemeClr val="dk1"/>
                </a:solidFill>
                <a:latin typeface="Calibri"/>
                <a:ea typeface="Calibri"/>
                <a:cs typeface="Calibri"/>
                <a:sym typeface="Calibri"/>
              </a:rPr>
              <a:t>e descritiva de uma informação, sendo uma abstração do sistema, e tem como objetivo representar a informação de maneira estruturada para transmiti-la de forma mais amigável.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Um modelo deve explicar as características de funcionamento e comportamento de um software, facilitando seu entendimento e seu projeto.</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Um conjunto de requisitos pode possuir várias perspectivas de entendimento e os modelos auxiliam na visualização destes requisitos por diferentes visões. </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A utilização de modelos na análise de requisitos permite confirmar o conhecimento desenvolvido, identificar lacunas de informação e eliminar informação redundante ou contraditória mais facilmente. </a:t>
            </a:r>
            <a:r>
              <a:rPr lang="pt-BR" sz="2200">
                <a:solidFill>
                  <a:schemeClr val="dk1"/>
                </a:solidFill>
                <a:latin typeface="Calibri"/>
                <a:ea typeface="Calibri"/>
                <a:cs typeface="Calibri"/>
                <a:sym typeface="Calibri"/>
              </a:rPr>
              <a:t/>
            </a:r>
            <a:br>
              <a:rPr lang="pt-BR" sz="22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15" name="Google Shape;115;p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16" name="Google Shape;116;p4"/>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17" name="Google Shape;117;p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4</a:t>
            </a:fld>
            <a:endParaRPr sz="6000">
              <a:solidFill>
                <a:schemeClr val="lt1"/>
              </a:solidFill>
              <a:latin typeface="Impact"/>
              <a:ea typeface="Impact"/>
              <a:cs typeface="Impact"/>
              <a:sym typeface="Impact"/>
            </a:endParaRPr>
          </a:p>
        </p:txBody>
      </p:sp>
      <p:sp>
        <p:nvSpPr>
          <p:cNvPr id="118" name="Google Shape;118;p4"/>
          <p:cNvSpPr txBox="1"/>
          <p:nvPr/>
        </p:nvSpPr>
        <p:spPr>
          <a:xfrm>
            <a:off x="971007" y="1602155"/>
            <a:ext cx="10236926" cy="41242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a:solidFill>
                  <a:schemeClr val="dk1"/>
                </a:solidFill>
                <a:latin typeface="Calibri"/>
                <a:ea typeface="Calibri"/>
                <a:cs typeface="Calibri"/>
                <a:sym typeface="Calibri"/>
              </a:rPr>
              <a:t>O modelo é uma reprodução dos requisitos em determinado momento do tempo e deve ser modificado à medida que se aprende mais sobre o sistema a ser construído e sobre as necessidades das partes interessadas.  </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É preciso priorizar a utilização dos modelos e diagramas para representar partes mais complexas do sistema, pois modelar situações simples pode não agregar valor ao projeto.</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Diagramas muito extensos e complexos podem dificultar a compreensão do sistema.</a:t>
            </a:r>
            <a:r>
              <a:rPr lang="pt-BR" sz="2200">
                <a:solidFill>
                  <a:schemeClr val="dk1"/>
                </a:solidFill>
                <a:latin typeface="Calibri"/>
                <a:ea typeface="Calibri"/>
                <a:cs typeface="Calibri"/>
                <a:sym typeface="Calibri"/>
              </a:rPr>
              <a:t/>
            </a:r>
            <a:br>
              <a:rPr lang="pt-BR" sz="22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24" name="Google Shape;124;p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25" name="Google Shape;125;p5"/>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26" name="Google Shape;126;p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5</a:t>
            </a:fld>
            <a:endParaRPr sz="6000">
              <a:solidFill>
                <a:schemeClr val="lt1"/>
              </a:solidFill>
              <a:latin typeface="Impact"/>
              <a:ea typeface="Impact"/>
              <a:cs typeface="Impact"/>
              <a:sym typeface="Impact"/>
            </a:endParaRPr>
          </a:p>
        </p:txBody>
      </p:sp>
      <p:sp>
        <p:nvSpPr>
          <p:cNvPr id="127" name="Google Shape;127;p5"/>
          <p:cNvSpPr txBox="1"/>
          <p:nvPr/>
        </p:nvSpPr>
        <p:spPr>
          <a:xfrm>
            <a:off x="971007" y="1602155"/>
            <a:ext cx="10236900" cy="4525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rgbClr val="002060"/>
                </a:solidFill>
                <a:latin typeface="Calibri"/>
                <a:ea typeface="Calibri"/>
                <a:cs typeface="Calibri"/>
                <a:sym typeface="Calibri"/>
              </a:rPr>
              <a:t>Modelagem conceitual</a:t>
            </a:r>
            <a:endParaRPr/>
          </a:p>
          <a:p>
            <a:pPr marL="0" marR="0" lvl="0" indent="0" algn="l" rtl="0">
              <a:spcBef>
                <a:spcPts val="0"/>
              </a:spcBef>
              <a:spcAft>
                <a:spcPts val="0"/>
              </a:spcAft>
              <a:buNone/>
            </a:pPr>
            <a:endParaRPr sz="2400" b="1">
              <a:solidFill>
                <a:srgbClr val="002060"/>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Um modelo conceitual de dados é um modelo de dados de alto nível. </a:t>
            </a:r>
            <a:r>
              <a:rPr lang="pt-BR" sz="2400" b="1">
                <a:solidFill>
                  <a:schemeClr val="dk1"/>
                </a:solidFill>
                <a:latin typeface="Calibri"/>
                <a:ea typeface="Calibri"/>
                <a:cs typeface="Calibri"/>
                <a:sym typeface="Calibri"/>
              </a:rPr>
              <a:t>Tem como principal objetivo capturar os requisitos e regras de negócio sob o ponto de vista do negócio. </a:t>
            </a:r>
            <a:r>
              <a:rPr lang="pt-BR" sz="2400">
                <a:solidFill>
                  <a:schemeClr val="dk1"/>
                </a:solidFill>
                <a:latin typeface="Calibri"/>
                <a:ea typeface="Calibri"/>
                <a:cs typeface="Calibri"/>
                <a:sym typeface="Calibri"/>
              </a:rPr>
              <a:t>É um modelo que não leva em consideração fatores tecnológicos e fatores de projeto em sua construção.</a:t>
            </a:r>
            <a:endParaRPr/>
          </a:p>
          <a:p>
            <a:pPr marL="0" marR="0" lvl="0" indent="0" algn="l" rtl="0">
              <a:spcBef>
                <a:spcPts val="0"/>
              </a:spcBef>
              <a:spcAft>
                <a:spcPts val="0"/>
              </a:spcAft>
              <a:buNone/>
            </a:pPr>
            <a:endParaRPr sz="2400" b="1">
              <a:solidFill>
                <a:srgbClr val="002060"/>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A modelagem conceitual trata da abstração de dados e da representação em um padrão que seja compreensível por todos os stakeholders.</a:t>
            </a:r>
            <a:endParaRPr/>
          </a:p>
          <a:p>
            <a:pPr marL="0" marR="0" lvl="0" indent="0" algn="l" rtl="0">
              <a:spcBef>
                <a:spcPts val="0"/>
              </a:spcBef>
              <a:spcAft>
                <a:spcPts val="0"/>
              </a:spcAft>
              <a:buNone/>
            </a:pPr>
            <a:endParaRPr sz="2400" b="1">
              <a:solidFill>
                <a:srgbClr val="002060"/>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O objetivo é permitir o entendimento dos principais elementos do domínio envolvidos no sistema a ser desenvolvido.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33" name="Google Shape;133;p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34" name="Google Shape;134;p6"/>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35" name="Google Shape;135;p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6</a:t>
            </a:fld>
            <a:endParaRPr sz="6000">
              <a:solidFill>
                <a:schemeClr val="lt1"/>
              </a:solidFill>
              <a:latin typeface="Impact"/>
              <a:ea typeface="Impact"/>
              <a:cs typeface="Impact"/>
              <a:sym typeface="Impact"/>
            </a:endParaRPr>
          </a:p>
        </p:txBody>
      </p:sp>
      <p:sp>
        <p:nvSpPr>
          <p:cNvPr id="136" name="Google Shape;136;p6"/>
          <p:cNvSpPr txBox="1"/>
          <p:nvPr/>
        </p:nvSpPr>
        <p:spPr>
          <a:xfrm>
            <a:off x="971007" y="1602155"/>
            <a:ext cx="10236926" cy="41549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a:solidFill>
                  <a:schemeClr val="dk1"/>
                </a:solidFill>
                <a:latin typeface="Calibri"/>
                <a:ea typeface="Calibri"/>
                <a:cs typeface="Calibri"/>
                <a:sym typeface="Calibri"/>
              </a:rPr>
              <a:t>Um modelo conceitual é a descrição do sistema proposto</a:t>
            </a:r>
            <a:r>
              <a:rPr lang="pt-BR" sz="2400" b="1">
                <a:solidFill>
                  <a:schemeClr val="dk1"/>
                </a:solidFill>
                <a:latin typeface="Calibri"/>
                <a:ea typeface="Calibri"/>
                <a:cs typeface="Calibri"/>
                <a:sym typeface="Calibri"/>
              </a:rPr>
              <a:t> </a:t>
            </a:r>
            <a:r>
              <a:rPr lang="pt-BR" sz="2400">
                <a:solidFill>
                  <a:schemeClr val="dk1"/>
                </a:solidFill>
                <a:latin typeface="Calibri"/>
                <a:ea typeface="Calibri"/>
                <a:cs typeface="Calibri"/>
                <a:sym typeface="Calibri"/>
              </a:rPr>
              <a:t>na forma de um conjunto de idéias e conceitos integrados a respeito de:</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 O que o sistema deve fazer?</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 Como ele deve se comportar?</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 Como ele deve se parecer?</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Elementos:</a:t>
            </a:r>
            <a:endParaRPr/>
          </a:p>
          <a:p>
            <a:pPr marL="0" marR="0" lvl="0" indent="-152400" algn="l" rtl="0">
              <a:spcBef>
                <a:spcPts val="0"/>
              </a:spcBef>
              <a:spcAft>
                <a:spcPts val="0"/>
              </a:spcAft>
              <a:buClr>
                <a:schemeClr val="dk1"/>
              </a:buClr>
              <a:buSzPts val="2400"/>
              <a:buFont typeface="Arial"/>
              <a:buChar char="•"/>
            </a:pPr>
            <a:r>
              <a:rPr lang="pt-BR" sz="2400">
                <a:solidFill>
                  <a:schemeClr val="dk1"/>
                </a:solidFill>
                <a:latin typeface="Calibri"/>
                <a:ea typeface="Calibri"/>
                <a:cs typeface="Calibri"/>
                <a:sym typeface="Calibri"/>
              </a:rPr>
              <a:t> Conceitos</a:t>
            </a:r>
            <a:endParaRPr/>
          </a:p>
          <a:p>
            <a:pPr marL="0" marR="0" lvl="0" indent="-152400" algn="l" rtl="0">
              <a:spcBef>
                <a:spcPts val="0"/>
              </a:spcBef>
              <a:spcAft>
                <a:spcPts val="0"/>
              </a:spcAft>
              <a:buClr>
                <a:schemeClr val="dk1"/>
              </a:buClr>
              <a:buSzPts val="2400"/>
              <a:buFont typeface="Arial"/>
              <a:buChar char="•"/>
            </a:pPr>
            <a:r>
              <a:rPr lang="pt-BR" sz="2400">
                <a:solidFill>
                  <a:schemeClr val="dk1"/>
                </a:solidFill>
                <a:latin typeface="Calibri"/>
                <a:ea typeface="Calibri"/>
                <a:cs typeface="Calibri"/>
                <a:sym typeface="Calibri"/>
              </a:rPr>
              <a:t> Atributos</a:t>
            </a:r>
            <a:endParaRPr/>
          </a:p>
          <a:p>
            <a:pPr marL="0" marR="0" lvl="0" indent="-152400" algn="l" rtl="0">
              <a:spcBef>
                <a:spcPts val="0"/>
              </a:spcBef>
              <a:spcAft>
                <a:spcPts val="0"/>
              </a:spcAft>
              <a:buClr>
                <a:schemeClr val="dk1"/>
              </a:buClr>
              <a:buSzPts val="2400"/>
              <a:buFont typeface="Arial"/>
              <a:buChar char="•"/>
            </a:pPr>
            <a:r>
              <a:rPr lang="pt-BR" sz="2400">
                <a:solidFill>
                  <a:schemeClr val="dk1"/>
                </a:solidFill>
                <a:latin typeface="Calibri"/>
                <a:ea typeface="Calibri"/>
                <a:cs typeface="Calibri"/>
                <a:sym typeface="Calibri"/>
              </a:rPr>
              <a:t> Associações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42" name="Google Shape;142;p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43" name="Google Shape;143;p7"/>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44" name="Google Shape;144;p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7</a:t>
            </a:fld>
            <a:endParaRPr sz="6000">
              <a:solidFill>
                <a:schemeClr val="lt1"/>
              </a:solidFill>
              <a:latin typeface="Impact"/>
              <a:ea typeface="Impact"/>
              <a:cs typeface="Impact"/>
              <a:sym typeface="Impact"/>
            </a:endParaRPr>
          </a:p>
        </p:txBody>
      </p:sp>
      <p:sp>
        <p:nvSpPr>
          <p:cNvPr id="145" name="Google Shape;145;p7"/>
          <p:cNvSpPr txBox="1"/>
          <p:nvPr/>
        </p:nvSpPr>
        <p:spPr>
          <a:xfrm>
            <a:off x="971007" y="1432336"/>
            <a:ext cx="10236926"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Identificando conceitos:</a:t>
            </a:r>
            <a:endParaRPr/>
          </a:p>
          <a:p>
            <a:pPr marL="0" marR="0" lvl="0" indent="-152400" algn="l" rtl="0">
              <a:spcBef>
                <a:spcPts val="0"/>
              </a:spcBef>
              <a:spcAft>
                <a:spcPts val="0"/>
              </a:spcAft>
              <a:buClr>
                <a:schemeClr val="dk1"/>
              </a:buClr>
              <a:buSzPts val="2400"/>
              <a:buFont typeface="Calibri"/>
              <a:buChar char="-"/>
            </a:pPr>
            <a:r>
              <a:rPr lang="pt-BR" sz="2400">
                <a:solidFill>
                  <a:schemeClr val="dk1"/>
                </a:solidFill>
                <a:latin typeface="Calibri"/>
                <a:ea typeface="Calibri"/>
                <a:cs typeface="Calibri"/>
                <a:sym typeface="Calibri"/>
              </a:rPr>
              <a:t> Selecione termos e verbos que representam uma informação transmitida do e para o sistema.</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Identificando atributos:</a:t>
            </a:r>
            <a:endParaRPr/>
          </a:p>
          <a:p>
            <a:pPr marL="0" marR="0" lvl="0" indent="-152400" algn="l" rtl="0">
              <a:spcBef>
                <a:spcPts val="0"/>
              </a:spcBef>
              <a:spcAft>
                <a:spcPts val="0"/>
              </a:spcAft>
              <a:buClr>
                <a:schemeClr val="dk1"/>
              </a:buClr>
              <a:buSzPts val="2400"/>
              <a:buFont typeface="Calibri"/>
              <a:buChar char="-"/>
            </a:pPr>
            <a:r>
              <a:rPr lang="pt-BR" sz="2400">
                <a:solidFill>
                  <a:schemeClr val="dk1"/>
                </a:solidFill>
                <a:latin typeface="Calibri"/>
                <a:ea typeface="Calibri"/>
                <a:cs typeface="Calibri"/>
                <a:sym typeface="Calibri"/>
              </a:rPr>
              <a:t> Para os conceitos listados, identifique informações relacionadas aos conceitos.</a:t>
            </a:r>
            <a:endParaRPr/>
          </a:p>
          <a:p>
            <a:pPr marL="0" marR="0" lvl="0" indent="0" algn="l" rtl="0">
              <a:spcBef>
                <a:spcPts val="0"/>
              </a:spcBef>
              <a:spcAft>
                <a:spcPts val="0"/>
              </a:spcAft>
              <a:buClr>
                <a:schemeClr val="dk1"/>
              </a:buClr>
              <a:buSzPts val="2400"/>
              <a:buFont typeface="Calibri"/>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Identificando associações:</a:t>
            </a:r>
            <a:endParaRPr/>
          </a:p>
          <a:p>
            <a:pPr marL="457200" marR="0" lvl="0" indent="-457200" algn="l" rtl="0">
              <a:spcBef>
                <a:spcPts val="0"/>
              </a:spcBef>
              <a:spcAft>
                <a:spcPts val="0"/>
              </a:spcAft>
              <a:buClr>
                <a:schemeClr val="dk1"/>
              </a:buClr>
              <a:buSzPts val="2400"/>
              <a:buFont typeface="Calibri"/>
              <a:buAutoNum type="arabicPeriod"/>
            </a:pPr>
            <a:r>
              <a:rPr lang="pt-BR" sz="2400">
                <a:solidFill>
                  <a:schemeClr val="dk1"/>
                </a:solidFill>
                <a:latin typeface="Calibri"/>
                <a:ea typeface="Calibri"/>
                <a:cs typeface="Calibri"/>
                <a:sym typeface="Calibri"/>
              </a:rPr>
              <a:t>Um conceito que, fisicamente ou logicamente, faz parte de outro. Exemplo: Um produto que logicamente pode ser relacionado à uma venda.</a:t>
            </a:r>
            <a:endParaRPr/>
          </a:p>
          <a:p>
            <a:pPr marL="457200" marR="0" lvl="0" indent="-457200" algn="l" rtl="0">
              <a:spcBef>
                <a:spcPts val="0"/>
              </a:spcBef>
              <a:spcAft>
                <a:spcPts val="0"/>
              </a:spcAft>
              <a:buClr>
                <a:schemeClr val="dk1"/>
              </a:buClr>
              <a:buSzPts val="2400"/>
              <a:buFont typeface="Calibri"/>
              <a:buAutoNum type="arabicPeriod"/>
            </a:pPr>
            <a:r>
              <a:rPr lang="pt-BR" sz="2400">
                <a:solidFill>
                  <a:schemeClr val="dk1"/>
                </a:solidFill>
                <a:latin typeface="Calibri"/>
                <a:ea typeface="Calibri"/>
                <a:cs typeface="Calibri"/>
                <a:sym typeface="Calibri"/>
              </a:rPr>
              <a:t>Um conceito que serve para descrever ou qualificar outro conceito. Exemplo: Um produto pode possuir uma marca.</a:t>
            </a:r>
            <a:endParaRPr/>
          </a:p>
          <a:p>
            <a:pPr marL="457200" marR="0" lvl="0" indent="-457200" algn="l" rtl="0">
              <a:spcBef>
                <a:spcPts val="0"/>
              </a:spcBef>
              <a:spcAft>
                <a:spcPts val="0"/>
              </a:spcAft>
              <a:buClr>
                <a:schemeClr val="dk1"/>
              </a:buClr>
              <a:buSzPts val="2400"/>
              <a:buFont typeface="Calibri"/>
              <a:buAutoNum type="arabicPeriod"/>
            </a:pPr>
            <a:r>
              <a:rPr lang="pt-BR" sz="2400">
                <a:solidFill>
                  <a:schemeClr val="dk1"/>
                </a:solidFill>
                <a:latin typeface="Calibri"/>
                <a:ea typeface="Calibri"/>
                <a:cs typeface="Calibri"/>
                <a:sym typeface="Calibri"/>
              </a:rPr>
              <a:t>Um conceito que registra informações sobre outro conceito. Exemplo: O atendente faz a venda de um produto.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51" name="Google Shape;151;p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52" name="Google Shape;152;p8"/>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53" name="Google Shape;153;p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8</a:t>
            </a:fld>
            <a:endParaRPr sz="6000">
              <a:solidFill>
                <a:schemeClr val="lt1"/>
              </a:solidFill>
              <a:latin typeface="Impact"/>
              <a:ea typeface="Impact"/>
              <a:cs typeface="Impact"/>
              <a:sym typeface="Impact"/>
            </a:endParaRPr>
          </a:p>
        </p:txBody>
      </p:sp>
      <p:sp>
        <p:nvSpPr>
          <p:cNvPr id="154" name="Google Shape;154;p8"/>
          <p:cNvSpPr txBox="1"/>
          <p:nvPr/>
        </p:nvSpPr>
        <p:spPr>
          <a:xfrm>
            <a:off x="971007" y="1628281"/>
            <a:ext cx="10236926"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rgbClr val="2F5496"/>
                </a:solidFill>
                <a:latin typeface="Calibri"/>
                <a:ea typeface="Calibri"/>
                <a:cs typeface="Calibri"/>
                <a:sym typeface="Calibri"/>
              </a:rPr>
              <a:t>Seleção dos modelos</a:t>
            </a:r>
            <a:endParaRPr/>
          </a:p>
          <a:p>
            <a:pPr marL="0" marR="0" lvl="0" indent="0" algn="l" rtl="0">
              <a:spcBef>
                <a:spcPts val="0"/>
              </a:spcBef>
              <a:spcAft>
                <a:spcPts val="0"/>
              </a:spcAft>
              <a:buNone/>
            </a:pPr>
            <a:endParaRPr sz="2400" b="1">
              <a:solidFill>
                <a:srgbClr val="2F5496"/>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Existem muitos modelos que podem ser usados para representar requisitos, e é preciso  identificar quais deles serão utilizados no projeto.</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A escolha do modelo deve levar em consideração os benefícios que trará para o aperfeiçoamento das operações do negócio, como os listados a seguir: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152400" algn="l" rtl="0">
              <a:spcBef>
                <a:spcPts val="0"/>
              </a:spcBef>
              <a:spcAft>
                <a:spcPts val="0"/>
              </a:spcAft>
              <a:buClr>
                <a:schemeClr val="dk1"/>
              </a:buClr>
              <a:buSzPts val="2400"/>
              <a:buFont typeface="Noto Sans Symbols"/>
              <a:buChar char="▪"/>
            </a:pPr>
            <a:r>
              <a:rPr lang="pt-BR" sz="2400" b="1">
                <a:solidFill>
                  <a:schemeClr val="dk1"/>
                </a:solidFill>
                <a:latin typeface="Calibri"/>
                <a:ea typeface="Calibri"/>
                <a:cs typeface="Calibri"/>
                <a:sym typeface="Calibri"/>
              </a:rPr>
              <a:t> Melhoria do acesso à informação: </a:t>
            </a:r>
            <a:r>
              <a:rPr lang="pt-BR" sz="2400">
                <a:solidFill>
                  <a:schemeClr val="dk1"/>
                </a:solidFill>
                <a:latin typeface="Calibri"/>
                <a:ea typeface="Calibri"/>
                <a:cs typeface="Calibri"/>
                <a:sym typeface="Calibri"/>
              </a:rPr>
              <a:t>fornecer maiores informações para a equipe, reduzindo a necessidade de especialistas.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0" name="Google Shape;160;p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61" name="Google Shape;161;p9"/>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62" name="Google Shape;162;p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9</a:t>
            </a:fld>
            <a:endParaRPr sz="6000">
              <a:solidFill>
                <a:schemeClr val="lt1"/>
              </a:solidFill>
              <a:latin typeface="Impact"/>
              <a:ea typeface="Impact"/>
              <a:cs typeface="Impact"/>
              <a:sym typeface="Impact"/>
            </a:endParaRPr>
          </a:p>
        </p:txBody>
      </p:sp>
      <p:sp>
        <p:nvSpPr>
          <p:cNvPr id="163" name="Google Shape;163;p9"/>
          <p:cNvSpPr txBox="1"/>
          <p:nvPr/>
        </p:nvSpPr>
        <p:spPr>
          <a:xfrm>
            <a:off x="971007" y="1628281"/>
            <a:ext cx="10236926" cy="4524315"/>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chemeClr val="dk1"/>
              </a:buClr>
              <a:buSzPts val="2400"/>
              <a:buFont typeface="Noto Sans Symbols"/>
              <a:buChar char="▪"/>
            </a:pPr>
            <a:r>
              <a:rPr lang="pt-BR" sz="2400" b="1">
                <a:solidFill>
                  <a:schemeClr val="dk1"/>
                </a:solidFill>
                <a:latin typeface="Calibri"/>
                <a:ea typeface="Calibri"/>
                <a:cs typeface="Calibri"/>
                <a:sym typeface="Calibri"/>
              </a:rPr>
              <a:t> Redução da complexidade de funcionalidades: </a:t>
            </a:r>
            <a:r>
              <a:rPr lang="pt-BR" sz="2400">
                <a:solidFill>
                  <a:schemeClr val="dk1"/>
                </a:solidFill>
                <a:latin typeface="Calibri"/>
                <a:ea typeface="Calibri"/>
                <a:cs typeface="Calibri"/>
                <a:sym typeface="Calibri"/>
              </a:rPr>
              <a:t>permite uma melhor compreensão das funcionalidades do sistema por todos os interessados e como elas se relacionam. </a:t>
            </a:r>
            <a:endParaRPr/>
          </a:p>
          <a:p>
            <a:pPr marL="0" marR="0" lvl="0" indent="0" algn="l" rtl="0">
              <a:spcBef>
                <a:spcPts val="0"/>
              </a:spcBef>
              <a:spcAft>
                <a:spcPts val="0"/>
              </a:spcAft>
              <a:buClr>
                <a:schemeClr val="dk1"/>
              </a:buClr>
              <a:buSzPts val="2400"/>
              <a:buFont typeface="Noto Sans Symbols"/>
              <a:buNone/>
            </a:pPr>
            <a:endParaRPr sz="2400">
              <a:solidFill>
                <a:schemeClr val="dk1"/>
              </a:solidFill>
              <a:latin typeface="Calibri"/>
              <a:ea typeface="Calibri"/>
              <a:cs typeface="Calibri"/>
              <a:sym typeface="Calibri"/>
            </a:endParaRPr>
          </a:p>
          <a:p>
            <a:pPr marL="0" marR="0" lvl="0" indent="-152400" algn="l" rtl="0">
              <a:spcBef>
                <a:spcPts val="0"/>
              </a:spcBef>
              <a:spcAft>
                <a:spcPts val="0"/>
              </a:spcAft>
              <a:buClr>
                <a:schemeClr val="dk1"/>
              </a:buClr>
              <a:buSzPts val="2400"/>
              <a:buFont typeface="Noto Sans Symbols"/>
              <a:buChar char="▪"/>
            </a:pPr>
            <a:r>
              <a:rPr lang="pt-BR" sz="2400" b="1">
                <a:solidFill>
                  <a:schemeClr val="dk1"/>
                </a:solidFill>
                <a:latin typeface="Calibri"/>
                <a:ea typeface="Calibri"/>
                <a:cs typeface="Calibri"/>
                <a:sym typeface="Calibri"/>
              </a:rPr>
              <a:t> Aumento da consistência do comportamento observável: </a:t>
            </a:r>
            <a:r>
              <a:rPr lang="pt-BR" sz="2400">
                <a:solidFill>
                  <a:schemeClr val="dk1"/>
                </a:solidFill>
                <a:latin typeface="Calibri"/>
                <a:ea typeface="Calibri"/>
                <a:cs typeface="Calibri"/>
                <a:sym typeface="Calibri"/>
              </a:rPr>
              <a:t>diferentes partes interessadas podem entender o requisito de maneiras diversas, onde a utilização de modelos evidencia o comportamento esperado, facilitando o entendimento das partes interessadas. </a:t>
            </a:r>
            <a:br>
              <a:rPr lang="pt-BR" sz="24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 </a:t>
            </a:r>
            <a:endParaRPr/>
          </a:p>
          <a:p>
            <a:pPr marL="0" marR="0" lvl="0" indent="-152400" algn="l" rtl="0">
              <a:spcBef>
                <a:spcPts val="0"/>
              </a:spcBef>
              <a:spcAft>
                <a:spcPts val="0"/>
              </a:spcAft>
              <a:buClr>
                <a:schemeClr val="dk1"/>
              </a:buClr>
              <a:buSzPts val="2400"/>
              <a:buFont typeface="Noto Sans Symbols"/>
              <a:buChar char="▪"/>
            </a:pPr>
            <a:r>
              <a:rPr lang="pt-BR" sz="2400" b="1">
                <a:solidFill>
                  <a:schemeClr val="dk1"/>
                </a:solidFill>
                <a:latin typeface="Calibri"/>
                <a:ea typeface="Calibri"/>
                <a:cs typeface="Calibri"/>
                <a:sym typeface="Calibri"/>
              </a:rPr>
              <a:t> Eliminação da redundância de informação: </a:t>
            </a:r>
            <a:r>
              <a:rPr lang="pt-BR" sz="2400">
                <a:solidFill>
                  <a:schemeClr val="dk1"/>
                </a:solidFill>
                <a:latin typeface="Calibri"/>
                <a:ea typeface="Calibri"/>
                <a:cs typeface="Calibri"/>
                <a:sym typeface="Calibri"/>
              </a:rPr>
              <a:t>diferentes partes interessadas podem compartilhar necessidades semelhantes que podem ser atendidas com uma única solução, reduzindo assim o custo de implementação. </a:t>
            </a:r>
            <a:endParaRPr sz="2400" b="1">
              <a:solidFill>
                <a:srgbClr val="2F549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1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69" name="Google Shape;169;p1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70" name="Google Shape;170;p10"/>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71" name="Google Shape;171;p1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10</a:t>
            </a:fld>
            <a:endParaRPr sz="6000">
              <a:solidFill>
                <a:schemeClr val="lt1"/>
              </a:solidFill>
              <a:latin typeface="Impact"/>
              <a:ea typeface="Impact"/>
              <a:cs typeface="Impact"/>
              <a:sym typeface="Impact"/>
            </a:endParaRPr>
          </a:p>
        </p:txBody>
      </p:sp>
      <p:sp>
        <p:nvSpPr>
          <p:cNvPr id="172" name="Google Shape;172;p10"/>
          <p:cNvSpPr txBox="1"/>
          <p:nvPr/>
        </p:nvSpPr>
        <p:spPr>
          <a:xfrm>
            <a:off x="971007" y="1628281"/>
            <a:ext cx="10236926"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a:solidFill>
                  <a:schemeClr val="dk1"/>
                </a:solidFill>
                <a:latin typeface="Calibri"/>
                <a:ea typeface="Calibri"/>
                <a:cs typeface="Calibri"/>
                <a:sym typeface="Calibri"/>
              </a:rPr>
              <a:t>Ao representar requisitos com base em modelos, tem-se as perspectivas:</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Perspectiva estrutural:</a:t>
            </a:r>
            <a:r>
              <a:rPr lang="pt-BR" sz="2400">
                <a:solidFill>
                  <a:schemeClr val="dk1"/>
                </a:solidFill>
                <a:latin typeface="Calibri"/>
                <a:ea typeface="Calibri"/>
                <a:cs typeface="Calibri"/>
                <a:sym typeface="Calibri"/>
              </a:rPr>
              <a:t> onde se modela a organização de um sistema e seus relacionamentos ou a estrutura dos dados processados pelo sistema.</a:t>
            </a:r>
            <a:br>
              <a:rPr lang="pt-BR" sz="24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r>
              <a:rPr lang="pt-BR" sz="2400" b="1">
                <a:solidFill>
                  <a:schemeClr val="dk1"/>
                </a:solidFill>
                <a:latin typeface="Calibri"/>
                <a:ea typeface="Calibri"/>
                <a:cs typeface="Calibri"/>
                <a:sym typeface="Calibri"/>
              </a:rPr>
              <a:t>Perspectiva comportamental:</a:t>
            </a:r>
            <a:r>
              <a:rPr lang="pt-BR" sz="2400">
                <a:solidFill>
                  <a:schemeClr val="dk1"/>
                </a:solidFill>
                <a:latin typeface="Calibri"/>
                <a:ea typeface="Calibri"/>
                <a:cs typeface="Calibri"/>
                <a:sym typeface="Calibri"/>
              </a:rPr>
              <a:t> onde se modela o comportamento dinâmico do sistema e como ele reage aos eventos. Estes modelos mostram o que acontece ou deve acontecer quando o sistema responde a um estímulo, que pode ser  um dado a ser processado ou eventos que ocorrem e que disparam o processamento do sistema.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1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78" name="Google Shape;178;p1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79" name="Google Shape;179;p11"/>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80" name="Google Shape;180;p1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11</a:t>
            </a:fld>
            <a:endParaRPr sz="6000">
              <a:solidFill>
                <a:schemeClr val="lt1"/>
              </a:solidFill>
              <a:latin typeface="Impact"/>
              <a:ea typeface="Impact"/>
              <a:cs typeface="Impact"/>
              <a:sym typeface="Impact"/>
            </a:endParaRPr>
          </a:p>
        </p:txBody>
      </p:sp>
      <p:sp>
        <p:nvSpPr>
          <p:cNvPr id="181" name="Google Shape;181;p11"/>
          <p:cNvSpPr txBox="1"/>
          <p:nvPr/>
        </p:nvSpPr>
        <p:spPr>
          <a:xfrm>
            <a:off x="971007" y="1628281"/>
            <a:ext cx="10236926"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Perspectiva de interação:</a:t>
            </a:r>
            <a:r>
              <a:rPr lang="pt-BR" sz="2400">
                <a:solidFill>
                  <a:schemeClr val="dk1"/>
                </a:solidFill>
                <a:latin typeface="Calibri"/>
                <a:ea typeface="Calibri"/>
                <a:cs typeface="Calibri"/>
                <a:sym typeface="Calibri"/>
              </a:rPr>
              <a:t> todos os sistemas possuem algum tipo de interação, seja do usuário, que envolve entradas e saídas, interação entre o sistema e outros sistemas ou interação entre os componentes do sistema. Estes modelos representam essas interações.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 </a:t>
            </a:r>
            <a:br>
              <a:rPr lang="pt-BR" sz="2400">
                <a:solidFill>
                  <a:schemeClr val="dk1"/>
                </a:solidFill>
                <a:latin typeface="Calibri"/>
                <a:ea typeface="Calibri"/>
                <a:cs typeface="Calibri"/>
                <a:sym typeface="Calibri"/>
              </a:rPr>
            </a:br>
            <a:endParaRPr sz="2400" b="1">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1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87" name="Google Shape;187;p1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88" name="Google Shape;188;p12"/>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89" name="Google Shape;189;p1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12</a:t>
            </a:fld>
            <a:endParaRPr sz="6000">
              <a:solidFill>
                <a:schemeClr val="lt1"/>
              </a:solidFill>
              <a:latin typeface="Impact"/>
              <a:ea typeface="Impact"/>
              <a:cs typeface="Impact"/>
              <a:sym typeface="Impact"/>
            </a:endParaRPr>
          </a:p>
        </p:txBody>
      </p:sp>
      <p:sp>
        <p:nvSpPr>
          <p:cNvPr id="190" name="Google Shape;190;p12"/>
          <p:cNvSpPr txBox="1"/>
          <p:nvPr/>
        </p:nvSpPr>
        <p:spPr>
          <a:xfrm>
            <a:off x="866503" y="1445399"/>
            <a:ext cx="10367554" cy="52629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rgbClr val="002060"/>
                </a:solidFill>
                <a:latin typeface="Calibri"/>
                <a:ea typeface="Calibri"/>
                <a:cs typeface="Calibri"/>
                <a:sym typeface="Calibri"/>
              </a:rPr>
              <a:t>Modelo Entidade-Relacionamento (ER)</a:t>
            </a:r>
            <a:endParaRPr/>
          </a:p>
          <a:p>
            <a:pPr marL="0" marR="0" lvl="0" indent="0" algn="l" rtl="0">
              <a:spcBef>
                <a:spcPts val="0"/>
              </a:spcBef>
              <a:spcAft>
                <a:spcPts val="0"/>
              </a:spcAft>
              <a:buNone/>
            </a:pPr>
            <a:endParaRPr sz="2400" b="1">
              <a:solidFill>
                <a:srgbClr val="002060"/>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O</a:t>
            </a:r>
            <a:r>
              <a:rPr lang="pt-BR" sz="2400" b="1">
                <a:solidFill>
                  <a:schemeClr val="dk1"/>
                </a:solidFill>
                <a:latin typeface="Calibri"/>
                <a:ea typeface="Calibri"/>
                <a:cs typeface="Calibri"/>
                <a:sym typeface="Calibri"/>
              </a:rPr>
              <a:t> </a:t>
            </a:r>
            <a:r>
              <a:rPr lang="pt-BR" sz="2400">
                <a:solidFill>
                  <a:schemeClr val="dk1"/>
                </a:solidFill>
                <a:latin typeface="Calibri"/>
                <a:ea typeface="Calibri"/>
                <a:cs typeface="Calibri"/>
                <a:sym typeface="Calibri"/>
              </a:rPr>
              <a:t>modelo ER que tem como objetivo representar, de forma abstrata, os objetos (entidades/conceitos) de um domínio de negócio, descrevendo as suas características (atributos) e relacionamentos (associações). Ajudam a identificar diferentes elementos do sistema e suas relações uns com os outros.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Componentes:</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Entidades: </a:t>
            </a:r>
            <a:r>
              <a:rPr lang="pt-BR" sz="2400">
                <a:solidFill>
                  <a:schemeClr val="dk1"/>
                </a:solidFill>
                <a:latin typeface="Calibri"/>
                <a:ea typeface="Calibri"/>
                <a:cs typeface="Calibri"/>
                <a:sym typeface="Calibri"/>
              </a:rPr>
              <a:t>são os objetos da realidade a ser modelada sobre os quais deseja-se conhecer as informações e os relacionamentos entre elas.</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Atributos:</a:t>
            </a:r>
            <a:r>
              <a:rPr lang="pt-BR" sz="2400">
                <a:solidFill>
                  <a:schemeClr val="dk1"/>
                </a:solidFill>
                <a:latin typeface="Calibri"/>
                <a:ea typeface="Calibri"/>
                <a:cs typeface="Calibri"/>
                <a:sym typeface="Calibri"/>
              </a:rPr>
              <a:t> são as características</a:t>
            </a:r>
            <a:r>
              <a:rPr lang="pt-BR" sz="2400" b="1">
                <a:solidFill>
                  <a:schemeClr val="dk1"/>
                </a:solidFill>
                <a:latin typeface="Calibri"/>
                <a:ea typeface="Calibri"/>
                <a:cs typeface="Calibri"/>
                <a:sym typeface="Calibri"/>
              </a:rPr>
              <a:t> </a:t>
            </a:r>
            <a:r>
              <a:rPr lang="pt-BR" sz="2400">
                <a:solidFill>
                  <a:schemeClr val="dk1"/>
                </a:solidFill>
                <a:latin typeface="Calibri"/>
                <a:ea typeface="Calibri"/>
                <a:cs typeface="Calibri"/>
                <a:sym typeface="Calibri"/>
              </a:rPr>
              <a:t>de uma entidade.</a:t>
            </a: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Relacionamentos: </a:t>
            </a:r>
            <a:r>
              <a:rPr lang="pt-BR" sz="2400">
                <a:solidFill>
                  <a:schemeClr val="dk1"/>
                </a:solidFill>
                <a:latin typeface="Calibri"/>
                <a:ea typeface="Calibri"/>
                <a:cs typeface="Calibri"/>
                <a:sym typeface="Calibri"/>
              </a:rPr>
              <a:t>é a</a:t>
            </a:r>
            <a:r>
              <a:rPr lang="pt-BR" sz="2400" b="1">
                <a:solidFill>
                  <a:schemeClr val="dk1"/>
                </a:solidFill>
                <a:latin typeface="Calibri"/>
                <a:ea typeface="Calibri"/>
                <a:cs typeface="Calibri"/>
                <a:sym typeface="Calibri"/>
              </a:rPr>
              <a:t> </a:t>
            </a:r>
            <a:r>
              <a:rPr lang="pt-BR" sz="2400">
                <a:solidFill>
                  <a:schemeClr val="dk1"/>
                </a:solidFill>
                <a:latin typeface="Calibri"/>
                <a:ea typeface="Calibri"/>
                <a:cs typeface="Calibri"/>
                <a:sym typeface="Calibri"/>
              </a:rPr>
              <a:t>associação entre entidades, sendo que cada uma dessas entidades é responsável por desempenhar uma função dentro desse relacionamento.</a:t>
            </a:r>
            <a:endParaRPr sz="2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1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196" name="Google Shape;196;p1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197" name="Google Shape;197;p13"/>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198" name="Google Shape;198;p1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13</a:t>
            </a:fld>
            <a:endParaRPr sz="6000">
              <a:solidFill>
                <a:schemeClr val="lt1"/>
              </a:solidFill>
              <a:latin typeface="Impact"/>
              <a:ea typeface="Impact"/>
              <a:cs typeface="Impact"/>
              <a:sym typeface="Impact"/>
            </a:endParaRPr>
          </a:p>
        </p:txBody>
      </p:sp>
      <p:sp>
        <p:nvSpPr>
          <p:cNvPr id="199" name="Google Shape;199;p13"/>
          <p:cNvSpPr txBox="1"/>
          <p:nvPr/>
        </p:nvSpPr>
        <p:spPr>
          <a:xfrm>
            <a:off x="971007" y="1628281"/>
            <a:ext cx="10236926"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Diagrama ER</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O diagrama ER é a representação gráfica do modelo conceitual de entidade relacionamento. </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As entidades</a:t>
            </a:r>
            <a:r>
              <a:rPr lang="pt-BR" sz="2400" b="1">
                <a:solidFill>
                  <a:schemeClr val="dk1"/>
                </a:solidFill>
                <a:latin typeface="Calibri"/>
                <a:ea typeface="Calibri"/>
                <a:cs typeface="Calibri"/>
                <a:sym typeface="Calibri"/>
              </a:rPr>
              <a:t> </a:t>
            </a:r>
            <a:r>
              <a:rPr lang="pt-BR" sz="2400">
                <a:solidFill>
                  <a:schemeClr val="dk1"/>
                </a:solidFill>
                <a:latin typeface="Calibri"/>
                <a:ea typeface="Calibri"/>
                <a:cs typeface="Calibri"/>
                <a:sym typeface="Calibri"/>
              </a:rPr>
              <a:t>são representadas por retângulos</a:t>
            </a: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Os relacionamentos</a:t>
            </a:r>
            <a:r>
              <a:rPr lang="pt-BR" sz="2400" b="1">
                <a:solidFill>
                  <a:schemeClr val="dk1"/>
                </a:solidFill>
                <a:latin typeface="Calibri"/>
                <a:ea typeface="Calibri"/>
                <a:cs typeface="Calibri"/>
                <a:sym typeface="Calibri"/>
              </a:rPr>
              <a:t> </a:t>
            </a:r>
            <a:r>
              <a:rPr lang="pt-BR" sz="2400">
                <a:solidFill>
                  <a:schemeClr val="dk1"/>
                </a:solidFill>
                <a:latin typeface="Calibri"/>
                <a:ea typeface="Calibri"/>
                <a:cs typeface="Calibri"/>
                <a:sym typeface="Calibri"/>
              </a:rPr>
              <a:t>são representados por losangos</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Os atributos</a:t>
            </a:r>
            <a:r>
              <a:rPr lang="pt-BR" sz="2400" b="1">
                <a:solidFill>
                  <a:schemeClr val="dk1"/>
                </a:solidFill>
                <a:latin typeface="Calibri"/>
                <a:ea typeface="Calibri"/>
                <a:cs typeface="Calibri"/>
                <a:sym typeface="Calibri"/>
              </a:rPr>
              <a:t> </a:t>
            </a:r>
            <a:r>
              <a:rPr lang="pt-BR" sz="2400">
                <a:solidFill>
                  <a:schemeClr val="dk1"/>
                </a:solidFill>
                <a:latin typeface="Calibri"/>
                <a:ea typeface="Calibri"/>
                <a:cs typeface="Calibri"/>
                <a:sym typeface="Calibri"/>
              </a:rPr>
              <a:t>são representados por elipses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Para desenhar diagramas ER, deve-se: </a:t>
            </a:r>
            <a:endParaRPr/>
          </a:p>
          <a:p>
            <a:pPr marL="0" marR="0" lvl="0" indent="-152400" algn="l" rtl="0">
              <a:spcBef>
                <a:spcPts val="0"/>
              </a:spcBef>
              <a:spcAft>
                <a:spcPts val="0"/>
              </a:spcAft>
              <a:buClr>
                <a:schemeClr val="dk1"/>
              </a:buClr>
              <a:buSzPts val="2400"/>
              <a:buFont typeface="Calibri"/>
              <a:buChar char="-"/>
            </a:pPr>
            <a:r>
              <a:rPr lang="pt-BR" sz="2400">
                <a:solidFill>
                  <a:schemeClr val="dk1"/>
                </a:solidFill>
                <a:latin typeface="Calibri"/>
                <a:ea typeface="Calibri"/>
                <a:cs typeface="Calibri"/>
                <a:sym typeface="Calibri"/>
              </a:rPr>
              <a:t> Identificar as entidades do sistema</a:t>
            </a:r>
            <a:endParaRPr/>
          </a:p>
          <a:p>
            <a:pPr marL="0" marR="0" lvl="0" indent="-152400" algn="l" rtl="0">
              <a:spcBef>
                <a:spcPts val="0"/>
              </a:spcBef>
              <a:spcAft>
                <a:spcPts val="0"/>
              </a:spcAft>
              <a:buClr>
                <a:schemeClr val="dk1"/>
              </a:buClr>
              <a:buSzPts val="2400"/>
              <a:buFont typeface="Calibri"/>
              <a:buChar char="-"/>
            </a:pPr>
            <a:r>
              <a:rPr lang="pt-BR" sz="2400">
                <a:solidFill>
                  <a:schemeClr val="dk1"/>
                </a:solidFill>
                <a:latin typeface="Calibri"/>
                <a:ea typeface="Calibri"/>
                <a:cs typeface="Calibri"/>
                <a:sym typeface="Calibri"/>
              </a:rPr>
              <a:t> Adicionar atributos para entidades</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 Identificar as relações entre entidades</a:t>
            </a:r>
            <a:endParaRPr/>
          </a:p>
        </p:txBody>
      </p:sp>
      <p:pic>
        <p:nvPicPr>
          <p:cNvPr id="200" name="Google Shape;200;p13" descr="Entidade"/>
          <p:cNvPicPr preferRelativeResize="0"/>
          <p:nvPr/>
        </p:nvPicPr>
        <p:blipFill rotWithShape="1">
          <a:blip r:embed="rId5">
            <a:alphaModFix/>
          </a:blip>
          <a:srcRect/>
          <a:stretch/>
        </p:blipFill>
        <p:spPr>
          <a:xfrm>
            <a:off x="6943441" y="3429000"/>
            <a:ext cx="902516" cy="408095"/>
          </a:xfrm>
          <a:prstGeom prst="rect">
            <a:avLst/>
          </a:prstGeom>
          <a:noFill/>
          <a:ln>
            <a:noFill/>
          </a:ln>
        </p:spPr>
      </p:pic>
      <p:pic>
        <p:nvPicPr>
          <p:cNvPr id="201" name="Google Shape;201;p13" descr="Relacionamento"/>
          <p:cNvPicPr preferRelativeResize="0"/>
          <p:nvPr/>
        </p:nvPicPr>
        <p:blipFill rotWithShape="1">
          <a:blip r:embed="rId6">
            <a:alphaModFix/>
          </a:blip>
          <a:srcRect/>
          <a:stretch/>
        </p:blipFill>
        <p:spPr>
          <a:xfrm>
            <a:off x="7572166" y="3799957"/>
            <a:ext cx="784949" cy="550274"/>
          </a:xfrm>
          <a:prstGeom prst="rect">
            <a:avLst/>
          </a:prstGeom>
          <a:noFill/>
          <a:ln>
            <a:noFill/>
          </a:ln>
        </p:spPr>
      </p:pic>
      <p:pic>
        <p:nvPicPr>
          <p:cNvPr id="202" name="Google Shape;202;p13" descr="Atributo"/>
          <p:cNvPicPr preferRelativeResize="0"/>
          <p:nvPr/>
        </p:nvPicPr>
        <p:blipFill rotWithShape="1">
          <a:blip r:embed="rId7">
            <a:alphaModFix/>
          </a:blip>
          <a:srcRect/>
          <a:stretch/>
        </p:blipFill>
        <p:spPr>
          <a:xfrm>
            <a:off x="6381549" y="4235561"/>
            <a:ext cx="1190625" cy="4191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1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08" name="Google Shape;208;p1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09" name="Google Shape;209;p14"/>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10" name="Google Shape;210;p1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14</a:t>
            </a:fld>
            <a:endParaRPr sz="6000">
              <a:solidFill>
                <a:schemeClr val="lt1"/>
              </a:solidFill>
              <a:latin typeface="Impact"/>
              <a:ea typeface="Impact"/>
              <a:cs typeface="Impact"/>
              <a:sym typeface="Impact"/>
            </a:endParaRPr>
          </a:p>
        </p:txBody>
      </p:sp>
      <p:sp>
        <p:nvSpPr>
          <p:cNvPr id="211" name="Google Shape;211;p14"/>
          <p:cNvSpPr txBox="1"/>
          <p:nvPr/>
        </p:nvSpPr>
        <p:spPr>
          <a:xfrm>
            <a:off x="971007" y="1628281"/>
            <a:ext cx="10236926"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Cardinalidade</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A cardinalidade especifica o número mínimo e o máximo de instâncias que uma entidade pode participar.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Por exemplo, um paciente pode possuir 1 ou muitos agendamentos, assim como um médico pode possuir 1 ou muitos atendimentos.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Outro exemplo: Um produto pode possuir apenas um grupo de produto associado.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p1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17" name="Google Shape;217;p1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18" name="Google Shape;218;p15"/>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19" name="Google Shape;219;p1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15</a:t>
            </a:fld>
            <a:endParaRPr sz="6000">
              <a:solidFill>
                <a:schemeClr val="lt1"/>
              </a:solidFill>
              <a:latin typeface="Impact"/>
              <a:ea typeface="Impact"/>
              <a:cs typeface="Impact"/>
              <a:sym typeface="Impact"/>
            </a:endParaRPr>
          </a:p>
        </p:txBody>
      </p:sp>
      <p:sp>
        <p:nvSpPr>
          <p:cNvPr id="220" name="Google Shape;220;p15"/>
          <p:cNvSpPr txBox="1"/>
          <p:nvPr/>
        </p:nvSpPr>
        <p:spPr>
          <a:xfrm>
            <a:off x="971007" y="1628281"/>
            <a:ext cx="10236926" cy="47705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b="1">
                <a:solidFill>
                  <a:schemeClr val="dk1"/>
                </a:solidFill>
                <a:latin typeface="Calibri"/>
                <a:ea typeface="Calibri"/>
                <a:cs typeface="Calibri"/>
                <a:sym typeface="Calibri"/>
              </a:rPr>
              <a:t>Relacionamento 0..1 (zero para um)</a:t>
            </a:r>
            <a:r>
              <a:rPr lang="pt-BR" sz="2000">
                <a:solidFill>
                  <a:schemeClr val="dk1"/>
                </a:solidFill>
                <a:latin typeface="Calibri"/>
                <a:ea typeface="Calibri"/>
                <a:cs typeface="Calibri"/>
                <a:sym typeface="Calibri"/>
              </a:rPr>
              <a:t>: uma das entidades pode ou não ter relacionamento com a outra, porém se tiver, terá apenas 1 relacionamento.</a:t>
            </a:r>
            <a:endParaRPr/>
          </a:p>
          <a:p>
            <a:pPr marL="0" marR="0" lvl="0" indent="0" algn="l" rtl="0">
              <a:spcBef>
                <a:spcPts val="0"/>
              </a:spcBef>
              <a:spcAft>
                <a:spcPts val="0"/>
              </a:spcAft>
              <a:buNone/>
            </a:pPr>
            <a:endParaRPr sz="20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000" b="1">
                <a:solidFill>
                  <a:schemeClr val="dk1"/>
                </a:solidFill>
                <a:latin typeface="Calibri"/>
                <a:ea typeface="Calibri"/>
                <a:cs typeface="Calibri"/>
                <a:sym typeface="Calibri"/>
              </a:rPr>
              <a:t>Relacionamento 0..n (zero para muitos)</a:t>
            </a:r>
            <a:r>
              <a:rPr lang="pt-BR" sz="2000">
                <a:solidFill>
                  <a:schemeClr val="dk1"/>
                </a:solidFill>
                <a:latin typeface="Calibri"/>
                <a:ea typeface="Calibri"/>
                <a:cs typeface="Calibri"/>
                <a:sym typeface="Calibri"/>
              </a:rPr>
              <a:t>: uma das entidades pode ou não ter relacionamento com a outra, mas se tiver, poderá ter n relacionamentos.</a:t>
            </a:r>
            <a:endParaRPr sz="2000" b="1">
              <a:solidFill>
                <a:schemeClr val="dk1"/>
              </a:solidFill>
              <a:latin typeface="Calibri"/>
              <a:ea typeface="Calibri"/>
              <a:cs typeface="Calibri"/>
              <a:sym typeface="Calibri"/>
            </a:endParaRPr>
          </a:p>
          <a:p>
            <a:pPr marL="0" marR="0" lvl="0" indent="0" algn="l" rtl="0">
              <a:spcBef>
                <a:spcPts val="0"/>
              </a:spcBef>
              <a:spcAft>
                <a:spcPts val="0"/>
              </a:spcAft>
              <a:buNone/>
            </a:pPr>
            <a:endParaRPr sz="20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000" b="1">
                <a:solidFill>
                  <a:schemeClr val="dk1"/>
                </a:solidFill>
                <a:latin typeface="Calibri"/>
                <a:ea typeface="Calibri"/>
                <a:cs typeface="Calibri"/>
                <a:sym typeface="Calibri"/>
              </a:rPr>
              <a:t>Relacionamento 1..1 (um para um)</a:t>
            </a:r>
            <a:r>
              <a:rPr lang="pt-BR" sz="2000">
                <a:solidFill>
                  <a:schemeClr val="dk1"/>
                </a:solidFill>
                <a:latin typeface="Calibri"/>
                <a:ea typeface="Calibri"/>
                <a:cs typeface="Calibri"/>
                <a:sym typeface="Calibri"/>
              </a:rPr>
              <a:t>: cada uma das duas entidades envolvidas referenciam, obrigatoriamente, apenas uma unidade da outra. </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pt-BR" sz="2000" b="1">
                <a:solidFill>
                  <a:schemeClr val="dk1"/>
                </a:solidFill>
                <a:latin typeface="Calibri"/>
                <a:ea typeface="Calibri"/>
                <a:cs typeface="Calibri"/>
                <a:sym typeface="Calibri"/>
              </a:rPr>
              <a:t>Relacionamento 1..n ou 1..* (um para muitos)</a:t>
            </a:r>
            <a:r>
              <a:rPr lang="pt-BR" sz="2000">
                <a:solidFill>
                  <a:schemeClr val="dk1"/>
                </a:solidFill>
                <a:latin typeface="Calibri"/>
                <a:ea typeface="Calibri"/>
                <a:cs typeface="Calibri"/>
                <a:sym typeface="Calibri"/>
              </a:rPr>
              <a:t>: uma das entidades envolvidas pode referenciar várias unidades da outra, porém, do outro lado cada uma das várias unidades referenciadas só pode estar ligada uma unidade da outra entidade. </a:t>
            </a:r>
            <a:endParaRPr/>
          </a:p>
          <a:p>
            <a:pPr marL="0" marR="0" lvl="0" indent="0" algn="l" rtl="0">
              <a:spcBef>
                <a:spcPts val="0"/>
              </a:spcBef>
              <a:spcAft>
                <a:spcPts val="0"/>
              </a:spcAft>
              <a:buNone/>
            </a:pPr>
            <a:endParaRPr sz="2000">
              <a:solidFill>
                <a:schemeClr val="dk1"/>
              </a:solidFill>
              <a:latin typeface="Calibri"/>
              <a:ea typeface="Calibri"/>
              <a:cs typeface="Calibri"/>
              <a:sym typeface="Calibri"/>
            </a:endParaRPr>
          </a:p>
          <a:p>
            <a:pPr marL="0" marR="0" lvl="0" indent="0" algn="l" rtl="0">
              <a:spcBef>
                <a:spcPts val="0"/>
              </a:spcBef>
              <a:spcAft>
                <a:spcPts val="0"/>
              </a:spcAft>
              <a:buNone/>
            </a:pPr>
            <a:r>
              <a:rPr lang="pt-BR" sz="2000" b="1">
                <a:solidFill>
                  <a:schemeClr val="dk1"/>
                </a:solidFill>
                <a:latin typeface="Calibri"/>
                <a:ea typeface="Calibri"/>
                <a:cs typeface="Calibri"/>
                <a:sym typeface="Calibri"/>
              </a:rPr>
              <a:t>Relacionamento n..n ou *..* (muitos para muitos)</a:t>
            </a:r>
            <a:r>
              <a:rPr lang="pt-BR" sz="2000">
                <a:solidFill>
                  <a:schemeClr val="dk1"/>
                </a:solidFill>
                <a:latin typeface="Calibri"/>
                <a:ea typeface="Calibri"/>
                <a:cs typeface="Calibri"/>
                <a:sym typeface="Calibri"/>
              </a:rPr>
              <a:t>: cada entidade, de ambos os lados, podem referenciar múltiplas unidades da outra</a:t>
            </a:r>
            <a:r>
              <a:rPr lang="pt-BR"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g1e10a38972e_0_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26" name="Google Shape;226;g1e10a38972e_0_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27" name="Google Shape;227;g1e10a38972e_0_9"/>
          <p:cNvSpPr txBox="1"/>
          <p:nvPr/>
        </p:nvSpPr>
        <p:spPr>
          <a:xfrm>
            <a:off x="1023257" y="341091"/>
            <a:ext cx="10877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28" name="Google Shape;228;g1e10a38972e_0_9"/>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16</a:t>
            </a:fld>
            <a:endParaRPr sz="6000">
              <a:solidFill>
                <a:schemeClr val="lt1"/>
              </a:solidFill>
              <a:latin typeface="Impact"/>
              <a:ea typeface="Impact"/>
              <a:cs typeface="Impact"/>
              <a:sym typeface="Impact"/>
            </a:endParaRPr>
          </a:p>
        </p:txBody>
      </p:sp>
      <p:pic>
        <p:nvPicPr>
          <p:cNvPr id="229" name="Google Shape;229;g1e10a38972e_0_9"/>
          <p:cNvPicPr preferRelativeResize="0"/>
          <p:nvPr/>
        </p:nvPicPr>
        <p:blipFill>
          <a:blip r:embed="rId5">
            <a:alphaModFix/>
          </a:blip>
          <a:stretch>
            <a:fillRect/>
          </a:stretch>
        </p:blipFill>
        <p:spPr>
          <a:xfrm>
            <a:off x="1171475" y="1172100"/>
            <a:ext cx="9914225" cy="504228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1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35" name="Google Shape;235;p1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36" name="Google Shape;236;p16"/>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37" name="Google Shape;237;p1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17</a:t>
            </a:fld>
            <a:endParaRPr sz="6000">
              <a:solidFill>
                <a:schemeClr val="lt1"/>
              </a:solidFill>
              <a:latin typeface="Impact"/>
              <a:ea typeface="Impact"/>
              <a:cs typeface="Impact"/>
              <a:sym typeface="Impact"/>
            </a:endParaRPr>
          </a:p>
        </p:txBody>
      </p:sp>
      <p:pic>
        <p:nvPicPr>
          <p:cNvPr id="238" name="Google Shape;238;p16"/>
          <p:cNvPicPr preferRelativeResize="0"/>
          <p:nvPr/>
        </p:nvPicPr>
        <p:blipFill rotWithShape="1">
          <a:blip r:embed="rId5">
            <a:alphaModFix/>
          </a:blip>
          <a:srcRect/>
          <a:stretch/>
        </p:blipFill>
        <p:spPr>
          <a:xfrm>
            <a:off x="1594078" y="1666057"/>
            <a:ext cx="9104402" cy="461440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1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44" name="Google Shape;244;p1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45" name="Google Shape;245;p17"/>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46" name="Google Shape;246;p1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18</a:t>
            </a:fld>
            <a:endParaRPr sz="6000">
              <a:solidFill>
                <a:schemeClr val="lt1"/>
              </a:solidFill>
              <a:latin typeface="Impact"/>
              <a:ea typeface="Impact"/>
              <a:cs typeface="Impact"/>
              <a:sym typeface="Impact"/>
            </a:endParaRPr>
          </a:p>
        </p:txBody>
      </p:sp>
      <p:sp>
        <p:nvSpPr>
          <p:cNvPr id="247" name="Google Shape;247;p17"/>
          <p:cNvSpPr txBox="1"/>
          <p:nvPr/>
        </p:nvSpPr>
        <p:spPr>
          <a:xfrm>
            <a:off x="971007" y="1471525"/>
            <a:ext cx="10236926" cy="4967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rgbClr val="1E4E79"/>
                </a:solidFill>
                <a:latin typeface="Calibri"/>
                <a:ea typeface="Calibri"/>
                <a:cs typeface="Calibri"/>
                <a:sym typeface="Calibri"/>
              </a:rPr>
              <a:t>Diagrama de fluxo de dados</a:t>
            </a:r>
            <a:endParaRPr/>
          </a:p>
          <a:p>
            <a:pPr marL="0" marR="0" lvl="0" indent="0" algn="l" rtl="0">
              <a:spcBef>
                <a:spcPts val="560"/>
              </a:spcBef>
              <a:spcAft>
                <a:spcPts val="0"/>
              </a:spcAft>
              <a:buNone/>
            </a:pPr>
            <a:r>
              <a:rPr lang="pt-BR" sz="2800">
                <a:solidFill>
                  <a:schemeClr val="dk1"/>
                </a:solidFill>
                <a:latin typeface="Calibri"/>
                <a:ea typeface="Calibri"/>
                <a:cs typeface="Calibri"/>
                <a:sym typeface="Calibri"/>
              </a:rPr>
              <a:t/>
            </a:r>
            <a:br>
              <a:rPr lang="pt-BR" sz="28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São diagramas comportamentais que mostram as etapas de processamento em um sistema e como os dados de um determinado processo se movem pelo sistema. São diagramas simples e intuitivos, podendo ser apresentados aos usuários do sistema, dando suporte para a validação do modelo.</a:t>
            </a:r>
            <a:endParaRPr/>
          </a:p>
          <a:p>
            <a:pPr marL="0" marR="0" lvl="0" indent="0" algn="l" rtl="0">
              <a:spcBef>
                <a:spcPts val="480"/>
              </a:spcBef>
              <a:spcAft>
                <a:spcPts val="0"/>
              </a:spcAft>
              <a:buNone/>
            </a:pPr>
            <a:endParaRPr sz="2400">
              <a:solidFill>
                <a:schemeClr val="dk1"/>
              </a:solidFill>
              <a:latin typeface="Calibri"/>
              <a:ea typeface="Calibri"/>
              <a:cs typeface="Calibri"/>
              <a:sym typeface="Calibri"/>
            </a:endParaRPr>
          </a:p>
          <a:p>
            <a:pPr marL="0" marR="0" lvl="0" indent="0" algn="l" rtl="0">
              <a:spcBef>
                <a:spcPts val="480"/>
              </a:spcBef>
              <a:spcAft>
                <a:spcPts val="0"/>
              </a:spcAft>
              <a:buNone/>
            </a:pPr>
            <a:r>
              <a:rPr lang="pt-BR" sz="2400" b="1">
                <a:solidFill>
                  <a:schemeClr val="dk1"/>
                </a:solidFill>
                <a:latin typeface="Calibri"/>
                <a:ea typeface="Calibri"/>
                <a:cs typeface="Calibri"/>
                <a:sym typeface="Calibri"/>
              </a:rPr>
              <a:t>Componentes:</a:t>
            </a:r>
            <a:endParaRPr/>
          </a:p>
          <a:p>
            <a:pPr marL="0" marR="0" lvl="0" indent="0" algn="l" rtl="0">
              <a:spcBef>
                <a:spcPts val="480"/>
              </a:spcBef>
              <a:spcAft>
                <a:spcPts val="0"/>
              </a:spcAft>
              <a:buNone/>
            </a:pPr>
            <a:r>
              <a:rPr lang="pt-BR" sz="2400" b="1">
                <a:solidFill>
                  <a:schemeClr val="dk1"/>
                </a:solidFill>
                <a:latin typeface="Calibri"/>
                <a:ea typeface="Calibri"/>
                <a:cs typeface="Calibri"/>
                <a:sym typeface="Calibri"/>
              </a:rPr>
              <a:t>Entidade externa:</a:t>
            </a:r>
            <a:r>
              <a:rPr lang="pt-BR" sz="2400">
                <a:solidFill>
                  <a:schemeClr val="dk1"/>
                </a:solidFill>
                <a:latin typeface="Calibri"/>
                <a:ea typeface="Calibri"/>
                <a:cs typeface="Calibri"/>
                <a:sym typeface="Calibri"/>
              </a:rPr>
              <a:t> um sistema externo que envia ou recebe dados e se comunica com o sistema em questão. Pode ser uma organização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externa ou pessoa, um sistema de computador.</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sp>
        <p:nvSpPr>
          <p:cNvPr id="248" name="Google Shape;248;p17"/>
          <p:cNvSpPr/>
          <p:nvPr/>
        </p:nvSpPr>
        <p:spPr>
          <a:xfrm>
            <a:off x="8556170" y="5408023"/>
            <a:ext cx="1632857" cy="744582"/>
          </a:xfrm>
          <a:prstGeom prst="roundRect">
            <a:avLst>
              <a:gd name="adj" fmla="val 16667"/>
            </a:avLst>
          </a:prstGeom>
          <a:solidFill>
            <a:srgbClr val="A8D08C"/>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1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54" name="Google Shape;254;p1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55" name="Google Shape;255;p18"/>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56" name="Google Shape;256;p1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19</a:t>
            </a:fld>
            <a:endParaRPr sz="6000">
              <a:solidFill>
                <a:schemeClr val="lt1"/>
              </a:solidFill>
              <a:latin typeface="Impact"/>
              <a:ea typeface="Impact"/>
              <a:cs typeface="Impact"/>
              <a:sym typeface="Impact"/>
            </a:endParaRPr>
          </a:p>
        </p:txBody>
      </p:sp>
      <p:sp>
        <p:nvSpPr>
          <p:cNvPr id="257" name="Google Shape;257;p18"/>
          <p:cNvSpPr txBox="1"/>
          <p:nvPr/>
        </p:nvSpPr>
        <p:spPr>
          <a:xfrm>
            <a:off x="971007" y="1471525"/>
            <a:ext cx="10236926"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Processo: </a:t>
            </a:r>
            <a:r>
              <a:rPr lang="pt-BR" sz="2400">
                <a:solidFill>
                  <a:schemeClr val="dk1"/>
                </a:solidFill>
                <a:latin typeface="Calibri"/>
                <a:ea typeface="Calibri"/>
                <a:cs typeface="Calibri"/>
                <a:sym typeface="Calibri"/>
              </a:rPr>
              <a:t>qualquer processo que altere os dados, produzindo uma </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saída. Utiliza-se uma descrição curta para descrever o processo, </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tal como “Realizar pagamento”.</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Armazenamento de dados:</a:t>
            </a:r>
            <a:r>
              <a:rPr lang="pt-BR" sz="2400">
                <a:solidFill>
                  <a:schemeClr val="dk1"/>
                </a:solidFill>
                <a:latin typeface="Calibri"/>
                <a:ea typeface="Calibri"/>
                <a:cs typeface="Calibri"/>
                <a:sym typeface="Calibri"/>
              </a:rPr>
              <a:t> arquivos ou repositórios que armazenam informações, como uma tabela de banco de dados ou um</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 formulário de adesão. Também recebem rótulos simples, </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como “Pedidos”.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b="1">
                <a:solidFill>
                  <a:schemeClr val="dk1"/>
                </a:solidFill>
                <a:latin typeface="Calibri"/>
                <a:ea typeface="Calibri"/>
                <a:cs typeface="Calibri"/>
                <a:sym typeface="Calibri"/>
              </a:rPr>
              <a:t>Fluxo de dados:</a:t>
            </a:r>
            <a:r>
              <a:rPr lang="pt-BR" sz="2400">
                <a:solidFill>
                  <a:schemeClr val="dk1"/>
                </a:solidFill>
                <a:latin typeface="Calibri"/>
                <a:ea typeface="Calibri"/>
                <a:cs typeface="Calibri"/>
                <a:sym typeface="Calibri"/>
              </a:rPr>
              <a:t> a rota dos dados entre entidades externas, processos e armazenamentos de dados. É representado por setas</a:t>
            </a:r>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 e possui uma descrição curta, como “Detalhes de pedidos”.</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sp>
        <p:nvSpPr>
          <p:cNvPr id="258" name="Google Shape;258;p18"/>
          <p:cNvSpPr/>
          <p:nvPr/>
        </p:nvSpPr>
        <p:spPr>
          <a:xfrm>
            <a:off x="10032273" y="1724295"/>
            <a:ext cx="953589" cy="692333"/>
          </a:xfrm>
          <a:prstGeom prst="ellipse">
            <a:avLst/>
          </a:prstGeom>
          <a:solidFill>
            <a:srgbClr val="A8D08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18"/>
          <p:cNvSpPr/>
          <p:nvPr/>
        </p:nvSpPr>
        <p:spPr>
          <a:xfrm>
            <a:off x="8948057" y="3592285"/>
            <a:ext cx="1658983" cy="522515"/>
          </a:xfrm>
          <a:prstGeom prst="roundRect">
            <a:avLst>
              <a:gd name="adj" fmla="val 16667"/>
            </a:avLst>
          </a:prstGeom>
          <a:solidFill>
            <a:srgbClr val="A8D08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60" name="Google Shape;260;p18"/>
          <p:cNvCxnSpPr/>
          <p:nvPr/>
        </p:nvCxnSpPr>
        <p:spPr>
          <a:xfrm rot="10800000" flipH="1">
            <a:off x="8817429" y="5617029"/>
            <a:ext cx="1724297" cy="1"/>
          </a:xfrm>
          <a:prstGeom prst="straightConnector1">
            <a:avLst/>
          </a:prstGeom>
          <a:noFill/>
          <a:ln w="9525" cap="flat" cmpd="sng">
            <a:solidFill>
              <a:schemeClr val="dk1"/>
            </a:solidFill>
            <a:prstDash val="solid"/>
            <a:miter lim="800000"/>
            <a:headEnd type="none" w="sm" len="sm"/>
            <a:tailEnd type="stealth"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1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66" name="Google Shape;266;p1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67" name="Google Shape;267;p19"/>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68" name="Google Shape;268;p1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20</a:t>
            </a:fld>
            <a:endParaRPr sz="6000">
              <a:solidFill>
                <a:schemeClr val="lt1"/>
              </a:solidFill>
              <a:latin typeface="Impact"/>
              <a:ea typeface="Impact"/>
              <a:cs typeface="Impact"/>
              <a:sym typeface="Impact"/>
            </a:endParaRPr>
          </a:p>
        </p:txBody>
      </p:sp>
      <p:sp>
        <p:nvSpPr>
          <p:cNvPr id="269" name="Google Shape;269;p19"/>
          <p:cNvSpPr txBox="1"/>
          <p:nvPr/>
        </p:nvSpPr>
        <p:spPr>
          <a:xfrm>
            <a:off x="971007" y="1471525"/>
            <a:ext cx="1023692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sp>
        <p:nvSpPr>
          <p:cNvPr id="270" name="Google Shape;270;p19"/>
          <p:cNvSpPr txBox="1"/>
          <p:nvPr/>
        </p:nvSpPr>
        <p:spPr>
          <a:xfrm>
            <a:off x="971007" y="1471525"/>
            <a:ext cx="1023692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DFD de alteração de horário</a:t>
            </a: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pic>
        <p:nvPicPr>
          <p:cNvPr id="271" name="Google Shape;271;p19"/>
          <p:cNvPicPr preferRelativeResize="0"/>
          <p:nvPr/>
        </p:nvPicPr>
        <p:blipFill rotWithShape="1">
          <a:blip r:embed="rId5">
            <a:alphaModFix/>
          </a:blip>
          <a:srcRect/>
          <a:stretch/>
        </p:blipFill>
        <p:spPr>
          <a:xfrm>
            <a:off x="1325063" y="2136277"/>
            <a:ext cx="9513846" cy="425146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2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77" name="Google Shape;277;p2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78" name="Google Shape;278;p20"/>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79" name="Google Shape;279;p2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21</a:t>
            </a:fld>
            <a:endParaRPr sz="6000">
              <a:solidFill>
                <a:schemeClr val="lt1"/>
              </a:solidFill>
              <a:latin typeface="Impact"/>
              <a:ea typeface="Impact"/>
              <a:cs typeface="Impact"/>
              <a:sym typeface="Impact"/>
            </a:endParaRPr>
          </a:p>
        </p:txBody>
      </p:sp>
      <p:sp>
        <p:nvSpPr>
          <p:cNvPr id="280" name="Google Shape;280;p20"/>
          <p:cNvSpPr txBox="1"/>
          <p:nvPr/>
        </p:nvSpPr>
        <p:spPr>
          <a:xfrm>
            <a:off x="971007" y="1628281"/>
            <a:ext cx="10236926"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UML</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A UML - Unified Modeling Language ou Linguagem de Modelagem Unificada – é uma linguagem visual utilizada para modelar softwares baseados no paradigma de orientação a objetos. </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Tem como objetivo auxiliar na definição de características do sistema, como requisitos, comportamentos, estrutura lógica e a dinâmica de processos.</a:t>
            </a:r>
            <a:endParaRPr/>
          </a:p>
          <a:p>
            <a:pPr marL="0" marR="0" lvl="0" indent="0" algn="l" rtl="0">
              <a:spcBef>
                <a:spcPts val="0"/>
              </a:spcBef>
              <a:spcAft>
                <a:spcPts val="0"/>
              </a:spcAft>
              <a:buNone/>
            </a:pP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400">
                <a:solidFill>
                  <a:schemeClr val="dk1"/>
                </a:solidFill>
                <a:latin typeface="Calibri"/>
                <a:ea typeface="Calibri"/>
                <a:cs typeface="Calibri"/>
                <a:sym typeface="Calibri"/>
              </a:rPr>
              <a:t>A linguagem UML possui diversos tipos de diagramas que dão suporte à criação de modelos para representar requisitos por diversas perspectivas.</a:t>
            </a:r>
            <a:br>
              <a:rPr lang="pt-BR" sz="2400">
                <a:solidFill>
                  <a:schemeClr val="dk1"/>
                </a:solidFill>
                <a:latin typeface="Calibri"/>
                <a:ea typeface="Calibri"/>
                <a:cs typeface="Calibri"/>
                <a:sym typeface="Calibri"/>
              </a:rPr>
            </a:br>
            <a:endParaRPr sz="2400" b="1">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pic>
        <p:nvPicPr>
          <p:cNvPr id="285" name="Google Shape;285;p2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86" name="Google Shape;286;p2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87" name="Google Shape;287;p21"/>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88" name="Google Shape;288;p2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22</a:t>
            </a:fld>
            <a:endParaRPr sz="6000">
              <a:solidFill>
                <a:schemeClr val="lt1"/>
              </a:solidFill>
              <a:latin typeface="Impact"/>
              <a:ea typeface="Impact"/>
              <a:cs typeface="Impact"/>
              <a:sym typeface="Impact"/>
            </a:endParaRPr>
          </a:p>
        </p:txBody>
      </p:sp>
      <p:pic>
        <p:nvPicPr>
          <p:cNvPr id="289" name="Google Shape;289;p21"/>
          <p:cNvPicPr preferRelativeResize="0"/>
          <p:nvPr/>
        </p:nvPicPr>
        <p:blipFill rotWithShape="1">
          <a:blip r:embed="rId5">
            <a:alphaModFix/>
          </a:blip>
          <a:srcRect/>
          <a:stretch/>
        </p:blipFill>
        <p:spPr>
          <a:xfrm>
            <a:off x="1250089" y="1534205"/>
            <a:ext cx="9680329" cy="50625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2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295" name="Google Shape;295;p2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296" name="Google Shape;296;p22"/>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297" name="Google Shape;297;p2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23</a:t>
            </a:fld>
            <a:endParaRPr sz="6000">
              <a:solidFill>
                <a:schemeClr val="lt1"/>
              </a:solidFill>
              <a:latin typeface="Impact"/>
              <a:ea typeface="Impact"/>
              <a:cs typeface="Impact"/>
              <a:sym typeface="Impact"/>
            </a:endParaRPr>
          </a:p>
        </p:txBody>
      </p:sp>
      <p:sp>
        <p:nvSpPr>
          <p:cNvPr id="298" name="Google Shape;298;p22"/>
          <p:cNvSpPr txBox="1"/>
          <p:nvPr/>
        </p:nvSpPr>
        <p:spPr>
          <a:xfrm>
            <a:off x="971007" y="1628281"/>
            <a:ext cx="10236926" cy="49859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rgbClr val="1E4E79"/>
                </a:solidFill>
                <a:latin typeface="Calibri"/>
                <a:ea typeface="Calibri"/>
                <a:cs typeface="Calibri"/>
                <a:sym typeface="Calibri"/>
              </a:rPr>
              <a:t>Diagrama de caso de uso - UML</a:t>
            </a:r>
            <a:endParaRPr/>
          </a:p>
          <a:p>
            <a:pPr marL="0" marR="0" lvl="0" indent="0" algn="l" rtl="0">
              <a:spcBef>
                <a:spcPts val="0"/>
              </a:spcBef>
              <a:spcAft>
                <a:spcPts val="0"/>
              </a:spcAft>
              <a:buNone/>
            </a:pPr>
            <a:endParaRPr sz="2200" b="1">
              <a:solidFill>
                <a:srgbClr val="1E4E79"/>
              </a:solidFill>
              <a:latin typeface="Calibri"/>
              <a:ea typeface="Calibri"/>
              <a:cs typeface="Calibri"/>
              <a:sym typeface="Calibri"/>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O diagrama de caso de uso é um modelo de interação UML que demonstra quais funcionalidades atenderão a quais usuários específicos. Representa graficamente os casos de uso, os papéis dos usuários e a relação entre os elementos.</a:t>
            </a:r>
            <a:endParaRPr/>
          </a:p>
          <a:p>
            <a:pPr marL="0" marR="0" lvl="0" indent="0" algn="l" rtl="0">
              <a:spcBef>
                <a:spcPts val="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Tem por objetivo apresentar uma visão geral das funcionalidades que o sistema deverá oferecer aos usuários, sem se preocupar em profundidade com a questão de como elas serão implementadas (GUEDES, 2018). </a:t>
            </a: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O diagrama de casos de uso é de grande auxílio para a identificação e compreensão dos requisitos funcionais do sistema, sendo muito utilizado para apresentação para stakeholders.</a:t>
            </a: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pic>
        <p:nvPicPr>
          <p:cNvPr id="303" name="Google Shape;303;p2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04" name="Google Shape;304;p2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05" name="Google Shape;305;p23"/>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06" name="Google Shape;306;p2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24</a:t>
            </a:fld>
            <a:endParaRPr sz="6000">
              <a:solidFill>
                <a:schemeClr val="lt1"/>
              </a:solidFill>
              <a:latin typeface="Impact"/>
              <a:ea typeface="Impact"/>
              <a:cs typeface="Impact"/>
              <a:sym typeface="Impact"/>
            </a:endParaRPr>
          </a:p>
        </p:txBody>
      </p:sp>
      <p:sp>
        <p:nvSpPr>
          <p:cNvPr id="307" name="Google Shape;307;p23"/>
          <p:cNvSpPr txBox="1"/>
          <p:nvPr/>
        </p:nvSpPr>
        <p:spPr>
          <a:xfrm>
            <a:off x="971007" y="1589092"/>
            <a:ext cx="10236926"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200" b="1">
                <a:solidFill>
                  <a:srgbClr val="1E4E79"/>
                </a:solidFill>
                <a:latin typeface="Calibri"/>
                <a:ea typeface="Calibri"/>
                <a:cs typeface="Calibri"/>
                <a:sym typeface="Calibri"/>
              </a:rPr>
              <a:t>Elementos:</a:t>
            </a:r>
            <a:endParaRPr/>
          </a:p>
          <a:p>
            <a:pPr marL="0" marR="0" lvl="0" indent="0" algn="l" rtl="0">
              <a:spcBef>
                <a:spcPts val="0"/>
              </a:spcBef>
              <a:spcAft>
                <a:spcPts val="0"/>
              </a:spcAft>
              <a:buNone/>
            </a:pPr>
            <a:endParaRPr sz="2200" b="1">
              <a:solidFill>
                <a:schemeClr val="dk1"/>
              </a:solidFill>
              <a:latin typeface="Calibri"/>
              <a:ea typeface="Calibri"/>
              <a:cs typeface="Calibri"/>
              <a:sym typeface="Calibri"/>
            </a:endParaRPr>
          </a:p>
          <a:p>
            <a:pPr marL="0" marR="0" lvl="0" indent="0" algn="l" rtl="0">
              <a:spcBef>
                <a:spcPts val="0"/>
              </a:spcBef>
              <a:spcAft>
                <a:spcPts val="0"/>
              </a:spcAft>
              <a:buNone/>
            </a:pPr>
            <a:r>
              <a:rPr lang="pt-BR" sz="2200" b="1">
                <a:solidFill>
                  <a:schemeClr val="dk1"/>
                </a:solidFill>
                <a:latin typeface="Calibri"/>
                <a:ea typeface="Calibri"/>
                <a:cs typeface="Calibri"/>
                <a:sym typeface="Calibri"/>
              </a:rPr>
              <a:t>Atores:</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Representa uma pessoa ou entidade que interage com o software. </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Os atores são representados por símbolos de bonecos palito, </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com uma descrição abaixo dele que identifica o papel que </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o ator assume dentro do diagrama.</a:t>
            </a:r>
            <a:r>
              <a:rPr lang="pt-BR" sz="2400">
                <a:solidFill>
                  <a:schemeClr val="dk1"/>
                </a:solidFill>
                <a:latin typeface="Calibri"/>
                <a:ea typeface="Calibri"/>
                <a:cs typeface="Calibri"/>
                <a:sym typeface="Calibri"/>
              </a:rPr>
              <a:t>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Os atores podem ser:</a:t>
            </a:r>
            <a:endParaRPr/>
          </a:p>
          <a:p>
            <a:pPr marL="0" marR="0" lvl="0" indent="-139700" algn="l" rtl="0">
              <a:spcBef>
                <a:spcPts val="0"/>
              </a:spcBef>
              <a:spcAft>
                <a:spcPts val="0"/>
              </a:spcAft>
              <a:buClr>
                <a:schemeClr val="dk1"/>
              </a:buClr>
              <a:buSzPts val="2200"/>
              <a:buFont typeface="Noto Sans Symbols"/>
              <a:buChar char="▪"/>
            </a:pPr>
            <a:r>
              <a:rPr lang="pt-BR" sz="2200">
                <a:solidFill>
                  <a:schemeClr val="dk1"/>
                </a:solidFill>
                <a:latin typeface="Calibri"/>
                <a:ea typeface="Calibri"/>
                <a:cs typeface="Calibri"/>
                <a:sym typeface="Calibri"/>
              </a:rPr>
              <a:t> Quem irá utilizar uma determinada funcionalidade do sistema;</a:t>
            </a:r>
            <a:endParaRPr/>
          </a:p>
          <a:p>
            <a:pPr marL="0" marR="0" lvl="0" indent="-139700" algn="l" rtl="0">
              <a:spcBef>
                <a:spcPts val="0"/>
              </a:spcBef>
              <a:spcAft>
                <a:spcPts val="0"/>
              </a:spcAft>
              <a:buClr>
                <a:schemeClr val="dk1"/>
              </a:buClr>
              <a:buSzPts val="2200"/>
              <a:buFont typeface="Noto Sans Symbols"/>
              <a:buChar char="▪"/>
            </a:pPr>
            <a:r>
              <a:rPr lang="pt-BR" sz="2200">
                <a:solidFill>
                  <a:schemeClr val="dk1"/>
                </a:solidFill>
                <a:latin typeface="Calibri"/>
                <a:ea typeface="Calibri"/>
                <a:cs typeface="Calibri"/>
                <a:sym typeface="Calibri"/>
              </a:rPr>
              <a:t> A parte interessada em determinado requisito;</a:t>
            </a:r>
            <a:endParaRPr/>
          </a:p>
          <a:p>
            <a:pPr marL="0" marR="0" lvl="0" indent="-139700" algn="l" rtl="0">
              <a:spcBef>
                <a:spcPts val="0"/>
              </a:spcBef>
              <a:spcAft>
                <a:spcPts val="0"/>
              </a:spcAft>
              <a:buClr>
                <a:schemeClr val="dk1"/>
              </a:buClr>
              <a:buSzPts val="2200"/>
              <a:buFont typeface="Noto Sans Symbols"/>
              <a:buChar char="▪"/>
            </a:pPr>
            <a:r>
              <a:rPr lang="pt-BR" sz="2200">
                <a:solidFill>
                  <a:schemeClr val="dk1"/>
                </a:solidFill>
                <a:latin typeface="Calibri"/>
                <a:ea typeface="Calibri"/>
                <a:cs typeface="Calibri"/>
                <a:sym typeface="Calibri"/>
              </a:rPr>
              <a:t> Recursos externos e sistemas que interagem com o sistema.</a:t>
            </a:r>
            <a:endParaRPr/>
          </a:p>
          <a:p>
            <a:pPr marL="0" marR="0" lvl="0" indent="-139700" algn="l" rtl="0">
              <a:spcBef>
                <a:spcPts val="0"/>
              </a:spcBef>
              <a:spcAft>
                <a:spcPts val="0"/>
              </a:spcAft>
              <a:buClr>
                <a:schemeClr val="dk1"/>
              </a:buClr>
              <a:buSzPts val="2200"/>
              <a:buFont typeface="Noto Sans Symbols"/>
              <a:buChar char="▪"/>
            </a:pPr>
            <a:r>
              <a:rPr lang="pt-BR" sz="2200">
                <a:solidFill>
                  <a:schemeClr val="dk1"/>
                </a:solidFill>
                <a:latin typeface="Calibri"/>
                <a:ea typeface="Calibri"/>
                <a:cs typeface="Calibri"/>
                <a:sym typeface="Calibri"/>
              </a:rPr>
              <a:t> Dispositivos de </a:t>
            </a:r>
            <a:r>
              <a:rPr lang="pt-BR" sz="2200" i="1">
                <a:solidFill>
                  <a:schemeClr val="dk1"/>
                </a:solidFill>
                <a:latin typeface="Calibri"/>
                <a:ea typeface="Calibri"/>
                <a:cs typeface="Calibri"/>
                <a:sym typeface="Calibri"/>
              </a:rPr>
              <a:t>hardware</a:t>
            </a:r>
            <a:r>
              <a:rPr lang="pt-BR" sz="2200">
                <a:solidFill>
                  <a:schemeClr val="dk1"/>
                </a:solidFill>
                <a:latin typeface="Calibri"/>
                <a:ea typeface="Calibri"/>
                <a:cs typeface="Calibri"/>
                <a:sym typeface="Calibri"/>
              </a:rPr>
              <a:t> que provém ou obtém alguma informação do sistema (Ex.: sensores, cartões inteligentes.)</a:t>
            </a:r>
            <a:endParaRPr/>
          </a:p>
        </p:txBody>
      </p:sp>
      <p:pic>
        <p:nvPicPr>
          <p:cNvPr id="308" name="Google Shape;308;p23"/>
          <p:cNvPicPr preferRelativeResize="0"/>
          <p:nvPr/>
        </p:nvPicPr>
        <p:blipFill rotWithShape="1">
          <a:blip r:embed="rId5">
            <a:alphaModFix/>
          </a:blip>
          <a:srcRect/>
          <a:stretch/>
        </p:blipFill>
        <p:spPr>
          <a:xfrm>
            <a:off x="8831580" y="2832601"/>
            <a:ext cx="2490677" cy="12560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2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14" name="Google Shape;314;p2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15" name="Google Shape;315;p24"/>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16" name="Google Shape;316;p2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25</a:t>
            </a:fld>
            <a:endParaRPr sz="6000">
              <a:solidFill>
                <a:schemeClr val="lt1"/>
              </a:solidFill>
              <a:latin typeface="Impact"/>
              <a:ea typeface="Impact"/>
              <a:cs typeface="Impact"/>
              <a:sym typeface="Impact"/>
            </a:endParaRPr>
          </a:p>
        </p:txBody>
      </p:sp>
      <p:sp>
        <p:nvSpPr>
          <p:cNvPr id="317" name="Google Shape;317;p24"/>
          <p:cNvSpPr txBox="1"/>
          <p:nvPr/>
        </p:nvSpPr>
        <p:spPr>
          <a:xfrm>
            <a:off x="971007" y="1589092"/>
            <a:ext cx="10236926" cy="44935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200" b="1">
                <a:solidFill>
                  <a:schemeClr val="dk1"/>
                </a:solidFill>
                <a:latin typeface="Calibri"/>
                <a:ea typeface="Calibri"/>
                <a:cs typeface="Calibri"/>
                <a:sym typeface="Calibri"/>
              </a:rPr>
              <a:t>Caso de uso: </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São usados para capturar os requisitos do sistema que são </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utilizados de alguma forma pelos atores. São representados por </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elipses contendo uma descrição da  funcionalidade a qual o caso </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de uso se refere.</a:t>
            </a:r>
            <a:endParaRPr/>
          </a:p>
          <a:p>
            <a:pPr marL="0" marR="0" lvl="0" indent="0" algn="l" rtl="0">
              <a:spcBef>
                <a:spcPts val="0"/>
              </a:spcBef>
              <a:spcAft>
                <a:spcPts val="0"/>
              </a:spcAft>
              <a:buNone/>
            </a:pPr>
            <a:endParaRPr sz="2200" b="1">
              <a:solidFill>
                <a:srgbClr val="1E4E79"/>
              </a:solidFill>
              <a:latin typeface="Calibri"/>
              <a:ea typeface="Calibri"/>
              <a:cs typeface="Calibri"/>
              <a:sym typeface="Calibri"/>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Representa determinado comportamento da funcionalidade especificada. </a:t>
            </a:r>
            <a:endParaRPr sz="2200">
              <a:solidFill>
                <a:schemeClr val="dk1"/>
              </a:solidFill>
              <a:latin typeface="Calibri"/>
              <a:ea typeface="Calibri"/>
              <a:cs typeface="Calibri"/>
              <a:sym typeface="Calibri"/>
            </a:endParaRPr>
          </a:p>
          <a:p>
            <a:pPr marL="0" marR="0" lvl="0" indent="0" algn="l" rtl="0">
              <a:spcBef>
                <a:spcPts val="0"/>
              </a:spcBef>
              <a:spcAft>
                <a:spcPts val="0"/>
              </a:spcAft>
              <a:buNone/>
            </a:pPr>
            <a:endParaRPr sz="2200" b="1">
              <a:solidFill>
                <a:srgbClr val="1E4E79"/>
              </a:solidFill>
              <a:latin typeface="Calibri"/>
              <a:ea typeface="Calibri"/>
              <a:cs typeface="Calibri"/>
              <a:sym typeface="Calibri"/>
            </a:endParaRPr>
          </a:p>
          <a:p>
            <a:pPr marL="0" marR="0" lvl="0" indent="0" algn="l" rtl="0">
              <a:spcBef>
                <a:spcPts val="0"/>
              </a:spcBef>
              <a:spcAft>
                <a:spcPts val="0"/>
              </a:spcAft>
              <a:buNone/>
            </a:pPr>
            <a:r>
              <a:rPr lang="pt-BR" sz="2200" b="1">
                <a:solidFill>
                  <a:schemeClr val="dk1"/>
                </a:solidFill>
                <a:latin typeface="Calibri"/>
                <a:ea typeface="Calibri"/>
                <a:cs typeface="Calibri"/>
                <a:sym typeface="Calibri"/>
              </a:rPr>
              <a:t>Relacionamento: </a:t>
            </a:r>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É a representação da interação entre o ator e o caso de uso. Este relacionamento demonstra que o ator utiliza a funcionalidade do sistema representada pelo caso de uso. É representada por uma linha ligando o ator ao caso de uso.</a:t>
            </a:r>
            <a:endParaRPr sz="2200" b="1">
              <a:solidFill>
                <a:schemeClr val="dk1"/>
              </a:solidFill>
              <a:latin typeface="Calibri"/>
              <a:ea typeface="Calibri"/>
              <a:cs typeface="Calibri"/>
              <a:sym typeface="Calibri"/>
            </a:endParaRPr>
          </a:p>
          <a:p>
            <a:pPr marL="0" marR="0" lvl="0" indent="0" algn="l" rtl="0">
              <a:spcBef>
                <a:spcPts val="0"/>
              </a:spcBef>
              <a:spcAft>
                <a:spcPts val="0"/>
              </a:spcAft>
              <a:buNone/>
            </a:pPr>
            <a:endParaRPr sz="2200" b="1">
              <a:solidFill>
                <a:srgbClr val="1E4E79"/>
              </a:solidFill>
              <a:latin typeface="Calibri"/>
              <a:ea typeface="Calibri"/>
              <a:cs typeface="Calibri"/>
              <a:sym typeface="Calibri"/>
            </a:endParaRPr>
          </a:p>
        </p:txBody>
      </p:sp>
      <p:pic>
        <p:nvPicPr>
          <p:cNvPr id="318" name="Google Shape;318;p24"/>
          <p:cNvPicPr preferRelativeResize="0"/>
          <p:nvPr/>
        </p:nvPicPr>
        <p:blipFill rotWithShape="1">
          <a:blip r:embed="rId5">
            <a:alphaModFix/>
          </a:blip>
          <a:srcRect/>
          <a:stretch/>
        </p:blipFill>
        <p:spPr>
          <a:xfrm>
            <a:off x="9047933" y="2109244"/>
            <a:ext cx="2038350" cy="1228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p2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24" name="Google Shape;324;p2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25" name="Google Shape;325;p25"/>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26" name="Google Shape;326;p2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26</a:t>
            </a:fld>
            <a:endParaRPr sz="6000">
              <a:solidFill>
                <a:schemeClr val="lt1"/>
              </a:solidFill>
              <a:latin typeface="Impact"/>
              <a:ea typeface="Impact"/>
              <a:cs typeface="Impact"/>
              <a:sym typeface="Impact"/>
            </a:endParaRPr>
          </a:p>
        </p:txBody>
      </p:sp>
      <p:pic>
        <p:nvPicPr>
          <p:cNvPr id="327" name="Google Shape;327;p25" descr="CasoUsoConsultorio"/>
          <p:cNvPicPr preferRelativeResize="0"/>
          <p:nvPr/>
        </p:nvPicPr>
        <p:blipFill rotWithShape="1">
          <a:blip r:embed="rId5">
            <a:alphaModFix/>
          </a:blip>
          <a:srcRect/>
          <a:stretch/>
        </p:blipFill>
        <p:spPr>
          <a:xfrm>
            <a:off x="2795452" y="1580605"/>
            <a:ext cx="5982788" cy="423826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2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33" name="Google Shape;333;p2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34" name="Google Shape;334;p26"/>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35" name="Google Shape;335;p2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27</a:t>
            </a:fld>
            <a:endParaRPr sz="6000">
              <a:solidFill>
                <a:schemeClr val="lt1"/>
              </a:solidFill>
              <a:latin typeface="Impact"/>
              <a:ea typeface="Impact"/>
              <a:cs typeface="Impact"/>
              <a:sym typeface="Impact"/>
            </a:endParaRPr>
          </a:p>
        </p:txBody>
      </p:sp>
      <p:sp>
        <p:nvSpPr>
          <p:cNvPr id="336" name="Google Shape;336;p26"/>
          <p:cNvSpPr txBox="1"/>
          <p:nvPr/>
        </p:nvSpPr>
        <p:spPr>
          <a:xfrm>
            <a:off x="971007" y="1471525"/>
            <a:ext cx="10236926" cy="44996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rgbClr val="1E4E79"/>
                </a:solidFill>
                <a:latin typeface="Calibri"/>
                <a:ea typeface="Calibri"/>
                <a:cs typeface="Calibri"/>
                <a:sym typeface="Calibri"/>
              </a:rPr>
              <a:t>Diagrama de atividades - UML</a:t>
            </a:r>
            <a:endParaRPr/>
          </a:p>
          <a:p>
            <a:pPr marL="0" marR="0" lvl="0" indent="0" algn="l" rtl="0">
              <a:spcBef>
                <a:spcPts val="560"/>
              </a:spcBef>
              <a:spcAft>
                <a:spcPts val="0"/>
              </a:spcAft>
              <a:buNone/>
            </a:pPr>
            <a:r>
              <a:rPr lang="pt-BR" sz="2800">
                <a:solidFill>
                  <a:schemeClr val="dk1"/>
                </a:solidFill>
                <a:latin typeface="Calibri"/>
                <a:ea typeface="Calibri"/>
                <a:cs typeface="Calibri"/>
                <a:sym typeface="Calibri"/>
              </a:rPr>
              <a:t/>
            </a:r>
            <a:br>
              <a:rPr lang="pt-BR" sz="2800">
                <a:solidFill>
                  <a:schemeClr val="dk1"/>
                </a:solidFill>
                <a:latin typeface="Calibri"/>
                <a:ea typeface="Calibri"/>
                <a:cs typeface="Calibri"/>
                <a:sym typeface="Calibri"/>
              </a:rPr>
            </a:br>
            <a:r>
              <a:rPr lang="pt-BR" sz="2200">
                <a:solidFill>
                  <a:schemeClr val="dk1"/>
                </a:solidFill>
                <a:latin typeface="Calibri"/>
                <a:ea typeface="Calibri"/>
                <a:cs typeface="Calibri"/>
                <a:sym typeface="Calibri"/>
              </a:rPr>
              <a:t> É um diagrama utilizado para modelar atividades, que podem descrever:</a:t>
            </a:r>
            <a:br>
              <a:rPr lang="pt-BR" sz="2200">
                <a:solidFill>
                  <a:schemeClr val="dk1"/>
                </a:solidFill>
                <a:latin typeface="Calibri"/>
                <a:ea typeface="Calibri"/>
                <a:cs typeface="Calibri"/>
                <a:sym typeface="Calibri"/>
              </a:rPr>
            </a:br>
            <a:r>
              <a:rPr lang="pt-BR" sz="2200">
                <a:solidFill>
                  <a:schemeClr val="dk1"/>
                </a:solidFill>
                <a:latin typeface="Calibri"/>
                <a:ea typeface="Calibri"/>
                <a:cs typeface="Calibri"/>
                <a:sym typeface="Calibri"/>
              </a:rPr>
              <a:t>• Os passos necessários para que uma operação de uma classe seja concluída. </a:t>
            </a:r>
            <a:br>
              <a:rPr lang="pt-BR" sz="2200">
                <a:solidFill>
                  <a:schemeClr val="dk1"/>
                </a:solidFill>
                <a:latin typeface="Calibri"/>
                <a:ea typeface="Calibri"/>
                <a:cs typeface="Calibri"/>
                <a:sym typeface="Calibri"/>
              </a:rPr>
            </a:br>
            <a:r>
              <a:rPr lang="pt-BR" sz="2200">
                <a:solidFill>
                  <a:schemeClr val="dk1"/>
                </a:solidFill>
                <a:latin typeface="Calibri"/>
                <a:ea typeface="Calibri"/>
                <a:cs typeface="Calibri"/>
                <a:sym typeface="Calibri"/>
              </a:rPr>
              <a:t>• Modelagem organizacional para engenharia de processos de negócios e fluxo de trabalho, ou seja, definição das etapas necessárias para que um processo seja executado.</a:t>
            </a:r>
            <a:br>
              <a:rPr lang="pt-BR" sz="2200">
                <a:solidFill>
                  <a:schemeClr val="dk1"/>
                </a:solidFill>
                <a:latin typeface="Calibri"/>
                <a:ea typeface="Calibri"/>
                <a:cs typeface="Calibri"/>
                <a:sym typeface="Calibri"/>
              </a:rPr>
            </a:br>
            <a:r>
              <a:rPr lang="pt-BR" sz="2200">
                <a:solidFill>
                  <a:schemeClr val="dk1"/>
                </a:solidFill>
                <a:latin typeface="Calibri"/>
                <a:ea typeface="Calibri"/>
                <a:cs typeface="Calibri"/>
                <a:sym typeface="Calibri"/>
              </a:rPr>
              <a:t>• Modelagem de sistemas de informação para especificar processos no nível de sistema.</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a:solidFill>
                  <a:schemeClr val="dk1"/>
                </a:solidFill>
                <a:latin typeface="Calibri"/>
                <a:ea typeface="Calibri"/>
                <a:cs typeface="Calibri"/>
                <a:sym typeface="Calibri"/>
              </a:rPr>
              <a:t>Comumente, ele representa uma única atividade, mas pode conter mais de uma delas, se necessário. Uma atividade é composta de um conjunto passos necessários para que ela seja concluída. </a:t>
            </a:r>
            <a:endParaRPr sz="24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341" name="Google Shape;341;p2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42" name="Google Shape;342;p2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43" name="Google Shape;343;p27"/>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44" name="Google Shape;344;p2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28</a:t>
            </a:fld>
            <a:endParaRPr sz="6000">
              <a:solidFill>
                <a:schemeClr val="lt1"/>
              </a:solidFill>
              <a:latin typeface="Impact"/>
              <a:ea typeface="Impact"/>
              <a:cs typeface="Impact"/>
              <a:sym typeface="Impact"/>
            </a:endParaRPr>
          </a:p>
        </p:txBody>
      </p:sp>
      <p:sp>
        <p:nvSpPr>
          <p:cNvPr id="345" name="Google Shape;345;p27"/>
          <p:cNvSpPr txBox="1"/>
          <p:nvPr/>
        </p:nvSpPr>
        <p:spPr>
          <a:xfrm>
            <a:off x="971007" y="1471525"/>
            <a:ext cx="10236926" cy="48998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Componentes:</a:t>
            </a:r>
            <a:endParaRPr/>
          </a:p>
          <a:p>
            <a:pPr marL="0" marR="0" lvl="0" indent="0" algn="l" rtl="0">
              <a:spcBef>
                <a:spcPts val="480"/>
              </a:spcBef>
              <a:spcAft>
                <a:spcPts val="0"/>
              </a:spcAft>
              <a:buNone/>
            </a:pPr>
            <a:endParaRPr sz="24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b="1">
                <a:solidFill>
                  <a:schemeClr val="dk1"/>
                </a:solidFill>
                <a:latin typeface="Calibri"/>
                <a:ea typeface="Calibri"/>
                <a:cs typeface="Calibri"/>
                <a:sym typeface="Calibri"/>
              </a:rPr>
              <a:t>Nó de ação: </a:t>
            </a:r>
            <a:r>
              <a:rPr lang="pt-BR" sz="2200">
                <a:solidFill>
                  <a:schemeClr val="dk1"/>
                </a:solidFill>
                <a:latin typeface="Calibri"/>
                <a:ea typeface="Calibri"/>
                <a:cs typeface="Calibri"/>
                <a:sym typeface="Calibri"/>
              </a:rPr>
              <a:t>representa um passo que deve ser executado em uma atividade.</a:t>
            </a:r>
            <a:endParaRPr/>
          </a:p>
          <a:p>
            <a:pPr marL="0" marR="0" lvl="0" indent="0" algn="l" rtl="0">
              <a:spcBef>
                <a:spcPts val="440"/>
              </a:spcBef>
              <a:spcAft>
                <a:spcPts val="0"/>
              </a:spcAft>
              <a:buNone/>
            </a:pPr>
            <a:r>
              <a:rPr lang="pt-BR" sz="2200">
                <a:solidFill>
                  <a:schemeClr val="dk1"/>
                </a:solidFill>
                <a:latin typeface="Calibri"/>
                <a:ea typeface="Calibri"/>
                <a:cs typeface="Calibri"/>
                <a:sym typeface="Calibri"/>
              </a:rPr>
              <a:t/>
            </a:r>
            <a:br>
              <a:rPr lang="pt-BR" sz="2200">
                <a:solidFill>
                  <a:schemeClr val="dk1"/>
                </a:solidFill>
                <a:latin typeface="Calibri"/>
                <a:ea typeface="Calibri"/>
                <a:cs typeface="Calibri"/>
                <a:sym typeface="Calibri"/>
              </a:rPr>
            </a:br>
            <a:r>
              <a:rPr lang="pt-BR" sz="2200" b="1">
                <a:solidFill>
                  <a:schemeClr val="dk1"/>
                </a:solidFill>
                <a:latin typeface="Calibri"/>
                <a:ea typeface="Calibri"/>
                <a:cs typeface="Calibri"/>
                <a:sym typeface="Calibri"/>
              </a:rPr>
              <a:t>Fluxo de controle: </a:t>
            </a:r>
            <a:r>
              <a:rPr lang="pt-BR" sz="2200">
                <a:solidFill>
                  <a:schemeClr val="dk1"/>
                </a:solidFill>
                <a:latin typeface="Calibri"/>
                <a:ea typeface="Calibri"/>
                <a:cs typeface="Calibri"/>
                <a:sym typeface="Calibri"/>
              </a:rPr>
              <a:t>é um conector que liga dois nós de ação.</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b="1">
                <a:solidFill>
                  <a:schemeClr val="dk1"/>
                </a:solidFill>
                <a:latin typeface="Calibri"/>
                <a:ea typeface="Calibri"/>
                <a:cs typeface="Calibri"/>
                <a:sym typeface="Calibri"/>
              </a:rPr>
              <a:t>Nó inicial: </a:t>
            </a:r>
            <a:r>
              <a:rPr lang="pt-BR" sz="2200">
                <a:solidFill>
                  <a:schemeClr val="dk1"/>
                </a:solidFill>
                <a:latin typeface="Calibri"/>
                <a:ea typeface="Calibri"/>
                <a:cs typeface="Calibri"/>
                <a:sym typeface="Calibri"/>
              </a:rPr>
              <a:t>representa o início do fluxo da atividade.</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b="1">
                <a:solidFill>
                  <a:schemeClr val="dk1"/>
                </a:solidFill>
                <a:latin typeface="Calibri"/>
                <a:ea typeface="Calibri"/>
                <a:cs typeface="Calibri"/>
                <a:sym typeface="Calibri"/>
              </a:rPr>
              <a:t>Nó final: </a:t>
            </a:r>
            <a:r>
              <a:rPr lang="pt-BR" sz="2200">
                <a:solidFill>
                  <a:schemeClr val="dk1"/>
                </a:solidFill>
                <a:latin typeface="Calibri"/>
                <a:ea typeface="Calibri"/>
                <a:cs typeface="Calibri"/>
                <a:sym typeface="Calibri"/>
              </a:rPr>
              <a:t>representar o fim do fluxo da atividade.</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80"/>
              </a:spcBef>
              <a:spcAft>
                <a:spcPts val="0"/>
              </a:spcAft>
              <a:buNone/>
            </a:pPr>
            <a:r>
              <a:rPr lang="pt-BR" sz="2200" b="1">
                <a:solidFill>
                  <a:schemeClr val="dk1"/>
                </a:solidFill>
                <a:latin typeface="Calibri"/>
                <a:ea typeface="Calibri"/>
                <a:cs typeface="Calibri"/>
                <a:sym typeface="Calibri"/>
              </a:rPr>
              <a:t>Nó de decisão: </a:t>
            </a:r>
            <a:r>
              <a:rPr lang="pt-BR" sz="2200">
                <a:solidFill>
                  <a:schemeClr val="dk1"/>
                </a:solidFill>
                <a:latin typeface="Calibri"/>
                <a:ea typeface="Calibri"/>
                <a:cs typeface="Calibri"/>
                <a:sym typeface="Calibri"/>
              </a:rPr>
              <a:t>representar uma escolha entre dois ou mais fluxos possíveis</a:t>
            </a:r>
            <a:r>
              <a:rPr lang="pt-BR" sz="2400">
                <a:solidFill>
                  <a:schemeClr val="dk1"/>
                </a:solidFill>
                <a:latin typeface="Calibri"/>
                <a:ea typeface="Calibri"/>
                <a:cs typeface="Calibri"/>
                <a:sym typeface="Calibri"/>
              </a:rPr>
              <a:t>.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2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51" name="Google Shape;351;p2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52" name="Google Shape;352;p28"/>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53" name="Google Shape;353;p2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29</a:t>
            </a:fld>
            <a:endParaRPr sz="6000">
              <a:solidFill>
                <a:schemeClr val="lt1"/>
              </a:solidFill>
              <a:latin typeface="Impact"/>
              <a:ea typeface="Impact"/>
              <a:cs typeface="Impact"/>
              <a:sym typeface="Impact"/>
            </a:endParaRPr>
          </a:p>
        </p:txBody>
      </p:sp>
      <p:sp>
        <p:nvSpPr>
          <p:cNvPr id="354" name="Google Shape;354;p28"/>
          <p:cNvSpPr txBox="1"/>
          <p:nvPr/>
        </p:nvSpPr>
        <p:spPr>
          <a:xfrm>
            <a:off x="971007" y="1471525"/>
            <a:ext cx="1023692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Diagrama de atividades</a:t>
            </a:r>
            <a:endParaRPr/>
          </a:p>
        </p:txBody>
      </p:sp>
      <p:pic>
        <p:nvPicPr>
          <p:cNvPr id="355" name="Google Shape;355;p28" descr="O diagrama de atividades é um dos diagramas disponíveis na UML (Linguagem de  Modelagem - Questões com Gabarito"/>
          <p:cNvPicPr preferRelativeResize="0"/>
          <p:nvPr/>
        </p:nvPicPr>
        <p:blipFill rotWithShape="1">
          <a:blip r:embed="rId5">
            <a:alphaModFix/>
          </a:blip>
          <a:srcRect/>
          <a:stretch/>
        </p:blipFill>
        <p:spPr>
          <a:xfrm>
            <a:off x="4741001" y="1532423"/>
            <a:ext cx="3971924" cy="486271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2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61" name="Google Shape;361;p2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62" name="Google Shape;362;p29"/>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63" name="Google Shape;363;p2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30</a:t>
            </a:fld>
            <a:endParaRPr sz="6000">
              <a:solidFill>
                <a:schemeClr val="lt1"/>
              </a:solidFill>
              <a:latin typeface="Impact"/>
              <a:ea typeface="Impact"/>
              <a:cs typeface="Impact"/>
              <a:sym typeface="Impact"/>
            </a:endParaRPr>
          </a:p>
        </p:txBody>
      </p:sp>
      <p:sp>
        <p:nvSpPr>
          <p:cNvPr id="364" name="Google Shape;364;p29"/>
          <p:cNvSpPr txBox="1"/>
          <p:nvPr/>
        </p:nvSpPr>
        <p:spPr>
          <a:xfrm>
            <a:off x="971007" y="1471525"/>
            <a:ext cx="1023692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Diagrama de atividades</a:t>
            </a:r>
            <a:endParaRPr/>
          </a:p>
        </p:txBody>
      </p:sp>
      <p:pic>
        <p:nvPicPr>
          <p:cNvPr id="365" name="Google Shape;365;p29"/>
          <p:cNvPicPr preferRelativeResize="0"/>
          <p:nvPr/>
        </p:nvPicPr>
        <p:blipFill rotWithShape="1">
          <a:blip r:embed="rId5">
            <a:alphaModFix/>
          </a:blip>
          <a:srcRect/>
          <a:stretch/>
        </p:blipFill>
        <p:spPr>
          <a:xfrm>
            <a:off x="1868536" y="1932169"/>
            <a:ext cx="8018703" cy="458619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p3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71" name="Google Shape;371;p3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72" name="Google Shape;372;p30"/>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73" name="Google Shape;373;p30"/>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31</a:t>
            </a:fld>
            <a:endParaRPr sz="6000">
              <a:solidFill>
                <a:schemeClr val="lt1"/>
              </a:solidFill>
              <a:latin typeface="Impact"/>
              <a:ea typeface="Impact"/>
              <a:cs typeface="Impact"/>
              <a:sym typeface="Impact"/>
            </a:endParaRPr>
          </a:p>
        </p:txBody>
      </p:sp>
      <p:sp>
        <p:nvSpPr>
          <p:cNvPr id="374" name="Google Shape;374;p30"/>
          <p:cNvSpPr txBox="1"/>
          <p:nvPr/>
        </p:nvSpPr>
        <p:spPr>
          <a:xfrm>
            <a:off x="971007" y="1471525"/>
            <a:ext cx="10236926" cy="518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Partições de atividade: </a:t>
            </a:r>
            <a:r>
              <a:rPr lang="pt-BR" sz="2400">
                <a:solidFill>
                  <a:schemeClr val="dk1"/>
                </a:solidFill>
                <a:latin typeface="Calibri"/>
                <a:ea typeface="Calibri"/>
                <a:cs typeface="Calibri"/>
                <a:sym typeface="Calibri"/>
              </a:rPr>
              <a:t>são um agrupamento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de elementos de atividade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e permitem representar o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fluxo de um processo que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passa por diversos setores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de uma empresa ou um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processo que é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manipulado por diversos </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atores.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pic>
        <p:nvPicPr>
          <p:cNvPr id="375" name="Google Shape;375;p30"/>
          <p:cNvPicPr preferRelativeResize="0"/>
          <p:nvPr/>
        </p:nvPicPr>
        <p:blipFill rotWithShape="1">
          <a:blip r:embed="rId5">
            <a:alphaModFix/>
          </a:blip>
          <a:srcRect/>
          <a:stretch/>
        </p:blipFill>
        <p:spPr>
          <a:xfrm>
            <a:off x="4652056" y="2021385"/>
            <a:ext cx="6531210" cy="42618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pic>
        <p:nvPicPr>
          <p:cNvPr id="380" name="Google Shape;380;p3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81" name="Google Shape;381;p3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82" name="Google Shape;382;p31"/>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83" name="Google Shape;383;p31"/>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32</a:t>
            </a:fld>
            <a:endParaRPr sz="6000">
              <a:solidFill>
                <a:schemeClr val="lt1"/>
              </a:solidFill>
              <a:latin typeface="Impact"/>
              <a:ea typeface="Impact"/>
              <a:cs typeface="Impact"/>
              <a:sym typeface="Impact"/>
            </a:endParaRPr>
          </a:p>
        </p:txBody>
      </p:sp>
      <p:sp>
        <p:nvSpPr>
          <p:cNvPr id="384" name="Google Shape;384;p31"/>
          <p:cNvSpPr txBox="1"/>
          <p:nvPr/>
        </p:nvSpPr>
        <p:spPr>
          <a:xfrm>
            <a:off x="971007" y="1471525"/>
            <a:ext cx="10236926" cy="47028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rgbClr val="1E4E79"/>
                </a:solidFill>
                <a:latin typeface="Calibri"/>
                <a:ea typeface="Calibri"/>
                <a:cs typeface="Calibri"/>
                <a:sym typeface="Calibri"/>
              </a:rPr>
              <a:t>Diagramas de classes - UML</a:t>
            </a:r>
            <a:endParaRPr/>
          </a:p>
          <a:p>
            <a:pPr marL="0" marR="0" lvl="0" indent="0" algn="l" rtl="0">
              <a:spcBef>
                <a:spcPts val="560"/>
              </a:spcBef>
              <a:spcAft>
                <a:spcPts val="0"/>
              </a:spcAft>
              <a:buNone/>
            </a:pPr>
            <a:r>
              <a:rPr lang="pt-BR" sz="2800">
                <a:solidFill>
                  <a:schemeClr val="dk1"/>
                </a:solidFill>
                <a:latin typeface="Calibri"/>
                <a:ea typeface="Calibri"/>
                <a:cs typeface="Calibri"/>
                <a:sym typeface="Calibri"/>
              </a:rPr>
              <a:t/>
            </a:r>
            <a:br>
              <a:rPr lang="pt-BR" sz="2800">
                <a:solidFill>
                  <a:schemeClr val="dk1"/>
                </a:solidFill>
                <a:latin typeface="Calibri"/>
                <a:ea typeface="Calibri"/>
                <a:cs typeface="Calibri"/>
                <a:sym typeface="Calibri"/>
              </a:rPr>
            </a:br>
            <a:r>
              <a:rPr lang="pt-BR" sz="2200">
                <a:solidFill>
                  <a:schemeClr val="dk1"/>
                </a:solidFill>
                <a:latin typeface="Calibri"/>
                <a:ea typeface="Calibri"/>
                <a:cs typeface="Calibri"/>
                <a:sym typeface="Calibri"/>
              </a:rPr>
              <a:t>É um modelo estrutural que permite a visualização das classes que irão compor o sistema com seus respectivos atributos e métodos e demonstra como essas classes se relacionam.</a:t>
            </a:r>
            <a:endParaRPr sz="2200">
              <a:solidFill>
                <a:schemeClr val="dk1"/>
              </a:solidFill>
              <a:latin typeface="Calibri"/>
              <a:ea typeface="Calibri"/>
              <a:cs typeface="Calibri"/>
              <a:sym typeface="Calibri"/>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a:solidFill>
                  <a:schemeClr val="dk1"/>
                </a:solidFill>
                <a:latin typeface="Calibri"/>
                <a:ea typeface="Calibri"/>
                <a:cs typeface="Calibri"/>
                <a:sym typeface="Calibri"/>
              </a:rPr>
              <a:t>No modelo conceitual, são representadas as classes e seus atributos que o software vai necessitar, bem como as associações entre as classes, não modelando informações como os métodos que as classes poderão conter.</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p32"/>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90" name="Google Shape;390;p32"/>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391" name="Google Shape;391;p32"/>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392" name="Google Shape;392;p32"/>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33</a:t>
            </a:fld>
            <a:endParaRPr sz="6000">
              <a:solidFill>
                <a:schemeClr val="lt1"/>
              </a:solidFill>
              <a:latin typeface="Impact"/>
              <a:ea typeface="Impact"/>
              <a:cs typeface="Impact"/>
              <a:sym typeface="Impact"/>
            </a:endParaRPr>
          </a:p>
        </p:txBody>
      </p:sp>
      <p:sp>
        <p:nvSpPr>
          <p:cNvPr id="393" name="Google Shape;393;p32"/>
          <p:cNvSpPr txBox="1"/>
          <p:nvPr/>
        </p:nvSpPr>
        <p:spPr>
          <a:xfrm>
            <a:off x="971007" y="1471525"/>
            <a:ext cx="10563496" cy="5133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Componentes:</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b="1">
                <a:solidFill>
                  <a:schemeClr val="dk1"/>
                </a:solidFill>
                <a:latin typeface="Calibri"/>
                <a:ea typeface="Calibri"/>
                <a:cs typeface="Calibri"/>
                <a:sym typeface="Calibri"/>
              </a:rPr>
              <a:t>Classe: </a:t>
            </a:r>
            <a:r>
              <a:rPr lang="pt-BR" sz="2200">
                <a:solidFill>
                  <a:schemeClr val="dk1"/>
                </a:solidFill>
                <a:latin typeface="Calibri"/>
                <a:ea typeface="Calibri"/>
                <a:cs typeface="Calibri"/>
                <a:sym typeface="Calibri"/>
              </a:rPr>
              <a:t>Uma classe pode ser entendida como uma definição de um tipo de objeto do sistema. Os objetos representam algo no mundo real, como um paciente, uma receita médica, um médico, etc. É representada por um retângulo e pode possuir até três divisões:</a:t>
            </a:r>
            <a:endParaRPr/>
          </a:p>
          <a:p>
            <a:pPr marL="0" marR="0" lvl="0" indent="-127000" algn="l" rtl="0">
              <a:spcBef>
                <a:spcPts val="400"/>
              </a:spcBef>
              <a:spcAft>
                <a:spcPts val="0"/>
              </a:spcAft>
              <a:buClr>
                <a:schemeClr val="dk1"/>
              </a:buClr>
              <a:buSzPts val="2000"/>
              <a:buFont typeface="Noto Sans Symbols"/>
              <a:buChar char="▪"/>
            </a:pPr>
            <a:r>
              <a:rPr lang="pt-BR" sz="2000">
                <a:solidFill>
                  <a:schemeClr val="dk1"/>
                </a:solidFill>
                <a:latin typeface="Calibri"/>
                <a:ea typeface="Calibri"/>
                <a:cs typeface="Calibri"/>
                <a:sym typeface="Calibri"/>
              </a:rPr>
              <a:t> Descrição ou nome da classe </a:t>
            </a:r>
            <a:endParaRPr/>
          </a:p>
          <a:p>
            <a:pPr marL="0" marR="0" lvl="0" indent="-127000" algn="l" rtl="0">
              <a:spcBef>
                <a:spcPts val="400"/>
              </a:spcBef>
              <a:spcAft>
                <a:spcPts val="0"/>
              </a:spcAft>
              <a:buClr>
                <a:schemeClr val="dk1"/>
              </a:buClr>
              <a:buSzPts val="2000"/>
              <a:buFont typeface="Noto Sans Symbols"/>
              <a:buChar char="▪"/>
            </a:pPr>
            <a:r>
              <a:rPr lang="pt-BR" sz="2000">
                <a:solidFill>
                  <a:schemeClr val="dk1"/>
                </a:solidFill>
                <a:latin typeface="Calibri"/>
                <a:ea typeface="Calibri"/>
                <a:cs typeface="Calibri"/>
                <a:sym typeface="Calibri"/>
              </a:rPr>
              <a:t> Atributos e seus tipos de dados</a:t>
            </a:r>
            <a:endParaRPr/>
          </a:p>
          <a:p>
            <a:pPr marL="0" marR="0" lvl="0" indent="-127000" algn="l" rtl="0">
              <a:spcBef>
                <a:spcPts val="400"/>
              </a:spcBef>
              <a:spcAft>
                <a:spcPts val="0"/>
              </a:spcAft>
              <a:buClr>
                <a:schemeClr val="dk1"/>
              </a:buClr>
              <a:buSzPts val="2000"/>
              <a:buFont typeface="Noto Sans Symbols"/>
              <a:buChar char="▪"/>
            </a:pPr>
            <a:r>
              <a:rPr lang="pt-BR" sz="2000">
                <a:solidFill>
                  <a:schemeClr val="dk1"/>
                </a:solidFill>
                <a:latin typeface="Calibri"/>
                <a:ea typeface="Calibri"/>
                <a:cs typeface="Calibri"/>
                <a:sym typeface="Calibri"/>
              </a:rPr>
              <a:t> Métodos da classe</a:t>
            </a:r>
            <a:endParaRPr/>
          </a:p>
          <a:p>
            <a:pPr marL="0" marR="0" lvl="0" indent="0" algn="l" rtl="0">
              <a:spcBef>
                <a:spcPts val="440"/>
              </a:spcBef>
              <a:spcAft>
                <a:spcPts val="0"/>
              </a:spcAft>
              <a:buClr>
                <a:schemeClr val="dk1"/>
              </a:buClr>
              <a:buSzPts val="2200"/>
              <a:buFont typeface="Noto Sans Symbols"/>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a:solidFill>
                  <a:schemeClr val="dk1"/>
                </a:solidFill>
                <a:latin typeface="Calibri"/>
                <a:ea typeface="Calibri"/>
                <a:cs typeface="Calibri"/>
                <a:sym typeface="Calibri"/>
              </a:rPr>
              <a:t>Os símbolos na frente dos atributos e métodos determinam quais objetos de quais classes podem utilizar o atributo ou o método em questão.</a:t>
            </a:r>
            <a:endParaRPr/>
          </a:p>
          <a:p>
            <a:pPr marL="0" marR="0" lvl="0" indent="-127000" algn="l" rtl="0">
              <a:spcBef>
                <a:spcPts val="0"/>
              </a:spcBef>
              <a:spcAft>
                <a:spcPts val="0"/>
              </a:spcAft>
              <a:buClr>
                <a:schemeClr val="dk1"/>
              </a:buClr>
              <a:buSzPts val="2000"/>
              <a:buFont typeface="Arial"/>
              <a:buChar char="•"/>
            </a:pPr>
            <a:r>
              <a:rPr lang="pt-BR" sz="2000">
                <a:solidFill>
                  <a:schemeClr val="dk1"/>
                </a:solidFill>
                <a:latin typeface="Calibri"/>
                <a:ea typeface="Calibri"/>
                <a:cs typeface="Calibri"/>
                <a:sym typeface="Calibri"/>
              </a:rPr>
              <a:t> Público (+)</a:t>
            </a:r>
            <a:endParaRPr/>
          </a:p>
          <a:p>
            <a:pPr marL="0" marR="0" lvl="0" indent="-127000" algn="l" rtl="0">
              <a:spcBef>
                <a:spcPts val="0"/>
              </a:spcBef>
              <a:spcAft>
                <a:spcPts val="0"/>
              </a:spcAft>
              <a:buClr>
                <a:schemeClr val="dk1"/>
              </a:buClr>
              <a:buSzPts val="2000"/>
              <a:buFont typeface="Arial"/>
              <a:buChar char="•"/>
            </a:pPr>
            <a:r>
              <a:rPr lang="pt-BR" sz="2000">
                <a:solidFill>
                  <a:schemeClr val="dk1"/>
                </a:solidFill>
                <a:latin typeface="Calibri"/>
                <a:ea typeface="Calibri"/>
                <a:cs typeface="Calibri"/>
                <a:sym typeface="Calibri"/>
              </a:rPr>
              <a:t> Privado (-)</a:t>
            </a:r>
            <a:endParaRPr/>
          </a:p>
          <a:p>
            <a:pPr marL="0" marR="0" lvl="0" indent="-127000" algn="l" rtl="0">
              <a:spcBef>
                <a:spcPts val="0"/>
              </a:spcBef>
              <a:spcAft>
                <a:spcPts val="0"/>
              </a:spcAft>
              <a:buClr>
                <a:schemeClr val="dk1"/>
              </a:buClr>
              <a:buSzPts val="2000"/>
              <a:buFont typeface="Arial"/>
              <a:buChar char="•"/>
            </a:pPr>
            <a:r>
              <a:rPr lang="pt-BR" sz="2000">
                <a:solidFill>
                  <a:schemeClr val="dk1"/>
                </a:solidFill>
                <a:latin typeface="Calibri"/>
                <a:ea typeface="Calibri"/>
                <a:cs typeface="Calibri"/>
                <a:sym typeface="Calibri"/>
              </a:rPr>
              <a:t> Protegido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8" name="Google Shape;398;p33"/>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399" name="Google Shape;399;p33"/>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00" name="Google Shape;400;p33"/>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401" name="Google Shape;401;p33"/>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34</a:t>
            </a:fld>
            <a:endParaRPr sz="6000">
              <a:solidFill>
                <a:schemeClr val="lt1"/>
              </a:solidFill>
              <a:latin typeface="Impact"/>
              <a:ea typeface="Impact"/>
              <a:cs typeface="Impact"/>
              <a:sym typeface="Impact"/>
            </a:endParaRPr>
          </a:p>
        </p:txBody>
      </p:sp>
      <p:sp>
        <p:nvSpPr>
          <p:cNvPr id="402" name="Google Shape;402;p33"/>
          <p:cNvSpPr txBox="1"/>
          <p:nvPr/>
        </p:nvSpPr>
        <p:spPr>
          <a:xfrm>
            <a:off x="971007" y="1471525"/>
            <a:ext cx="10236926" cy="38533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200" b="1">
                <a:solidFill>
                  <a:schemeClr val="dk1"/>
                </a:solidFill>
                <a:latin typeface="Calibri"/>
                <a:ea typeface="Calibri"/>
                <a:cs typeface="Calibri"/>
                <a:sym typeface="Calibri"/>
              </a:rPr>
              <a:t>Associações:</a:t>
            </a:r>
            <a:r>
              <a:rPr lang="pt-BR" sz="2200">
                <a:solidFill>
                  <a:schemeClr val="dk1"/>
                </a:solidFill>
                <a:latin typeface="Calibri"/>
                <a:ea typeface="Calibri"/>
                <a:cs typeface="Calibri"/>
                <a:sym typeface="Calibri"/>
              </a:rPr>
              <a:t> Os relacionamentos entre as classes são chamados de associações e descrevem um vínculo que ocorre entre os objetos das classes.</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b="1">
                <a:solidFill>
                  <a:schemeClr val="dk1"/>
                </a:solidFill>
                <a:latin typeface="Calibri"/>
                <a:ea typeface="Calibri"/>
                <a:cs typeface="Calibri"/>
                <a:sym typeface="Calibri"/>
              </a:rPr>
              <a:t>Associação Unária:</a:t>
            </a:r>
            <a:r>
              <a:rPr lang="pt-BR" sz="2200">
                <a:solidFill>
                  <a:schemeClr val="dk1"/>
                </a:solidFill>
                <a:latin typeface="Calibri"/>
                <a:ea typeface="Calibri"/>
                <a:cs typeface="Calibri"/>
                <a:sym typeface="Calibri"/>
              </a:rPr>
              <a:t> ocorre quando existe um relacionamento de um objeto de uma classe com objetos da mesma classe.  </a:t>
            </a:r>
            <a:endParaRPr/>
          </a:p>
          <a:p>
            <a:pPr marL="0" marR="0" lvl="0" indent="0" algn="l" rtl="0">
              <a:spcBef>
                <a:spcPts val="440"/>
              </a:spcBef>
              <a:spcAft>
                <a:spcPts val="0"/>
              </a:spcAft>
              <a:buNone/>
            </a:pPr>
            <a:r>
              <a:rPr lang="pt-BR" sz="2200" b="1">
                <a:solidFill>
                  <a:schemeClr val="dk1"/>
                </a:solidFill>
                <a:latin typeface="Calibri"/>
                <a:ea typeface="Calibri"/>
                <a:cs typeface="Calibri"/>
                <a:sym typeface="Calibri"/>
              </a:rPr>
              <a:t>Associação Binária:</a:t>
            </a:r>
            <a:r>
              <a:rPr lang="pt-BR" sz="2200">
                <a:solidFill>
                  <a:schemeClr val="dk1"/>
                </a:solidFill>
                <a:latin typeface="Calibri"/>
                <a:ea typeface="Calibri"/>
                <a:cs typeface="Calibri"/>
                <a:sym typeface="Calibri"/>
              </a:rPr>
              <a:t> ocorrem quando existem relacionamentos entre objetos de duas classes diferentes.</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pic>
        <p:nvPicPr>
          <p:cNvPr id="407" name="Google Shape;407;p34"/>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08" name="Google Shape;408;p34"/>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09" name="Google Shape;409;p34"/>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410" name="Google Shape;410;p34"/>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35</a:t>
            </a:fld>
            <a:endParaRPr sz="6000">
              <a:solidFill>
                <a:schemeClr val="lt1"/>
              </a:solidFill>
              <a:latin typeface="Impact"/>
              <a:ea typeface="Impact"/>
              <a:cs typeface="Impact"/>
              <a:sym typeface="Impact"/>
            </a:endParaRPr>
          </a:p>
        </p:txBody>
      </p:sp>
      <p:sp>
        <p:nvSpPr>
          <p:cNvPr id="411" name="Google Shape;411;p34"/>
          <p:cNvSpPr txBox="1"/>
          <p:nvPr/>
        </p:nvSpPr>
        <p:spPr>
          <a:xfrm>
            <a:off x="971007" y="1471525"/>
            <a:ext cx="10236926" cy="2425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Associações (GUEDES, 2018):</a:t>
            </a:r>
            <a:endParaRPr/>
          </a:p>
          <a:p>
            <a:pPr marL="0" marR="0" lvl="0" indent="0" algn="l" rtl="0">
              <a:spcBef>
                <a:spcPts val="560"/>
              </a:spcBef>
              <a:spcAft>
                <a:spcPts val="0"/>
              </a:spcAft>
              <a:buNone/>
            </a:pPr>
            <a:r>
              <a:rPr lang="pt-BR" sz="2800">
                <a:solidFill>
                  <a:schemeClr val="dk1"/>
                </a:solidFill>
                <a:latin typeface="Calibri"/>
                <a:ea typeface="Calibri"/>
                <a:cs typeface="Calibri"/>
                <a:sym typeface="Calibri"/>
              </a:rPr>
              <a:t/>
            </a:r>
            <a:br>
              <a:rPr lang="pt-BR" sz="28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graphicFrame>
        <p:nvGraphicFramePr>
          <p:cNvPr id="412" name="Google Shape;412;p34"/>
          <p:cNvGraphicFramePr/>
          <p:nvPr/>
        </p:nvGraphicFramePr>
        <p:xfrm>
          <a:off x="986970" y="2104329"/>
          <a:ext cx="10155650" cy="4490790"/>
        </p:xfrm>
        <a:graphic>
          <a:graphicData uri="http://schemas.openxmlformats.org/drawingml/2006/table">
            <a:tbl>
              <a:tblPr firstRow="1" bandRow="1">
                <a:noFill/>
                <a:tableStyleId>{FE8EFC0D-0CF8-4CBB-B8A5-F21A259A8E72}</a:tableStyleId>
              </a:tblPr>
              <a:tblGrid>
                <a:gridCol w="1703975"/>
                <a:gridCol w="8451675"/>
              </a:tblGrid>
              <a:tr h="370850">
                <a:tc>
                  <a:txBody>
                    <a:bodyPr/>
                    <a:lstStyle/>
                    <a:p>
                      <a:pPr marL="0" marR="0" lvl="0" indent="0" algn="l" rtl="0">
                        <a:spcBef>
                          <a:spcPts val="0"/>
                        </a:spcBef>
                        <a:spcAft>
                          <a:spcPts val="0"/>
                        </a:spcAft>
                        <a:buNone/>
                      </a:pPr>
                      <a:r>
                        <a:rPr lang="pt-BR" sz="1800" u="none" strike="noStrike" cap="none"/>
                        <a:t>Multiplicidade</a:t>
                      </a:r>
                      <a:endParaRPr sz="1800"/>
                    </a:p>
                  </a:txBody>
                  <a:tcPr marL="91450" marR="91450" marT="45725" marB="45725"/>
                </a:tc>
                <a:tc>
                  <a:txBody>
                    <a:bodyPr/>
                    <a:lstStyle/>
                    <a:p>
                      <a:pPr marL="0" marR="0" lvl="0" indent="0" algn="l" rtl="0">
                        <a:spcBef>
                          <a:spcPts val="0"/>
                        </a:spcBef>
                        <a:spcAft>
                          <a:spcPts val="0"/>
                        </a:spcAft>
                        <a:buNone/>
                      </a:pPr>
                      <a:r>
                        <a:rPr lang="pt-BR" sz="1800"/>
                        <a:t>Significado</a:t>
                      </a:r>
                      <a:endParaRPr sz="1800"/>
                    </a:p>
                  </a:txBody>
                  <a:tcPr marL="91450" marR="91450" marT="45725" marB="45725"/>
                </a:tc>
              </a:tr>
              <a:tr h="370850">
                <a:tc>
                  <a:txBody>
                    <a:bodyPr/>
                    <a:lstStyle/>
                    <a:p>
                      <a:pPr marL="0" marR="0" lvl="0" indent="0" algn="l" rtl="0">
                        <a:spcBef>
                          <a:spcPts val="0"/>
                        </a:spcBef>
                        <a:spcAft>
                          <a:spcPts val="0"/>
                        </a:spcAft>
                        <a:buNone/>
                      </a:pPr>
                      <a:r>
                        <a:rPr lang="pt-BR" sz="1800"/>
                        <a:t>0..1</a:t>
                      </a:r>
                      <a:endParaRPr sz="1800"/>
                    </a:p>
                  </a:txBody>
                  <a:tcPr marL="91450" marR="91450" marT="45725" marB="45725"/>
                </a:tc>
                <a:tc>
                  <a:txBody>
                    <a:bodyPr/>
                    <a:lstStyle/>
                    <a:p>
                      <a:pPr marL="0" marR="0" lvl="0" indent="0" algn="l" rtl="0">
                        <a:spcBef>
                          <a:spcPts val="0"/>
                        </a:spcBef>
                        <a:spcAft>
                          <a:spcPts val="0"/>
                        </a:spcAft>
                        <a:buNone/>
                      </a:pPr>
                      <a:r>
                        <a:rPr lang="pt-BR" sz="1800" b="0" i="0">
                          <a:solidFill>
                            <a:schemeClr val="dk1"/>
                          </a:solidFill>
                          <a:latin typeface="Calibri"/>
                          <a:ea typeface="Calibri"/>
                          <a:cs typeface="Calibri"/>
                          <a:sym typeface="Calibri"/>
                        </a:rPr>
                        <a:t>No mínimo, zero e, no máximo, um. Os objetos das classes associadas não precisam estar relacionados, mas se estiverem, apenas uma instância da classe vai se relacionar com a</a:t>
                      </a:r>
                      <a:br>
                        <a:rPr lang="pt-BR" sz="1800" b="0" i="0">
                          <a:solidFill>
                            <a:schemeClr val="dk1"/>
                          </a:solidFill>
                          <a:latin typeface="Calibri"/>
                          <a:ea typeface="Calibri"/>
                          <a:cs typeface="Calibri"/>
                          <a:sym typeface="Calibri"/>
                        </a:rPr>
                      </a:br>
                      <a:r>
                        <a:rPr lang="pt-BR" sz="1800" b="0" i="0">
                          <a:solidFill>
                            <a:schemeClr val="dk1"/>
                          </a:solidFill>
                          <a:latin typeface="Calibri"/>
                          <a:ea typeface="Calibri"/>
                          <a:cs typeface="Calibri"/>
                          <a:sym typeface="Calibri"/>
                        </a:rPr>
                        <a:t>outra classe.</a:t>
                      </a:r>
                      <a:r>
                        <a:rPr lang="pt-BR" sz="1800"/>
                        <a:t> </a:t>
                      </a:r>
                      <a:endParaRPr sz="1800"/>
                    </a:p>
                  </a:txBody>
                  <a:tcPr marL="91450" marR="91450" marT="45725" marB="45725"/>
                </a:tc>
              </a:tr>
              <a:tr h="370850">
                <a:tc>
                  <a:txBody>
                    <a:bodyPr/>
                    <a:lstStyle/>
                    <a:p>
                      <a:pPr marL="0" marR="0" lvl="0" indent="0" algn="l" rtl="0">
                        <a:spcBef>
                          <a:spcPts val="0"/>
                        </a:spcBef>
                        <a:spcAft>
                          <a:spcPts val="0"/>
                        </a:spcAft>
                        <a:buNone/>
                      </a:pPr>
                      <a:r>
                        <a:rPr lang="pt-BR" sz="1800"/>
                        <a:t>1..1</a:t>
                      </a:r>
                      <a:endParaRPr/>
                    </a:p>
                  </a:txBody>
                  <a:tcPr marL="91450" marR="91450" marT="45725" marB="45725"/>
                </a:tc>
                <a:tc>
                  <a:txBody>
                    <a:bodyPr/>
                    <a:lstStyle/>
                    <a:p>
                      <a:pPr marL="0" marR="0" lvl="0" indent="0" algn="l" rtl="0">
                        <a:spcBef>
                          <a:spcPts val="0"/>
                        </a:spcBef>
                        <a:spcAft>
                          <a:spcPts val="0"/>
                        </a:spcAft>
                        <a:buNone/>
                      </a:pPr>
                      <a:r>
                        <a:rPr lang="pt-BR" sz="1800" b="0" i="0">
                          <a:solidFill>
                            <a:schemeClr val="dk1"/>
                          </a:solidFill>
                          <a:latin typeface="Calibri"/>
                          <a:ea typeface="Calibri"/>
                          <a:cs typeface="Calibri"/>
                          <a:sym typeface="Calibri"/>
                        </a:rPr>
                        <a:t>Um e somente um. Define que somente um objeto da classe vai se relacionar com os objetos da outra classe.</a:t>
                      </a:r>
                      <a:r>
                        <a:rPr lang="pt-BR" sz="1800"/>
                        <a:t> </a:t>
                      </a:r>
                      <a:endParaRPr sz="1800"/>
                    </a:p>
                  </a:txBody>
                  <a:tcPr marL="91450" marR="91450" marT="45725" marB="45725"/>
                </a:tc>
              </a:tr>
              <a:tr h="370850">
                <a:tc>
                  <a:txBody>
                    <a:bodyPr/>
                    <a:lstStyle/>
                    <a:p>
                      <a:pPr marL="0" marR="0" lvl="0" indent="0" algn="l" rtl="0">
                        <a:spcBef>
                          <a:spcPts val="0"/>
                        </a:spcBef>
                        <a:spcAft>
                          <a:spcPts val="0"/>
                        </a:spcAft>
                        <a:buNone/>
                      </a:pPr>
                      <a:r>
                        <a:rPr lang="pt-BR" sz="1800"/>
                        <a:t>0..*</a:t>
                      </a:r>
                      <a:endParaRPr/>
                    </a:p>
                  </a:txBody>
                  <a:tcPr marL="91450" marR="91450" marT="45725" marB="45725"/>
                </a:tc>
                <a:tc>
                  <a:txBody>
                    <a:bodyPr/>
                    <a:lstStyle/>
                    <a:p>
                      <a:pPr marL="0" marR="0" lvl="0" indent="0" algn="l" rtl="0">
                        <a:spcBef>
                          <a:spcPts val="0"/>
                        </a:spcBef>
                        <a:spcAft>
                          <a:spcPts val="0"/>
                        </a:spcAft>
                        <a:buNone/>
                      </a:pPr>
                      <a:r>
                        <a:rPr lang="pt-BR" sz="1800" b="0" i="0">
                          <a:solidFill>
                            <a:schemeClr val="dk1"/>
                          </a:solidFill>
                          <a:latin typeface="Calibri"/>
                          <a:ea typeface="Calibri"/>
                          <a:cs typeface="Calibri"/>
                          <a:sym typeface="Calibri"/>
                        </a:rPr>
                        <a:t>No mínimo nenhum e, no máximo muitos. Define que pode ou não haver</a:t>
                      </a:r>
                      <a:br>
                        <a:rPr lang="pt-BR" sz="1800" b="0" i="0">
                          <a:solidFill>
                            <a:schemeClr val="dk1"/>
                          </a:solidFill>
                          <a:latin typeface="Calibri"/>
                          <a:ea typeface="Calibri"/>
                          <a:cs typeface="Calibri"/>
                          <a:sym typeface="Calibri"/>
                        </a:rPr>
                      </a:br>
                      <a:r>
                        <a:rPr lang="pt-BR" sz="1800" b="0" i="0">
                          <a:solidFill>
                            <a:schemeClr val="dk1"/>
                          </a:solidFill>
                          <a:latin typeface="Calibri"/>
                          <a:ea typeface="Calibri"/>
                          <a:cs typeface="Calibri"/>
                          <a:sym typeface="Calibri"/>
                        </a:rPr>
                        <a:t>instâncias da classe participando do relacionamento</a:t>
                      </a:r>
                      <a:r>
                        <a:rPr lang="pt-BR" sz="1800"/>
                        <a:t> </a:t>
                      </a:r>
                      <a:endParaRPr sz="1800"/>
                    </a:p>
                  </a:txBody>
                  <a:tcPr marL="91450" marR="91450" marT="45725" marB="45725"/>
                </a:tc>
              </a:tr>
              <a:tr h="370850">
                <a:tc>
                  <a:txBody>
                    <a:bodyPr/>
                    <a:lstStyle/>
                    <a:p>
                      <a:pPr marL="0" marR="0" lvl="0" indent="0" algn="l" rtl="0">
                        <a:spcBef>
                          <a:spcPts val="0"/>
                        </a:spcBef>
                        <a:spcAft>
                          <a:spcPts val="0"/>
                        </a:spcAft>
                        <a:buNone/>
                      </a:pPr>
                      <a:r>
                        <a:rPr lang="pt-BR" sz="1800"/>
                        <a:t>*</a:t>
                      </a:r>
                      <a:endParaRPr/>
                    </a:p>
                  </a:txBody>
                  <a:tcPr marL="91450" marR="91450" marT="45725" marB="45725"/>
                </a:tc>
                <a:tc>
                  <a:txBody>
                    <a:bodyPr/>
                    <a:lstStyle/>
                    <a:p>
                      <a:pPr marL="0" marR="0" lvl="0" indent="0" algn="l" rtl="0">
                        <a:spcBef>
                          <a:spcPts val="0"/>
                        </a:spcBef>
                        <a:spcAft>
                          <a:spcPts val="0"/>
                        </a:spcAft>
                        <a:buNone/>
                      </a:pPr>
                      <a:r>
                        <a:rPr lang="pt-BR" sz="1800" b="0" i="0">
                          <a:solidFill>
                            <a:schemeClr val="dk1"/>
                          </a:solidFill>
                          <a:latin typeface="Calibri"/>
                          <a:ea typeface="Calibri"/>
                          <a:cs typeface="Calibri"/>
                          <a:sym typeface="Calibri"/>
                        </a:rPr>
                        <a:t>Muitos. Indica que muitos objetos da classe estão envolvidos na associação</a:t>
                      </a:r>
                      <a:r>
                        <a:rPr lang="pt-BR" sz="1800"/>
                        <a:t> </a:t>
                      </a:r>
                      <a:endParaRPr sz="1800"/>
                    </a:p>
                  </a:txBody>
                  <a:tcPr marL="91450" marR="91450" marT="45725" marB="45725"/>
                </a:tc>
              </a:tr>
              <a:tr h="370850">
                <a:tc>
                  <a:txBody>
                    <a:bodyPr/>
                    <a:lstStyle/>
                    <a:p>
                      <a:pPr marL="0" marR="0" lvl="0" indent="0" algn="l" rtl="0">
                        <a:spcBef>
                          <a:spcPts val="0"/>
                        </a:spcBef>
                        <a:spcAft>
                          <a:spcPts val="0"/>
                        </a:spcAft>
                        <a:buNone/>
                      </a:pPr>
                      <a:r>
                        <a:rPr lang="pt-BR" sz="1800"/>
                        <a:t>1..*</a:t>
                      </a:r>
                      <a:endParaRPr/>
                    </a:p>
                  </a:txBody>
                  <a:tcPr marL="91450" marR="91450" marT="45725" marB="45725"/>
                </a:tc>
                <a:tc>
                  <a:txBody>
                    <a:bodyPr/>
                    <a:lstStyle/>
                    <a:p>
                      <a:pPr marL="0" marR="0" lvl="0" indent="0" algn="l" rtl="0">
                        <a:spcBef>
                          <a:spcPts val="0"/>
                        </a:spcBef>
                        <a:spcAft>
                          <a:spcPts val="0"/>
                        </a:spcAft>
                        <a:buNone/>
                      </a:pPr>
                      <a:r>
                        <a:rPr lang="pt-BR" sz="1800" b="0" i="0">
                          <a:solidFill>
                            <a:schemeClr val="dk1"/>
                          </a:solidFill>
                          <a:latin typeface="Calibri"/>
                          <a:ea typeface="Calibri"/>
                          <a:cs typeface="Calibri"/>
                          <a:sym typeface="Calibri"/>
                        </a:rPr>
                        <a:t>No mínimo um e, no máximo muitos. Define que há pelo menos um objeto</a:t>
                      </a:r>
                      <a:br>
                        <a:rPr lang="pt-BR" sz="1800" b="0" i="0">
                          <a:solidFill>
                            <a:schemeClr val="dk1"/>
                          </a:solidFill>
                          <a:latin typeface="Calibri"/>
                          <a:ea typeface="Calibri"/>
                          <a:cs typeface="Calibri"/>
                          <a:sym typeface="Calibri"/>
                        </a:rPr>
                      </a:br>
                      <a:r>
                        <a:rPr lang="pt-BR" sz="1800" b="0" i="0">
                          <a:solidFill>
                            <a:schemeClr val="dk1"/>
                          </a:solidFill>
                          <a:latin typeface="Calibri"/>
                          <a:ea typeface="Calibri"/>
                          <a:cs typeface="Calibri"/>
                          <a:sym typeface="Calibri"/>
                        </a:rPr>
                        <a:t>relacionado, podendo haver muitos outros.</a:t>
                      </a:r>
                      <a:r>
                        <a:rPr lang="pt-BR" sz="1800"/>
                        <a:t> </a:t>
                      </a:r>
                      <a:endParaRPr/>
                    </a:p>
                  </a:txBody>
                  <a:tcPr marL="91450" marR="91450" marT="45725" marB="45725"/>
                </a:tc>
              </a:tr>
              <a:tr h="370850">
                <a:tc>
                  <a:txBody>
                    <a:bodyPr/>
                    <a:lstStyle/>
                    <a:p>
                      <a:pPr marL="0" marR="0" lvl="0" indent="0" algn="l" rtl="0">
                        <a:spcBef>
                          <a:spcPts val="0"/>
                        </a:spcBef>
                        <a:spcAft>
                          <a:spcPts val="0"/>
                        </a:spcAft>
                        <a:buNone/>
                      </a:pPr>
                      <a:r>
                        <a:rPr lang="pt-BR" sz="1800"/>
                        <a:t>3..5</a:t>
                      </a:r>
                      <a:endParaRPr/>
                    </a:p>
                  </a:txBody>
                  <a:tcPr marL="91450" marR="91450" marT="45725" marB="45725"/>
                </a:tc>
                <a:tc>
                  <a:txBody>
                    <a:bodyPr/>
                    <a:lstStyle/>
                    <a:p>
                      <a:pPr marL="0" marR="0" lvl="0" indent="0" algn="l" rtl="0">
                        <a:spcBef>
                          <a:spcPts val="0"/>
                        </a:spcBef>
                        <a:spcAft>
                          <a:spcPts val="0"/>
                        </a:spcAft>
                        <a:buNone/>
                      </a:pPr>
                      <a:r>
                        <a:rPr lang="pt-BR" sz="1800" b="0" i="0">
                          <a:solidFill>
                            <a:schemeClr val="dk1"/>
                          </a:solidFill>
                          <a:latin typeface="Calibri"/>
                          <a:ea typeface="Calibri"/>
                          <a:cs typeface="Calibri"/>
                          <a:sym typeface="Calibri"/>
                        </a:rPr>
                        <a:t>No mínimo três e, no máximo cinco. Indica que existem no mínimo três instâncias relacionadas, mas podem ser quatro ou cinco, mas não mais do que isso.</a:t>
                      </a:r>
                      <a:r>
                        <a:rPr lang="pt-BR" sz="1800"/>
                        <a:t> </a:t>
                      </a:r>
                      <a:endParaRPr sz="1800"/>
                    </a:p>
                  </a:txBody>
                  <a:tcPr marL="91450" marR="91450" marT="45725" marB="4572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35"/>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18" name="Google Shape;418;p35"/>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19" name="Google Shape;419;p35"/>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420" name="Google Shape;420;p35"/>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36</a:t>
            </a:fld>
            <a:endParaRPr sz="6000">
              <a:solidFill>
                <a:schemeClr val="lt1"/>
              </a:solidFill>
              <a:latin typeface="Impact"/>
              <a:ea typeface="Impact"/>
              <a:cs typeface="Impact"/>
              <a:sym typeface="Impact"/>
            </a:endParaRPr>
          </a:p>
        </p:txBody>
      </p:sp>
      <p:sp>
        <p:nvSpPr>
          <p:cNvPr id="421" name="Google Shape;421;p35"/>
          <p:cNvSpPr txBox="1"/>
          <p:nvPr/>
        </p:nvSpPr>
        <p:spPr>
          <a:xfrm>
            <a:off x="971007" y="1471525"/>
            <a:ext cx="10236926" cy="127419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Diagramas de classes</a:t>
            </a:r>
            <a:endParaRPr/>
          </a:p>
          <a:p>
            <a:pPr marL="0" marR="0" lvl="0" indent="0" algn="l" rtl="0">
              <a:spcBef>
                <a:spcPts val="480"/>
              </a:spcBef>
              <a:spcAft>
                <a:spcPts val="0"/>
              </a:spcAft>
              <a:buNone/>
            </a:pP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p:txBody>
      </p:sp>
      <p:pic>
        <p:nvPicPr>
          <p:cNvPr id="422" name="Google Shape;422;p35"/>
          <p:cNvPicPr preferRelativeResize="0"/>
          <p:nvPr/>
        </p:nvPicPr>
        <p:blipFill rotWithShape="1">
          <a:blip r:embed="rId5">
            <a:alphaModFix/>
          </a:blip>
          <a:srcRect/>
          <a:stretch/>
        </p:blipFill>
        <p:spPr>
          <a:xfrm>
            <a:off x="879838" y="2617879"/>
            <a:ext cx="10458450" cy="27717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g1f523380cc1_0_91"/>
          <p:cNvSpPr txBox="1"/>
          <p:nvPr/>
        </p:nvSpPr>
        <p:spPr>
          <a:xfrm>
            <a:off x="8614675" y="1172100"/>
            <a:ext cx="3000000" cy="492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pt-BR" sz="1500" b="1">
                <a:solidFill>
                  <a:schemeClr val="dk1"/>
                </a:solidFill>
                <a:latin typeface="Calibri"/>
                <a:ea typeface="Calibri"/>
                <a:cs typeface="Calibri"/>
                <a:sym typeface="Calibri"/>
              </a:rPr>
              <a:t>Verdadeiro ou Falso?</a:t>
            </a:r>
            <a:r>
              <a:rPr lang="pt-BR" sz="1500">
                <a:solidFill>
                  <a:schemeClr val="dk1"/>
                </a:solidFill>
                <a:latin typeface="Calibri"/>
                <a:ea typeface="Calibri"/>
                <a:cs typeface="Calibri"/>
                <a:sym typeface="Calibri"/>
              </a:rPr>
              <a:t/>
            </a:r>
            <a:br>
              <a:rPr lang="pt-BR" sz="1500">
                <a:solidFill>
                  <a:schemeClr val="dk1"/>
                </a:solidFill>
                <a:latin typeface="Calibri"/>
                <a:ea typeface="Calibri"/>
                <a:cs typeface="Calibri"/>
                <a:sym typeface="Calibri"/>
              </a:rPr>
            </a:br>
            <a:r>
              <a:rPr lang="pt-BR" sz="1500">
                <a:solidFill>
                  <a:schemeClr val="dk1"/>
                </a:solidFill>
                <a:latin typeface="Calibri"/>
                <a:ea typeface="Calibri"/>
                <a:cs typeface="Calibri"/>
                <a:sym typeface="Calibri"/>
              </a:rPr>
              <a:t/>
            </a:r>
            <a:br>
              <a:rPr lang="pt-BR" sz="1500">
                <a:solidFill>
                  <a:schemeClr val="dk1"/>
                </a:solidFill>
                <a:latin typeface="Calibri"/>
                <a:ea typeface="Calibri"/>
                <a:cs typeface="Calibri"/>
                <a:sym typeface="Calibri"/>
              </a:rPr>
            </a:br>
            <a:r>
              <a:rPr lang="pt-BR" sz="1500">
                <a:solidFill>
                  <a:schemeClr val="dk1"/>
                </a:solidFill>
                <a:latin typeface="Calibri"/>
                <a:ea typeface="Calibri"/>
                <a:cs typeface="Calibri"/>
                <a:sym typeface="Calibri"/>
              </a:rPr>
              <a:t>Um passageiro que tenha um bilhete de primeira classe pode viajar sem bagagens mas, caso queira levar alguma, seu número máximo é de 2 bagagens;</a:t>
            </a:r>
            <a:endParaRPr sz="15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5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pt-BR" sz="1500">
                <a:solidFill>
                  <a:schemeClr val="dk1"/>
                </a:solidFill>
                <a:latin typeface="Calibri"/>
                <a:ea typeface="Calibri"/>
                <a:cs typeface="Calibri"/>
                <a:sym typeface="Calibri"/>
              </a:rPr>
              <a:t>Todo avião possui apenas 1 companhia aérea, porém as companhias aéreas podem não ter aviões;</a:t>
            </a:r>
            <a:endParaRPr sz="15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5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pt-BR" sz="1500">
                <a:solidFill>
                  <a:schemeClr val="dk1"/>
                </a:solidFill>
                <a:latin typeface="Calibri"/>
                <a:ea typeface="Calibri"/>
                <a:cs typeface="Calibri"/>
                <a:sym typeface="Calibri"/>
              </a:rPr>
              <a:t>Todos os atributos da classe bilhete são privados;</a:t>
            </a:r>
            <a:endParaRPr sz="15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5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pt-BR" sz="1500">
                <a:solidFill>
                  <a:schemeClr val="dk1"/>
                </a:solidFill>
                <a:latin typeface="Calibri"/>
                <a:ea typeface="Calibri"/>
                <a:cs typeface="Calibri"/>
                <a:sym typeface="Calibri"/>
              </a:rPr>
              <a:t>É possível a emissão de bilhete sem passageiro.</a:t>
            </a:r>
            <a:endParaRPr sz="1500">
              <a:solidFill>
                <a:schemeClr val="dk1"/>
              </a:solidFill>
              <a:latin typeface="Calibri"/>
              <a:ea typeface="Calibri"/>
              <a:cs typeface="Calibri"/>
              <a:sym typeface="Calibri"/>
            </a:endParaRPr>
          </a:p>
        </p:txBody>
      </p:sp>
      <p:pic>
        <p:nvPicPr>
          <p:cNvPr id="428" name="Google Shape;428;g1f523380cc1_0_91"/>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29" name="Google Shape;429;g1f523380cc1_0_91"/>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30" name="Google Shape;430;g1f523380cc1_0_91"/>
          <p:cNvSpPr txBox="1"/>
          <p:nvPr/>
        </p:nvSpPr>
        <p:spPr>
          <a:xfrm>
            <a:off x="1023257" y="341091"/>
            <a:ext cx="10877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Modelagem de requisitos</a:t>
            </a:r>
            <a:endParaRPr sz="4800" b="0" i="0" u="none" strike="noStrike" cap="none">
              <a:solidFill>
                <a:srgbClr val="003958"/>
              </a:solidFill>
              <a:latin typeface="Calibri"/>
              <a:ea typeface="Calibri"/>
              <a:cs typeface="Calibri"/>
              <a:sym typeface="Calibri"/>
            </a:endParaRPr>
          </a:p>
        </p:txBody>
      </p:sp>
      <p:sp>
        <p:nvSpPr>
          <p:cNvPr id="431" name="Google Shape;431;g1f523380cc1_0_91"/>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a:t>37</a:t>
            </a:fld>
            <a:endParaRPr/>
          </a:p>
        </p:txBody>
      </p:sp>
      <p:pic>
        <p:nvPicPr>
          <p:cNvPr id="432" name="Google Shape;432;g1f523380cc1_0_91"/>
          <p:cNvPicPr preferRelativeResize="0"/>
          <p:nvPr/>
        </p:nvPicPr>
        <p:blipFill>
          <a:blip r:embed="rId5">
            <a:alphaModFix/>
          </a:blip>
          <a:stretch>
            <a:fillRect/>
          </a:stretch>
        </p:blipFill>
        <p:spPr>
          <a:xfrm>
            <a:off x="588300" y="1172100"/>
            <a:ext cx="7681975" cy="5177450"/>
          </a:xfrm>
          <a:prstGeom prst="rect">
            <a:avLst/>
          </a:prstGeom>
          <a:noFill/>
          <a:ln>
            <a:noFill/>
          </a:ln>
        </p:spPr>
      </p:pic>
      <p:sp>
        <p:nvSpPr>
          <p:cNvPr id="433" name="Google Shape;433;g1f523380cc1_0_91"/>
          <p:cNvSpPr txBox="1"/>
          <p:nvPr/>
        </p:nvSpPr>
        <p:spPr>
          <a:xfrm>
            <a:off x="8909580" y="78475"/>
            <a:ext cx="27051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480"/>
              </a:spcBef>
              <a:spcAft>
                <a:spcPts val="0"/>
              </a:spcAft>
              <a:buNone/>
            </a:pPr>
            <a:endParaRPr sz="22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pic>
        <p:nvPicPr>
          <p:cNvPr id="438" name="Google Shape;438;p36"/>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39" name="Google Shape;439;p36"/>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40" name="Google Shape;440;p36"/>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441" name="Google Shape;441;p36"/>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38</a:t>
            </a:fld>
            <a:endParaRPr sz="6000">
              <a:solidFill>
                <a:schemeClr val="lt1"/>
              </a:solidFill>
              <a:latin typeface="Impact"/>
              <a:ea typeface="Impact"/>
              <a:cs typeface="Impact"/>
              <a:sym typeface="Impact"/>
            </a:endParaRPr>
          </a:p>
        </p:txBody>
      </p:sp>
      <p:sp>
        <p:nvSpPr>
          <p:cNvPr id="442" name="Google Shape;442;p36"/>
          <p:cNvSpPr txBox="1"/>
          <p:nvPr/>
        </p:nvSpPr>
        <p:spPr>
          <a:xfrm>
            <a:off x="971007" y="1471525"/>
            <a:ext cx="10236926" cy="3477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rgbClr val="1E4E79"/>
                </a:solidFill>
                <a:latin typeface="Calibri"/>
                <a:ea typeface="Calibri"/>
                <a:cs typeface="Calibri"/>
                <a:sym typeface="Calibri"/>
              </a:rPr>
              <a:t>Diagramas de estados - UML</a:t>
            </a:r>
            <a:endParaRPr/>
          </a:p>
          <a:p>
            <a:pPr marL="0" marR="0" lvl="0" indent="0" algn="l" rtl="0">
              <a:spcBef>
                <a:spcPts val="440"/>
              </a:spcBef>
              <a:spcAft>
                <a:spcPts val="0"/>
              </a:spcAft>
              <a:buNone/>
            </a:pPr>
            <a:r>
              <a:rPr lang="pt-BR" sz="2200">
                <a:solidFill>
                  <a:schemeClr val="dk1"/>
                </a:solidFill>
                <a:latin typeface="Calibri"/>
                <a:ea typeface="Calibri"/>
                <a:cs typeface="Calibri"/>
                <a:sym typeface="Calibri"/>
              </a:rPr>
              <a:t/>
            </a:r>
            <a:br>
              <a:rPr lang="pt-BR" sz="2200">
                <a:solidFill>
                  <a:schemeClr val="dk1"/>
                </a:solidFill>
                <a:latin typeface="Calibri"/>
                <a:ea typeface="Calibri"/>
                <a:cs typeface="Calibri"/>
                <a:sym typeface="Calibri"/>
              </a:rPr>
            </a:br>
            <a:r>
              <a:rPr lang="pt-BR" sz="2200">
                <a:solidFill>
                  <a:schemeClr val="dk1"/>
                </a:solidFill>
                <a:latin typeface="Calibri"/>
                <a:ea typeface="Calibri"/>
                <a:cs typeface="Calibri"/>
                <a:sym typeface="Calibri"/>
              </a:rPr>
              <a:t>Mostram os estados do sistema e os eventos que causam transições de um estado para outro. A partir da UML 2 é chamado de diagrama de máquina de estados.</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0"/>
              </a:spcBef>
              <a:spcAft>
                <a:spcPts val="0"/>
              </a:spcAft>
              <a:buNone/>
            </a:pPr>
            <a:r>
              <a:rPr lang="pt-BR" sz="2200">
                <a:solidFill>
                  <a:schemeClr val="dk1"/>
                </a:solidFill>
                <a:latin typeface="Calibri"/>
                <a:ea typeface="Calibri"/>
                <a:cs typeface="Calibri"/>
                <a:sym typeface="Calibri"/>
              </a:rPr>
              <a:t>Tem como objetivos descrever objetos orientados a eventos em um sistema reativo e descrever como um objeto se move por vários estados em seu ciclo vida.</a:t>
            </a:r>
            <a:endParaRPr/>
          </a:p>
          <a:p>
            <a:pPr marL="0" marR="0" lvl="0" indent="0" algn="l" rtl="0">
              <a:spcBef>
                <a:spcPts val="480"/>
              </a:spcBef>
              <a:spcAft>
                <a:spcPts val="0"/>
              </a:spcAft>
              <a:buNone/>
            </a:pPr>
            <a:endParaRPr sz="2400">
              <a:solidFill>
                <a:schemeClr val="dk1"/>
              </a:solidFill>
              <a:latin typeface="Calibri"/>
              <a:ea typeface="Calibri"/>
              <a:cs typeface="Calibri"/>
              <a:sym typeface="Calibri"/>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7" name="Google Shape;447;p37"/>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48" name="Google Shape;448;p37"/>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49" name="Google Shape;449;p37"/>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450" name="Google Shape;450;p37"/>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39</a:t>
            </a:fld>
            <a:endParaRPr sz="6000">
              <a:solidFill>
                <a:schemeClr val="lt1"/>
              </a:solidFill>
              <a:latin typeface="Impact"/>
              <a:ea typeface="Impact"/>
              <a:cs typeface="Impact"/>
              <a:sym typeface="Impact"/>
            </a:endParaRPr>
          </a:p>
        </p:txBody>
      </p:sp>
      <p:sp>
        <p:nvSpPr>
          <p:cNvPr id="451" name="Google Shape;451;p37"/>
          <p:cNvSpPr txBox="1"/>
          <p:nvPr/>
        </p:nvSpPr>
        <p:spPr>
          <a:xfrm>
            <a:off x="971007" y="1471525"/>
            <a:ext cx="10236926" cy="56692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400" b="1">
                <a:solidFill>
                  <a:schemeClr val="dk1"/>
                </a:solidFill>
                <a:latin typeface="Calibri"/>
                <a:ea typeface="Calibri"/>
                <a:cs typeface="Calibri"/>
                <a:sym typeface="Calibri"/>
              </a:rPr>
              <a:t>Componentes</a:t>
            </a:r>
            <a:endParaRPr sz="2200">
              <a:solidFill>
                <a:schemeClr val="dk1"/>
              </a:solidFill>
              <a:latin typeface="Calibri"/>
              <a:ea typeface="Calibri"/>
              <a:cs typeface="Calibri"/>
              <a:sym typeface="Calibri"/>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b="1">
                <a:solidFill>
                  <a:schemeClr val="dk1"/>
                </a:solidFill>
                <a:latin typeface="Calibri"/>
                <a:ea typeface="Calibri"/>
                <a:cs typeface="Calibri"/>
                <a:sym typeface="Calibri"/>
              </a:rPr>
              <a:t>Estado:</a:t>
            </a:r>
            <a:r>
              <a:rPr lang="pt-BR" sz="2200">
                <a:solidFill>
                  <a:schemeClr val="dk1"/>
                </a:solidFill>
                <a:latin typeface="Calibri"/>
                <a:ea typeface="Calibri"/>
                <a:cs typeface="Calibri"/>
                <a:sym typeface="Calibri"/>
              </a:rPr>
              <a:t> representa a situação em que um objeto se encontra em um momento durante o período em que participa de um processo. Pode demonstrar a espera pela ocorrência de um evento, a reação a um estímulo, a execução de alguma atividade ou a satisfação de alguma condição. </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40"/>
              </a:spcBef>
              <a:spcAft>
                <a:spcPts val="0"/>
              </a:spcAft>
              <a:buNone/>
            </a:pPr>
            <a:r>
              <a:rPr lang="pt-BR" sz="2200" b="1">
                <a:solidFill>
                  <a:schemeClr val="dk1"/>
                </a:solidFill>
                <a:latin typeface="Calibri"/>
                <a:ea typeface="Calibri"/>
                <a:cs typeface="Calibri"/>
                <a:sym typeface="Calibri"/>
              </a:rPr>
              <a:t>Transição: </a:t>
            </a:r>
            <a:r>
              <a:rPr lang="pt-BR" sz="2200">
                <a:solidFill>
                  <a:schemeClr val="dk1"/>
                </a:solidFill>
                <a:latin typeface="Calibri"/>
                <a:ea typeface="Calibri"/>
                <a:cs typeface="Calibri"/>
                <a:sym typeface="Calibri"/>
              </a:rPr>
              <a:t>representa um evento que causa uma mudança no estado de um objeto, gerando um novo estado</a:t>
            </a:r>
            <a:endParaRPr/>
          </a:p>
          <a:p>
            <a:pPr marL="0" marR="0" lvl="0" indent="0" algn="l" rtl="0">
              <a:spcBef>
                <a:spcPts val="440"/>
              </a:spcBef>
              <a:spcAft>
                <a:spcPts val="0"/>
              </a:spcAft>
              <a:buNone/>
            </a:pPr>
            <a:endParaRPr sz="2200">
              <a:solidFill>
                <a:schemeClr val="dk1"/>
              </a:solidFill>
              <a:latin typeface="Calibri"/>
              <a:ea typeface="Calibri"/>
              <a:cs typeface="Calibri"/>
              <a:sym typeface="Calibri"/>
            </a:endParaRPr>
          </a:p>
          <a:p>
            <a:pPr marL="0" marR="0" lvl="0" indent="0" algn="l" rtl="0">
              <a:spcBef>
                <a:spcPts val="480"/>
              </a:spcBef>
              <a:spcAft>
                <a:spcPts val="0"/>
              </a:spcAft>
              <a:buNone/>
            </a:pPr>
            <a:r>
              <a:rPr lang="pt-BR" sz="2200" b="1">
                <a:solidFill>
                  <a:schemeClr val="dk1"/>
                </a:solidFill>
                <a:latin typeface="Calibri"/>
                <a:ea typeface="Calibri"/>
                <a:cs typeface="Calibri"/>
                <a:sym typeface="Calibri"/>
              </a:rPr>
              <a:t>Pseudoestado de escolha: </a:t>
            </a:r>
            <a:r>
              <a:rPr lang="pt-BR" sz="2200">
                <a:solidFill>
                  <a:schemeClr val="dk1"/>
                </a:solidFill>
                <a:latin typeface="Calibri"/>
                <a:ea typeface="Calibri"/>
                <a:cs typeface="Calibri"/>
                <a:sym typeface="Calibri"/>
              </a:rPr>
              <a:t>representa uma decisão em que será decidido qual o próximo estado do objeto a ser gerado.</a:t>
            </a: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r>
              <a:rPr lang="pt-BR" sz="2400">
                <a:solidFill>
                  <a:schemeClr val="dk1"/>
                </a:solidFill>
                <a:latin typeface="Calibri"/>
                <a:ea typeface="Calibri"/>
                <a:cs typeface="Calibri"/>
                <a:sym typeface="Calibri"/>
              </a:rPr>
              <a:t/>
            </a:r>
            <a:br>
              <a:rPr lang="pt-BR" sz="2400">
                <a:solidFill>
                  <a:schemeClr val="dk1"/>
                </a:solidFill>
                <a:latin typeface="Calibri"/>
                <a:ea typeface="Calibri"/>
                <a:cs typeface="Calibri"/>
                <a:sym typeface="Calibri"/>
              </a:rPr>
            </a:br>
            <a:endParaRPr sz="22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pic>
        <p:nvPicPr>
          <p:cNvPr id="456" name="Google Shape;456;p3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57" name="Google Shape;457;p3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58" name="Google Shape;458;p38"/>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459" name="Google Shape;459;p38"/>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40</a:t>
            </a:fld>
            <a:endParaRPr sz="6000">
              <a:solidFill>
                <a:schemeClr val="lt1"/>
              </a:solidFill>
              <a:latin typeface="Impact"/>
              <a:ea typeface="Impact"/>
              <a:cs typeface="Impact"/>
              <a:sym typeface="Impact"/>
            </a:endParaRPr>
          </a:p>
        </p:txBody>
      </p:sp>
      <p:pic>
        <p:nvPicPr>
          <p:cNvPr id="460" name="Google Shape;460;p38"/>
          <p:cNvPicPr preferRelativeResize="0"/>
          <p:nvPr/>
        </p:nvPicPr>
        <p:blipFill rotWithShape="1">
          <a:blip r:embed="rId5">
            <a:alphaModFix/>
          </a:blip>
          <a:srcRect/>
          <a:stretch/>
        </p:blipFill>
        <p:spPr>
          <a:xfrm>
            <a:off x="2715850" y="1130893"/>
            <a:ext cx="6734175" cy="5667375"/>
          </a:xfrm>
          <a:prstGeom prst="rect">
            <a:avLst/>
          </a:prstGeom>
          <a:noFill/>
          <a:ln>
            <a:noFill/>
          </a:ln>
        </p:spPr>
      </p:pic>
      <p:sp>
        <p:nvSpPr>
          <p:cNvPr id="461" name="Google Shape;461;p38"/>
          <p:cNvSpPr txBox="1"/>
          <p:nvPr/>
        </p:nvSpPr>
        <p:spPr>
          <a:xfrm>
            <a:off x="2717074" y="6323503"/>
            <a:ext cx="197951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600">
                <a:solidFill>
                  <a:schemeClr val="dk1"/>
                </a:solidFill>
                <a:latin typeface="Calibri"/>
                <a:ea typeface="Calibri"/>
                <a:cs typeface="Calibri"/>
                <a:sym typeface="Calibri"/>
              </a:rPr>
              <a:t>Fonte: Guedes (2018)</a:t>
            </a:r>
            <a:endParaRPr sz="16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pic>
        <p:nvPicPr>
          <p:cNvPr id="466" name="Google Shape;466;p39"/>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67" name="Google Shape;467;p39"/>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68" name="Google Shape;468;p39"/>
          <p:cNvSpPr txBox="1"/>
          <p:nvPr/>
        </p:nvSpPr>
        <p:spPr>
          <a:xfrm>
            <a:off x="1023257" y="341091"/>
            <a:ext cx="10877006" cy="836126"/>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Modelagem de requisitos</a:t>
            </a:r>
            <a:endParaRPr sz="4800">
              <a:solidFill>
                <a:srgbClr val="003958"/>
              </a:solidFill>
              <a:latin typeface="Calibri"/>
              <a:ea typeface="Calibri"/>
              <a:cs typeface="Calibri"/>
              <a:sym typeface="Calibri"/>
            </a:endParaRPr>
          </a:p>
        </p:txBody>
      </p:sp>
      <p:sp>
        <p:nvSpPr>
          <p:cNvPr id="469" name="Google Shape;469;p39"/>
          <p:cNvSpPr txBox="1">
            <a:spLocks noGrp="1"/>
          </p:cNvSpPr>
          <p:nvPr>
            <p:ph type="sldNum" idx="12"/>
          </p:nvPr>
        </p:nvSpPr>
        <p:spPr>
          <a:xfrm>
            <a:off x="11085690" y="5770107"/>
            <a:ext cx="1179286" cy="11967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41</a:t>
            </a:fld>
            <a:endParaRPr sz="6000">
              <a:solidFill>
                <a:schemeClr val="lt1"/>
              </a:solidFill>
              <a:latin typeface="Impact"/>
              <a:ea typeface="Impact"/>
              <a:cs typeface="Impact"/>
              <a:sym typeface="Impact"/>
            </a:endParaRPr>
          </a:p>
        </p:txBody>
      </p:sp>
      <p:pic>
        <p:nvPicPr>
          <p:cNvPr id="470" name="Google Shape;470;p39"/>
          <p:cNvPicPr preferRelativeResize="0"/>
          <p:nvPr/>
        </p:nvPicPr>
        <p:blipFill rotWithShape="1">
          <a:blip r:embed="rId5">
            <a:alphaModFix/>
          </a:blip>
          <a:srcRect/>
          <a:stretch/>
        </p:blipFill>
        <p:spPr>
          <a:xfrm>
            <a:off x="2414674" y="1538876"/>
            <a:ext cx="7826603" cy="5143179"/>
          </a:xfrm>
          <a:prstGeom prst="rect">
            <a:avLst/>
          </a:prstGeom>
          <a:noFill/>
          <a:ln>
            <a:noFill/>
          </a:ln>
        </p:spPr>
      </p:pic>
      <p:sp>
        <p:nvSpPr>
          <p:cNvPr id="471" name="Google Shape;471;p39"/>
          <p:cNvSpPr txBox="1"/>
          <p:nvPr/>
        </p:nvSpPr>
        <p:spPr>
          <a:xfrm>
            <a:off x="1097281" y="1606732"/>
            <a:ext cx="318029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b="1">
                <a:solidFill>
                  <a:schemeClr val="dk1"/>
                </a:solidFill>
                <a:latin typeface="Calibri"/>
                <a:ea typeface="Calibri"/>
                <a:cs typeface="Calibri"/>
                <a:sym typeface="Calibri"/>
              </a:rPr>
              <a:t>Solicitação de agendamento</a:t>
            </a:r>
            <a:endParaRPr sz="2000" b="1">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pic>
        <p:nvPicPr>
          <p:cNvPr id="476" name="Google Shape;476;g1e10a38972e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77" name="Google Shape;477;g1e10a38972e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78" name="Google Shape;478;g1e10a38972e_0_0"/>
          <p:cNvSpPr txBox="1"/>
          <p:nvPr/>
        </p:nvSpPr>
        <p:spPr>
          <a:xfrm>
            <a:off x="1023257" y="341091"/>
            <a:ext cx="10877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Exercícios</a:t>
            </a:r>
            <a:endParaRPr sz="4800">
              <a:solidFill>
                <a:srgbClr val="003958"/>
              </a:solidFill>
              <a:latin typeface="Calibri"/>
              <a:ea typeface="Calibri"/>
              <a:cs typeface="Calibri"/>
              <a:sym typeface="Calibri"/>
            </a:endParaRPr>
          </a:p>
        </p:txBody>
      </p:sp>
      <p:sp>
        <p:nvSpPr>
          <p:cNvPr id="479" name="Google Shape;479;g1e10a38972e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42</a:t>
            </a:fld>
            <a:endParaRPr sz="6000">
              <a:solidFill>
                <a:schemeClr val="lt1"/>
              </a:solidFill>
              <a:latin typeface="Impact"/>
              <a:ea typeface="Impact"/>
              <a:cs typeface="Impact"/>
              <a:sym typeface="Impact"/>
            </a:endParaRPr>
          </a:p>
        </p:txBody>
      </p:sp>
      <p:sp>
        <p:nvSpPr>
          <p:cNvPr id="480" name="Google Shape;480;g1e10a38972e_0_0"/>
          <p:cNvSpPr txBox="1"/>
          <p:nvPr/>
        </p:nvSpPr>
        <p:spPr>
          <a:xfrm>
            <a:off x="657449" y="1172100"/>
            <a:ext cx="11531100" cy="6118200"/>
          </a:xfrm>
          <a:prstGeom prst="rect">
            <a:avLst/>
          </a:prstGeom>
          <a:noFill/>
          <a:ln>
            <a:noFill/>
          </a:ln>
        </p:spPr>
        <p:txBody>
          <a:bodyPr spcFirstLastPara="1" wrap="square" lIns="91425" tIns="45700" rIns="91425" bIns="45700" anchor="t" anchorCtr="0">
            <a:spAutoFit/>
          </a:bodyPr>
          <a:lstStyle/>
          <a:p>
            <a:pPr marL="0" lvl="0" indent="0" algn="l" rtl="0">
              <a:lnSpc>
                <a:spcPct val="105833"/>
              </a:lnSpc>
              <a:spcBef>
                <a:spcPts val="0"/>
              </a:spcBef>
              <a:spcAft>
                <a:spcPts val="0"/>
              </a:spcAft>
              <a:buClr>
                <a:schemeClr val="dk1"/>
              </a:buClr>
              <a:buSzPts val="1100"/>
              <a:buFont typeface="Arial"/>
              <a:buNone/>
            </a:pPr>
            <a:r>
              <a:rPr lang="pt-BR" sz="1300">
                <a:solidFill>
                  <a:schemeClr val="dk1"/>
                </a:solidFill>
                <a:highlight>
                  <a:srgbClr val="F5F5F5"/>
                </a:highlight>
              </a:rPr>
              <a:t>1- Crie um diagrama de classe para um cachorro. A classe deve ter atributos para nome, raça, idade e cor.</a:t>
            </a: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highlight>
                  <a:srgbClr val="F5F5F5"/>
                </a:highlight>
              </a:rPr>
              <a:t>2 -Desenhe um diagrama de classe para um carro. A classe deve ter atributos para marca, modelo, ano e cor.</a:t>
            </a: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highlight>
                  <a:srgbClr val="F5F5F5"/>
                </a:highlight>
              </a:rPr>
              <a:t>3-Crie um diagrama de classe para um aluno. A classe deve ter atributos para nome, idade, e CPF.</a:t>
            </a: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highlight>
                  <a:srgbClr val="F5F5F5"/>
                </a:highlight>
              </a:rPr>
              <a:t>4-Desenhe um diagrama de classe para uma conta bancária. A classe deve ter atributos para número de conta, saldo e tipo de conta.</a:t>
            </a: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highlight>
                  <a:srgbClr val="F5F5F5"/>
                </a:highlight>
              </a:rPr>
              <a:t>5- Crie um diagrama de classes para um livro. A classe deve ter atributos para título, autor, editora e ano de publicação.</a:t>
            </a:r>
            <a:endParaRPr sz="1300">
              <a:solidFill>
                <a:schemeClr val="dk1"/>
              </a:solidFill>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rPr>
              <a:t>6-Desenhe um diagrama de classes para um sistema de gerenciamento de biblioteca. Essa parte do sistema deve ter apenas duas classes: Livros e pessoas que pegam livros emprestados. Os livros deverão ter pelo menos 3 atributos, e as pessoas, pelo menos 5. Faça também o  relacionamento entre as classes.</a:t>
            </a:r>
            <a:endParaRPr sz="1300">
              <a:solidFill>
                <a:schemeClr val="dk1"/>
              </a:solidFill>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rPr>
              <a:t>7-</a:t>
            </a:r>
            <a:r>
              <a:rPr lang="pt-BR" sz="1300">
                <a:solidFill>
                  <a:schemeClr val="dk1"/>
                </a:solidFill>
                <a:highlight>
                  <a:srgbClr val="F5F5F5"/>
                </a:highlight>
              </a:rPr>
              <a:t>Desenhe um diagrama de classes para um site de comércio eletrônico. O sistema deve ter classes para clientes, produtos e pedidos. Cada uma das classes deve ter no mínimo 3 atributos. </a:t>
            </a:r>
            <a:r>
              <a:rPr lang="pt-BR" sz="1300">
                <a:solidFill>
                  <a:schemeClr val="dk1"/>
                </a:solidFill>
              </a:rPr>
              <a:t>Faça também o  relacionamento entre as classes.</a:t>
            </a: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highlight>
                  <a:srgbClr val="F5F5F5"/>
                </a:highlight>
              </a:rPr>
              <a:t>8-Desenhe um diagrama de classes para um sistema de gerenciamento de turmas. Cada aluno só pode estar em uma turma, e cada turma deve ter no mínimo 5 alunos e no máximo 25. </a:t>
            </a:r>
            <a:r>
              <a:rPr lang="pt-BR" sz="1300">
                <a:solidFill>
                  <a:schemeClr val="dk1"/>
                </a:solidFill>
              </a:rPr>
              <a:t>Faça também o  relacionamento entre as classes.</a:t>
            </a: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highlight>
                <a:srgbClr val="F5F5F5"/>
              </a:highlight>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highlight>
                  <a:srgbClr val="F5F5F5"/>
                </a:highlight>
              </a:rPr>
              <a:t>9-Desenhe um diagrama de classes para um sistema bancário. O sistema deve ter classes para contas e clientes. Os atributos da conta são: Id, número da conta, agência, saldo, e os atributos do cliente são: Nome, Data_Nascimento, CPF, Endereço. </a:t>
            </a:r>
            <a:r>
              <a:rPr lang="pt-BR" sz="1300">
                <a:solidFill>
                  <a:schemeClr val="dk1"/>
                </a:solidFill>
              </a:rPr>
              <a:t>Faça também o  relacionamento entre as classes.</a:t>
            </a:r>
            <a:endParaRPr sz="1300">
              <a:solidFill>
                <a:schemeClr val="dk1"/>
              </a:solidFill>
            </a:endParaRPr>
          </a:p>
          <a:p>
            <a:pPr marL="0" lvl="0" indent="0" algn="l" rtl="0">
              <a:lnSpc>
                <a:spcPct val="105833"/>
              </a:lnSpc>
              <a:spcBef>
                <a:spcPts val="0"/>
              </a:spcBef>
              <a:spcAft>
                <a:spcPts val="0"/>
              </a:spcAft>
              <a:buClr>
                <a:schemeClr val="dk1"/>
              </a:buClr>
              <a:buSzPts val="1100"/>
              <a:buFont typeface="Arial"/>
              <a:buNone/>
            </a:pPr>
            <a:endParaRPr sz="1300">
              <a:solidFill>
                <a:schemeClr val="dk1"/>
              </a:solidFill>
            </a:endParaRPr>
          </a:p>
          <a:p>
            <a:pPr marL="0" lvl="0" indent="0" algn="l" rtl="0">
              <a:lnSpc>
                <a:spcPct val="105833"/>
              </a:lnSpc>
              <a:spcBef>
                <a:spcPts val="0"/>
              </a:spcBef>
              <a:spcAft>
                <a:spcPts val="0"/>
              </a:spcAft>
              <a:buClr>
                <a:schemeClr val="dk1"/>
              </a:buClr>
              <a:buSzPts val="1100"/>
              <a:buFont typeface="Arial"/>
              <a:buNone/>
            </a:pPr>
            <a:r>
              <a:rPr lang="pt-BR" sz="1300">
                <a:solidFill>
                  <a:schemeClr val="dk1"/>
                </a:solidFill>
                <a:highlight>
                  <a:srgbClr val="F5F5F5"/>
                </a:highlight>
              </a:rPr>
              <a:t>10-Um hospital deseja controlar seus quartos, assim como a quantidade de pessoas que estão em cada quarto, sendo de 3 o limite máximo em cada um deles. Outro requisito do hospital é entender quais medicamentos cada paciente está tomando. Por fim, para evitar a sobrecarga da equipe, cada médico deve cuidar de no máximo 20 pacientes. É importante registrar qual o CRM do médico (número que comprova que um médico está registrado no seu órgão de controle, podendo exercer a função). Desenhe um diagrama de classes com seus relacionamentos para este sistema.</a:t>
            </a:r>
            <a:endParaRPr sz="1300">
              <a:solidFill>
                <a:schemeClr val="dk1"/>
              </a:solidFill>
              <a:highlight>
                <a:srgbClr val="F5F5F5"/>
              </a:highlight>
            </a:endParaRPr>
          </a:p>
          <a:p>
            <a:pPr marL="0" marR="0" lvl="0" indent="0" algn="l" rtl="0">
              <a:spcBef>
                <a:spcPts val="0"/>
              </a:spcBef>
              <a:spcAft>
                <a:spcPts val="0"/>
              </a:spcAft>
              <a:buNone/>
            </a:pPr>
            <a:endParaRPr sz="2000" b="1">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pic>
        <p:nvPicPr>
          <p:cNvPr id="485" name="Google Shape;485;g34a2afdf54a_0_0"/>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86" name="Google Shape;486;g34a2afdf54a_0_0"/>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87" name="Google Shape;487;g34a2afdf54a_0_0"/>
          <p:cNvSpPr txBox="1"/>
          <p:nvPr/>
        </p:nvSpPr>
        <p:spPr>
          <a:xfrm>
            <a:off x="1023257" y="341091"/>
            <a:ext cx="10877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pt-BR" sz="4800">
                <a:solidFill>
                  <a:srgbClr val="003958"/>
                </a:solidFill>
                <a:latin typeface="Calibri"/>
                <a:ea typeface="Calibri"/>
                <a:cs typeface="Calibri"/>
                <a:sym typeface="Calibri"/>
              </a:rPr>
              <a:t>Exercícios</a:t>
            </a:r>
            <a:endParaRPr sz="4800">
              <a:solidFill>
                <a:srgbClr val="003958"/>
              </a:solidFill>
              <a:latin typeface="Calibri"/>
              <a:ea typeface="Calibri"/>
              <a:cs typeface="Calibri"/>
              <a:sym typeface="Calibri"/>
            </a:endParaRPr>
          </a:p>
        </p:txBody>
      </p:sp>
      <p:sp>
        <p:nvSpPr>
          <p:cNvPr id="488" name="Google Shape;488;g34a2afdf54a_0_0"/>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BR" sz="6000">
                <a:solidFill>
                  <a:schemeClr val="lt1"/>
                </a:solidFill>
                <a:latin typeface="Impact"/>
                <a:ea typeface="Impact"/>
                <a:cs typeface="Impact"/>
                <a:sym typeface="Impact"/>
              </a:rPr>
              <a:t>43</a:t>
            </a:fld>
            <a:endParaRPr sz="6000">
              <a:solidFill>
                <a:schemeClr val="lt1"/>
              </a:solidFill>
              <a:latin typeface="Impact"/>
              <a:ea typeface="Impact"/>
              <a:cs typeface="Impact"/>
              <a:sym typeface="Impact"/>
            </a:endParaRPr>
          </a:p>
        </p:txBody>
      </p:sp>
      <p:sp>
        <p:nvSpPr>
          <p:cNvPr id="489" name="Google Shape;489;g34a2afdf54a_0_0"/>
          <p:cNvSpPr txBox="1"/>
          <p:nvPr/>
        </p:nvSpPr>
        <p:spPr>
          <a:xfrm>
            <a:off x="657449" y="1172100"/>
            <a:ext cx="11531100" cy="1543200"/>
          </a:xfrm>
          <a:prstGeom prst="rect">
            <a:avLst/>
          </a:prstGeom>
          <a:noFill/>
          <a:ln>
            <a:noFill/>
          </a:ln>
        </p:spPr>
        <p:txBody>
          <a:bodyPr spcFirstLastPara="1" wrap="square" lIns="91425" tIns="45700" rIns="91425" bIns="45700" anchor="t" anchorCtr="0">
            <a:spAutoFit/>
          </a:bodyPr>
          <a:lstStyle/>
          <a:p>
            <a:pPr marL="0" lvl="0" indent="0" algn="l" rtl="0">
              <a:lnSpc>
                <a:spcPct val="105833"/>
              </a:lnSpc>
              <a:spcBef>
                <a:spcPts val="0"/>
              </a:spcBef>
              <a:spcAft>
                <a:spcPts val="0"/>
              </a:spcAft>
              <a:buClr>
                <a:schemeClr val="dk1"/>
              </a:buClr>
              <a:buSzPts val="1100"/>
              <a:buFont typeface="Arial"/>
              <a:buNone/>
            </a:pPr>
            <a:r>
              <a:rPr lang="pt-BR" sz="2800">
                <a:solidFill>
                  <a:schemeClr val="dk1"/>
                </a:solidFill>
                <a:highlight>
                  <a:srgbClr val="F5F5F5"/>
                </a:highlight>
              </a:rPr>
              <a:t>Crie um diagrama de casos de uso para um jogo de xadrez (movimentação das peças e funcionalidades principais)</a:t>
            </a:r>
            <a:endParaRPr sz="2800">
              <a:solidFill>
                <a:schemeClr val="dk1"/>
              </a:solidFill>
              <a:highlight>
                <a:srgbClr val="F5F5F5"/>
              </a:highlight>
            </a:endParaRPr>
          </a:p>
          <a:p>
            <a:pPr marL="0" marR="0" lvl="0" indent="0" algn="l" rtl="0">
              <a:spcBef>
                <a:spcPts val="0"/>
              </a:spcBef>
              <a:spcAft>
                <a:spcPts val="0"/>
              </a:spcAft>
              <a:buNone/>
            </a:pPr>
            <a:endParaRPr sz="3500" b="1">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pic>
        <p:nvPicPr>
          <p:cNvPr id="494" name="Google Shape;494;g1f523380cc1_0_8"/>
          <p:cNvPicPr preferRelativeResize="0"/>
          <p:nvPr/>
        </p:nvPicPr>
        <p:blipFill rotWithShape="1">
          <a:blip r:embed="rId3">
            <a:alphaModFix/>
          </a:blip>
          <a:srcRect/>
          <a:stretch/>
        </p:blipFill>
        <p:spPr>
          <a:xfrm>
            <a:off x="0" y="0"/>
            <a:ext cx="1600200" cy="1524000"/>
          </a:xfrm>
          <a:prstGeom prst="rect">
            <a:avLst/>
          </a:prstGeom>
          <a:noFill/>
          <a:ln>
            <a:noFill/>
          </a:ln>
        </p:spPr>
      </p:pic>
      <p:pic>
        <p:nvPicPr>
          <p:cNvPr id="495" name="Google Shape;495;g1f523380cc1_0_8"/>
          <p:cNvPicPr preferRelativeResize="0"/>
          <p:nvPr/>
        </p:nvPicPr>
        <p:blipFill rotWithShape="1">
          <a:blip r:embed="rId4">
            <a:alphaModFix/>
          </a:blip>
          <a:srcRect/>
          <a:stretch/>
        </p:blipFill>
        <p:spPr>
          <a:xfrm>
            <a:off x="11188333" y="5705475"/>
            <a:ext cx="1000125" cy="1152525"/>
          </a:xfrm>
          <a:prstGeom prst="rect">
            <a:avLst/>
          </a:prstGeom>
          <a:noFill/>
          <a:ln>
            <a:noFill/>
          </a:ln>
        </p:spPr>
      </p:pic>
      <p:sp>
        <p:nvSpPr>
          <p:cNvPr id="496" name="Google Shape;496;g1f523380cc1_0_8"/>
          <p:cNvSpPr txBox="1"/>
          <p:nvPr/>
        </p:nvSpPr>
        <p:spPr>
          <a:xfrm>
            <a:off x="1023257" y="341091"/>
            <a:ext cx="10877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rgbClr val="000000"/>
              </a:buClr>
              <a:buSzPts val="4800"/>
              <a:buFont typeface="Arial"/>
              <a:buNone/>
            </a:pPr>
            <a:r>
              <a:rPr lang="pt-BR" sz="4800" b="0" i="0" u="none" strike="noStrike" cap="none">
                <a:solidFill>
                  <a:srgbClr val="003958"/>
                </a:solidFill>
                <a:latin typeface="Calibri"/>
                <a:ea typeface="Calibri"/>
                <a:cs typeface="Calibri"/>
                <a:sym typeface="Calibri"/>
              </a:rPr>
              <a:t>Modelagem de requisitos</a:t>
            </a:r>
            <a:endParaRPr sz="4800" b="0" i="0" u="none" strike="noStrike" cap="none">
              <a:solidFill>
                <a:srgbClr val="003958"/>
              </a:solidFill>
              <a:latin typeface="Calibri"/>
              <a:ea typeface="Calibri"/>
              <a:cs typeface="Calibri"/>
              <a:sym typeface="Calibri"/>
            </a:endParaRPr>
          </a:p>
        </p:txBody>
      </p:sp>
      <p:sp>
        <p:nvSpPr>
          <p:cNvPr id="497" name="Google Shape;497;g1f523380cc1_0_8"/>
          <p:cNvSpPr txBox="1">
            <a:spLocks noGrp="1"/>
          </p:cNvSpPr>
          <p:nvPr>
            <p:ph type="sldNum" idx="12"/>
          </p:nvPr>
        </p:nvSpPr>
        <p:spPr>
          <a:xfrm>
            <a:off x="11085690" y="5770107"/>
            <a:ext cx="1179300" cy="11967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pt-BR"/>
              <a:t>44</a:t>
            </a:fld>
            <a:endParaRPr/>
          </a:p>
        </p:txBody>
      </p:sp>
      <p:sp>
        <p:nvSpPr>
          <p:cNvPr id="498" name="Google Shape;498;g1f523380cc1_0_8"/>
          <p:cNvSpPr txBox="1"/>
          <p:nvPr/>
        </p:nvSpPr>
        <p:spPr>
          <a:xfrm>
            <a:off x="971007" y="1471525"/>
            <a:ext cx="10236900" cy="5402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900" b="1">
                <a:solidFill>
                  <a:schemeClr val="dk1"/>
                </a:solidFill>
                <a:latin typeface="Calibri"/>
                <a:ea typeface="Calibri"/>
                <a:cs typeface="Calibri"/>
                <a:sym typeface="Calibri"/>
              </a:rPr>
              <a:t>Exercício - </a:t>
            </a:r>
            <a:r>
              <a:rPr lang="pt-BR" sz="2900" b="1" i="0" u="none" strike="noStrike" cap="none">
                <a:solidFill>
                  <a:schemeClr val="dk1"/>
                </a:solidFill>
                <a:latin typeface="Calibri"/>
                <a:ea typeface="Calibri"/>
                <a:cs typeface="Calibri"/>
                <a:sym typeface="Calibri"/>
              </a:rPr>
              <a:t>Diagrama de classes</a:t>
            </a:r>
            <a:endParaRPr sz="29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a:solidFill>
                  <a:schemeClr val="dk1"/>
                </a:solidFill>
                <a:latin typeface="Calibri"/>
                <a:ea typeface="Calibri"/>
                <a:cs typeface="Calibri"/>
                <a:sym typeface="Calibri"/>
              </a:rPr>
              <a:t>Um hospital deseja controlar os partos que acontecem, assim como quais medicamentos cada criança está utilizando (caso esteja). </a:t>
            </a:r>
            <a:endParaRPr sz="24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a:solidFill>
                  <a:schemeClr val="dk1"/>
                </a:solidFill>
                <a:latin typeface="Calibri"/>
                <a:ea typeface="Calibri"/>
                <a:cs typeface="Calibri"/>
                <a:sym typeface="Calibri"/>
              </a:rPr>
              <a:t>Criar um diagrama de classes que relacione os seguintes itens, utilizando quais características o hospital deseja utilizar no controle, contendo também as cardinalidades.</a:t>
            </a:r>
            <a:endParaRPr sz="24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a:solidFill>
                  <a:schemeClr val="dk1"/>
                </a:solidFill>
                <a:latin typeface="Calibri"/>
                <a:ea typeface="Calibri"/>
                <a:cs typeface="Calibri"/>
                <a:sym typeface="Calibri"/>
              </a:rPr>
              <a:t>-Médico (Nome, CRM, Turno, Telefone)</a:t>
            </a:r>
            <a:endParaRPr sz="24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a:solidFill>
                  <a:schemeClr val="dk1"/>
                </a:solidFill>
                <a:latin typeface="Calibri"/>
                <a:ea typeface="Calibri"/>
                <a:cs typeface="Calibri"/>
                <a:sym typeface="Calibri"/>
              </a:rPr>
              <a:t>-Bebê (Nome, data nascimento)</a:t>
            </a:r>
            <a:endParaRPr sz="24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a:solidFill>
                  <a:schemeClr val="dk1"/>
                </a:solidFill>
                <a:latin typeface="Calibri"/>
                <a:ea typeface="Calibri"/>
                <a:cs typeface="Calibri"/>
                <a:sym typeface="Calibri"/>
              </a:rPr>
              <a:t>-Mãe (Nome, Data nascimento, telefone, endereço)</a:t>
            </a:r>
            <a:endParaRPr sz="24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pt-BR" sz="2400" b="1">
                <a:solidFill>
                  <a:schemeClr val="dk1"/>
                </a:solidFill>
                <a:latin typeface="Calibri"/>
                <a:ea typeface="Calibri"/>
                <a:cs typeface="Calibri"/>
                <a:sym typeface="Calibri"/>
              </a:rPr>
              <a:t>-Medicamento (Nome, descrição, quantidade, unidade de medida)</a:t>
            </a:r>
            <a:endParaRPr sz="2400" b="1">
              <a:solidFill>
                <a:schemeClr val="dk1"/>
              </a:solidFill>
              <a:latin typeface="Calibri"/>
              <a:ea typeface="Calibri"/>
              <a:cs typeface="Calibri"/>
              <a:sym typeface="Calibri"/>
            </a:endParaRPr>
          </a:p>
          <a:p>
            <a:pPr marL="0" marR="0" lvl="0" indent="0" algn="l" rtl="0">
              <a:lnSpc>
                <a:spcPct val="100000"/>
              </a:lnSpc>
              <a:spcBef>
                <a:spcPts val="48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
            </a:r>
            <a:br>
              <a:rPr lang="pt-BR"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2175</Words>
  <Application>Microsoft Office PowerPoint</Application>
  <PresentationFormat>Personalizar</PresentationFormat>
  <Paragraphs>349</Paragraphs>
  <Slides>44</Slides>
  <Notes>43</Notes>
  <HiddenSlides>0</HiddenSlides>
  <MMClips>0</MMClips>
  <ScaleCrop>false</ScaleCrop>
  <HeadingPairs>
    <vt:vector size="4" baseType="variant">
      <vt:variant>
        <vt:lpstr>Tema</vt:lpstr>
      </vt:variant>
      <vt:variant>
        <vt:i4>1</vt:i4>
      </vt:variant>
      <vt:variant>
        <vt:lpstr>Títulos de slides</vt:lpstr>
      </vt:variant>
      <vt:variant>
        <vt:i4>44</vt:i4>
      </vt:variant>
    </vt:vector>
  </HeadingPairs>
  <TitlesOfParts>
    <vt:vector size="45" baseType="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Joao Marcos Garcia Vieira</dc:creator>
  <cp:lastModifiedBy>Leandro Ugioni</cp:lastModifiedBy>
  <cp:revision>1</cp:revision>
  <dcterms:created xsi:type="dcterms:W3CDTF">2019-02-19T17:16:10Z</dcterms:created>
  <dcterms:modified xsi:type="dcterms:W3CDTF">2026-04-18T19:09:51Z</dcterms:modified>
</cp:coreProperties>
</file>