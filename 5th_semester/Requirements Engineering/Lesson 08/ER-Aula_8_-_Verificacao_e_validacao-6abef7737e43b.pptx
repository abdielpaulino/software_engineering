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32"/>
  </p:notesMasterIdLst>
  <p:sldIdLst>
    <p:sldId id="287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7" roundtripDataSignature="AMtx7mgjCrGeNExvvX5EWFiRnQ/TTnvs+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-691" y="-9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customschemas.google.com/relationships/presentationmetadata" Target="meta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3122343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3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3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3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3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3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4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4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4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4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4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4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4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4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4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4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4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4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4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 Título Vertical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4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4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4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4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3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jpg"/><Relationship Id="rId4" Type="http://schemas.openxmlformats.org/officeDocument/2006/relationships/image" Target="../media/image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81F8B163-86D5-4878-916A-9D11FE2EA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xmlns="" id="{F3020D6C-6261-402F-84A7-AA1B65D9D5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1" cy="6858000"/>
          </a:xfr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xmlns="" id="{E3D630B1-A6DA-42B6-861B-AAD116CC443F}"/>
              </a:ext>
            </a:extLst>
          </p:cNvPr>
          <p:cNvSpPr txBox="1"/>
          <p:nvPr/>
        </p:nvSpPr>
        <p:spPr>
          <a:xfrm>
            <a:off x="2292626" y="1416758"/>
            <a:ext cx="760674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pt-BR" sz="6000" b="1" dirty="0" smtClean="0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pt-BR" sz="6000" b="1" dirty="0" smtClean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Engenharia de Requisitos</a:t>
            </a:r>
            <a:endParaRPr lang="pt-BR" sz="6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5139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 txBox="1"/>
          <p:nvPr/>
        </p:nvSpPr>
        <p:spPr>
          <a:xfrm>
            <a:off x="174171" y="4667876"/>
            <a:ext cx="8672285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0">
                <a:solidFill>
                  <a:srgbClr val="003958"/>
                </a:solidFill>
                <a:latin typeface="Impact"/>
                <a:ea typeface="Impact"/>
                <a:cs typeface="Impact"/>
                <a:sym typeface="Impact"/>
              </a:rPr>
              <a:t>Verificação e validação de requisitos</a:t>
            </a:r>
            <a:endParaRPr sz="6000">
              <a:solidFill>
                <a:srgbClr val="003958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98" name="Google Shape;98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</a:t>
            </a:fld>
            <a:endParaRPr/>
          </a:p>
        </p:txBody>
      </p:sp>
      <p:pic>
        <p:nvPicPr>
          <p:cNvPr id="99" name="Google Shape;99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5265" y="0"/>
            <a:ext cx="5715000" cy="395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43950" y="0"/>
            <a:ext cx="34480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3"/>
          <p:cNvSpPr txBox="1"/>
          <p:nvPr/>
        </p:nvSpPr>
        <p:spPr>
          <a:xfrm>
            <a:off x="1023257" y="341091"/>
            <a:ext cx="10877006" cy="836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Processos da engenharia de requisitos</a:t>
            </a:r>
            <a:endParaRPr sz="4800">
              <a:solidFill>
                <a:srgbClr val="0039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286" cy="119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3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09" name="Google Shape;109;p3"/>
          <p:cNvSpPr txBox="1"/>
          <p:nvPr/>
        </p:nvSpPr>
        <p:spPr>
          <a:xfrm>
            <a:off x="357158" y="1214422"/>
            <a:ext cx="7500990" cy="4714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0" name="Google Shape;110;p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900363" y="1269819"/>
            <a:ext cx="6391275" cy="535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4"/>
          <p:cNvSpPr txBox="1"/>
          <p:nvPr/>
        </p:nvSpPr>
        <p:spPr>
          <a:xfrm>
            <a:off x="1023257" y="341091"/>
            <a:ext cx="10877006" cy="836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Verificação e validação</a:t>
            </a:r>
            <a:endParaRPr sz="4800">
              <a:solidFill>
                <a:srgbClr val="0039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286" cy="119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4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19" name="Google Shape;119;p4"/>
          <p:cNvSpPr txBox="1"/>
          <p:nvPr/>
        </p:nvSpPr>
        <p:spPr>
          <a:xfrm>
            <a:off x="971007" y="1628281"/>
            <a:ext cx="10236900" cy="48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verificação e validação de requisitos são processos que buscam verificar se um sistema atende aos requisitos especificados e </a:t>
            </a: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estes atendem à necessidade do cliente.</a:t>
            </a:r>
            <a:endParaRPr b="1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etapa de verificação e validação se torna importante pois erros em requisitos podem gerar altos custos de retrabalho quando descobertos durante o desenvolvimento ou após o sistema já estar em serviço.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Verificação de requisitos: 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especificações atendem ao padrão? </a:t>
            </a:r>
            <a:b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Validação de requisitos: 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produto construído é o correto? Os requisitos especificados atendem a necessidade do cliente?</a:t>
            </a:r>
            <a:b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5"/>
          <p:cNvSpPr txBox="1"/>
          <p:nvPr/>
        </p:nvSpPr>
        <p:spPr>
          <a:xfrm>
            <a:off x="1023257" y="341091"/>
            <a:ext cx="10877006" cy="836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Verificação e validação</a:t>
            </a:r>
            <a:endParaRPr sz="4800">
              <a:solidFill>
                <a:srgbClr val="0039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286" cy="119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5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28" name="Google Shape;128;p5"/>
          <p:cNvSpPr txBox="1"/>
          <p:nvPr/>
        </p:nvSpPr>
        <p:spPr>
          <a:xfrm>
            <a:off x="971007" y="1628281"/>
            <a:ext cx="10236900" cy="41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verificação busca </a:t>
            </a: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assegurar que os requisitos estão sendo especificados da forma correta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seguindo padrões e critérios de qualidade definidos, enquanto que a validação busca assegurar que o software especificado é o correto, ou seja, se este atende às necessidades dos clientes.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Existem vários padrões internacionais para os processos e documentação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 V&amp;V em software, podendo citar o Padrão IEEE 1012-2012 - Padrão IEEE para Verificação de Software e Validação - , que fornece algumas diretrizes para ajudar a preparar planos de V&amp;V, sendo que este modelo pode ser personalizado para a maioria das situações.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6"/>
          <p:cNvSpPr txBox="1"/>
          <p:nvPr/>
        </p:nvSpPr>
        <p:spPr>
          <a:xfrm>
            <a:off x="1023257" y="341091"/>
            <a:ext cx="10877006" cy="836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Verificação e validação</a:t>
            </a:r>
            <a:endParaRPr sz="4800">
              <a:solidFill>
                <a:srgbClr val="0039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286" cy="119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6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37" name="Google Shape;137;p6"/>
          <p:cNvSpPr txBox="1"/>
          <p:nvPr/>
        </p:nvSpPr>
        <p:spPr>
          <a:xfrm>
            <a:off x="971007" y="1628281"/>
            <a:ext cx="10236900" cy="48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atividades de verificação e validação tem como objetivo garantir que: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 requisitos de software descrevam com precisão os recursos e propriedades do sistema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 que satisfaça as necessidades dos stakeholders.</a:t>
            </a:r>
            <a:endParaRPr/>
          </a:p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Os requisitos de software sejam derivados corretamente dos requisitos de negócio.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Os requisitos atendam aos atributos de qualidade e aos padrões estipulados.</a:t>
            </a:r>
            <a:endParaRPr/>
          </a:p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Todos os requisitos sejam necessários e todo o conjunto é suficiente para atender aos objetivos do negócio.</a:t>
            </a:r>
            <a:endParaRPr/>
          </a:p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Todas as representações de requisitos sejam consistentes entre si.</a:t>
            </a:r>
            <a:endParaRPr/>
          </a:p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Os requisitos forneçam uma base adequada para prosseguir com o projeto e a construção.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7"/>
          <p:cNvSpPr txBox="1"/>
          <p:nvPr/>
        </p:nvSpPr>
        <p:spPr>
          <a:xfrm>
            <a:off x="1023257" y="341091"/>
            <a:ext cx="10877006" cy="836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Verificação e validação</a:t>
            </a:r>
            <a:endParaRPr sz="4800">
              <a:solidFill>
                <a:srgbClr val="0039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286" cy="119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7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46" name="Google Shape;146;p7"/>
          <p:cNvSpPr txBox="1"/>
          <p:nvPr/>
        </p:nvSpPr>
        <p:spPr>
          <a:xfrm>
            <a:off x="971007" y="1562966"/>
            <a:ext cx="10236900" cy="45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Verificação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Esta etapa busca garantir que os r</a:t>
            </a: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equisitos especificados e seus modelos atendam ao padrão de qualidade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sendo adotadas ações para apontar os itens que não estão em conformidade, a fim de justificar ou corrigir estes itens para que estes sejam utilizados de forma eficaz nas etapas seguintes do projeto.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Ela</a:t>
            </a: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é realizada quando a especificação de um requisito ou de um conjunto de requisitos é considerada finalizada,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tratando-se de uma avaliação final do requisito ou do pacote de requisitos e tem como objetivo garantir que o requisito ou o documento de requisitos represente uma descrição clara do sistema que deve ser desenvolvido.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8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286" cy="119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8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54" name="Google Shape;154;p8"/>
          <p:cNvSpPr txBox="1"/>
          <p:nvPr/>
        </p:nvSpPr>
        <p:spPr>
          <a:xfrm>
            <a:off x="971007" y="1628281"/>
            <a:ext cx="102369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Critérios de qualidade dos requisitos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Sem ambiguidade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Necessário, Consistente, Completo,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Compreensível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Verificável (testável).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 txBox="1"/>
          <p:nvPr/>
        </p:nvSpPr>
        <p:spPr>
          <a:xfrm>
            <a:off x="1023257" y="341091"/>
            <a:ext cx="10877006" cy="836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Documentação de requisitos</a:t>
            </a:r>
            <a:endParaRPr sz="4800">
              <a:solidFill>
                <a:srgbClr val="0039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6" name="Google Shape;156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67275" y="2820906"/>
            <a:ext cx="5188981" cy="33550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9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286" cy="119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9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64" name="Google Shape;164;p9"/>
          <p:cNvSpPr txBox="1"/>
          <p:nvPr/>
        </p:nvSpPr>
        <p:spPr>
          <a:xfrm>
            <a:off x="971007" y="1628281"/>
            <a:ext cx="10236926" cy="4893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Consistente: 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 requisito não deve se contradizer com outros requisitos e nem consigo mesmo.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Completo: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Cada requisito individual deve descrever completamente a funcionalidade que especifica.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Compreensível: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Os requisitos devem ser compreensíveis para todas as partes interessadas.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Verificável (testável):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um requisito deve ser descrito de uma forma que permita a sua verificação, ou seja, deve ser possível realizar testes e medições que evidenciem a funcionalidade exigida pelo requisito.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 txBox="1"/>
          <p:nvPr/>
        </p:nvSpPr>
        <p:spPr>
          <a:xfrm>
            <a:off x="1023257" y="341091"/>
            <a:ext cx="10877006" cy="836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Documentação de requisitos</a:t>
            </a:r>
            <a:endParaRPr sz="4800">
              <a:solidFill>
                <a:srgbClr val="0039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0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286" cy="119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10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73" name="Google Shape;173;p10"/>
          <p:cNvSpPr txBox="1"/>
          <p:nvPr/>
        </p:nvSpPr>
        <p:spPr>
          <a:xfrm>
            <a:off x="971007" y="1628281"/>
            <a:ext cx="10236926" cy="304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Viável: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os requisitos devem ser possíveis de implementar, podendo considerar o orçamento, equipe, cronograma, tecnologias, condições organizacionais, legais e técnicas, entre outros pontos.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Rastreável: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um requisito é rastreável se sua origem, bem como sua relação com outros documentos, podem ser rastreados.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Modificável: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deve permitir mudanças sem grandes impactos.</a:t>
            </a:r>
            <a:endParaRPr/>
          </a:p>
        </p:txBody>
      </p:sp>
      <p:sp>
        <p:nvSpPr>
          <p:cNvPr id="174" name="Google Shape;174;p10"/>
          <p:cNvSpPr txBox="1"/>
          <p:nvPr/>
        </p:nvSpPr>
        <p:spPr>
          <a:xfrm>
            <a:off x="1023257" y="341091"/>
            <a:ext cx="10877006" cy="836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Documentação de requisitos</a:t>
            </a:r>
            <a:endParaRPr sz="4800">
              <a:solidFill>
                <a:srgbClr val="0039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1"/>
          <p:cNvSpPr txBox="1"/>
          <p:nvPr/>
        </p:nvSpPr>
        <p:spPr>
          <a:xfrm>
            <a:off x="1023257" y="341091"/>
            <a:ext cx="10877006" cy="836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Verificação e validação</a:t>
            </a:r>
            <a:endParaRPr sz="4800">
              <a:solidFill>
                <a:srgbClr val="0039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1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286" cy="119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11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83" name="Google Shape;183;p11"/>
          <p:cNvSpPr txBox="1"/>
          <p:nvPr/>
        </p:nvSpPr>
        <p:spPr>
          <a:xfrm>
            <a:off x="971007" y="1628281"/>
            <a:ext cx="10236926" cy="5262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São efetuados diversos tipos de verificação dos requisitos no documento de requisitos: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Verificações dos atributos de qualidade: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identifica se o requisito proposto atende aos atributos de qualidade existentes.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Adequação da informação: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verificar se as necessidades de informação para o modelo ou requisito em análise estão atendidas de maneira completa. Por exemplo, ao analisar um diagrama de atividades, verificar se o mesmo apresenta os componentes corretamente, de acordo com a linguagem UML.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Cenários alternativos: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para os requisitos funcionais, deve ser verificado se todas as alternativas de fluxos foram devidamente especificadas.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2"/>
          <p:cNvSpPr txBox="1"/>
          <p:nvPr/>
        </p:nvSpPr>
        <p:spPr>
          <a:xfrm>
            <a:off x="1023257" y="341091"/>
            <a:ext cx="10877006" cy="836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Verificação e validação</a:t>
            </a:r>
            <a:endParaRPr sz="4800">
              <a:solidFill>
                <a:srgbClr val="0039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2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286" cy="119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12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92" name="Google Shape;192;p12"/>
          <p:cNvSpPr txBox="1"/>
          <p:nvPr/>
        </p:nvSpPr>
        <p:spPr>
          <a:xfrm>
            <a:off x="971007" y="1628281"/>
            <a:ext cx="10236926" cy="4524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Elementos omissos em modelos: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cada modelo deve ser comparado com outros modelos existentes no projeto, buscando por elementos que são mencionados em um modelo e que estão omissos em modelos que apresentam o dado sob outras perspectivas. Por exemplo, em um diagrama de atividades existe a etapa de aprovação de agendamentos, porém não existe um requisito funcional para esta atividade.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Terminologia: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Deve-se verificar se a terminologia utilizada para um mesmo conceito de negócio está consistente em todos os modelos e em todo o documento. A terminologia usada deve ser compreensível para todas as partes interessadas. O glossário é uma ótima ferramenta para esse fim.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3"/>
          <p:cNvSpPr txBox="1"/>
          <p:nvPr/>
        </p:nvSpPr>
        <p:spPr>
          <a:xfrm>
            <a:off x="1023257" y="341091"/>
            <a:ext cx="10877006" cy="836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Verificação e validação</a:t>
            </a:r>
            <a:endParaRPr sz="4800">
              <a:solidFill>
                <a:srgbClr val="0039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3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286" cy="119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13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01" name="Google Shape;201;p13"/>
          <p:cNvSpPr txBox="1"/>
          <p:nvPr/>
        </p:nvSpPr>
        <p:spPr>
          <a:xfrm>
            <a:off x="971007" y="1628281"/>
            <a:ext cx="9871164" cy="4278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“RF01 – Desenhe um barco e uma vela.”</a:t>
            </a:r>
            <a:endParaRPr sz="2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“RNF01 - O software deve ser amigável.”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“RF02 – Emitir o relatório de disponibilidade da frota de veículos.”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4"/>
          <p:cNvSpPr txBox="1"/>
          <p:nvPr/>
        </p:nvSpPr>
        <p:spPr>
          <a:xfrm>
            <a:off x="1023257" y="341091"/>
            <a:ext cx="10877006" cy="836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Verificação e validação</a:t>
            </a:r>
            <a:endParaRPr sz="4800">
              <a:solidFill>
                <a:srgbClr val="0039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4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286" cy="119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14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10" name="Google Shape;210;p14"/>
          <p:cNvSpPr txBox="1"/>
          <p:nvPr/>
        </p:nvSpPr>
        <p:spPr>
          <a:xfrm>
            <a:off x="971007" y="1628281"/>
            <a:ext cx="10236900" cy="46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primeiro requisito, a vela se referencia à vela do barco ou uma vela feita de cera?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segundo requisito, o que exatamente significa “amigável”?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terceiro requisito, quais são as condições para que um veículo esteja disponível?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Estes requisitos são muito vagos ou ambíguos para os desenvolvedores testarem ou avaliarem, tornando-os abertos à interpretações para desenvolvimento,  conforme a experiência de cada desenvolvedor. Para sua validação, isso precisa ser </a:t>
            </a:r>
            <a:r>
              <a:rPr lang="pt-BR" sz="3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quantificado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ou </a:t>
            </a:r>
            <a:r>
              <a:rPr lang="pt-BR" sz="29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qualificado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algum modo.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5"/>
          <p:cNvSpPr txBox="1"/>
          <p:nvPr/>
        </p:nvSpPr>
        <p:spPr>
          <a:xfrm>
            <a:off x="1023257" y="341091"/>
            <a:ext cx="10877006" cy="836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Verificação e validação</a:t>
            </a:r>
            <a:endParaRPr sz="4800">
              <a:solidFill>
                <a:srgbClr val="0039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5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286" cy="119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15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19" name="Google Shape;219;p15"/>
          <p:cNvSpPr txBox="1"/>
          <p:nvPr/>
        </p:nvSpPr>
        <p:spPr>
          <a:xfrm>
            <a:off x="971007" y="1628281"/>
            <a:ext cx="10236926" cy="3785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Validação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validação de requisitos busca assegurar que todos os requisitos especificados estejam alinhados com os requisitos de negócio e que todas as necessidades dos clientes sejam satisfeitas.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Tem como finalidade garantir que a especificação defina o produto certo a ser desenvolvido pelo projeto. </a:t>
            </a:r>
            <a:b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16"/>
          <p:cNvSpPr txBox="1"/>
          <p:nvPr/>
        </p:nvSpPr>
        <p:spPr>
          <a:xfrm>
            <a:off x="1023257" y="341091"/>
            <a:ext cx="10877006" cy="836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Verificação e validação</a:t>
            </a:r>
            <a:endParaRPr sz="4800">
              <a:solidFill>
                <a:srgbClr val="0039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6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286" cy="119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16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28" name="Google Shape;228;p16"/>
          <p:cNvSpPr txBox="1"/>
          <p:nvPr/>
        </p:nvSpPr>
        <p:spPr>
          <a:xfrm>
            <a:off x="971007" y="1628281"/>
            <a:ext cx="10236926" cy="4154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Técnicas de V&amp;V</a:t>
            </a:r>
            <a:endParaRPr sz="2400" b="1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Controle de questões: 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ainda existem questões em aberto para serem discutidas, é valido supor que a especificação de requisitos pode não estar completa.  As questões em aberto devem ser resolvidas e inseridas na especificação do requisito.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Geração de casos de teste: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elaboração de casos de teste permite a identificação de falhas na especificação do requisito, por exemplo, identificando requisitos não testáveis ou incompletos. Assim, ela funciona como uma revisão da especificação.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17"/>
          <p:cNvSpPr txBox="1"/>
          <p:nvPr/>
        </p:nvSpPr>
        <p:spPr>
          <a:xfrm>
            <a:off x="1023257" y="341091"/>
            <a:ext cx="10877006" cy="836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Verificação e validação</a:t>
            </a:r>
            <a:endParaRPr sz="4800">
              <a:solidFill>
                <a:srgbClr val="0039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7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286" cy="119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17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37" name="Google Shape;237;p17"/>
          <p:cNvSpPr txBox="1"/>
          <p:nvPr/>
        </p:nvSpPr>
        <p:spPr>
          <a:xfrm>
            <a:off x="971007" y="1628281"/>
            <a:ext cx="10236926" cy="4893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Requisito: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Deve ser realizado o cálculo do IMC do paciente, solicitando o seu peso e altura e utilizado a seguinte fórmula: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IMC = Peso (kg) / Altura (m) ²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Tanto peso quanto altura devem possuir no máximo 2 casas decimais e as duas informações são obrigatórias.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Caso de teste 1: 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Ao informar o peso de 50 Kg e altura 1,65 deve-se obter o seguinte resultado: IMC = 50 / 1,65² = 18,38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Caso de teste 2: 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Ao informar o peso de 0 Kg e altura 1,65 deve-se obter o seguinte resultado: IMC = 0 / 1,65² = 0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18"/>
          <p:cNvSpPr txBox="1"/>
          <p:nvPr/>
        </p:nvSpPr>
        <p:spPr>
          <a:xfrm>
            <a:off x="1023257" y="341091"/>
            <a:ext cx="10877006" cy="836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Verificação e validação</a:t>
            </a:r>
            <a:endParaRPr sz="4800">
              <a:solidFill>
                <a:srgbClr val="0039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8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286" cy="119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18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46" name="Google Shape;246;p18"/>
          <p:cNvSpPr txBox="1"/>
          <p:nvPr/>
        </p:nvSpPr>
        <p:spPr>
          <a:xfrm>
            <a:off x="971007" y="1628281"/>
            <a:ext cx="10236926" cy="4893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Critérios de aceite: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 critérios de aceite determinam as circunstâncias em que o cliente irá aceitar o resultado final do projeto. São critérios com o que se pode medir e comprovar a finalização de um trabalho.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Critérios de aceite definem as condições mínimas para que uma funcionalidade seja considerada pronta, conforme os objetivos de negócio, e podem estipular itens como condições legais, regulatórias ou contratuais específicas que devem ser atendidas pelo sistema.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Definir critérios de aceite com o cliente fornece uma maneira de validar tanto os requisitos quanto a própria solução. 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19"/>
          <p:cNvSpPr txBox="1"/>
          <p:nvPr/>
        </p:nvSpPr>
        <p:spPr>
          <a:xfrm>
            <a:off x="1023257" y="341091"/>
            <a:ext cx="10877006" cy="836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Verificação e validação</a:t>
            </a:r>
            <a:endParaRPr sz="4800">
              <a:solidFill>
                <a:srgbClr val="0039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9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286" cy="119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19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55" name="Google Shape;255;p19"/>
          <p:cNvSpPr txBox="1"/>
          <p:nvPr/>
        </p:nvSpPr>
        <p:spPr>
          <a:xfrm>
            <a:off x="971007" y="1628281"/>
            <a:ext cx="10236900" cy="51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São características dos critérios de aceite: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Devem </a:t>
            </a:r>
            <a:r>
              <a:rPr lang="pt-BR" sz="29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 testáveis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e os resultados dos testes </a:t>
            </a:r>
            <a:r>
              <a:rPr lang="pt-BR" sz="27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não devem deixar margem para interpretação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O teste de aceitação deve produzir uma resposta clara para aprovação ou reprovação do resultado.</a:t>
            </a:r>
            <a:endParaRPr/>
          </a:p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Os critérios devem ser claros e concisos.</a:t>
            </a:r>
            <a:endParaRPr/>
          </a:p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Todos os envolvidos no projetos devem compreender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os critérios de aceite propostos.</a:t>
            </a:r>
            <a:endParaRPr/>
          </a:p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27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Devem fornecer uma perspectiva do usuário, sendo que este deve ser capaz de testá-los e aprová-los/reprová-los.</a:t>
            </a:r>
            <a:endParaRPr sz="1700" b="1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São definidos no SRS e podem também ser considerados como parte de acordos contratuais com os clientes.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Google Shape;26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0"/>
          <p:cNvSpPr txBox="1"/>
          <p:nvPr/>
        </p:nvSpPr>
        <p:spPr>
          <a:xfrm>
            <a:off x="1023257" y="341091"/>
            <a:ext cx="10877006" cy="836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Verificação e validação</a:t>
            </a:r>
            <a:endParaRPr sz="4800">
              <a:solidFill>
                <a:srgbClr val="0039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0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286" cy="119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20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64" name="Google Shape;264;p20"/>
          <p:cNvSpPr txBox="1"/>
          <p:nvPr/>
        </p:nvSpPr>
        <p:spPr>
          <a:xfrm>
            <a:off x="971007" y="1628281"/>
            <a:ext cx="10236900" cy="48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Revisões técnicas/Inspeções: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 requisitos são analisados sistematicamente por uma equipe de revisores que verifica erros, inconsistências e se a especificação consegue transmitir a mensagem pretendida pelo autor.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Uma inspeção é composta pelas fases de planejamento, visão geral, detecção de erros, correção de erros, acompanhamento e reflexão. No processo de validação de requisitos, as fases de planejamento, visão geral, detecção de erros e coleta de erros são as mais relevantes.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Planejamento: 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são definidos o objetivo da inspeção, os resultados esperados do trabalho de revisão e os papéis e participantes da inspeção.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69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1"/>
          <p:cNvSpPr txBox="1"/>
          <p:nvPr/>
        </p:nvSpPr>
        <p:spPr>
          <a:xfrm>
            <a:off x="1023257" y="341091"/>
            <a:ext cx="10877006" cy="836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Verificação e validação</a:t>
            </a:r>
            <a:endParaRPr sz="4800">
              <a:solidFill>
                <a:srgbClr val="0039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1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286" cy="119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21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73" name="Google Shape;273;p21"/>
          <p:cNvSpPr txBox="1"/>
          <p:nvPr/>
        </p:nvSpPr>
        <p:spPr>
          <a:xfrm>
            <a:off x="971007" y="1628281"/>
            <a:ext cx="10236926" cy="4524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Visão Geral: 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nesta fase, o autor explica aos membros da equipe os requisitos a serem revisados, para que haja um entendimento comum sobre a exigência entre todos os revisores.</a:t>
            </a: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Detecção de erros: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os revisores buscam por erros nos requisitos. A detecção de erros pode ser realizada individualmente ou por uma equipe, de forma colaborativa.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Coleta de erros: 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todos os erros identificados são coletados, consolidados e documentados. Durante a consolidação, são identificados os erros que foram encontrados várias vezes ou erros que não são realmente erros. Os erros identificados e as medidas de correção são documentados em uma lista de erros. 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2"/>
          <p:cNvSpPr txBox="1"/>
          <p:nvPr/>
        </p:nvSpPr>
        <p:spPr>
          <a:xfrm>
            <a:off x="1023257" y="341091"/>
            <a:ext cx="10877006" cy="836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Verificação e validação</a:t>
            </a:r>
            <a:endParaRPr sz="4800">
              <a:solidFill>
                <a:srgbClr val="0039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2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286" cy="119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22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82" name="Google Shape;282;p22"/>
          <p:cNvSpPr txBox="1"/>
          <p:nvPr/>
        </p:nvSpPr>
        <p:spPr>
          <a:xfrm>
            <a:off x="971007" y="1628281"/>
            <a:ext cx="10236900" cy="26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Walk-through: é uma versão mais simples da revisão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que tem como objetivo identificar falhas de qualidade dentro dos requisitos por meio de um processo colaborativo e obter um entendimento dos requisitos entre todas as pessoas envolvidas.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 requisitos são apresentados aos participantes e estes analisam e discutem estes requisitos, sendo que as falhas encontradas são documentadas.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Google Shape;287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3"/>
          <p:cNvSpPr txBox="1"/>
          <p:nvPr/>
        </p:nvSpPr>
        <p:spPr>
          <a:xfrm>
            <a:off x="1023257" y="341091"/>
            <a:ext cx="10877006" cy="836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Verificação e validação</a:t>
            </a:r>
            <a:endParaRPr sz="4800">
              <a:solidFill>
                <a:srgbClr val="0039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3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286" cy="119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23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91" name="Google Shape;291;p23"/>
          <p:cNvSpPr txBox="1"/>
          <p:nvPr/>
        </p:nvSpPr>
        <p:spPr>
          <a:xfrm>
            <a:off x="971007" y="1628281"/>
            <a:ext cx="10236900" cy="48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Checklists </a:t>
            </a: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(listas de verificação)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Definem uma lista padrão de itens que são verificados para identificar problemas na especificação.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É uma técnica usada tanto na verificação quanto na validação pelo cliente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O que difere o </a:t>
            </a:r>
            <a:r>
              <a:rPr lang="pt-BR" sz="24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checklist 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 verificação para o de validação é a lista de itens a serem verificados, sendo que o </a:t>
            </a:r>
            <a:r>
              <a:rPr lang="pt-BR" sz="24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checklist 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 validação pode ser enviado ao cliente para que este responda aos itens. Podem ser utilizados em processos de revisão.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Uma lista de verificação e validação de requisitos contém perguntas ou assertivas encadeadas sequencialmente que facilitam a identificação de erros, pois os requisitos são avaliados com base em cada item presente no </a:t>
            </a:r>
            <a:r>
              <a:rPr lang="pt-BR" sz="24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checklist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Google Shape;296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4"/>
          <p:cNvSpPr txBox="1"/>
          <p:nvPr/>
        </p:nvSpPr>
        <p:spPr>
          <a:xfrm>
            <a:off x="1023257" y="341091"/>
            <a:ext cx="10877006" cy="836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Verificação e validação</a:t>
            </a:r>
            <a:endParaRPr sz="4800">
              <a:solidFill>
                <a:srgbClr val="0039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4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286" cy="119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24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00" name="Google Shape;300;p24"/>
          <p:cNvSpPr txBox="1"/>
          <p:nvPr/>
        </p:nvSpPr>
        <p:spPr>
          <a:xfrm>
            <a:off x="971007" y="1628281"/>
            <a:ext cx="10236926" cy="304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Deve-se atentar para a forma como as questões são formuladas, pois questões muito genéricas ou abstratas podem dificultar o uso da lista de verificação.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Por exemplo: </a:t>
            </a: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“O requisito está formulado adequadamente?”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Esta questão pode levar a diversas respostas diferentes, dependendo do que a pessoa que está respondendo o </a:t>
            </a:r>
            <a:r>
              <a:rPr lang="pt-BR" sz="24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checklist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considera um requisito devidamente especificado.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Google Shape;305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5"/>
          <p:cNvSpPr txBox="1"/>
          <p:nvPr/>
        </p:nvSpPr>
        <p:spPr>
          <a:xfrm>
            <a:off x="1023257" y="341091"/>
            <a:ext cx="10877006" cy="836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Verificação e validação</a:t>
            </a:r>
            <a:endParaRPr sz="4800">
              <a:solidFill>
                <a:srgbClr val="0039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5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286" cy="119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25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09" name="Google Shape;309;p25"/>
          <p:cNvSpPr txBox="1"/>
          <p:nvPr/>
        </p:nvSpPr>
        <p:spPr>
          <a:xfrm>
            <a:off x="971007" y="1628281"/>
            <a:ext cx="10236926" cy="4893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Protótipos: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Nesta técnica, um modelo do sistema em questão é demonstrado para os usuários finais e clientes. Estes podem experimentar ou analisar o modelo para verificar se ele atende a suas reais necessidades. Com o protótipo, a parte interessada pode avaliar com mais atenção a solução proposta e proporcionar um </a:t>
            </a:r>
            <a:r>
              <a:rPr lang="pt-BR" sz="24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feedback 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mais rico do quão correta é a solução proposta.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Podem ser criados protótipos descartáveis, que ​​não são mantidos depois de utilizados, ou protótipos evolutivos, que serão melhorados em etapas posteriores.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" name="Google Shape;314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6"/>
          <p:cNvSpPr txBox="1"/>
          <p:nvPr/>
        </p:nvSpPr>
        <p:spPr>
          <a:xfrm>
            <a:off x="1023257" y="341091"/>
            <a:ext cx="10877006" cy="836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Verificação e validação</a:t>
            </a:r>
            <a:endParaRPr sz="4800">
              <a:solidFill>
                <a:srgbClr val="0039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6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286" cy="119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26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18" name="Google Shape;318;p26"/>
          <p:cNvSpPr txBox="1"/>
          <p:nvPr/>
        </p:nvSpPr>
        <p:spPr>
          <a:xfrm>
            <a:off x="971007" y="1628281"/>
            <a:ext cx="10236926" cy="4893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a implementação de um protótipo, os requisitos a ser representados devem ser selecionados, sendo que o conjunto de requisitos a ser validado pelo protótipo é limitado por recursos de desenvolvimento, como tempo, dinheiro, equipe, etc. Pode-se utilizar como critério de seleção a criticidade de um requisito.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Protótipos de baixa fidelidade: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são protótipos simples, baratos e rápidos de desenvolver e representa visualmente as funcionalidades. Podem ser utilizados para validar conceitos, informações e ideias. Tem como objetivo definir de modo simples como seria a interação do usuário com uma funcionalidade, sem se  preocupar com o design.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3" name="Google Shape;323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2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27"/>
          <p:cNvSpPr txBox="1"/>
          <p:nvPr/>
        </p:nvSpPr>
        <p:spPr>
          <a:xfrm>
            <a:off x="1023257" y="341091"/>
            <a:ext cx="10877006" cy="836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Verificação e validação</a:t>
            </a:r>
            <a:endParaRPr sz="4800">
              <a:solidFill>
                <a:srgbClr val="0039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7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286" cy="119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27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27" name="Google Shape;327;p27"/>
          <p:cNvSpPr txBox="1"/>
          <p:nvPr/>
        </p:nvSpPr>
        <p:spPr>
          <a:xfrm>
            <a:off x="971007" y="1628281"/>
            <a:ext cx="10236926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8" name="Google Shape;328;p27" descr="Protótipo Baixa Fidelidade - Interface com o Usuário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036625" y="1598794"/>
            <a:ext cx="8058474" cy="4867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3" name="Google Shape;333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28"/>
          <p:cNvSpPr txBox="1"/>
          <p:nvPr/>
        </p:nvSpPr>
        <p:spPr>
          <a:xfrm>
            <a:off x="1023257" y="341091"/>
            <a:ext cx="10877006" cy="836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Verificação e validação</a:t>
            </a:r>
            <a:endParaRPr sz="4800">
              <a:solidFill>
                <a:srgbClr val="0039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8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286" cy="119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28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37" name="Google Shape;337;p28"/>
          <p:cNvSpPr txBox="1"/>
          <p:nvPr/>
        </p:nvSpPr>
        <p:spPr>
          <a:xfrm>
            <a:off x="971007" y="1628281"/>
            <a:ext cx="10236926" cy="4524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Protótipos de média fidelidade: 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são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protótipos com layout e navegação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simplificados, que sejam suficientes para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testar alguns aspectos da interação do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usuário com a ferramenta. É utilizado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quando o foco é validar a interatividade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 os elementos da interface. Busca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definir a estrutura de conteúdo da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interface e criar um layout básico da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funcionalidade.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Ferramentas: Draw.io, Mockflow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8" name="Google Shape;338;p28" descr="Conheça os 5 tipos de prototipos - Vida de Produto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29804" y="1608909"/>
            <a:ext cx="5444204" cy="41256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3" name="Google Shape;343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2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29"/>
          <p:cNvSpPr txBox="1"/>
          <p:nvPr/>
        </p:nvSpPr>
        <p:spPr>
          <a:xfrm>
            <a:off x="1023257" y="341091"/>
            <a:ext cx="10877006" cy="836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Verificação e validação</a:t>
            </a:r>
            <a:endParaRPr sz="4800">
              <a:solidFill>
                <a:srgbClr val="0039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9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286" cy="119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29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47" name="Google Shape;347;p29"/>
          <p:cNvSpPr txBox="1"/>
          <p:nvPr/>
        </p:nvSpPr>
        <p:spPr>
          <a:xfrm>
            <a:off x="971007" y="1628281"/>
            <a:ext cx="10236926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Protótipos de alta fidelidade: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representam de forma bastante real o produto final mas, em geral têm apenas uma ou poucas funções realmente funcionando. É possível simular o fluxo das funcionalidades e já fica bem mais próximo do layout final da funcionalidade.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8" name="Google Shape;348;p29" descr="Protótipo de Alta Fidelidade - Interface com o Usuário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937963" y="3325449"/>
            <a:ext cx="5970905" cy="32362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3" name="Google Shape;353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0"/>
          <p:cNvSpPr txBox="1"/>
          <p:nvPr/>
        </p:nvSpPr>
        <p:spPr>
          <a:xfrm>
            <a:off x="1023257" y="341091"/>
            <a:ext cx="10877006" cy="836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Verificação e validação</a:t>
            </a:r>
            <a:endParaRPr sz="4800">
              <a:solidFill>
                <a:srgbClr val="0039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30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286" cy="119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30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57" name="Google Shape;357;p30"/>
          <p:cNvSpPr txBox="1"/>
          <p:nvPr/>
        </p:nvSpPr>
        <p:spPr>
          <a:xfrm>
            <a:off x="971007" y="1628281"/>
            <a:ext cx="10236926" cy="4524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Alguns preparativos podem ser feitos para a validação de requisitos por meio de protótipos: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Manual/instruções: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Os usuários do protótipo devem receber as informações necessárias para que possam utilizar o protótipo. Isso pode ser feito por meio de um manual ou por meio de instruções adequadas.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Cenários de validação: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Devem ser preparados os cenários de validação que os usuários do protótipo podem realizar.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Checklist com critérios de validação: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deve ser criado um checklist de critérios de validação do protótipo, levando em consideração os objetivos da validação.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2092</Words>
  <Application>Microsoft Office PowerPoint</Application>
  <PresentationFormat>Personalizar</PresentationFormat>
  <Paragraphs>208</Paragraphs>
  <Slides>30</Slides>
  <Notes>29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30</vt:i4>
      </vt:variant>
    </vt:vector>
  </HeadingPairs>
  <TitlesOfParts>
    <vt:vector size="31" baseType="lpstr"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Joao Marcos Garcia Vieira</dc:creator>
  <cp:lastModifiedBy>Leandro Ugioni</cp:lastModifiedBy>
  <cp:revision>1</cp:revision>
  <dcterms:created xsi:type="dcterms:W3CDTF">2019-02-19T17:16:10Z</dcterms:created>
  <dcterms:modified xsi:type="dcterms:W3CDTF">2026-04-18T19:11:01Z</dcterms:modified>
</cp:coreProperties>
</file>