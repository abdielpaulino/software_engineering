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30"/>
  </p:notesMasterIdLst>
  <p:sldIdLst>
    <p:sldId id="288" r:id="rId2"/>
    <p:sldId id="284" r:id="rId3"/>
    <p:sldId id="285" r:id="rId4"/>
    <p:sldId id="286" r:id="rId5"/>
    <p:sldId id="287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5" roundtripDataSignature="AMtx7mhqJ+x0vI/ni85UPrFUgJcav3d21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-691" y="-9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6568411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1f20c66fe22_0_1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g1f20c66fe22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1dda278d0d7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g1dda278d0d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1dda278d0d7_0_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g1dda278d0d7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1dda278d0d7_0_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g1dda278d0d7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1f20c66fe22_0_16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68" name="Google Shape;368;g1f20c66fe22_0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 Título Vertical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 1">
  <p:cSld name="Título e Conteúdo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g1f20c66fe22_0_1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g1f20c66fe22_0_1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g1f20c66fe22_0_114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300" cy="11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marL="0" lvl="1" indent="0" algn="r" rtl="0">
              <a:spcBef>
                <a:spcPts val="0"/>
              </a:spcBef>
              <a:buNone/>
              <a:defRPr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marL="0" lvl="2" indent="0" algn="r" rtl="0">
              <a:spcBef>
                <a:spcPts val="0"/>
              </a:spcBef>
              <a:buNone/>
              <a:defRPr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marL="0" lvl="3" indent="0" algn="r" rtl="0">
              <a:spcBef>
                <a:spcPts val="0"/>
              </a:spcBef>
              <a:buNone/>
              <a:defRPr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marL="0" lvl="4" indent="0" algn="r" rtl="0">
              <a:spcBef>
                <a:spcPts val="0"/>
              </a:spcBef>
              <a:buNone/>
              <a:defRPr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marL="0" lvl="5" indent="0" algn="r" rtl="0">
              <a:spcBef>
                <a:spcPts val="0"/>
              </a:spcBef>
              <a:buNone/>
              <a:defRPr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marL="0" lvl="6" indent="0" algn="r" rtl="0">
              <a:spcBef>
                <a:spcPts val="0"/>
              </a:spcBef>
              <a:buNone/>
              <a:defRPr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marL="0" lvl="7" indent="0" algn="r" rtl="0">
              <a:spcBef>
                <a:spcPts val="0"/>
              </a:spcBef>
              <a:buNone/>
              <a:defRPr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marL="0" lvl="8" indent="0" algn="r" rtl="0">
              <a:spcBef>
                <a:spcPts val="0"/>
              </a:spcBef>
              <a:buNone/>
              <a:defRPr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88" name="Google Shape;88;g1f20c66fe22_0_1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4800"/>
              <a:buFont typeface="Calibri"/>
              <a:buNone/>
              <a:defRPr sz="4800">
                <a:solidFill>
                  <a:srgbClr val="1F386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g1f20c66fe22_0_1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solidFill>
                  <a:schemeClr val="dk1"/>
                </a:solidFill>
              </a:defRPr>
            </a:lvl1pPr>
            <a:lvl2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2pPr>
            <a:lvl3pPr marL="137160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solidFill>
                  <a:schemeClr val="dk1"/>
                </a:solidFill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gif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jp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81F8B163-86D5-4878-916A-9D11FE2EA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="" xmlns:a16="http://schemas.microsoft.com/office/drawing/2014/main" id="{F3020D6C-6261-402F-84A7-AA1B65D9D5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1" cy="6858000"/>
          </a:xfrm>
        </p:spPr>
      </p:pic>
      <p:sp>
        <p:nvSpPr>
          <p:cNvPr id="6" name="CaixaDeTexto 5">
            <a:extLst>
              <a:ext uri="{FF2B5EF4-FFF2-40B4-BE49-F238E27FC236}">
                <a16:creationId xmlns="" xmlns:a16="http://schemas.microsoft.com/office/drawing/2014/main" id="{E3D630B1-A6DA-42B6-861B-AAD116CC443F}"/>
              </a:ext>
            </a:extLst>
          </p:cNvPr>
          <p:cNvSpPr txBox="1"/>
          <p:nvPr/>
        </p:nvSpPr>
        <p:spPr>
          <a:xfrm>
            <a:off x="2292626" y="1491406"/>
            <a:ext cx="760674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 smtClean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Boas vindas 1ª Fase</a:t>
            </a:r>
          </a:p>
          <a:p>
            <a:pPr algn="ctr"/>
            <a:r>
              <a:rPr lang="pt-BR" sz="6000" b="1" dirty="0" smtClean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pt-BR" sz="6000" b="1" dirty="0" smtClean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Engenharia de Requisitos</a:t>
            </a:r>
            <a:endParaRPr lang="pt-BR" sz="6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7348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81F8B163-86D5-4878-916A-9D11FE2EA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2</a:t>
            </a:r>
            <a:endParaRPr lang="pt-BR" dirty="0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="" xmlns:a16="http://schemas.microsoft.com/office/drawing/2014/main" id="{F3020D6C-6261-402F-84A7-AA1B65D9D5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" y="-39687"/>
            <a:ext cx="12192001" cy="6858000"/>
          </a:xfrm>
        </p:spPr>
      </p:pic>
      <p:sp>
        <p:nvSpPr>
          <p:cNvPr id="6" name="Retângulo 5">
            <a:extLst>
              <a:ext uri="{FF2B5EF4-FFF2-40B4-BE49-F238E27FC236}">
                <a16:creationId xmlns="" xmlns:a16="http://schemas.microsoft.com/office/drawing/2014/main" id="{EB245674-9C0B-416C-8063-F120C28149D5}"/>
              </a:ext>
            </a:extLst>
          </p:cNvPr>
          <p:cNvSpPr/>
          <p:nvPr/>
        </p:nvSpPr>
        <p:spPr>
          <a:xfrm>
            <a:off x="2305317" y="1600244"/>
            <a:ext cx="854646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 smtClean="0"/>
              <a:t>Leandro </a:t>
            </a:r>
            <a:r>
              <a:rPr lang="pt-BR" sz="2400" dirty="0"/>
              <a:t>Ugioni, </a:t>
            </a:r>
            <a:r>
              <a:rPr lang="pt-BR" sz="2400" dirty="0" smtClean="0"/>
              <a:t>35 anos</a:t>
            </a:r>
            <a:r>
              <a:rPr lang="pt-BR" sz="2400" dirty="0"/>
              <a:t>, Criciúma/SC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 smtClean="0"/>
              <a:t>Especialista </a:t>
            </a:r>
            <a:r>
              <a:rPr lang="pt-BR" sz="2400" dirty="0"/>
              <a:t>em Engenharia de Software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Atuando com Engenharia de </a:t>
            </a:r>
            <a:r>
              <a:rPr lang="pt-BR" sz="2400" dirty="0" smtClean="0"/>
              <a:t>Software desde </a:t>
            </a:r>
            <a:r>
              <a:rPr lang="pt-BR" sz="2400" dirty="0"/>
              <a:t>2012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Palestrante, Professor e Mentor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Betha </a:t>
            </a:r>
            <a:r>
              <a:rPr lang="pt-BR" sz="2400" dirty="0" smtClean="0"/>
              <a:t>Sistemas &gt;&gt;&gt; Serasa Experian </a:t>
            </a:r>
            <a:endParaRPr lang="pt-BR" sz="2400" dirty="0"/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smtClean="0"/>
              <a:t>11 Certificações </a:t>
            </a:r>
            <a:r>
              <a:rPr lang="pt-BR" sz="2400" dirty="0" smtClean="0"/>
              <a:t>Internacionais em testes </a:t>
            </a:r>
            <a:r>
              <a:rPr lang="pt-BR" sz="2400" dirty="0"/>
              <a:t>no BSTQB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Atualmente sou </a:t>
            </a:r>
            <a:r>
              <a:rPr lang="pt-BR" sz="2400" dirty="0" smtClean="0"/>
              <a:t>Coordenador de Desenvolvimento &amp; QA</a:t>
            </a:r>
            <a:endParaRPr lang="pt-BR" sz="2400" dirty="0"/>
          </a:p>
        </p:txBody>
      </p:sp>
      <p:sp>
        <p:nvSpPr>
          <p:cNvPr id="7" name="CaixaDeTexto 6">
            <a:extLst>
              <a:ext uri="{FF2B5EF4-FFF2-40B4-BE49-F238E27FC236}">
                <a16:creationId xmlns="" xmlns:a16="http://schemas.microsoft.com/office/drawing/2014/main" id="{08283734-C6C8-4FA0-8B39-355F64AF3B87}"/>
              </a:ext>
            </a:extLst>
          </p:cNvPr>
          <p:cNvSpPr txBox="1"/>
          <p:nvPr/>
        </p:nvSpPr>
        <p:spPr>
          <a:xfrm>
            <a:off x="-2" y="838181"/>
            <a:ext cx="12192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Apresentação</a:t>
            </a:r>
            <a:endParaRPr lang="pt-BR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4236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81F8B163-86D5-4878-916A-9D11FE2EA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="" xmlns:a16="http://schemas.microsoft.com/office/drawing/2014/main" id="{F3020D6C-6261-402F-84A7-AA1B65D9D5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1" cy="6858000"/>
          </a:xfrm>
        </p:spPr>
      </p:pic>
      <p:sp>
        <p:nvSpPr>
          <p:cNvPr id="6" name="CaixaDeTexto 5">
            <a:extLst>
              <a:ext uri="{FF2B5EF4-FFF2-40B4-BE49-F238E27FC236}">
                <a16:creationId xmlns="" xmlns:a16="http://schemas.microsoft.com/office/drawing/2014/main" id="{E3D630B1-A6DA-42B6-861B-AAD116CC443F}"/>
              </a:ext>
            </a:extLst>
          </p:cNvPr>
          <p:cNvSpPr txBox="1"/>
          <p:nvPr/>
        </p:nvSpPr>
        <p:spPr>
          <a:xfrm>
            <a:off x="2292626" y="2390386"/>
            <a:ext cx="760674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 smtClean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Apresentação Alunos</a:t>
            </a:r>
            <a:endParaRPr lang="pt-BR" sz="6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3980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81F8B163-86D5-4878-916A-9D11FE2EA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="" xmlns:a16="http://schemas.microsoft.com/office/drawing/2014/main" id="{F3020D6C-6261-402F-84A7-AA1B65D9D5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1" cy="6858000"/>
          </a:xfrm>
        </p:spPr>
      </p:pic>
      <p:sp>
        <p:nvSpPr>
          <p:cNvPr id="6" name="CaixaDeTexto 5">
            <a:extLst>
              <a:ext uri="{FF2B5EF4-FFF2-40B4-BE49-F238E27FC236}">
                <a16:creationId xmlns="" xmlns:a16="http://schemas.microsoft.com/office/drawing/2014/main" id="{E3D630B1-A6DA-42B6-861B-AAD116CC443F}"/>
              </a:ext>
            </a:extLst>
          </p:cNvPr>
          <p:cNvSpPr txBox="1"/>
          <p:nvPr/>
        </p:nvSpPr>
        <p:spPr>
          <a:xfrm>
            <a:off x="2292626" y="1569850"/>
            <a:ext cx="760674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 smtClean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Engenharia de Requisitos</a:t>
            </a:r>
          </a:p>
          <a:p>
            <a:pPr algn="ctr"/>
            <a:r>
              <a:rPr lang="pt-BR" sz="6000" b="1" dirty="0" smtClean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pt-BR" sz="6000" b="1" dirty="0" smtClean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Plano de Ensino</a:t>
            </a:r>
            <a:endParaRPr lang="pt-BR" sz="6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8310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81F8B163-86D5-4878-916A-9D11FE2EA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="" xmlns:a16="http://schemas.microsoft.com/office/drawing/2014/main" id="{F3020D6C-6261-402F-84A7-AA1B65D9D5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288" y="0"/>
            <a:ext cx="12192001" cy="6858000"/>
          </a:xfrm>
        </p:spPr>
      </p:pic>
      <p:sp>
        <p:nvSpPr>
          <p:cNvPr id="4" name="Retângulo 3">
            <a:extLst>
              <a:ext uri="{FF2B5EF4-FFF2-40B4-BE49-F238E27FC236}">
                <a16:creationId xmlns="" xmlns:a16="http://schemas.microsoft.com/office/drawing/2014/main" id="{67F26B68-4F01-4E85-BF84-ECE77F3ED6A0}"/>
              </a:ext>
            </a:extLst>
          </p:cNvPr>
          <p:cNvSpPr/>
          <p:nvPr/>
        </p:nvSpPr>
        <p:spPr>
          <a:xfrm>
            <a:off x="897111" y="2271579"/>
            <a:ext cx="10363202" cy="17481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8000" dirty="0"/>
              <a:t>Dúvidas?</a:t>
            </a:r>
          </a:p>
        </p:txBody>
      </p:sp>
    </p:spTree>
    <p:extLst>
      <p:ext uri="{BB962C8B-B14F-4D97-AF65-F5344CB8AC3E}">
        <p14:creationId xmlns:p14="http://schemas.microsoft.com/office/powerpoint/2010/main" val="1755383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3"/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Engenharia de requisitos</a:t>
            </a:r>
            <a:endParaRPr/>
          </a:p>
        </p:txBody>
      </p:sp>
      <p:sp>
        <p:nvSpPr>
          <p:cNvPr id="144" name="Google Shape;144;p3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6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45" name="Google Shape;145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32899" y="1090601"/>
            <a:ext cx="9234174" cy="274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92650" y="4029951"/>
            <a:ext cx="3779614" cy="271549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"/>
          <p:cNvSpPr txBox="1"/>
          <p:nvPr/>
        </p:nvSpPr>
        <p:spPr>
          <a:xfrm>
            <a:off x="10321621" y="2413201"/>
            <a:ext cx="86724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0" dirty="0">
                <a:solidFill>
                  <a:srgbClr val="003958"/>
                </a:solidFill>
                <a:latin typeface="Impact"/>
                <a:ea typeface="Impact"/>
                <a:cs typeface="Impact"/>
                <a:sym typeface="Impact"/>
              </a:rPr>
              <a:t>2023</a:t>
            </a:r>
            <a:endParaRPr dirty="0"/>
          </a:p>
        </p:txBody>
      </p:sp>
      <p:sp>
        <p:nvSpPr>
          <p:cNvPr id="148" name="Google Shape;148;p3"/>
          <p:cNvSpPr txBox="1"/>
          <p:nvPr/>
        </p:nvSpPr>
        <p:spPr>
          <a:xfrm>
            <a:off x="7872371" y="4919676"/>
            <a:ext cx="86724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0" dirty="0">
                <a:solidFill>
                  <a:srgbClr val="003958"/>
                </a:solidFill>
                <a:latin typeface="Impact"/>
                <a:ea typeface="Impact"/>
                <a:cs typeface="Impact"/>
                <a:sym typeface="Impact"/>
              </a:rPr>
              <a:t>2024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g1f20c66fe22_0_1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g1f20c66fe22_0_15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g1f20c66fe22_0_152"/>
          <p:cNvSpPr txBox="1"/>
          <p:nvPr/>
        </p:nvSpPr>
        <p:spPr>
          <a:xfrm>
            <a:off x="1023257" y="341091"/>
            <a:ext cx="108771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Engenharia de requisitos: Por que existe?</a:t>
            </a:r>
            <a:endParaRPr/>
          </a:p>
        </p:txBody>
      </p:sp>
      <p:sp>
        <p:nvSpPr>
          <p:cNvPr id="156" name="Google Shape;156;g1f20c66fe22_0_152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300" cy="11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7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57" name="Google Shape;157;g1f20c66fe22_0_152"/>
          <p:cNvSpPr/>
          <p:nvPr/>
        </p:nvSpPr>
        <p:spPr>
          <a:xfrm>
            <a:off x="738300" y="2547070"/>
            <a:ext cx="3000348" cy="2258172"/>
          </a:xfrm>
          <a:prstGeom prst="cloud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g1f20c66fe22_0_152"/>
          <p:cNvSpPr txBox="1"/>
          <p:nvPr/>
        </p:nvSpPr>
        <p:spPr>
          <a:xfrm>
            <a:off x="1199122" y="2957220"/>
            <a:ext cx="20787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Mundo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Real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g1f20c66fe22_0_152"/>
          <p:cNvSpPr/>
          <p:nvPr/>
        </p:nvSpPr>
        <p:spPr>
          <a:xfrm>
            <a:off x="4183663" y="2957207"/>
            <a:ext cx="3977100" cy="13557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3C47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700" b="1">
                <a:latin typeface="Calibri"/>
                <a:ea typeface="Calibri"/>
                <a:cs typeface="Calibri"/>
                <a:sym typeface="Calibri"/>
              </a:rPr>
              <a:t>REQUISITOS</a:t>
            </a:r>
            <a:endParaRPr sz="3700"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0" name="Google Shape;160;g1f20c66fe22_0_1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605775" y="2401928"/>
            <a:ext cx="3344100" cy="2466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4"/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Engenharia de requisitos</a:t>
            </a:r>
            <a:endParaRPr/>
          </a:p>
        </p:txBody>
      </p:sp>
      <p:sp>
        <p:nvSpPr>
          <p:cNvPr id="168" name="Google Shape;168;p4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8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69" name="Google Shape;169;p4"/>
          <p:cNvSpPr txBox="1"/>
          <p:nvPr/>
        </p:nvSpPr>
        <p:spPr>
          <a:xfrm>
            <a:off x="884985" y="1714487"/>
            <a:ext cx="9369358" cy="4581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Atribuições do analista de requisitos: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-165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lang="pt-BR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Identificar as necessidades do negócio e especificar requisitos;</a:t>
            </a:r>
            <a:endParaRPr/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Priorizar os requisitos</a:t>
            </a:r>
            <a:endParaRPr/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Planejar entregas</a:t>
            </a:r>
            <a:endParaRPr/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Atribuir os requisitos para equipe de desenvolvimento</a:t>
            </a:r>
            <a:endParaRPr/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Realizar a comunicação constante com os stakeholders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Validar o desenvolvimento</a:t>
            </a:r>
            <a:endParaRPr/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Ser a fonte de informação sobre o sistema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g1dda278d0d7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g1dda278d0d7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g1dda278d0d7_0_0"/>
          <p:cNvSpPr txBox="1"/>
          <p:nvPr/>
        </p:nvSpPr>
        <p:spPr>
          <a:xfrm>
            <a:off x="1023257" y="341091"/>
            <a:ext cx="108771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Engenharia de requisitos</a:t>
            </a:r>
            <a:endParaRPr/>
          </a:p>
        </p:txBody>
      </p:sp>
      <p:sp>
        <p:nvSpPr>
          <p:cNvPr id="177" name="Google Shape;177;g1dda278d0d7_0_0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300" cy="11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9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78" name="Google Shape;178;g1dda278d0d7_0_0"/>
          <p:cNvSpPr txBox="1"/>
          <p:nvPr/>
        </p:nvSpPr>
        <p:spPr>
          <a:xfrm>
            <a:off x="884984" y="1714487"/>
            <a:ext cx="4183500" cy="43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Requisito: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Construir uma rampa de acesso ao lado da escada.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5"/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Engenharia de requisitos</a:t>
            </a:r>
            <a:endParaRPr/>
          </a:p>
        </p:txBody>
      </p:sp>
      <p:sp>
        <p:nvSpPr>
          <p:cNvPr id="186" name="Google Shape;186;p5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10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87" name="Google Shape;187;p5"/>
          <p:cNvSpPr txBox="1"/>
          <p:nvPr/>
        </p:nvSpPr>
        <p:spPr>
          <a:xfrm>
            <a:off x="884984" y="1714487"/>
            <a:ext cx="4183405" cy="4359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Requisito: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Construir uma rampa de acesso ao lado da escada.</a:t>
            </a:r>
            <a:endParaRPr/>
          </a:p>
        </p:txBody>
      </p:sp>
      <p:pic>
        <p:nvPicPr>
          <p:cNvPr id="188" name="Google Shape;188;p5" descr="25 Obras dos piores engenheiros do mundo / Incríve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3423" y="1466292"/>
            <a:ext cx="3799660" cy="50679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g1dda278d0d7_0_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g1dda278d0d7_0_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g1dda278d0d7_0_9"/>
          <p:cNvSpPr txBox="1"/>
          <p:nvPr/>
        </p:nvSpPr>
        <p:spPr>
          <a:xfrm>
            <a:off x="1023257" y="341091"/>
            <a:ext cx="108771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Engenharia de requisitos</a:t>
            </a:r>
            <a:endParaRPr/>
          </a:p>
        </p:txBody>
      </p:sp>
      <p:sp>
        <p:nvSpPr>
          <p:cNvPr id="196" name="Google Shape;196;g1dda278d0d7_0_9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300" cy="11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11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97" name="Google Shape;197;g1dda278d0d7_0_9"/>
          <p:cNvSpPr txBox="1"/>
          <p:nvPr/>
        </p:nvSpPr>
        <p:spPr>
          <a:xfrm>
            <a:off x="884984" y="1714487"/>
            <a:ext cx="4183500" cy="43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Requisito: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Instalar uma máquina de auto atendimento no exterior da agência bancária.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6"/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Engenharia de requisitos</a:t>
            </a:r>
            <a:endParaRPr/>
          </a:p>
        </p:txBody>
      </p:sp>
      <p:sp>
        <p:nvSpPr>
          <p:cNvPr id="205" name="Google Shape;205;p6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12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06" name="Google Shape;206;p6"/>
          <p:cNvSpPr txBox="1"/>
          <p:nvPr/>
        </p:nvSpPr>
        <p:spPr>
          <a:xfrm>
            <a:off x="884984" y="1714487"/>
            <a:ext cx="4183405" cy="4359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Requisito: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Instalar uma máquina de auto atendimento no exterior da agência bancária.</a:t>
            </a:r>
            <a:endParaRPr/>
          </a:p>
        </p:txBody>
      </p:sp>
      <p:pic>
        <p:nvPicPr>
          <p:cNvPr id="207" name="Google Shape;207;p6" descr="C:\Users\usuario\Documents\UniSatc\Engenharia de requisitos\Materiais\ErroRequisito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66988" y="1554481"/>
            <a:ext cx="5410468" cy="46895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g1dda278d0d7_0_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g1dda278d0d7_0_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g1dda278d0d7_0_18"/>
          <p:cNvSpPr txBox="1"/>
          <p:nvPr/>
        </p:nvSpPr>
        <p:spPr>
          <a:xfrm>
            <a:off x="1023257" y="341091"/>
            <a:ext cx="108771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Engenharia de requisitos</a:t>
            </a:r>
            <a:endParaRPr/>
          </a:p>
        </p:txBody>
      </p:sp>
      <p:sp>
        <p:nvSpPr>
          <p:cNvPr id="215" name="Google Shape;215;g1dda278d0d7_0_18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300" cy="11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13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216" name="Google Shape;216;g1dda278d0d7_0_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00200" y="1172091"/>
            <a:ext cx="7174812" cy="53811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7"/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Engenharia de requisitos</a:t>
            </a:r>
            <a:endParaRPr/>
          </a:p>
        </p:txBody>
      </p:sp>
      <p:sp>
        <p:nvSpPr>
          <p:cNvPr id="224" name="Google Shape;224;p7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14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25" name="Google Shape;225;p7"/>
          <p:cNvSpPr txBox="1"/>
          <p:nvPr/>
        </p:nvSpPr>
        <p:spPr>
          <a:xfrm>
            <a:off x="702100" y="1714475"/>
            <a:ext cx="6943500" cy="43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228600" marR="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pt-BR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software passou de ferramenta especializada de solução de problemas para um produto que visa 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desenvolver soluções que atendam diversas necessidades.</a:t>
            </a:r>
            <a:endParaRPr/>
          </a:p>
          <a:p>
            <a:pPr marL="228600" marR="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Esses sistemas (geralmente com pouca documentação), geravam custos de manutenção devido à constante evolução.</a:t>
            </a:r>
            <a:endParaRPr/>
          </a:p>
          <a:p>
            <a:pPr marL="228600" marR="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A indústria do software carecia de um processo eficaz produzir software de qualidade, com baixo custo e dentro do prazo, originando assim a Engenharia de Software.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762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8"/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Engenharia de requisitos</a:t>
            </a:r>
            <a:endParaRPr/>
          </a:p>
        </p:txBody>
      </p:sp>
      <p:sp>
        <p:nvSpPr>
          <p:cNvPr id="233" name="Google Shape;233;p8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15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34" name="Google Shape;234;p8"/>
          <p:cNvSpPr txBox="1"/>
          <p:nvPr/>
        </p:nvSpPr>
        <p:spPr>
          <a:xfrm>
            <a:off x="992777" y="1789612"/>
            <a:ext cx="9899400" cy="20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Ainda assim, existia um grande problema com a qualidade do produto final devido a alguns fatores:</a:t>
            </a:r>
            <a:endParaRPr/>
          </a:p>
          <a:p>
            <a:pPr marL="685800" marR="0" lvl="1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pt-BR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Comunicação entre os stakeholders e a TI</a:t>
            </a:r>
            <a:endParaRPr/>
          </a:p>
          <a:p>
            <a:pPr marL="685800" marR="0" lvl="1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pt-BR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Insatisfação do cliente devido a funcionalidades que não atendiam 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à</a:t>
            </a:r>
            <a:r>
              <a:rPr lang="pt-BR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 suas necessidades. </a:t>
            </a:r>
            <a:endParaRPr/>
          </a:p>
        </p:txBody>
      </p:sp>
      <p:sp>
        <p:nvSpPr>
          <p:cNvPr id="235" name="Google Shape;235;p8"/>
          <p:cNvSpPr txBox="1"/>
          <p:nvPr/>
        </p:nvSpPr>
        <p:spPr>
          <a:xfrm>
            <a:off x="962295" y="4214950"/>
            <a:ext cx="9899341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Estes problemas resultavam em projetos abandonados, prazos extrapolados,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altos custos de construção/manutenção.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9"/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Engenharia de requisitos</a:t>
            </a:r>
            <a:endParaRPr/>
          </a:p>
        </p:txBody>
      </p:sp>
      <p:sp>
        <p:nvSpPr>
          <p:cNvPr id="243" name="Google Shape;243;p9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16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44" name="Google Shape;244;p9"/>
          <p:cNvSpPr txBox="1"/>
          <p:nvPr/>
        </p:nvSpPr>
        <p:spPr>
          <a:xfrm>
            <a:off x="962295" y="1724297"/>
            <a:ext cx="9899400" cy="37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 1993, durante o IEEE, a Engenharia de Requisitos se estabeleceu como uma disciplina independente, sendo uma subárea da Engenharia de Software que estuda o processo de produção e gerência dos requisitos de software.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Atualmente, a Engenharia de Requisitos está inclusa nos dois primeiros níveis dos modelos de maturidade de software </a:t>
            </a: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CMMI (Capability Maturity Model® Integration”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é uma abordagem de melhoria de processos que fornece às organizações elementos essenciais de processos eficazes) e MPS.BR, corroborando o fato de ela representar um dos principais pontos para a produção de softwares de qualidade.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0"/>
          <p:cNvSpPr txBox="1"/>
          <p:nvPr/>
        </p:nvSpPr>
        <p:spPr>
          <a:xfrm>
            <a:off x="1023257" y="341091"/>
            <a:ext cx="108771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Engenharia de requisitos - Por quê?</a:t>
            </a:r>
            <a:endParaRPr/>
          </a:p>
        </p:txBody>
      </p:sp>
      <p:sp>
        <p:nvSpPr>
          <p:cNvPr id="252" name="Google Shape;252;p10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17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53" name="Google Shape;253;p10"/>
          <p:cNvSpPr txBox="1"/>
          <p:nvPr/>
        </p:nvSpPr>
        <p:spPr>
          <a:xfrm>
            <a:off x="884984" y="1714487"/>
            <a:ext cx="10375202" cy="4359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pt-BR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Segundo uma pesquisa do PMI(2018), </a:t>
            </a:r>
            <a:r>
              <a:rPr lang="pt-BR" sz="37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35% dos projetos</a:t>
            </a:r>
            <a:r>
              <a:rPr lang="pt-BR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que fracassam tem como principal causa o levantamento impreciso de requisitos.</a:t>
            </a:r>
            <a:endParaRPr/>
          </a:p>
          <a:p>
            <a:pPr marL="228600" marR="0" lvl="0" indent="-762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falha na especificação de requisitos pode causar: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t-BR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Estimativas de custo incertas;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t-BR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Estimativas de prazo incertas;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t-BR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Entregas que não satisfaçam o stakeholder;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t-BR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Requisitos desnecessários;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t-BR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Falta de funções importantes.</a:t>
            </a:r>
            <a:endParaRPr/>
          </a:p>
          <a:p>
            <a:pPr marL="228600" marR="0" lvl="0" indent="-762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11"/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Engenharia de requisitos</a:t>
            </a:r>
            <a:endParaRPr/>
          </a:p>
        </p:txBody>
      </p:sp>
      <p:sp>
        <p:nvSpPr>
          <p:cNvPr id="261" name="Google Shape;261;p11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18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62" name="Google Shape;262;p11"/>
          <p:cNvSpPr txBox="1"/>
          <p:nvPr/>
        </p:nvSpPr>
        <p:spPr>
          <a:xfrm>
            <a:off x="884985" y="1714487"/>
            <a:ext cx="9682866" cy="4359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compreensão dos requisitos está entre as tarefas mais difíceis enfrentadas por um engenheiro de software (PRESSMAN; MAXIM, 2016). </a:t>
            </a:r>
            <a:b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“Um cliente entra em seu escritório, senta-se, olha diretamente nos seus olhos e diz: “Eu sei que você pensa que entendeu o que eu disse, mas o que você não entende é que aquilo que eu disse não era o que eu quis dizer”.” (YOUNG, 2001).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12"/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Engenharia de requisitos</a:t>
            </a:r>
            <a:endParaRPr/>
          </a:p>
        </p:txBody>
      </p:sp>
      <p:sp>
        <p:nvSpPr>
          <p:cNvPr id="270" name="Google Shape;270;p12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19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71" name="Google Shape;271;p12"/>
          <p:cNvSpPr txBox="1"/>
          <p:nvPr/>
        </p:nvSpPr>
        <p:spPr>
          <a:xfrm>
            <a:off x="884985" y="1714487"/>
            <a:ext cx="5790135" cy="4359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Engenharia de Requisitos consiste no uso de técnicas para obter, documentar e gerenciar um conjunto de requisitos que atendam aos objetivos de negócio e sejam de qualidade</a:t>
            </a:r>
            <a: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(VAZQUEZ; SIQUEIRA SIMÕES, 2016).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amplo espectro de tarefas e técnicas que levam ao entendimento dos requisitos é chamado de engenharia de requisitos (PRESSMAN; MAXIM, 2016).</a:t>
            </a:r>
            <a:b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2"/>
          <p:cNvSpPr/>
          <p:nvPr/>
        </p:nvSpPr>
        <p:spPr>
          <a:xfrm>
            <a:off x="7123749" y="2001870"/>
            <a:ext cx="1571636" cy="785818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rgbClr val="DDEAF6"/>
          </a:solidFill>
          <a:ln w="12700" cap="flat" cmpd="sng">
            <a:solidFill>
              <a:srgbClr val="BBD6E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Qual é a necessidade?</a:t>
            </a:r>
            <a:endParaRPr/>
          </a:p>
        </p:txBody>
      </p:sp>
      <p:sp>
        <p:nvSpPr>
          <p:cNvPr id="273" name="Google Shape;273;p12"/>
          <p:cNvSpPr/>
          <p:nvPr/>
        </p:nvSpPr>
        <p:spPr>
          <a:xfrm flipH="1">
            <a:off x="8981137" y="2001870"/>
            <a:ext cx="1857388" cy="785818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rgbClr val="DDEAF6"/>
          </a:solidFill>
          <a:ln w="12700" cap="flat" cmpd="sng">
            <a:solidFill>
              <a:srgbClr val="BBD6E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Qual é a melhor forma de atendê-la?</a:t>
            </a:r>
            <a:endParaRPr/>
          </a:p>
        </p:txBody>
      </p:sp>
      <p:sp>
        <p:nvSpPr>
          <p:cNvPr id="274" name="Google Shape;274;p12"/>
          <p:cNvSpPr/>
          <p:nvPr/>
        </p:nvSpPr>
        <p:spPr>
          <a:xfrm>
            <a:off x="7123749" y="3216316"/>
            <a:ext cx="1571636" cy="785818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rgbClr val="DDEAF6"/>
          </a:solidFill>
          <a:ln w="12700" cap="flat" cmpd="sng">
            <a:solidFill>
              <a:srgbClr val="BBD6E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Quem são os envolvidos?</a:t>
            </a:r>
            <a:endParaRPr/>
          </a:p>
        </p:txBody>
      </p:sp>
      <p:pic>
        <p:nvPicPr>
          <p:cNvPr id="275" name="Google Shape;275;p12" descr="45 ideias de Nat4kids | vetores, vetores gratuitos, gráficos vetoriais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909699" y="3002002"/>
            <a:ext cx="2214578" cy="22145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Google Shape;280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3"/>
          <p:cNvSpPr txBox="1"/>
          <p:nvPr/>
        </p:nvSpPr>
        <p:spPr>
          <a:xfrm>
            <a:off x="1023257" y="341091"/>
            <a:ext cx="108771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Engenharia de requisitos - O que Engloba?</a:t>
            </a:r>
            <a:endParaRPr/>
          </a:p>
        </p:txBody>
      </p:sp>
      <p:sp>
        <p:nvSpPr>
          <p:cNvPr id="283" name="Google Shape;283;p13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20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84" name="Google Shape;284;p13"/>
          <p:cNvSpPr txBox="1"/>
          <p:nvPr/>
        </p:nvSpPr>
        <p:spPr>
          <a:xfrm>
            <a:off x="884984" y="1714487"/>
            <a:ext cx="10375199" cy="4359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Ela engloba o processo de </a:t>
            </a: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definição, documentação e manutenção dos requisitos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presentes em um determinado projeto de software.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Esses processos se dão pela aplicação de princípios, ferramentas, métodos e notações previamente comprovados, para que se possa descrever o comportamento pretendido em um sistema, bem como as restrições associadas a ele.</a:t>
            </a:r>
            <a:b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14"/>
          <p:cNvSpPr txBox="1"/>
          <p:nvPr/>
        </p:nvSpPr>
        <p:spPr>
          <a:xfrm>
            <a:off x="1023257" y="341091"/>
            <a:ext cx="108771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Engenharia de requisitos - Atividades</a:t>
            </a:r>
            <a:endParaRPr/>
          </a:p>
        </p:txBody>
      </p:sp>
      <p:sp>
        <p:nvSpPr>
          <p:cNvPr id="292" name="Google Shape;292;p14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21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93" name="Google Shape;293;p14"/>
          <p:cNvSpPr txBox="1"/>
          <p:nvPr/>
        </p:nvSpPr>
        <p:spPr>
          <a:xfrm>
            <a:off x="911109" y="1714487"/>
            <a:ext cx="8089199" cy="3079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Atividades</a:t>
            </a:r>
            <a:r>
              <a:rPr lang="pt-BR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 engenharia de requisitos:</a:t>
            </a:r>
            <a:endParaRPr/>
          </a:p>
          <a:p>
            <a:pPr marL="228600" marR="0" lvl="0" indent="-87629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pt-BR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Elicitar a necessidade dos stakeholders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pt-BR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Entender e analisar </a:t>
            </a:r>
            <a:r>
              <a:rPr lang="pt-BR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necessidade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pt-BR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Encontrar uma solução que atenda à todas as partes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pt-BR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Especificar a solução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pt-BR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Validar a solução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pt-BR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Gerenciar os requisitos criados</a:t>
            </a:r>
            <a:endParaRPr/>
          </a:p>
        </p:txBody>
      </p:sp>
      <p:sp>
        <p:nvSpPr>
          <p:cNvPr id="294" name="Google Shape;294;p14"/>
          <p:cNvSpPr/>
          <p:nvPr/>
        </p:nvSpPr>
        <p:spPr>
          <a:xfrm>
            <a:off x="2512957" y="5099834"/>
            <a:ext cx="6286544" cy="1071570"/>
          </a:xfrm>
          <a:prstGeom prst="rect">
            <a:avLst/>
          </a:prstGeom>
          <a:solidFill>
            <a:srgbClr val="1E4E79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4"/>
          <p:cNvSpPr txBox="1"/>
          <p:nvPr/>
        </p:nvSpPr>
        <p:spPr>
          <a:xfrm>
            <a:off x="2655833" y="5242710"/>
            <a:ext cx="6072230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Stakeholders (partes interessadas)</a:t>
            </a:r>
            <a:r>
              <a:rPr lang="pt-BR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 são as pessoas que são impactadas por um problema, projeto, negócio. 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15"/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Engenharia de requisitos</a:t>
            </a:r>
            <a:endParaRPr/>
          </a:p>
        </p:txBody>
      </p:sp>
      <p:sp>
        <p:nvSpPr>
          <p:cNvPr id="303" name="Google Shape;303;p15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22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04" name="Google Shape;304;p15"/>
          <p:cNvSpPr txBox="1"/>
          <p:nvPr/>
        </p:nvSpPr>
        <p:spPr>
          <a:xfrm>
            <a:off x="884985" y="1714488"/>
            <a:ext cx="10009438" cy="4268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rPr>
              <a:t>Quem realiza?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Engenheiros de software (analistas de sistemas, analistas de negócio, analistas de requisitos) e envolvidos no projeto (gerentes, clientes e usuários).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rPr>
              <a:t>Qual é a importância?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É importante entender o que o cliente quer antes de começar a implementar a funcionalidade, para que não hajam entregas que não atendam a necessidade do cliente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rPr>
              <a:t>Quais os artefatos utilizados?</a:t>
            </a:r>
            <a:endParaRPr sz="2400" b="1">
              <a:solidFill>
                <a:srgbClr val="38562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que seja possível fornecer um entendimento documentado do problema, a engenharia de requisitos utiliza vários artefatos: cenários de uso, modelos de análise, especificação de requisitos.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16"/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Engenharia de requisitos</a:t>
            </a:r>
            <a:endParaRPr/>
          </a:p>
        </p:txBody>
      </p:sp>
      <p:sp>
        <p:nvSpPr>
          <p:cNvPr id="312" name="Google Shape;312;p16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23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13" name="Google Shape;313;p16"/>
          <p:cNvSpPr txBox="1"/>
          <p:nvPr/>
        </p:nvSpPr>
        <p:spPr>
          <a:xfrm>
            <a:off x="884985" y="1714487"/>
            <a:ext cx="10009438" cy="4359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marR="0" lvl="0" indent="-14097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Possibilita um </a:t>
            </a: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maior entendimento das necessidades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do cliente antes de iniciar a implementação de um requisito.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-14097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Fornece controles e padrões para que os requisitos sejam </a:t>
            </a: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claros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concisos e compreensíveis por todos os envolvidos.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-14097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 processo de engenharia de requisitos deve ser adaptado às necessidades do projeto, do produto e das pessoas que estão realizando o trabalho.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-14097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Diferentes cenários de projeto influenciam diretamente nos processos da engenharia de requisitos. Por exemplo: pessoas, fatores de negócio ou restrições organizacionais (distribuição espacial ou disponibilidade) têm um grande impacto na escolha das técnicas utilizadas durante os processos da engenharia de requisitos. </a:t>
            </a:r>
            <a:b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" name="Google Shape;318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17"/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Engenharia de requisitos</a:t>
            </a:r>
            <a:endParaRPr/>
          </a:p>
        </p:txBody>
      </p:sp>
      <p:sp>
        <p:nvSpPr>
          <p:cNvPr id="321" name="Google Shape;321;p17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24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22" name="Google Shape;322;p17"/>
          <p:cNvSpPr txBox="1"/>
          <p:nvPr/>
        </p:nvSpPr>
        <p:spPr>
          <a:xfrm>
            <a:off x="884984" y="1675298"/>
            <a:ext cx="9317107" cy="4359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7"/>
          <p:cNvSpPr/>
          <p:nvPr/>
        </p:nvSpPr>
        <p:spPr>
          <a:xfrm>
            <a:off x="4598124" y="3435532"/>
            <a:ext cx="2390503" cy="1045027"/>
          </a:xfrm>
          <a:prstGeom prst="roundRect">
            <a:avLst>
              <a:gd name="adj" fmla="val 16667"/>
            </a:avLst>
          </a:prstGeom>
          <a:solidFill>
            <a:srgbClr val="2E75B5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Engenharia de requisitos</a:t>
            </a:r>
            <a:endParaRPr/>
          </a:p>
        </p:txBody>
      </p:sp>
      <p:sp>
        <p:nvSpPr>
          <p:cNvPr id="324" name="Google Shape;324;p17"/>
          <p:cNvSpPr/>
          <p:nvPr/>
        </p:nvSpPr>
        <p:spPr>
          <a:xfrm>
            <a:off x="6683828" y="2020390"/>
            <a:ext cx="2142308" cy="927463"/>
          </a:xfrm>
          <a:prstGeom prst="roundRect">
            <a:avLst>
              <a:gd name="adj" fmla="val 16667"/>
            </a:avLst>
          </a:prstGeom>
          <a:solidFill>
            <a:srgbClr val="9CC2E5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Maior assertividade de requisitos</a:t>
            </a:r>
            <a:endParaRPr/>
          </a:p>
        </p:txBody>
      </p:sp>
      <p:sp>
        <p:nvSpPr>
          <p:cNvPr id="325" name="Google Shape;325;p17"/>
          <p:cNvSpPr/>
          <p:nvPr/>
        </p:nvSpPr>
        <p:spPr>
          <a:xfrm>
            <a:off x="8207829" y="3413761"/>
            <a:ext cx="2142308" cy="927463"/>
          </a:xfrm>
          <a:prstGeom prst="roundRect">
            <a:avLst>
              <a:gd name="adj" fmla="val 16667"/>
            </a:avLst>
          </a:prstGeom>
          <a:solidFill>
            <a:srgbClr val="9CC2E5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Estimativas mais confiáveis</a:t>
            </a:r>
            <a:endParaRPr/>
          </a:p>
        </p:txBody>
      </p:sp>
      <p:sp>
        <p:nvSpPr>
          <p:cNvPr id="326" name="Google Shape;326;p17"/>
          <p:cNvSpPr/>
          <p:nvPr/>
        </p:nvSpPr>
        <p:spPr>
          <a:xfrm>
            <a:off x="4859381" y="5251269"/>
            <a:ext cx="2142308" cy="927463"/>
          </a:xfrm>
          <a:prstGeom prst="roundRect">
            <a:avLst>
              <a:gd name="adj" fmla="val 16667"/>
            </a:avLst>
          </a:prstGeom>
          <a:solidFill>
            <a:srgbClr val="9CC2E5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Maior agilidade no desenvolvimento</a:t>
            </a:r>
            <a:endParaRPr/>
          </a:p>
        </p:txBody>
      </p:sp>
      <p:sp>
        <p:nvSpPr>
          <p:cNvPr id="327" name="Google Shape;327;p17"/>
          <p:cNvSpPr/>
          <p:nvPr/>
        </p:nvSpPr>
        <p:spPr>
          <a:xfrm>
            <a:off x="2956561" y="1989909"/>
            <a:ext cx="2142308" cy="927463"/>
          </a:xfrm>
          <a:prstGeom prst="roundRect">
            <a:avLst>
              <a:gd name="adj" fmla="val 16667"/>
            </a:avLst>
          </a:prstGeom>
          <a:solidFill>
            <a:srgbClr val="9CC2E5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Redução de retrabalho</a:t>
            </a:r>
            <a:endParaRPr/>
          </a:p>
        </p:txBody>
      </p:sp>
      <p:sp>
        <p:nvSpPr>
          <p:cNvPr id="328" name="Google Shape;328;p17"/>
          <p:cNvSpPr/>
          <p:nvPr/>
        </p:nvSpPr>
        <p:spPr>
          <a:xfrm>
            <a:off x="1345476" y="3487783"/>
            <a:ext cx="2142308" cy="927463"/>
          </a:xfrm>
          <a:prstGeom prst="roundRect">
            <a:avLst>
              <a:gd name="adj" fmla="val 16667"/>
            </a:avLst>
          </a:prstGeom>
          <a:solidFill>
            <a:srgbClr val="9CC2E5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Diminuição de custos</a:t>
            </a:r>
            <a:endParaRPr/>
          </a:p>
        </p:txBody>
      </p:sp>
      <p:sp>
        <p:nvSpPr>
          <p:cNvPr id="329" name="Google Shape;329;p17"/>
          <p:cNvSpPr/>
          <p:nvPr/>
        </p:nvSpPr>
        <p:spPr>
          <a:xfrm>
            <a:off x="1772195" y="5103224"/>
            <a:ext cx="2142308" cy="927463"/>
          </a:xfrm>
          <a:prstGeom prst="roundRect">
            <a:avLst>
              <a:gd name="adj" fmla="val 16667"/>
            </a:avLst>
          </a:prstGeom>
          <a:solidFill>
            <a:srgbClr val="9CC2E5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Satisfação dos stakeholders</a:t>
            </a: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7"/>
          <p:cNvSpPr/>
          <p:nvPr/>
        </p:nvSpPr>
        <p:spPr>
          <a:xfrm>
            <a:off x="7955280" y="5094517"/>
            <a:ext cx="2142308" cy="927463"/>
          </a:xfrm>
          <a:prstGeom prst="roundRect">
            <a:avLst>
              <a:gd name="adj" fmla="val 16667"/>
            </a:avLst>
          </a:prstGeom>
          <a:solidFill>
            <a:srgbClr val="9CC2E5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Prazos mais assertivos</a:t>
            </a:r>
            <a:endParaRPr/>
          </a:p>
        </p:txBody>
      </p:sp>
      <p:cxnSp>
        <p:nvCxnSpPr>
          <p:cNvPr id="331" name="Google Shape;331;p17"/>
          <p:cNvCxnSpPr>
            <a:stCxn id="323" idx="0"/>
            <a:endCxn id="327" idx="2"/>
          </p:cNvCxnSpPr>
          <p:nvPr/>
        </p:nvCxnSpPr>
        <p:spPr>
          <a:xfrm rot="10800000">
            <a:off x="4027576" y="2917432"/>
            <a:ext cx="1765800" cy="518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32" name="Google Shape;332;p17"/>
          <p:cNvCxnSpPr>
            <a:stCxn id="323" idx="0"/>
            <a:endCxn id="324" idx="2"/>
          </p:cNvCxnSpPr>
          <p:nvPr/>
        </p:nvCxnSpPr>
        <p:spPr>
          <a:xfrm rot="10800000" flipH="1">
            <a:off x="5793376" y="2947732"/>
            <a:ext cx="1961700" cy="487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33" name="Google Shape;333;p17"/>
          <p:cNvCxnSpPr>
            <a:stCxn id="323" idx="3"/>
            <a:endCxn id="325" idx="1"/>
          </p:cNvCxnSpPr>
          <p:nvPr/>
        </p:nvCxnSpPr>
        <p:spPr>
          <a:xfrm rot="10800000" flipH="1">
            <a:off x="6988627" y="3877346"/>
            <a:ext cx="1219200" cy="80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34" name="Google Shape;334;p17"/>
          <p:cNvCxnSpPr>
            <a:stCxn id="323" idx="2"/>
            <a:endCxn id="330" idx="0"/>
          </p:cNvCxnSpPr>
          <p:nvPr/>
        </p:nvCxnSpPr>
        <p:spPr>
          <a:xfrm>
            <a:off x="5793376" y="4480559"/>
            <a:ext cx="3233100" cy="614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35" name="Google Shape;335;p17"/>
          <p:cNvCxnSpPr>
            <a:stCxn id="323" idx="2"/>
            <a:endCxn id="326" idx="0"/>
          </p:cNvCxnSpPr>
          <p:nvPr/>
        </p:nvCxnSpPr>
        <p:spPr>
          <a:xfrm>
            <a:off x="5793376" y="4480559"/>
            <a:ext cx="137100" cy="770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36" name="Google Shape;336;p17"/>
          <p:cNvCxnSpPr>
            <a:stCxn id="329" idx="0"/>
            <a:endCxn id="323" idx="2"/>
          </p:cNvCxnSpPr>
          <p:nvPr/>
        </p:nvCxnSpPr>
        <p:spPr>
          <a:xfrm rot="10800000" flipH="1">
            <a:off x="2843349" y="4480424"/>
            <a:ext cx="2949900" cy="622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37" name="Google Shape;337;p17"/>
          <p:cNvCxnSpPr>
            <a:stCxn id="328" idx="3"/>
            <a:endCxn id="323" idx="1"/>
          </p:cNvCxnSpPr>
          <p:nvPr/>
        </p:nvCxnSpPr>
        <p:spPr>
          <a:xfrm>
            <a:off x="3487784" y="3951515"/>
            <a:ext cx="1110300" cy="6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2" name="Google Shape;342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18"/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Engenharia de requisitos</a:t>
            </a:r>
            <a:endParaRPr/>
          </a:p>
        </p:txBody>
      </p:sp>
      <p:sp>
        <p:nvSpPr>
          <p:cNvPr id="345" name="Google Shape;345;p18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25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46" name="Google Shape;346;p18"/>
          <p:cNvSpPr txBox="1"/>
          <p:nvPr/>
        </p:nvSpPr>
        <p:spPr>
          <a:xfrm>
            <a:off x="884985" y="1714487"/>
            <a:ext cx="9369358" cy="4581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Produz insumos para outras áreas: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-14097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4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Análise e projeto:</a:t>
            </a:r>
            <a:r>
              <a:rPr lang="pt-BR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elaboração do projeto e solução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-14097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4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Desenvolvimento: 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agilidade e assertividade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-14097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4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Testes:</a:t>
            </a:r>
            <a:r>
              <a:rPr lang="pt-BR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criação dos casos de teste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-14097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4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Gerência de projetos: 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planejamento e acompanhamento de escopo, prazos e orçamento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-14097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4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Implantação: 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criação de documentação e material para treinamento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-14097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4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Medição e análise: 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produção de estimativas e medições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19"/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Engenharia de requisitos</a:t>
            </a:r>
            <a:endParaRPr/>
          </a:p>
        </p:txBody>
      </p:sp>
      <p:sp>
        <p:nvSpPr>
          <p:cNvPr id="354" name="Google Shape;354;p19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26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55" name="Google Shape;355;p19"/>
          <p:cNvSpPr txBox="1"/>
          <p:nvPr/>
        </p:nvSpPr>
        <p:spPr>
          <a:xfrm>
            <a:off x="884985" y="1714487"/>
            <a:ext cx="9369358" cy="4581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9"/>
          <p:cNvSpPr txBox="1"/>
          <p:nvPr/>
        </p:nvSpPr>
        <p:spPr>
          <a:xfrm>
            <a:off x="1037385" y="1866887"/>
            <a:ext cx="9369358" cy="4581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O analista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analista de requisitos possui contato direto com os stakeholders e tem a responsabilidade de compreender o melhor possível o domínio da aplicação.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 identifica as necessidades dos stakeholders e os especifica de forma que arquitetos, desenvolvedores, testers, etc. possam entender e implementar.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1" name="Google Shape;361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20"/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Engenharia de requisitos</a:t>
            </a:r>
            <a:endParaRPr/>
          </a:p>
        </p:txBody>
      </p:sp>
      <p:sp>
        <p:nvSpPr>
          <p:cNvPr id="364" name="Google Shape;364;p20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27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65" name="Google Shape;365;p20"/>
          <p:cNvSpPr txBox="1"/>
          <p:nvPr/>
        </p:nvSpPr>
        <p:spPr>
          <a:xfrm>
            <a:off x="884985" y="1714487"/>
            <a:ext cx="9369358" cy="4581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Características do analista de requisitos (POHL; RUPP, 2015):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-165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lang="pt-BR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Pensamento analítico</a:t>
            </a:r>
            <a:endParaRPr/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Empatia</a:t>
            </a:r>
            <a:endParaRPr/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Habilidades de comunicação</a:t>
            </a:r>
            <a:endParaRPr/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Habilidades de resolução de conflitos</a:t>
            </a:r>
            <a:endParaRPr/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Habilidades de negociação</a:t>
            </a:r>
            <a:endParaRPr/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Habilidades de persuasão</a:t>
            </a:r>
            <a:endParaRPr/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Facilidade para lidar com prazos e pressão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" name="Google Shape;370;g1f20c66fe22_0_16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g1f20c66fe22_0_16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g1f20c66fe22_0_166"/>
          <p:cNvSpPr txBox="1"/>
          <p:nvPr/>
        </p:nvSpPr>
        <p:spPr>
          <a:xfrm>
            <a:off x="1023257" y="341091"/>
            <a:ext cx="108771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Exercícios</a:t>
            </a:r>
            <a:endParaRPr/>
          </a:p>
        </p:txBody>
      </p:sp>
      <p:sp>
        <p:nvSpPr>
          <p:cNvPr id="373" name="Google Shape;373;g1f20c66fe22_0_166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300" cy="11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28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74" name="Google Shape;374;g1f20c66fe22_0_166"/>
          <p:cNvSpPr txBox="1"/>
          <p:nvPr/>
        </p:nvSpPr>
        <p:spPr>
          <a:xfrm>
            <a:off x="884985" y="1714487"/>
            <a:ext cx="9369300" cy="45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-12954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▪"/>
            </a:pP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 grupos, usando uma das ferramentas abaixo, prototipar (desenhar) uma tela de login.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Ferramentas: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excalidraw.com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draw.io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lucid.app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Papel e Caneta (em caso de sala de aula)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Apresentação dos resultados para a turma, discutindo as diferenças e o que faltou em cada protótipo.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11277</TotalTime>
  <Words>1189</Words>
  <Application>Microsoft Office PowerPoint</Application>
  <PresentationFormat>Personalizar</PresentationFormat>
  <Paragraphs>195</Paragraphs>
  <Slides>28</Slides>
  <Notes>23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28</vt:i4>
      </vt:variant>
    </vt:vector>
  </HeadingPairs>
  <TitlesOfParts>
    <vt:vector size="29" baseType="lpstr">
      <vt:lpstr>Tema do Office</vt:lpstr>
      <vt:lpstr>Apresentação do PowerPoint</vt:lpstr>
      <vt:lpstr>2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Joao Marcos Garcia Vieira</dc:creator>
  <cp:lastModifiedBy>Leandro Ugioni</cp:lastModifiedBy>
  <cp:revision>6</cp:revision>
  <dcterms:created xsi:type="dcterms:W3CDTF">2019-02-19T17:16:10Z</dcterms:created>
  <dcterms:modified xsi:type="dcterms:W3CDTF">2026-08-05T22:24:57Z</dcterms:modified>
</cp:coreProperties>
</file>